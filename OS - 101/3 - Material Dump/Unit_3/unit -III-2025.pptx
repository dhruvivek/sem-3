
<file path=[Content_Types].xml><?xml version="1.0" encoding="utf-8"?>
<Types xmlns="http://schemas.openxmlformats.org/package/2006/content-types">
  <Default Extension="docx" ContentType="application/vnd.openxmlformats-officedocument.wordprocessingml.document"/>
  <Default Extension="emf" ContentType="image/x-emf"/>
  <Default Extension="jpeg" ContentType="image/jpeg"/>
  <Default Extension="png" ContentType="image/png"/>
  <Default Extension="rels" ContentType="application/vnd.openxmlformats-package.relationships+xml"/>
  <Default Extension="wmf" ContentType="image/x-wmf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0.xml" ContentType="application/vnd.openxmlformats-officedocument.presentationml.slide+xml"/>
  <Override PartName="/ppt/slides/slide61.xml" ContentType="application/vnd.openxmlformats-officedocument.presentationml.slide+xml"/>
  <Override PartName="/ppt/slides/slide62.xml" ContentType="application/vnd.openxmlformats-officedocument.presentationml.slide+xml"/>
  <Override PartName="/ppt/slides/slide63.xml" ContentType="application/vnd.openxmlformats-officedocument.presentationml.slide+xml"/>
  <Override PartName="/ppt/slides/slide64.xml" ContentType="application/vnd.openxmlformats-officedocument.presentationml.slide+xml"/>
  <Override PartName="/ppt/slides/slide65.xml" ContentType="application/vnd.openxmlformats-officedocument.presentationml.slide+xml"/>
  <Override PartName="/ppt/slides/slide66.xml" ContentType="application/vnd.openxmlformats-officedocument.presentationml.slide+xml"/>
  <Override PartName="/ppt/slides/slide67.xml" ContentType="application/vnd.openxmlformats-officedocument.presentationml.slide+xml"/>
  <Override PartName="/ppt/slides/slide68.xml" ContentType="application/vnd.openxmlformats-officedocument.presentationml.slide+xml"/>
  <Override PartName="/ppt/slides/slide69.xml" ContentType="application/vnd.openxmlformats-officedocument.presentationml.slide+xml"/>
  <Override PartName="/ppt/slides/slide70.xml" ContentType="application/vnd.openxmlformats-officedocument.presentationml.slide+xml"/>
  <Override PartName="/ppt/slides/slide71.xml" ContentType="application/vnd.openxmlformats-officedocument.presentationml.slide+xml"/>
  <Override PartName="/ppt/slides/slide72.xml" ContentType="application/vnd.openxmlformats-officedocument.presentationml.slide+xml"/>
  <Override PartName="/ppt/slides/slide73.xml" ContentType="application/vnd.openxmlformats-officedocument.presentationml.slide+xml"/>
  <Override PartName="/ppt/slides/slide74.xml" ContentType="application/vnd.openxmlformats-officedocument.presentationml.slide+xml"/>
  <Override PartName="/ppt/slides/slide75.xml" ContentType="application/vnd.openxmlformats-officedocument.presentationml.slide+xml"/>
  <Override PartName="/ppt/slides/slide76.xml" ContentType="application/vnd.openxmlformats-officedocument.presentationml.slide+xml"/>
  <Override PartName="/ppt/slides/slide77.xml" ContentType="application/vnd.openxmlformats-officedocument.presentationml.slide+xml"/>
  <Override PartName="/ppt/slides/slide78.xml" ContentType="application/vnd.openxmlformats-officedocument.presentationml.slide+xml"/>
  <Override PartName="/ppt/slides/slide79.xml" ContentType="application/vnd.openxmlformats-officedocument.presentationml.slide+xml"/>
  <Override PartName="/ppt/slides/slide80.xml" ContentType="application/vnd.openxmlformats-officedocument.presentationml.slide+xml"/>
  <Override PartName="/ppt/slides/slide81.xml" ContentType="application/vnd.openxmlformats-officedocument.presentationml.slide+xml"/>
  <Override PartName="/ppt/slides/slide82.xml" ContentType="application/vnd.openxmlformats-officedocument.presentationml.slide+xml"/>
  <Override PartName="/ppt/slides/slide83.xml" ContentType="application/vnd.openxmlformats-officedocument.presentationml.slide+xml"/>
  <Override PartName="/ppt/slides/slide84.xml" ContentType="application/vnd.openxmlformats-officedocument.presentationml.slide+xml"/>
  <Override PartName="/ppt/slides/slide85.xml" ContentType="application/vnd.openxmlformats-officedocument.presentationml.slide+xml"/>
  <Override PartName="/ppt/slides/slide86.xml" ContentType="application/vnd.openxmlformats-officedocument.presentationml.slide+xml"/>
  <Override PartName="/ppt/slides/slide87.xml" ContentType="application/vnd.openxmlformats-officedocument.presentationml.slide+xml"/>
  <Override PartName="/ppt/slides/slide88.xml" ContentType="application/vnd.openxmlformats-officedocument.presentationml.slide+xml"/>
  <Override PartName="/ppt/slides/slide89.xml" ContentType="application/vnd.openxmlformats-officedocument.presentationml.slide+xml"/>
  <Override PartName="/ppt/slides/slide90.xml" ContentType="application/vnd.openxmlformats-officedocument.presentationml.slide+xml"/>
  <Override PartName="/ppt/slides/slide91.xml" ContentType="application/vnd.openxmlformats-officedocument.presentationml.slide+xml"/>
  <Override PartName="/ppt/slides/slide92.xml" ContentType="application/vnd.openxmlformats-officedocument.presentationml.slide+xml"/>
  <Override PartName="/ppt/slides/slide93.xml" ContentType="application/vnd.openxmlformats-officedocument.presentationml.slide+xml"/>
  <Override PartName="/ppt/slides/slide94.xml" ContentType="application/vnd.openxmlformats-officedocument.presentationml.slide+xml"/>
  <Override PartName="/ppt/slides/slide95.xml" ContentType="application/vnd.openxmlformats-officedocument.presentationml.slide+xml"/>
  <Override PartName="/ppt/slides/slide96.xml" ContentType="application/vnd.openxmlformats-officedocument.presentationml.slide+xml"/>
  <Override PartName="/ppt/slides/slide97.xml" ContentType="application/vnd.openxmlformats-officedocument.presentationml.slide+xml"/>
  <Override PartName="/ppt/slides/slide98.xml" ContentType="application/vnd.openxmlformats-officedocument.presentationml.slide+xml"/>
  <Override PartName="/ppt/slides/slide99.xml" ContentType="application/vnd.openxmlformats-officedocument.presentationml.slide+xml"/>
  <Override PartName="/ppt/slides/slide100.xml" ContentType="application/vnd.openxmlformats-officedocument.presentationml.slide+xml"/>
  <Override PartName="/ppt/slides/slide101.xml" ContentType="application/vnd.openxmlformats-officedocument.presentationml.slide+xml"/>
  <Override PartName="/ppt/slides/slide102.xml" ContentType="application/vnd.openxmlformats-officedocument.presentationml.slide+xml"/>
  <Override PartName="/ppt/slides/slide103.xml" ContentType="application/vnd.openxmlformats-officedocument.presentationml.slide+xml"/>
  <Override PartName="/ppt/slides/slide104.xml" ContentType="application/vnd.openxmlformats-officedocument.presentationml.slide+xml"/>
  <Override PartName="/ppt/slides/slide105.xml" ContentType="application/vnd.openxmlformats-officedocument.presentationml.slide+xml"/>
  <Override PartName="/ppt/slides/slide106.xml" ContentType="application/vnd.openxmlformats-officedocument.presentationml.slide+xml"/>
  <Override PartName="/ppt/slides/slide107.xml" ContentType="application/vnd.openxmlformats-officedocument.presentationml.slide+xml"/>
  <Override PartName="/ppt/slides/slide108.xml" ContentType="application/vnd.openxmlformats-officedocument.presentationml.slide+xml"/>
  <Override PartName="/ppt/slides/slide109.xml" ContentType="application/vnd.openxmlformats-officedocument.presentationml.slide+xml"/>
  <Override PartName="/ppt/slides/slide110.xml" ContentType="application/vnd.openxmlformats-officedocument.presentationml.slide+xml"/>
  <Override PartName="/ppt/slides/slide111.xml" ContentType="application/vnd.openxmlformats-officedocument.presentationml.slide+xml"/>
  <Override PartName="/ppt/slides/slide112.xml" ContentType="application/vnd.openxmlformats-officedocument.presentationml.slide+xml"/>
  <Override PartName="/ppt/slides/slide113.xml" ContentType="application/vnd.openxmlformats-officedocument.presentationml.slide+xml"/>
  <Override PartName="/ppt/slides/slide114.xml" ContentType="application/vnd.openxmlformats-officedocument.presentationml.slide+xml"/>
  <Override PartName="/ppt/slides/slide115.xml" ContentType="application/vnd.openxmlformats-officedocument.presentationml.slide+xml"/>
  <Override PartName="/ppt/slides/slide116.xml" ContentType="application/vnd.openxmlformats-officedocument.presentationml.slide+xml"/>
  <Override PartName="/ppt/slides/slide117.xml" ContentType="application/vnd.openxmlformats-officedocument.presentationml.slide+xml"/>
  <Override PartName="/ppt/slides/slide118.xml" ContentType="application/vnd.openxmlformats-officedocument.presentationml.slide+xml"/>
  <Override PartName="/ppt/slides/slide119.xml" ContentType="application/vnd.openxmlformats-officedocument.presentationml.slide+xml"/>
  <Override PartName="/ppt/slides/slide120.xml" ContentType="application/vnd.openxmlformats-officedocument.presentationml.slide+xml"/>
  <Override PartName="/ppt/slides/slide121.xml" ContentType="application/vnd.openxmlformats-officedocument.presentationml.slide+xml"/>
  <Override PartName="/ppt/slides/slide122.xml" ContentType="application/vnd.openxmlformats-officedocument.presentationml.slide+xml"/>
  <Override PartName="/ppt/slides/slide123.xml" ContentType="application/vnd.openxmlformats-officedocument.presentationml.slide+xml"/>
  <Override PartName="/ppt/slides/slide124.xml" ContentType="application/vnd.openxmlformats-officedocument.presentationml.slide+xml"/>
  <Override PartName="/ppt/slides/slide125.xml" ContentType="application/vnd.openxmlformats-officedocument.presentationml.slide+xml"/>
  <Override PartName="/ppt/slides/slide126.xml" ContentType="application/vnd.openxmlformats-officedocument.presentationml.slide+xml"/>
  <Override PartName="/ppt/slides/slide127.xml" ContentType="application/vnd.openxmlformats-officedocument.presentationml.slide+xml"/>
  <Override PartName="/ppt/slides/slide128.xml" ContentType="application/vnd.openxmlformats-officedocument.presentationml.slide+xml"/>
  <Override PartName="/ppt/slides/slide129.xml" ContentType="application/vnd.openxmlformats-officedocument.presentationml.slide+xml"/>
  <Override PartName="/ppt/slides/slide130.xml" ContentType="application/vnd.openxmlformats-officedocument.presentationml.slide+xml"/>
  <Override PartName="/ppt/slides/slide131.xml" ContentType="application/vnd.openxmlformats-officedocument.presentationml.slide+xml"/>
  <Override PartName="/ppt/slides/slide132.xml" ContentType="application/vnd.openxmlformats-officedocument.presentationml.slide+xml"/>
  <Override PartName="/ppt/slides/slide133.xml" ContentType="application/vnd.openxmlformats-officedocument.presentationml.slide+xml"/>
  <Override PartName="/ppt/slides/slide134.xml" ContentType="application/vnd.openxmlformats-officedocument.presentationml.slide+xml"/>
  <Override PartName="/ppt/slides/slide135.xml" ContentType="application/vnd.openxmlformats-officedocument.presentationml.slide+xml"/>
  <Override PartName="/ppt/slides/slide136.xml" ContentType="application/vnd.openxmlformats-officedocument.presentationml.slide+xml"/>
  <Override PartName="/ppt/slides/slide137.xml" ContentType="application/vnd.openxmlformats-officedocument.presentationml.slide+xml"/>
  <Override PartName="/ppt/slides/slide138.xml" ContentType="application/vnd.openxmlformats-officedocument.presentationml.slide+xml"/>
  <Override PartName="/ppt/slides/slide139.xml" ContentType="application/vnd.openxmlformats-officedocument.presentationml.slide+xml"/>
  <Override PartName="/ppt/slides/slide140.xml" ContentType="application/vnd.openxmlformats-officedocument.presentationml.slide+xml"/>
  <Override PartName="/ppt/slides/slide141.xml" ContentType="application/vnd.openxmlformats-officedocument.presentationml.slide+xml"/>
  <Override PartName="/ppt/slides/slide142.xml" ContentType="application/vnd.openxmlformats-officedocument.presentationml.slide+xml"/>
  <Override PartName="/ppt/slides/slide143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36.xml" ContentType="application/vnd.openxmlformats-officedocument.presentationml.notesSlide+xml"/>
  <Override PartName="/ppt/notesSlides/notesSlide37.xml" ContentType="application/vnd.openxmlformats-officedocument.presentationml.notesSlide+xml"/>
  <Override PartName="/ppt/notesSlides/notesSlide38.xml" ContentType="application/vnd.openxmlformats-officedocument.presentationml.notesSlide+xml"/>
  <Override PartName="/ppt/notesSlides/notesSlide39.xml" ContentType="application/vnd.openxmlformats-officedocument.presentationml.notesSlide+xml"/>
  <Override PartName="/ppt/notesSlides/notesSlide40.xml" ContentType="application/vnd.openxmlformats-officedocument.presentationml.notesSlide+xml"/>
  <Override PartName="/ppt/notesSlides/notesSlide41.xml" ContentType="application/vnd.openxmlformats-officedocument.presentationml.notesSlide+xml"/>
  <Override PartName="/ppt/notesSlides/notesSlide42.xml" ContentType="application/vnd.openxmlformats-officedocument.presentationml.notesSlide+xml"/>
  <Override PartName="/ppt/notesSlides/notesSlide43.xml" ContentType="application/vnd.openxmlformats-officedocument.presentationml.notesSlide+xml"/>
  <Override PartName="/ppt/notesSlides/notesSlide44.xml" ContentType="application/vnd.openxmlformats-officedocument.presentationml.notesSlide+xml"/>
  <Override PartName="/ppt/notesSlides/notesSlide45.xml" ContentType="application/vnd.openxmlformats-officedocument.presentationml.notesSlide+xml"/>
  <Override PartName="/ppt/notesSlides/notesSlide46.xml" ContentType="application/vnd.openxmlformats-officedocument.presentationml.notesSlide+xml"/>
  <Override PartName="/ppt/notesSlides/notesSlide47.xml" ContentType="application/vnd.openxmlformats-officedocument.presentationml.notesSlide+xml"/>
  <Override PartName="/ppt/notesSlides/notesSlide48.xml" ContentType="application/vnd.openxmlformats-officedocument.presentationml.notesSlide+xml"/>
  <Override PartName="/ppt/notesSlides/notesSlide49.xml" ContentType="application/vnd.openxmlformats-officedocument.presentationml.notesSlide+xml"/>
  <Override PartName="/ppt/notesSlides/notesSlide50.xml" ContentType="application/vnd.openxmlformats-officedocument.presentationml.notesSlide+xml"/>
  <Override PartName="/ppt/notesSlides/notesSlide51.xml" ContentType="application/vnd.openxmlformats-officedocument.presentationml.notesSlide+xml"/>
  <Override PartName="/ppt/notesSlides/notesSlide52.xml" ContentType="application/vnd.openxmlformats-officedocument.presentationml.notesSlide+xml"/>
  <Override PartName="/ppt/notesSlides/notesSlide53.xml" ContentType="application/vnd.openxmlformats-officedocument.presentationml.notesSlide+xml"/>
  <Override PartName="/ppt/notesSlides/notesSlide54.xml" ContentType="application/vnd.openxmlformats-officedocument.presentationml.notesSlide+xml"/>
  <Override PartName="/ppt/notesSlides/notesSlide55.xml" ContentType="application/vnd.openxmlformats-officedocument.presentationml.notesSlide+xml"/>
  <Override PartName="/ppt/notesSlides/notesSlide56.xml" ContentType="application/vnd.openxmlformats-officedocument.presentationml.notesSlide+xml"/>
  <Override PartName="/ppt/notesSlides/notesSlide57.xml" ContentType="application/vnd.openxmlformats-officedocument.presentationml.notesSlide+xml"/>
  <Override PartName="/ppt/changesInfos/changesInfo1.xml" ContentType="application/vnd.ms-powerpoint.changes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145"/>
  </p:notesMasterIdLst>
  <p:handoutMasterIdLst>
    <p:handoutMasterId r:id="rId146"/>
  </p:handoutMasterIdLst>
  <p:sldIdLst>
    <p:sldId id="471" r:id="rId2"/>
    <p:sldId id="486" r:id="rId3"/>
    <p:sldId id="487" r:id="rId4"/>
    <p:sldId id="488" r:id="rId5"/>
    <p:sldId id="494" r:id="rId6"/>
    <p:sldId id="505" r:id="rId7"/>
    <p:sldId id="504" r:id="rId8"/>
    <p:sldId id="495" r:id="rId9"/>
    <p:sldId id="496" r:id="rId10"/>
    <p:sldId id="259" r:id="rId11"/>
    <p:sldId id="260" r:id="rId12"/>
    <p:sldId id="506" r:id="rId13"/>
    <p:sldId id="574" r:id="rId14"/>
    <p:sldId id="262" r:id="rId15"/>
    <p:sldId id="263" r:id="rId16"/>
    <p:sldId id="264" r:id="rId17"/>
    <p:sldId id="265" r:id="rId18"/>
    <p:sldId id="267" r:id="rId19"/>
    <p:sldId id="271" r:id="rId20"/>
    <p:sldId id="493" r:id="rId21"/>
    <p:sldId id="485" r:id="rId22"/>
    <p:sldId id="497" r:id="rId23"/>
    <p:sldId id="579" r:id="rId24"/>
    <p:sldId id="498" r:id="rId25"/>
    <p:sldId id="499" r:id="rId26"/>
    <p:sldId id="500" r:id="rId27"/>
    <p:sldId id="501" r:id="rId28"/>
    <p:sldId id="502" r:id="rId29"/>
    <p:sldId id="481" r:id="rId30"/>
    <p:sldId id="482" r:id="rId31"/>
    <p:sldId id="483" r:id="rId32"/>
    <p:sldId id="484" r:id="rId33"/>
    <p:sldId id="416" r:id="rId34"/>
    <p:sldId id="489" r:id="rId35"/>
    <p:sldId id="490" r:id="rId36"/>
    <p:sldId id="491" r:id="rId37"/>
    <p:sldId id="433" r:id="rId38"/>
    <p:sldId id="434" r:id="rId39"/>
    <p:sldId id="435" r:id="rId40"/>
    <p:sldId id="436" r:id="rId41"/>
    <p:sldId id="437" r:id="rId42"/>
    <p:sldId id="438" r:id="rId43"/>
    <p:sldId id="439" r:id="rId44"/>
    <p:sldId id="440" r:id="rId45"/>
    <p:sldId id="583" r:id="rId46"/>
    <p:sldId id="584" r:id="rId47"/>
    <p:sldId id="585" r:id="rId48"/>
    <p:sldId id="417" r:id="rId49"/>
    <p:sldId id="586" r:id="rId50"/>
    <p:sldId id="587" r:id="rId51"/>
    <p:sldId id="588" r:id="rId52"/>
    <p:sldId id="589" r:id="rId53"/>
    <p:sldId id="590" r:id="rId54"/>
    <p:sldId id="591" r:id="rId55"/>
    <p:sldId id="592" r:id="rId56"/>
    <p:sldId id="594" r:id="rId57"/>
    <p:sldId id="598" r:id="rId58"/>
    <p:sldId id="599" r:id="rId59"/>
    <p:sldId id="593" r:id="rId60"/>
    <p:sldId id="595" r:id="rId61"/>
    <p:sldId id="355" r:id="rId62"/>
    <p:sldId id="479" r:id="rId63"/>
    <p:sldId id="480" r:id="rId64"/>
    <p:sldId id="428" r:id="rId65"/>
    <p:sldId id="429" r:id="rId66"/>
    <p:sldId id="430" r:id="rId67"/>
    <p:sldId id="431" r:id="rId68"/>
    <p:sldId id="426" r:id="rId69"/>
    <p:sldId id="427" r:id="rId70"/>
    <p:sldId id="418" r:id="rId71"/>
    <p:sldId id="419" r:id="rId72"/>
    <p:sldId id="420" r:id="rId73"/>
    <p:sldId id="421" r:id="rId74"/>
    <p:sldId id="422" r:id="rId75"/>
    <p:sldId id="423" r:id="rId76"/>
    <p:sldId id="424" r:id="rId77"/>
    <p:sldId id="425" r:id="rId78"/>
    <p:sldId id="432" r:id="rId79"/>
    <p:sldId id="465" r:id="rId80"/>
    <p:sldId id="356" r:id="rId81"/>
    <p:sldId id="357" r:id="rId82"/>
    <p:sldId id="358" r:id="rId83"/>
    <p:sldId id="359" r:id="rId84"/>
    <p:sldId id="466" r:id="rId85"/>
    <p:sldId id="467" r:id="rId86"/>
    <p:sldId id="360" r:id="rId87"/>
    <p:sldId id="361" r:id="rId88"/>
    <p:sldId id="362" r:id="rId89"/>
    <p:sldId id="363" r:id="rId90"/>
    <p:sldId id="364" r:id="rId91"/>
    <p:sldId id="365" r:id="rId92"/>
    <p:sldId id="366" r:id="rId93"/>
    <p:sldId id="367" r:id="rId94"/>
    <p:sldId id="368" r:id="rId95"/>
    <p:sldId id="468" r:id="rId96"/>
    <p:sldId id="369" r:id="rId97"/>
    <p:sldId id="370" r:id="rId98"/>
    <p:sldId id="371" r:id="rId99"/>
    <p:sldId id="372" r:id="rId100"/>
    <p:sldId id="373" r:id="rId101"/>
    <p:sldId id="374" r:id="rId102"/>
    <p:sldId id="375" r:id="rId103"/>
    <p:sldId id="376" r:id="rId104"/>
    <p:sldId id="383" r:id="rId105"/>
    <p:sldId id="377" r:id="rId106"/>
    <p:sldId id="378" r:id="rId107"/>
    <p:sldId id="379" r:id="rId108"/>
    <p:sldId id="381" r:id="rId109"/>
    <p:sldId id="382" r:id="rId110"/>
    <p:sldId id="384" r:id="rId111"/>
    <p:sldId id="385" r:id="rId112"/>
    <p:sldId id="469" r:id="rId113"/>
    <p:sldId id="470" r:id="rId114"/>
    <p:sldId id="386" r:id="rId115"/>
    <p:sldId id="387" r:id="rId116"/>
    <p:sldId id="575" r:id="rId117"/>
    <p:sldId id="576" r:id="rId118"/>
    <p:sldId id="596" r:id="rId119"/>
    <p:sldId id="578" r:id="rId120"/>
    <p:sldId id="597" r:id="rId121"/>
    <p:sldId id="454" r:id="rId122"/>
    <p:sldId id="455" r:id="rId123"/>
    <p:sldId id="456" r:id="rId124"/>
    <p:sldId id="457" r:id="rId125"/>
    <p:sldId id="458" r:id="rId126"/>
    <p:sldId id="453" r:id="rId127"/>
    <p:sldId id="459" r:id="rId128"/>
    <p:sldId id="460" r:id="rId129"/>
    <p:sldId id="399" r:id="rId130"/>
    <p:sldId id="461" r:id="rId131"/>
    <p:sldId id="462" r:id="rId132"/>
    <p:sldId id="451" r:id="rId133"/>
    <p:sldId id="452" r:id="rId134"/>
    <p:sldId id="323" r:id="rId135"/>
    <p:sldId id="324" r:id="rId136"/>
    <p:sldId id="325" r:id="rId137"/>
    <p:sldId id="580" r:id="rId138"/>
    <p:sldId id="581" r:id="rId139"/>
    <p:sldId id="582" r:id="rId140"/>
    <p:sldId id="463" r:id="rId141"/>
    <p:sldId id="329" r:id="rId142"/>
    <p:sldId id="464" r:id="rId143"/>
    <p:sldId id="331" r:id="rId144"/>
  </p:sldIdLst>
  <p:sldSz cx="9144000" cy="6858000" type="screen4x3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>
        <p15:guide id="1" orient="horz" pos="2880">
          <p15:clr>
            <a:srgbClr val="A4A3A4"/>
          </p15:clr>
        </p15:guide>
        <p15:guide id="2" pos="2160">
          <p15:clr>
            <a:srgbClr val="A4A3A4"/>
          </p15:clr>
        </p15:guide>
      </p15:notes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F33CC"/>
    <a:srgbClr val="FF000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125E5076-3810-47DD-B79F-674D7AD40C01}" styleName="深色样式 1 - 强调 1">
    <a:wholeTbl>
      <a:tcTxStyle>
        <a:fontRef idx="minor">
          <a:scrgbClr r="0" g="0" b="0"/>
        </a:fontRef>
        <a:schemeClr val="lt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1"/>
          </a:solidFill>
        </a:fill>
      </a:tcStyle>
    </a:wholeTbl>
    <a:band1H>
      <a:tcStyle>
        <a:tcBdr/>
        <a:fill>
          <a:solidFill>
            <a:schemeClr val="accent1">
              <a:shade val="60000"/>
            </a:schemeClr>
          </a:solidFill>
        </a:fill>
      </a:tcStyle>
    </a:band1H>
    <a:band1V>
      <a:tcStyle>
        <a:tcBdr/>
        <a:fill>
          <a:solidFill>
            <a:schemeClr val="accent1">
              <a:shade val="60000"/>
            </a:schemeClr>
          </a:solidFill>
        </a:fill>
      </a:tcStyle>
    </a:band1V>
    <a:lastCol>
      <a:tcTxStyle b="on"/>
      <a:tcStyle>
        <a:tcBdr>
          <a:left>
            <a:ln w="25400" cmpd="sng">
              <a:solidFill>
                <a:schemeClr val="lt1"/>
              </a:solidFill>
            </a:ln>
          </a:left>
        </a:tcBdr>
        <a:fill>
          <a:solidFill>
            <a:schemeClr val="accent1">
              <a:shade val="60000"/>
            </a:schemeClr>
          </a:solidFill>
        </a:fill>
      </a:tcStyle>
    </a:lastCol>
    <a:firstCol>
      <a:tcTxStyle b="on"/>
      <a:tcStyle>
        <a:tcBdr>
          <a:right>
            <a:ln w="25400" cmpd="sng">
              <a:solidFill>
                <a:schemeClr val="lt1"/>
              </a:solidFill>
            </a:ln>
          </a:right>
        </a:tcBdr>
        <a:fill>
          <a:solidFill>
            <a:schemeClr val="accent1">
              <a:shade val="60000"/>
            </a:schemeClr>
          </a:solidFill>
        </a:fill>
      </a:tcStyle>
    </a:firstCol>
    <a:lastRow>
      <a:tcTxStyle b="on"/>
      <a:tcStyle>
        <a:tcBdr>
          <a:top>
            <a:ln w="25400" cmpd="sng">
              <a:solidFill>
                <a:schemeClr val="lt1"/>
              </a:solidFill>
            </a:ln>
          </a:top>
        </a:tcBdr>
        <a:fill>
          <a:solidFill>
            <a:schemeClr val="accent1">
              <a:shade val="40000"/>
            </a:schemeClr>
          </a:solidFill>
        </a:fill>
      </a:tcStyle>
    </a:lastRow>
    <a:seCell>
      <a:tcStyle>
        <a:tcBdr>
          <a:left>
            <a:ln>
              <a:noFill/>
            </a:ln>
          </a:left>
        </a:tcBdr>
      </a:tcStyle>
    </a:seCell>
    <a:swCell>
      <a:tcStyle>
        <a:tcBdr>
          <a:right>
            <a:ln>
              <a:noFill/>
            </a:ln>
          </a:right>
        </a:tcBdr>
      </a:tcStyle>
    </a:swCell>
    <a:firstRow>
      <a:tcTxStyle b="on"/>
      <a:tcStyle>
        <a:tcBdr>
          <a:bottom>
            <a:ln w="254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  <a:neCell>
      <a:tcStyle>
        <a:tcBdr>
          <a:left>
            <a:ln>
              <a:noFill/>
            </a:ln>
          </a:left>
        </a:tcBdr>
      </a:tcStyle>
    </a:neCell>
    <a:nwCell>
      <a:tcStyle>
        <a:tcBdr>
          <a:right>
            <a:ln>
              <a:noFill/>
            </a:ln>
          </a:right>
        </a:tcBdr>
      </a:tcStyle>
    </a:nwCell>
  </a:tblStyle>
  <a:tblStyle styleId="{5C22544A-7EE6-4342-B048-85BDC9FD1C3A}" styleName="中度样式 2 - 强调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7085" autoAdjust="0"/>
    <p:restoredTop sz="91039" autoAdjust="0"/>
  </p:normalViewPr>
  <p:slideViewPr>
    <p:cSldViewPr>
      <p:cViewPr varScale="1">
        <p:scale>
          <a:sx n="74" d="100"/>
          <a:sy n="74" d="100"/>
        </p:scale>
        <p:origin x="2026" y="58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notesViewPr>
    <p:cSldViewPr>
      <p:cViewPr varScale="1">
        <p:scale>
          <a:sx n="55" d="100"/>
          <a:sy n="55" d="100"/>
        </p:scale>
        <p:origin x="-2886" y="-102"/>
      </p:cViewPr>
      <p:guideLst>
        <p:guide orient="horz" pos="2880"/>
        <p:guide pos="2160"/>
      </p:guideLst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26" Type="http://schemas.openxmlformats.org/officeDocument/2006/relationships/slide" Target="slides/slide25.xml"/><Relationship Id="rId117" Type="http://schemas.openxmlformats.org/officeDocument/2006/relationships/slide" Target="slides/slide116.xml"/><Relationship Id="rId21" Type="http://schemas.openxmlformats.org/officeDocument/2006/relationships/slide" Target="slides/slide20.xml"/><Relationship Id="rId42" Type="http://schemas.openxmlformats.org/officeDocument/2006/relationships/slide" Target="slides/slide41.xml"/><Relationship Id="rId47" Type="http://schemas.openxmlformats.org/officeDocument/2006/relationships/slide" Target="slides/slide46.xml"/><Relationship Id="rId63" Type="http://schemas.openxmlformats.org/officeDocument/2006/relationships/slide" Target="slides/slide62.xml"/><Relationship Id="rId68" Type="http://schemas.openxmlformats.org/officeDocument/2006/relationships/slide" Target="slides/slide67.xml"/><Relationship Id="rId84" Type="http://schemas.openxmlformats.org/officeDocument/2006/relationships/slide" Target="slides/slide83.xml"/><Relationship Id="rId89" Type="http://schemas.openxmlformats.org/officeDocument/2006/relationships/slide" Target="slides/slide88.xml"/><Relationship Id="rId112" Type="http://schemas.openxmlformats.org/officeDocument/2006/relationships/slide" Target="slides/slide111.xml"/><Relationship Id="rId133" Type="http://schemas.openxmlformats.org/officeDocument/2006/relationships/slide" Target="slides/slide132.xml"/><Relationship Id="rId138" Type="http://schemas.openxmlformats.org/officeDocument/2006/relationships/slide" Target="slides/slide137.xml"/><Relationship Id="rId16" Type="http://schemas.openxmlformats.org/officeDocument/2006/relationships/slide" Target="slides/slide15.xml"/><Relationship Id="rId107" Type="http://schemas.openxmlformats.org/officeDocument/2006/relationships/slide" Target="slides/slide106.xml"/><Relationship Id="rId11" Type="http://schemas.openxmlformats.org/officeDocument/2006/relationships/slide" Target="slides/slide10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53" Type="http://schemas.openxmlformats.org/officeDocument/2006/relationships/slide" Target="slides/slide52.xml"/><Relationship Id="rId58" Type="http://schemas.openxmlformats.org/officeDocument/2006/relationships/slide" Target="slides/slide57.xml"/><Relationship Id="rId74" Type="http://schemas.openxmlformats.org/officeDocument/2006/relationships/slide" Target="slides/slide73.xml"/><Relationship Id="rId79" Type="http://schemas.openxmlformats.org/officeDocument/2006/relationships/slide" Target="slides/slide78.xml"/><Relationship Id="rId102" Type="http://schemas.openxmlformats.org/officeDocument/2006/relationships/slide" Target="slides/slide101.xml"/><Relationship Id="rId123" Type="http://schemas.openxmlformats.org/officeDocument/2006/relationships/slide" Target="slides/slide122.xml"/><Relationship Id="rId128" Type="http://schemas.openxmlformats.org/officeDocument/2006/relationships/slide" Target="slides/slide127.xml"/><Relationship Id="rId144" Type="http://schemas.openxmlformats.org/officeDocument/2006/relationships/slide" Target="slides/slide143.xml"/><Relationship Id="rId149" Type="http://schemas.openxmlformats.org/officeDocument/2006/relationships/theme" Target="theme/theme1.xml"/><Relationship Id="rId5" Type="http://schemas.openxmlformats.org/officeDocument/2006/relationships/slide" Target="slides/slide4.xml"/><Relationship Id="rId90" Type="http://schemas.openxmlformats.org/officeDocument/2006/relationships/slide" Target="slides/slide89.xml"/><Relationship Id="rId95" Type="http://schemas.openxmlformats.org/officeDocument/2006/relationships/slide" Target="slides/slide94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43" Type="http://schemas.openxmlformats.org/officeDocument/2006/relationships/slide" Target="slides/slide42.xml"/><Relationship Id="rId48" Type="http://schemas.openxmlformats.org/officeDocument/2006/relationships/slide" Target="slides/slide47.xml"/><Relationship Id="rId64" Type="http://schemas.openxmlformats.org/officeDocument/2006/relationships/slide" Target="slides/slide63.xml"/><Relationship Id="rId69" Type="http://schemas.openxmlformats.org/officeDocument/2006/relationships/slide" Target="slides/slide68.xml"/><Relationship Id="rId113" Type="http://schemas.openxmlformats.org/officeDocument/2006/relationships/slide" Target="slides/slide112.xml"/><Relationship Id="rId118" Type="http://schemas.openxmlformats.org/officeDocument/2006/relationships/slide" Target="slides/slide117.xml"/><Relationship Id="rId134" Type="http://schemas.openxmlformats.org/officeDocument/2006/relationships/slide" Target="slides/slide133.xml"/><Relationship Id="rId139" Type="http://schemas.openxmlformats.org/officeDocument/2006/relationships/slide" Target="slides/slide138.xml"/><Relationship Id="rId80" Type="http://schemas.openxmlformats.org/officeDocument/2006/relationships/slide" Target="slides/slide79.xml"/><Relationship Id="rId85" Type="http://schemas.openxmlformats.org/officeDocument/2006/relationships/slide" Target="slides/slide84.xml"/><Relationship Id="rId150" Type="http://schemas.openxmlformats.org/officeDocument/2006/relationships/tableStyles" Target="tableStyles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slide" Target="slides/slide45.xml"/><Relationship Id="rId59" Type="http://schemas.openxmlformats.org/officeDocument/2006/relationships/slide" Target="slides/slide58.xml"/><Relationship Id="rId67" Type="http://schemas.openxmlformats.org/officeDocument/2006/relationships/slide" Target="slides/slide66.xml"/><Relationship Id="rId103" Type="http://schemas.openxmlformats.org/officeDocument/2006/relationships/slide" Target="slides/slide102.xml"/><Relationship Id="rId108" Type="http://schemas.openxmlformats.org/officeDocument/2006/relationships/slide" Target="slides/slide107.xml"/><Relationship Id="rId116" Type="http://schemas.openxmlformats.org/officeDocument/2006/relationships/slide" Target="slides/slide115.xml"/><Relationship Id="rId124" Type="http://schemas.openxmlformats.org/officeDocument/2006/relationships/slide" Target="slides/slide123.xml"/><Relationship Id="rId129" Type="http://schemas.openxmlformats.org/officeDocument/2006/relationships/slide" Target="slides/slide128.xml"/><Relationship Id="rId137" Type="http://schemas.openxmlformats.org/officeDocument/2006/relationships/slide" Target="slides/slide136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54" Type="http://schemas.openxmlformats.org/officeDocument/2006/relationships/slide" Target="slides/slide53.xml"/><Relationship Id="rId62" Type="http://schemas.openxmlformats.org/officeDocument/2006/relationships/slide" Target="slides/slide61.xml"/><Relationship Id="rId70" Type="http://schemas.openxmlformats.org/officeDocument/2006/relationships/slide" Target="slides/slide69.xml"/><Relationship Id="rId75" Type="http://schemas.openxmlformats.org/officeDocument/2006/relationships/slide" Target="slides/slide74.xml"/><Relationship Id="rId83" Type="http://schemas.openxmlformats.org/officeDocument/2006/relationships/slide" Target="slides/slide82.xml"/><Relationship Id="rId88" Type="http://schemas.openxmlformats.org/officeDocument/2006/relationships/slide" Target="slides/slide87.xml"/><Relationship Id="rId91" Type="http://schemas.openxmlformats.org/officeDocument/2006/relationships/slide" Target="slides/slide90.xml"/><Relationship Id="rId96" Type="http://schemas.openxmlformats.org/officeDocument/2006/relationships/slide" Target="slides/slide95.xml"/><Relationship Id="rId111" Type="http://schemas.openxmlformats.org/officeDocument/2006/relationships/slide" Target="slides/slide110.xml"/><Relationship Id="rId132" Type="http://schemas.openxmlformats.org/officeDocument/2006/relationships/slide" Target="slides/slide131.xml"/><Relationship Id="rId140" Type="http://schemas.openxmlformats.org/officeDocument/2006/relationships/slide" Target="slides/slide139.xml"/><Relationship Id="rId145" Type="http://schemas.openxmlformats.org/officeDocument/2006/relationships/notesMaster" Target="notesMasters/notesMaster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slide" Target="slides/slide48.xml"/><Relationship Id="rId57" Type="http://schemas.openxmlformats.org/officeDocument/2006/relationships/slide" Target="slides/slide56.xml"/><Relationship Id="rId106" Type="http://schemas.openxmlformats.org/officeDocument/2006/relationships/slide" Target="slides/slide105.xml"/><Relationship Id="rId114" Type="http://schemas.openxmlformats.org/officeDocument/2006/relationships/slide" Target="slides/slide113.xml"/><Relationship Id="rId119" Type="http://schemas.openxmlformats.org/officeDocument/2006/relationships/slide" Target="slides/slide118.xml"/><Relationship Id="rId127" Type="http://schemas.openxmlformats.org/officeDocument/2006/relationships/slide" Target="slides/slide126.xml"/><Relationship Id="rId10" Type="http://schemas.openxmlformats.org/officeDocument/2006/relationships/slide" Target="slides/slide9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52" Type="http://schemas.openxmlformats.org/officeDocument/2006/relationships/slide" Target="slides/slide51.xml"/><Relationship Id="rId60" Type="http://schemas.openxmlformats.org/officeDocument/2006/relationships/slide" Target="slides/slide59.xml"/><Relationship Id="rId65" Type="http://schemas.openxmlformats.org/officeDocument/2006/relationships/slide" Target="slides/slide64.xml"/><Relationship Id="rId73" Type="http://schemas.openxmlformats.org/officeDocument/2006/relationships/slide" Target="slides/slide72.xml"/><Relationship Id="rId78" Type="http://schemas.openxmlformats.org/officeDocument/2006/relationships/slide" Target="slides/slide77.xml"/><Relationship Id="rId81" Type="http://schemas.openxmlformats.org/officeDocument/2006/relationships/slide" Target="slides/slide80.xml"/><Relationship Id="rId86" Type="http://schemas.openxmlformats.org/officeDocument/2006/relationships/slide" Target="slides/slide85.xml"/><Relationship Id="rId94" Type="http://schemas.openxmlformats.org/officeDocument/2006/relationships/slide" Target="slides/slide93.xml"/><Relationship Id="rId99" Type="http://schemas.openxmlformats.org/officeDocument/2006/relationships/slide" Target="slides/slide98.xml"/><Relationship Id="rId101" Type="http://schemas.openxmlformats.org/officeDocument/2006/relationships/slide" Target="slides/slide100.xml"/><Relationship Id="rId122" Type="http://schemas.openxmlformats.org/officeDocument/2006/relationships/slide" Target="slides/slide121.xml"/><Relationship Id="rId130" Type="http://schemas.openxmlformats.org/officeDocument/2006/relationships/slide" Target="slides/slide129.xml"/><Relationship Id="rId135" Type="http://schemas.openxmlformats.org/officeDocument/2006/relationships/slide" Target="slides/slide134.xml"/><Relationship Id="rId143" Type="http://schemas.openxmlformats.org/officeDocument/2006/relationships/slide" Target="slides/slide142.xml"/><Relationship Id="rId148" Type="http://schemas.openxmlformats.org/officeDocument/2006/relationships/viewProps" Target="viewProps.xml"/><Relationship Id="rId151" Type="http://schemas.microsoft.com/office/2016/11/relationships/changesInfo" Target="changesInfos/changesInfo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9" Type="http://schemas.openxmlformats.org/officeDocument/2006/relationships/slide" Target="slides/slide38.xml"/><Relationship Id="rId109" Type="http://schemas.openxmlformats.org/officeDocument/2006/relationships/slide" Target="slides/slide108.xml"/><Relationship Id="rId34" Type="http://schemas.openxmlformats.org/officeDocument/2006/relationships/slide" Target="slides/slide33.xml"/><Relationship Id="rId50" Type="http://schemas.openxmlformats.org/officeDocument/2006/relationships/slide" Target="slides/slide49.xml"/><Relationship Id="rId55" Type="http://schemas.openxmlformats.org/officeDocument/2006/relationships/slide" Target="slides/slide54.xml"/><Relationship Id="rId76" Type="http://schemas.openxmlformats.org/officeDocument/2006/relationships/slide" Target="slides/slide75.xml"/><Relationship Id="rId97" Type="http://schemas.openxmlformats.org/officeDocument/2006/relationships/slide" Target="slides/slide96.xml"/><Relationship Id="rId104" Type="http://schemas.openxmlformats.org/officeDocument/2006/relationships/slide" Target="slides/slide103.xml"/><Relationship Id="rId120" Type="http://schemas.openxmlformats.org/officeDocument/2006/relationships/slide" Target="slides/slide119.xml"/><Relationship Id="rId125" Type="http://schemas.openxmlformats.org/officeDocument/2006/relationships/slide" Target="slides/slide124.xml"/><Relationship Id="rId141" Type="http://schemas.openxmlformats.org/officeDocument/2006/relationships/slide" Target="slides/slide140.xml"/><Relationship Id="rId146" Type="http://schemas.openxmlformats.org/officeDocument/2006/relationships/handoutMaster" Target="handoutMasters/handoutMaster1.xml"/><Relationship Id="rId7" Type="http://schemas.openxmlformats.org/officeDocument/2006/relationships/slide" Target="slides/slide6.xml"/><Relationship Id="rId71" Type="http://schemas.openxmlformats.org/officeDocument/2006/relationships/slide" Target="slides/slide70.xml"/><Relationship Id="rId92" Type="http://schemas.openxmlformats.org/officeDocument/2006/relationships/slide" Target="slides/slide91.xml"/><Relationship Id="rId2" Type="http://schemas.openxmlformats.org/officeDocument/2006/relationships/slide" Target="slides/slide1.xml"/><Relationship Id="rId29" Type="http://schemas.openxmlformats.org/officeDocument/2006/relationships/slide" Target="slides/slide28.xml"/><Relationship Id="rId24" Type="http://schemas.openxmlformats.org/officeDocument/2006/relationships/slide" Target="slides/slide23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66" Type="http://schemas.openxmlformats.org/officeDocument/2006/relationships/slide" Target="slides/slide65.xml"/><Relationship Id="rId87" Type="http://schemas.openxmlformats.org/officeDocument/2006/relationships/slide" Target="slides/slide86.xml"/><Relationship Id="rId110" Type="http://schemas.openxmlformats.org/officeDocument/2006/relationships/slide" Target="slides/slide109.xml"/><Relationship Id="rId115" Type="http://schemas.openxmlformats.org/officeDocument/2006/relationships/slide" Target="slides/slide114.xml"/><Relationship Id="rId131" Type="http://schemas.openxmlformats.org/officeDocument/2006/relationships/slide" Target="slides/slide130.xml"/><Relationship Id="rId136" Type="http://schemas.openxmlformats.org/officeDocument/2006/relationships/slide" Target="slides/slide135.xml"/><Relationship Id="rId61" Type="http://schemas.openxmlformats.org/officeDocument/2006/relationships/slide" Target="slides/slide60.xml"/><Relationship Id="rId82" Type="http://schemas.openxmlformats.org/officeDocument/2006/relationships/slide" Target="slides/slide81.xml"/><Relationship Id="rId19" Type="http://schemas.openxmlformats.org/officeDocument/2006/relationships/slide" Target="slides/slide18.xml"/><Relationship Id="rId14" Type="http://schemas.openxmlformats.org/officeDocument/2006/relationships/slide" Target="slides/slide13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56" Type="http://schemas.openxmlformats.org/officeDocument/2006/relationships/slide" Target="slides/slide55.xml"/><Relationship Id="rId77" Type="http://schemas.openxmlformats.org/officeDocument/2006/relationships/slide" Target="slides/slide76.xml"/><Relationship Id="rId100" Type="http://schemas.openxmlformats.org/officeDocument/2006/relationships/slide" Target="slides/slide99.xml"/><Relationship Id="rId105" Type="http://schemas.openxmlformats.org/officeDocument/2006/relationships/slide" Target="slides/slide104.xml"/><Relationship Id="rId126" Type="http://schemas.openxmlformats.org/officeDocument/2006/relationships/slide" Target="slides/slide125.xml"/><Relationship Id="rId147" Type="http://schemas.openxmlformats.org/officeDocument/2006/relationships/presProps" Target="presProps.xml"/><Relationship Id="rId8" Type="http://schemas.openxmlformats.org/officeDocument/2006/relationships/slide" Target="slides/slide7.xml"/><Relationship Id="rId51" Type="http://schemas.openxmlformats.org/officeDocument/2006/relationships/slide" Target="slides/slide50.xml"/><Relationship Id="rId72" Type="http://schemas.openxmlformats.org/officeDocument/2006/relationships/slide" Target="slides/slide71.xml"/><Relationship Id="rId93" Type="http://schemas.openxmlformats.org/officeDocument/2006/relationships/slide" Target="slides/slide92.xml"/><Relationship Id="rId98" Type="http://schemas.openxmlformats.org/officeDocument/2006/relationships/slide" Target="slides/slide97.xml"/><Relationship Id="rId121" Type="http://schemas.openxmlformats.org/officeDocument/2006/relationships/slide" Target="slides/slide120.xml"/><Relationship Id="rId142" Type="http://schemas.openxmlformats.org/officeDocument/2006/relationships/slide" Target="slides/slide141.xml"/><Relationship Id="rId3" Type="http://schemas.openxmlformats.org/officeDocument/2006/relationships/slide" Target="slides/slide2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atul garg" userId="f7bdc39034a28458" providerId="LiveId" clId="{6F7FB024-C6B0-40CE-B2CF-A1F56BABC335}"/>
    <pc:docChg chg="undo redo custSel addSld delSld modSld sldOrd">
      <pc:chgData name="atul garg" userId="f7bdc39034a28458" providerId="LiveId" clId="{6F7FB024-C6B0-40CE-B2CF-A1F56BABC335}" dt="2025-07-08T05:16:04.177" v="427" actId="20577"/>
      <pc:docMkLst>
        <pc:docMk/>
      </pc:docMkLst>
      <pc:sldChg chg="del">
        <pc:chgData name="atul garg" userId="f7bdc39034a28458" providerId="LiveId" clId="{6F7FB024-C6B0-40CE-B2CF-A1F56BABC335}" dt="2025-07-07T06:42:05.637" v="57" actId="47"/>
        <pc:sldMkLst>
          <pc:docMk/>
          <pc:sldMk cId="0" sldId="257"/>
        </pc:sldMkLst>
      </pc:sldChg>
      <pc:sldChg chg="add del">
        <pc:chgData name="atul garg" userId="f7bdc39034a28458" providerId="LiveId" clId="{6F7FB024-C6B0-40CE-B2CF-A1F56BABC335}" dt="2025-07-07T06:53:00.489" v="103" actId="47"/>
        <pc:sldMkLst>
          <pc:docMk/>
          <pc:sldMk cId="1942453532" sldId="289"/>
        </pc:sldMkLst>
      </pc:sldChg>
      <pc:sldChg chg="add del">
        <pc:chgData name="atul garg" userId="f7bdc39034a28458" providerId="LiveId" clId="{6F7FB024-C6B0-40CE-B2CF-A1F56BABC335}" dt="2025-07-07T06:53:00.489" v="103" actId="47"/>
        <pc:sldMkLst>
          <pc:docMk/>
          <pc:sldMk cId="3268300823" sldId="290"/>
        </pc:sldMkLst>
      </pc:sldChg>
      <pc:sldChg chg="add del">
        <pc:chgData name="atul garg" userId="f7bdc39034a28458" providerId="LiveId" clId="{6F7FB024-C6B0-40CE-B2CF-A1F56BABC335}" dt="2025-07-07T06:53:00.489" v="103" actId="47"/>
        <pc:sldMkLst>
          <pc:docMk/>
          <pc:sldMk cId="2970152059" sldId="291"/>
        </pc:sldMkLst>
      </pc:sldChg>
      <pc:sldChg chg="add del">
        <pc:chgData name="atul garg" userId="f7bdc39034a28458" providerId="LiveId" clId="{6F7FB024-C6B0-40CE-B2CF-A1F56BABC335}" dt="2025-07-07T06:53:00.489" v="103" actId="47"/>
        <pc:sldMkLst>
          <pc:docMk/>
          <pc:sldMk cId="3563258548" sldId="292"/>
        </pc:sldMkLst>
      </pc:sldChg>
      <pc:sldChg chg="addSp delSp modSp mod">
        <pc:chgData name="atul garg" userId="f7bdc39034a28458" providerId="LiveId" clId="{6F7FB024-C6B0-40CE-B2CF-A1F56BABC335}" dt="2025-07-08T04:54:56.449" v="135" actId="478"/>
        <pc:sldMkLst>
          <pc:docMk/>
          <pc:sldMk cId="0" sldId="323"/>
        </pc:sldMkLst>
        <pc:picChg chg="add del mod">
          <ac:chgData name="atul garg" userId="f7bdc39034a28458" providerId="LiveId" clId="{6F7FB024-C6B0-40CE-B2CF-A1F56BABC335}" dt="2025-07-08T04:54:55.855" v="134" actId="22"/>
          <ac:picMkLst>
            <pc:docMk/>
            <pc:sldMk cId="0" sldId="323"/>
            <ac:picMk id="7" creationId="{CFE39F3F-13D9-070E-5C85-B99CDB845D33}"/>
          </ac:picMkLst>
        </pc:picChg>
        <pc:picChg chg="add del">
          <ac:chgData name="atul garg" userId="f7bdc39034a28458" providerId="LiveId" clId="{6F7FB024-C6B0-40CE-B2CF-A1F56BABC335}" dt="2025-07-08T04:54:56.449" v="135" actId="478"/>
          <ac:picMkLst>
            <pc:docMk/>
            <pc:sldMk cId="0" sldId="323"/>
            <ac:picMk id="1026" creationId="{00000000-0000-0000-0000-000000000000}"/>
          </ac:picMkLst>
        </pc:picChg>
      </pc:sldChg>
      <pc:sldChg chg="ord">
        <pc:chgData name="atul garg" userId="f7bdc39034a28458" providerId="LiveId" clId="{6F7FB024-C6B0-40CE-B2CF-A1F56BABC335}" dt="2025-07-07T08:45:29.318" v="117"/>
        <pc:sldMkLst>
          <pc:docMk/>
          <pc:sldMk cId="0" sldId="355"/>
        </pc:sldMkLst>
      </pc:sldChg>
      <pc:sldChg chg="modSp mod">
        <pc:chgData name="atul garg" userId="f7bdc39034a28458" providerId="LiveId" clId="{6F7FB024-C6B0-40CE-B2CF-A1F56BABC335}" dt="2025-07-02T10:12:12.401" v="44" actId="1035"/>
        <pc:sldMkLst>
          <pc:docMk/>
          <pc:sldMk cId="0" sldId="368"/>
        </pc:sldMkLst>
        <pc:picChg chg="mod">
          <ac:chgData name="atul garg" userId="f7bdc39034a28458" providerId="LiveId" clId="{6F7FB024-C6B0-40CE-B2CF-A1F56BABC335}" dt="2025-07-02T10:12:12.401" v="44" actId="1035"/>
          <ac:picMkLst>
            <pc:docMk/>
            <pc:sldMk cId="0" sldId="368"/>
            <ac:picMk id="12" creationId="{00000000-0000-0000-0000-000000000000}"/>
          </ac:picMkLst>
        </pc:picChg>
      </pc:sldChg>
      <pc:sldChg chg="ord">
        <pc:chgData name="atul garg" userId="f7bdc39034a28458" providerId="LiveId" clId="{6F7FB024-C6B0-40CE-B2CF-A1F56BABC335}" dt="2025-07-07T08:37:02.213" v="109"/>
        <pc:sldMkLst>
          <pc:docMk/>
          <pc:sldMk cId="3991053909" sldId="416"/>
        </pc:sldMkLst>
      </pc:sldChg>
      <pc:sldChg chg="ord">
        <pc:chgData name="atul garg" userId="f7bdc39034a28458" providerId="LiveId" clId="{6F7FB024-C6B0-40CE-B2CF-A1F56BABC335}" dt="2025-07-07T08:42:31.954" v="115"/>
        <pc:sldMkLst>
          <pc:docMk/>
          <pc:sldMk cId="4189602283" sldId="426"/>
        </pc:sldMkLst>
      </pc:sldChg>
      <pc:sldChg chg="ord">
        <pc:chgData name="atul garg" userId="f7bdc39034a28458" providerId="LiveId" clId="{6F7FB024-C6B0-40CE-B2CF-A1F56BABC335}" dt="2025-07-07T08:42:31.954" v="115"/>
        <pc:sldMkLst>
          <pc:docMk/>
          <pc:sldMk cId="2629200754" sldId="427"/>
        </pc:sldMkLst>
      </pc:sldChg>
      <pc:sldChg chg="ord">
        <pc:chgData name="atul garg" userId="f7bdc39034a28458" providerId="LiveId" clId="{6F7FB024-C6B0-40CE-B2CF-A1F56BABC335}" dt="2025-07-07T08:40:43.579" v="113"/>
        <pc:sldMkLst>
          <pc:docMk/>
          <pc:sldMk cId="672520701" sldId="428"/>
        </pc:sldMkLst>
      </pc:sldChg>
      <pc:sldChg chg="ord">
        <pc:chgData name="atul garg" userId="f7bdc39034a28458" providerId="LiveId" clId="{6F7FB024-C6B0-40CE-B2CF-A1F56BABC335}" dt="2025-07-07T08:40:43.579" v="113"/>
        <pc:sldMkLst>
          <pc:docMk/>
          <pc:sldMk cId="3361435759" sldId="429"/>
        </pc:sldMkLst>
      </pc:sldChg>
      <pc:sldChg chg="ord">
        <pc:chgData name="atul garg" userId="f7bdc39034a28458" providerId="LiveId" clId="{6F7FB024-C6B0-40CE-B2CF-A1F56BABC335}" dt="2025-07-07T08:40:43.579" v="113"/>
        <pc:sldMkLst>
          <pc:docMk/>
          <pc:sldMk cId="220743473" sldId="430"/>
        </pc:sldMkLst>
      </pc:sldChg>
      <pc:sldChg chg="ord">
        <pc:chgData name="atul garg" userId="f7bdc39034a28458" providerId="LiveId" clId="{6F7FB024-C6B0-40CE-B2CF-A1F56BABC335}" dt="2025-07-07T08:40:43.579" v="113"/>
        <pc:sldMkLst>
          <pc:docMk/>
          <pc:sldMk cId="547775016" sldId="431"/>
        </pc:sldMkLst>
      </pc:sldChg>
      <pc:sldChg chg="ord">
        <pc:chgData name="atul garg" userId="f7bdc39034a28458" providerId="LiveId" clId="{6F7FB024-C6B0-40CE-B2CF-A1F56BABC335}" dt="2025-07-07T08:45:29.318" v="117"/>
        <pc:sldMkLst>
          <pc:docMk/>
          <pc:sldMk cId="453778670" sldId="433"/>
        </pc:sldMkLst>
      </pc:sldChg>
      <pc:sldChg chg="ord">
        <pc:chgData name="atul garg" userId="f7bdc39034a28458" providerId="LiveId" clId="{6F7FB024-C6B0-40CE-B2CF-A1F56BABC335}" dt="2025-07-07T08:45:29.318" v="117"/>
        <pc:sldMkLst>
          <pc:docMk/>
          <pc:sldMk cId="3834106922" sldId="434"/>
        </pc:sldMkLst>
      </pc:sldChg>
      <pc:sldChg chg="ord">
        <pc:chgData name="atul garg" userId="f7bdc39034a28458" providerId="LiveId" clId="{6F7FB024-C6B0-40CE-B2CF-A1F56BABC335}" dt="2025-07-07T08:45:29.318" v="117"/>
        <pc:sldMkLst>
          <pc:docMk/>
          <pc:sldMk cId="1029220084" sldId="435"/>
        </pc:sldMkLst>
      </pc:sldChg>
      <pc:sldChg chg="ord">
        <pc:chgData name="atul garg" userId="f7bdc39034a28458" providerId="LiveId" clId="{6F7FB024-C6B0-40CE-B2CF-A1F56BABC335}" dt="2025-07-07T08:45:29.318" v="117"/>
        <pc:sldMkLst>
          <pc:docMk/>
          <pc:sldMk cId="3549443645" sldId="436"/>
        </pc:sldMkLst>
      </pc:sldChg>
      <pc:sldChg chg="ord">
        <pc:chgData name="atul garg" userId="f7bdc39034a28458" providerId="LiveId" clId="{6F7FB024-C6B0-40CE-B2CF-A1F56BABC335}" dt="2025-07-07T08:45:29.318" v="117"/>
        <pc:sldMkLst>
          <pc:docMk/>
          <pc:sldMk cId="484246499" sldId="437"/>
        </pc:sldMkLst>
      </pc:sldChg>
      <pc:sldChg chg="ord">
        <pc:chgData name="atul garg" userId="f7bdc39034a28458" providerId="LiveId" clId="{6F7FB024-C6B0-40CE-B2CF-A1F56BABC335}" dt="2025-07-07T08:45:29.318" v="117"/>
        <pc:sldMkLst>
          <pc:docMk/>
          <pc:sldMk cId="222648608" sldId="438"/>
        </pc:sldMkLst>
      </pc:sldChg>
      <pc:sldChg chg="ord">
        <pc:chgData name="atul garg" userId="f7bdc39034a28458" providerId="LiveId" clId="{6F7FB024-C6B0-40CE-B2CF-A1F56BABC335}" dt="2025-07-07T08:45:29.318" v="117"/>
        <pc:sldMkLst>
          <pc:docMk/>
          <pc:sldMk cId="1705717199" sldId="439"/>
        </pc:sldMkLst>
      </pc:sldChg>
      <pc:sldChg chg="ord">
        <pc:chgData name="atul garg" userId="f7bdc39034a28458" providerId="LiveId" clId="{6F7FB024-C6B0-40CE-B2CF-A1F56BABC335}" dt="2025-07-07T08:45:29.318" v="117"/>
        <pc:sldMkLst>
          <pc:docMk/>
          <pc:sldMk cId="2429277342" sldId="440"/>
        </pc:sldMkLst>
      </pc:sldChg>
      <pc:sldChg chg="addSp delSp modSp mod">
        <pc:chgData name="atul garg" userId="f7bdc39034a28458" providerId="LiveId" clId="{6F7FB024-C6B0-40CE-B2CF-A1F56BABC335}" dt="2025-07-07T06:39:35.307" v="56" actId="20577"/>
        <pc:sldMkLst>
          <pc:docMk/>
          <pc:sldMk cId="0" sldId="471"/>
        </pc:sldMkLst>
        <pc:spChg chg="mod">
          <ac:chgData name="atul garg" userId="f7bdc39034a28458" providerId="LiveId" clId="{6F7FB024-C6B0-40CE-B2CF-A1F56BABC335}" dt="2025-07-02T10:06:11.945" v="41" actId="20577"/>
          <ac:spMkLst>
            <pc:docMk/>
            <pc:sldMk cId="0" sldId="471"/>
            <ac:spMk id="6" creationId="{00000000-0000-0000-0000-000000000000}"/>
          </ac:spMkLst>
        </pc:spChg>
        <pc:spChg chg="mod">
          <ac:chgData name="atul garg" userId="f7bdc39034a28458" providerId="LiveId" clId="{6F7FB024-C6B0-40CE-B2CF-A1F56BABC335}" dt="2025-07-07T06:39:35.307" v="56" actId="20577"/>
          <ac:spMkLst>
            <pc:docMk/>
            <pc:sldMk cId="0" sldId="471"/>
            <ac:spMk id="14" creationId="{00000000-0000-0000-0000-000000000000}"/>
          </ac:spMkLst>
        </pc:spChg>
        <pc:spChg chg="mod">
          <ac:chgData name="atul garg" userId="f7bdc39034a28458" providerId="LiveId" clId="{6F7FB024-C6B0-40CE-B2CF-A1F56BABC335}" dt="2025-07-02T10:05:58.134" v="20" actId="20577"/>
          <ac:spMkLst>
            <pc:docMk/>
            <pc:sldMk cId="0" sldId="471"/>
            <ac:spMk id="15" creationId="{00000000-0000-0000-0000-000000000000}"/>
          </ac:spMkLst>
        </pc:spChg>
        <pc:picChg chg="add mod">
          <ac:chgData name="atul garg" userId="f7bdc39034a28458" providerId="LiveId" clId="{6F7FB024-C6B0-40CE-B2CF-A1F56BABC335}" dt="2025-07-02T10:17:22.760" v="48" actId="14100"/>
          <ac:picMkLst>
            <pc:docMk/>
            <pc:sldMk cId="0" sldId="471"/>
            <ac:picMk id="13" creationId="{EC7C2DDE-86A0-9844-22FB-A0FCAD25DBAC}"/>
          </ac:picMkLst>
        </pc:picChg>
      </pc:sldChg>
      <pc:sldChg chg="add del">
        <pc:chgData name="atul garg" userId="f7bdc39034a28458" providerId="LiveId" clId="{6F7FB024-C6B0-40CE-B2CF-A1F56BABC335}" dt="2025-07-07T06:53:00.489" v="103" actId="47"/>
        <pc:sldMkLst>
          <pc:docMk/>
          <pc:sldMk cId="2372851242" sldId="478"/>
        </pc:sldMkLst>
      </pc:sldChg>
      <pc:sldChg chg="ord">
        <pc:chgData name="atul garg" userId="f7bdc39034a28458" providerId="LiveId" clId="{6F7FB024-C6B0-40CE-B2CF-A1F56BABC335}" dt="2025-07-07T08:35:15.739" v="107"/>
        <pc:sldMkLst>
          <pc:docMk/>
          <pc:sldMk cId="1456880826" sldId="481"/>
        </pc:sldMkLst>
      </pc:sldChg>
      <pc:sldChg chg="ord">
        <pc:chgData name="atul garg" userId="f7bdc39034a28458" providerId="LiveId" clId="{6F7FB024-C6B0-40CE-B2CF-A1F56BABC335}" dt="2025-07-07T08:37:54.097" v="111"/>
        <pc:sldMkLst>
          <pc:docMk/>
          <pc:sldMk cId="3100003793" sldId="482"/>
        </pc:sldMkLst>
      </pc:sldChg>
      <pc:sldChg chg="ord">
        <pc:chgData name="atul garg" userId="f7bdc39034a28458" providerId="LiveId" clId="{6F7FB024-C6B0-40CE-B2CF-A1F56BABC335}" dt="2025-07-07T08:37:02.213" v="109"/>
        <pc:sldMkLst>
          <pc:docMk/>
          <pc:sldMk cId="4143026305" sldId="483"/>
        </pc:sldMkLst>
      </pc:sldChg>
      <pc:sldChg chg="ord">
        <pc:chgData name="atul garg" userId="f7bdc39034a28458" providerId="LiveId" clId="{6F7FB024-C6B0-40CE-B2CF-A1F56BABC335}" dt="2025-07-07T08:37:02.213" v="109"/>
        <pc:sldMkLst>
          <pc:docMk/>
          <pc:sldMk cId="290267706" sldId="484"/>
        </pc:sldMkLst>
      </pc:sldChg>
      <pc:sldChg chg="modSp mod">
        <pc:chgData name="atul garg" userId="f7bdc39034a28458" providerId="LiveId" clId="{6F7FB024-C6B0-40CE-B2CF-A1F56BABC335}" dt="2025-07-07T06:47:09.627" v="90" actId="20577"/>
        <pc:sldMkLst>
          <pc:docMk/>
          <pc:sldMk cId="1275886700" sldId="486"/>
        </pc:sldMkLst>
        <pc:spChg chg="mod">
          <ac:chgData name="atul garg" userId="f7bdc39034a28458" providerId="LiveId" clId="{6F7FB024-C6B0-40CE-B2CF-A1F56BABC335}" dt="2025-07-07T06:47:09.627" v="90" actId="20577"/>
          <ac:spMkLst>
            <pc:docMk/>
            <pc:sldMk cId="1275886700" sldId="486"/>
            <ac:spMk id="8" creationId="{352BEE44-9768-7B3C-D631-C2054F9FC4E5}"/>
          </ac:spMkLst>
        </pc:spChg>
      </pc:sldChg>
      <pc:sldChg chg="modSp mod">
        <pc:chgData name="atul garg" userId="f7bdc39034a28458" providerId="LiveId" clId="{6F7FB024-C6B0-40CE-B2CF-A1F56BABC335}" dt="2025-07-08T04:40:20.193" v="127" actId="20577"/>
        <pc:sldMkLst>
          <pc:docMk/>
          <pc:sldMk cId="4283893656" sldId="488"/>
        </pc:sldMkLst>
        <pc:spChg chg="mod">
          <ac:chgData name="atul garg" userId="f7bdc39034a28458" providerId="LiveId" clId="{6F7FB024-C6B0-40CE-B2CF-A1F56BABC335}" dt="2025-07-08T04:40:20.193" v="127" actId="20577"/>
          <ac:spMkLst>
            <pc:docMk/>
            <pc:sldMk cId="4283893656" sldId="488"/>
            <ac:spMk id="8" creationId="{6912E136-73B9-8E13-BE53-421E0BF68839}"/>
          </ac:spMkLst>
        </pc:spChg>
      </pc:sldChg>
      <pc:sldChg chg="addSp delSp modSp add mod">
        <pc:chgData name="atul garg" userId="f7bdc39034a28458" providerId="LiveId" clId="{6F7FB024-C6B0-40CE-B2CF-A1F56BABC335}" dt="2025-07-08T05:05:02.968" v="190" actId="20577"/>
        <pc:sldMkLst>
          <pc:docMk/>
          <pc:sldMk cId="527089262" sldId="489"/>
        </pc:sldMkLst>
        <pc:spChg chg="add del mod">
          <ac:chgData name="atul garg" userId="f7bdc39034a28458" providerId="LiveId" clId="{6F7FB024-C6B0-40CE-B2CF-A1F56BABC335}" dt="2025-07-08T05:04:43.785" v="173" actId="1076"/>
          <ac:spMkLst>
            <pc:docMk/>
            <pc:sldMk cId="527089262" sldId="489"/>
            <ac:spMk id="3" creationId="{B86879B2-4679-CDAC-3BDA-B756BD630D6C}"/>
          </ac:spMkLst>
        </pc:spChg>
        <pc:spChg chg="mod">
          <ac:chgData name="atul garg" userId="f7bdc39034a28458" providerId="LiveId" clId="{6F7FB024-C6B0-40CE-B2CF-A1F56BABC335}" dt="2025-07-08T05:05:02.968" v="190" actId="20577"/>
          <ac:spMkLst>
            <pc:docMk/>
            <pc:sldMk cId="527089262" sldId="489"/>
            <ac:spMk id="6" creationId="{B267341A-0328-3792-3B62-9F98772D2E22}"/>
          </ac:spMkLst>
        </pc:spChg>
        <pc:spChg chg="add del mod">
          <ac:chgData name="atul garg" userId="f7bdc39034a28458" providerId="LiveId" clId="{6F7FB024-C6B0-40CE-B2CF-A1F56BABC335}" dt="2025-07-08T05:04:45.404" v="174" actId="6549"/>
          <ac:spMkLst>
            <pc:docMk/>
            <pc:sldMk cId="527089262" sldId="489"/>
            <ac:spMk id="10" creationId="{5F607921-6E72-2937-6B5F-CD657B16E9C8}"/>
          </ac:spMkLst>
        </pc:spChg>
      </pc:sldChg>
      <pc:sldChg chg="new del">
        <pc:chgData name="atul garg" userId="f7bdc39034a28458" providerId="LiveId" clId="{6F7FB024-C6B0-40CE-B2CF-A1F56BABC335}" dt="2025-07-08T05:05:18.078" v="192" actId="680"/>
        <pc:sldMkLst>
          <pc:docMk/>
          <pc:sldMk cId="905540111" sldId="490"/>
        </pc:sldMkLst>
      </pc:sldChg>
      <pc:sldChg chg="addSp delSp modSp add mod">
        <pc:chgData name="atul garg" userId="f7bdc39034a28458" providerId="LiveId" clId="{6F7FB024-C6B0-40CE-B2CF-A1F56BABC335}" dt="2025-07-08T05:11:05.512" v="383" actId="6549"/>
        <pc:sldMkLst>
          <pc:docMk/>
          <pc:sldMk cId="3672899390" sldId="490"/>
        </pc:sldMkLst>
        <pc:spChg chg="mod">
          <ac:chgData name="atul garg" userId="f7bdc39034a28458" providerId="LiveId" clId="{6F7FB024-C6B0-40CE-B2CF-A1F56BABC335}" dt="2025-07-08T05:05:36.030" v="202" actId="20577"/>
          <ac:spMkLst>
            <pc:docMk/>
            <pc:sldMk cId="3672899390" sldId="490"/>
            <ac:spMk id="6" creationId="{3C3B2E21-7363-D6E3-AAB0-64AEE787C997}"/>
          </ac:spMkLst>
        </pc:spChg>
        <pc:spChg chg="add mod">
          <ac:chgData name="atul garg" userId="f7bdc39034a28458" providerId="LiveId" clId="{6F7FB024-C6B0-40CE-B2CF-A1F56BABC335}" dt="2025-07-08T05:11:05.512" v="383" actId="6549"/>
          <ac:spMkLst>
            <pc:docMk/>
            <pc:sldMk cId="3672899390" sldId="490"/>
            <ac:spMk id="7" creationId="{4AF77E1F-FB00-0831-2669-81B68472054B}"/>
          </ac:spMkLst>
        </pc:spChg>
        <pc:spChg chg="del mod">
          <ac:chgData name="atul garg" userId="f7bdc39034a28458" providerId="LiveId" clId="{6F7FB024-C6B0-40CE-B2CF-A1F56BABC335}" dt="2025-07-08T05:07:00.392" v="341"/>
          <ac:spMkLst>
            <pc:docMk/>
            <pc:sldMk cId="3672899390" sldId="490"/>
            <ac:spMk id="10" creationId="{7BC79A3C-4205-74F4-1501-C2A6C5952247}"/>
          </ac:spMkLst>
        </pc:spChg>
      </pc:sldChg>
      <pc:sldChg chg="modSp add mod">
        <pc:chgData name="atul garg" userId="f7bdc39034a28458" providerId="LiveId" clId="{6F7FB024-C6B0-40CE-B2CF-A1F56BABC335}" dt="2025-07-08T05:16:04.177" v="427" actId="20577"/>
        <pc:sldMkLst>
          <pc:docMk/>
          <pc:sldMk cId="3312175382" sldId="491"/>
        </pc:sldMkLst>
        <pc:spChg chg="mod">
          <ac:chgData name="atul garg" userId="f7bdc39034a28458" providerId="LiveId" clId="{6F7FB024-C6B0-40CE-B2CF-A1F56BABC335}" dt="2025-07-08T05:16:04.177" v="427" actId="20577"/>
          <ac:spMkLst>
            <pc:docMk/>
            <pc:sldMk cId="3312175382" sldId="491"/>
            <ac:spMk id="7" creationId="{3E95AE5A-1358-7A93-51BE-79A9234FECF8}"/>
          </ac:spMkLst>
        </pc:spChg>
      </pc:sldChg>
    </pc:docChg>
  </pc:docChgLst>
</pc:chgInfo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A8E894EF-B93C-4B6D-8FB8-8960BCB5A269}" type="datetimeFigureOut">
              <a:rPr lang="en-US" smtClean="0"/>
              <a:t>9/1/2025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14A4A95-7A0B-4549-9352-6E6525D64E4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18407A98-9A18-4E47-AF94-789022A0201E}" type="datetimeFigureOut">
              <a:rPr lang="en-US" smtClean="0"/>
              <a:t>9/1/2025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1635F52E-BA8C-4FAB-BCFA-C67A14D9CE22}" type="slidenum">
              <a:rPr lang="en-US" smtClean="0"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9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1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7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9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0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1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2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3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4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5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6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7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8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9.xml"/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0.xml"/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1.xml"/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2.xml"/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3.xml"/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4.xml"/><Relationship Id="rId1" Type="http://schemas.openxmlformats.org/officeDocument/2006/relationships/notesMaster" Target="../notesMasters/notesMaster1.xml"/></Relationships>
</file>

<file path=ppt/notesSlides/_rels/notesSlide3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5.xml"/><Relationship Id="rId1" Type="http://schemas.openxmlformats.org/officeDocument/2006/relationships/notesMaster" Target="../notesMasters/notesMaster1.xml"/></Relationships>
</file>

<file path=ppt/notesSlides/_rels/notesSlide3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6.xml"/><Relationship Id="rId1" Type="http://schemas.openxmlformats.org/officeDocument/2006/relationships/notesMaster" Target="../notesMasters/notesMaster1.xml"/></Relationships>
</file>

<file path=ppt/notesSlides/_rels/notesSlide3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7.xml"/><Relationship Id="rId1" Type="http://schemas.openxmlformats.org/officeDocument/2006/relationships/notesMaster" Target="../notesMasters/notesMaster1.xml"/></Relationships>
</file>

<file path=ppt/notesSlides/_rels/notesSlide3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8.xml"/><Relationship Id="rId1" Type="http://schemas.openxmlformats.org/officeDocument/2006/relationships/notesMaster" Target="../notesMasters/notesMaster1.xml"/></Relationships>
</file>

<file path=ppt/notesSlides/_rels/notesSlide3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9.xml"/><Relationship Id="rId1" Type="http://schemas.openxmlformats.org/officeDocument/2006/relationships/notesMaster" Target="../notesMasters/notesMaster1.xml"/></Relationships>
</file>

<file path=ppt/notesSlides/_rels/notesSlide3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0.xml"/><Relationship Id="rId1" Type="http://schemas.openxmlformats.org/officeDocument/2006/relationships/notesMaster" Target="../notesMasters/notesMaster1.xml"/></Relationships>
</file>

<file path=ppt/notesSlides/_rels/notesSlide3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1.xml"/><Relationship Id="rId1" Type="http://schemas.openxmlformats.org/officeDocument/2006/relationships/notesMaster" Target="../notesMasters/notesMaster1.xml"/></Relationships>
</file>

<file path=ppt/notesSlides/_rels/notesSlide3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2.xml"/><Relationship Id="rId1" Type="http://schemas.openxmlformats.org/officeDocument/2006/relationships/notesMaster" Target="../notesMasters/notesMaster1.xml"/></Relationships>
</file>

<file path=ppt/notesSlides/_rels/notesSlide4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3.xml"/><Relationship Id="rId1" Type="http://schemas.openxmlformats.org/officeDocument/2006/relationships/notesMaster" Target="../notesMasters/notesMaster1.xml"/></Relationships>
</file>

<file path=ppt/notesSlides/_rels/notesSlide4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4.xml"/><Relationship Id="rId1" Type="http://schemas.openxmlformats.org/officeDocument/2006/relationships/notesMaster" Target="../notesMasters/notesMaster1.xml"/></Relationships>
</file>

<file path=ppt/notesSlides/_rels/notesSlide4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5.xml"/><Relationship Id="rId1" Type="http://schemas.openxmlformats.org/officeDocument/2006/relationships/notesMaster" Target="../notesMasters/notesMaster1.xml"/></Relationships>
</file>

<file path=ppt/notesSlides/_rels/notesSlide4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6.xml"/><Relationship Id="rId1" Type="http://schemas.openxmlformats.org/officeDocument/2006/relationships/notesMaster" Target="../notesMasters/notesMaster1.xml"/></Relationships>
</file>

<file path=ppt/notesSlides/_rels/notesSlide4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7.xml"/><Relationship Id="rId1" Type="http://schemas.openxmlformats.org/officeDocument/2006/relationships/notesMaster" Target="../notesMasters/notesMaster1.xml"/></Relationships>
</file>

<file path=ppt/notesSlides/_rels/notesSlide4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8.xml"/><Relationship Id="rId1" Type="http://schemas.openxmlformats.org/officeDocument/2006/relationships/notesMaster" Target="../notesMasters/notesMaster1.xml"/></Relationships>
</file>

<file path=ppt/notesSlides/_rels/notesSlide4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9.xml"/><Relationship Id="rId1" Type="http://schemas.openxmlformats.org/officeDocument/2006/relationships/notesMaster" Target="../notesMasters/notesMaster1.xml"/></Relationships>
</file>

<file path=ppt/notesSlides/_rels/notesSlide4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0.xml"/><Relationship Id="rId1" Type="http://schemas.openxmlformats.org/officeDocument/2006/relationships/notesMaster" Target="../notesMasters/notesMaster1.xml"/></Relationships>
</file>

<file path=ppt/notesSlides/_rels/notesSlide4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1.xml"/><Relationship Id="rId1" Type="http://schemas.openxmlformats.org/officeDocument/2006/relationships/notesMaster" Target="../notesMasters/notesMaster1.xml"/></Relationships>
</file>

<file path=ppt/notesSlides/_rels/notesSlide4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2.xml"/><Relationship Id="rId1" Type="http://schemas.openxmlformats.org/officeDocument/2006/relationships/notesMaster" Target="../notesMasters/notesMaster1.xml"/></Relationships>
</file>

<file path=ppt/notesSlides/_rels/notesSlide5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3.xml"/><Relationship Id="rId1" Type="http://schemas.openxmlformats.org/officeDocument/2006/relationships/notesMaster" Target="../notesMasters/notesMaster1.xml"/></Relationships>
</file>

<file path=ppt/notesSlides/_rels/notesSlide5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4.xml"/><Relationship Id="rId1" Type="http://schemas.openxmlformats.org/officeDocument/2006/relationships/notesMaster" Target="../notesMasters/notesMaster1.xml"/></Relationships>
</file>

<file path=ppt/notesSlides/_rels/notesSlide5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5.xml"/><Relationship Id="rId1" Type="http://schemas.openxmlformats.org/officeDocument/2006/relationships/notesMaster" Target="../notesMasters/notesMaster1.xml"/></Relationships>
</file>

<file path=ppt/notesSlides/_rels/notesSlide5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6.xml"/><Relationship Id="rId1" Type="http://schemas.openxmlformats.org/officeDocument/2006/relationships/notesMaster" Target="../notesMasters/notesMaster1.xml"/></Relationships>
</file>

<file path=ppt/notesSlides/_rels/notesSlide5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7.xml"/><Relationship Id="rId1" Type="http://schemas.openxmlformats.org/officeDocument/2006/relationships/notesMaster" Target="../notesMasters/notesMaster1.xml"/></Relationships>
</file>

<file path=ppt/notesSlides/_rels/notesSlide5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8.xml"/><Relationship Id="rId1" Type="http://schemas.openxmlformats.org/officeDocument/2006/relationships/notesMaster" Target="../notesMasters/notesMaster1.xml"/></Relationships>
</file>

<file path=ppt/notesSlides/_rels/notesSlide5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9.xml"/><Relationship Id="rId1" Type="http://schemas.openxmlformats.org/officeDocument/2006/relationships/notesMaster" Target="../notesMasters/notesMaster1.xml"/></Relationships>
</file>

<file path=ppt/notesSlides/_rels/notesSlide5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1143000" y="685800"/>
            <a:ext cx="4572000" cy="34290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1635F52E-BA8C-4FAB-BCFA-C67A14D9CE22}" type="slidenum">
              <a:rPr lang="en-US" smtClean="0"/>
              <a:pPr/>
              <a:t>1</a:t>
            </a:fld>
            <a:endParaRPr lang="en-US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88BBA0E-6DD3-B79D-AFCC-B8A45763156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5AD651A9-2488-7EF4-30E9-B669E7258CFB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1143000" y="685800"/>
            <a:ext cx="4572000" cy="3429000"/>
          </a:xfrm>
        </p:spPr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946B97B4-7DF8-34CB-7A77-F181868C7C73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D2D1131-C125-A629-737C-DB1ED6C5256D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1635F52E-BA8C-4FAB-BCFA-C67A14D9CE22}" type="slidenum">
              <a:rPr lang="en-US" smtClean="0"/>
              <a:pPr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65510599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FDB4A74-1D3E-313A-CC1A-81B6EE4A20A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7BAB23F5-3968-1E13-56FB-5859C4078120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1143000" y="685800"/>
            <a:ext cx="4572000" cy="3429000"/>
          </a:xfrm>
        </p:spPr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FE556D03-9838-DD19-6477-A50CC8E12680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2BF0918-8BF0-37C7-CCA7-65192C6EE738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1635F52E-BA8C-4FAB-BCFA-C67A14D9CE22}" type="slidenum">
              <a:rPr lang="en-US" smtClean="0"/>
              <a:pPr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75099009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FB08A81-2037-6F2F-4B72-3237EB2CD85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766D4199-DDC0-6179-1D21-D96DC8D3500E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1143000" y="685800"/>
            <a:ext cx="4572000" cy="3429000"/>
          </a:xfrm>
        </p:spPr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D86B2985-8E53-5E6B-E32D-50929A9B4D4A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BDE12EB-BF6C-DE44-724A-8E85C31B6D28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1635F52E-BA8C-4FAB-BCFA-C67A14D9CE22}" type="slidenum">
              <a:rPr lang="en-US" smtClean="0"/>
              <a:pPr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72475956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D3E727B-7B94-B000-CB32-89860F482C5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A47FAFC5-B16C-7B5D-57DB-CF85A9B2BFFE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1143000" y="685800"/>
            <a:ext cx="4572000" cy="3429000"/>
          </a:xfrm>
        </p:spPr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17F88021-B42C-181C-C1D9-ED19D33FF72F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BFC0053-6DD5-5F45-7DE4-9508E1305962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1635F52E-BA8C-4FAB-BCFA-C67A14D9CE22}" type="slidenum">
              <a:rPr lang="en-US" smtClean="0"/>
              <a:pPr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71434834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8E95AA9-6799-CF79-8089-14B97A9DF94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33052BAA-0425-5C85-DD27-4FD0601CD6B4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1143000" y="685800"/>
            <a:ext cx="4572000" cy="3429000"/>
          </a:xfrm>
        </p:spPr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EC0FCE8E-B7C0-4151-F494-0FB45DE1F90B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6B376F7-0520-0DD5-7AEE-5D5A27FF07BA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1635F52E-BA8C-4FAB-BCFA-C67A14D9CE22}" type="slidenum">
              <a:rPr lang="en-US" smtClean="0"/>
              <a:pPr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89230947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C2D3985-37D4-FE24-D000-12CF928290E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FE334042-2CA5-C9C9-E37B-49609881146D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1143000" y="685800"/>
            <a:ext cx="4572000" cy="3429000"/>
          </a:xfrm>
        </p:spPr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251DB65F-69BA-694F-578B-A1CE29211AB9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9A49237-DD35-B239-247E-2E6AB7BEA495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1635F52E-BA8C-4FAB-BCFA-C67A14D9CE22}" type="slidenum">
              <a:rPr lang="en-US" smtClean="0"/>
              <a:pPr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79441993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719AEE6-BFF8-16B0-355F-1C32C0BB855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3B412C60-FDD5-ECDD-C1DF-70B4A588D31B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1143000" y="685800"/>
            <a:ext cx="4572000" cy="3429000"/>
          </a:xfrm>
        </p:spPr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B57C9E46-9506-05BA-DE36-65B1CDC5A7D4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DEC0519-EE00-BBB0-D18F-201EECD0D3EE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1635F52E-BA8C-4FAB-BCFA-C67A14D9CE22}" type="slidenum">
              <a:rPr lang="en-US" smtClean="0"/>
              <a:pPr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96471614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9DFB757-3735-D986-16EE-7FDCE7D1816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38BAA0B3-DDE8-E50D-DBAB-97CF537AA77B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1143000" y="685800"/>
            <a:ext cx="4572000" cy="3429000"/>
          </a:xfrm>
        </p:spPr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2D493BF7-94CA-3379-AED3-079DBB4E6231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18C0EA9-84A0-5D20-2179-EC6136EA991E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1635F52E-BA8C-4FAB-BCFA-C67A14D9CE22}" type="slidenum">
              <a:rPr lang="en-US" smtClean="0"/>
              <a:pPr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40228098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1143000" y="685800"/>
            <a:ext cx="4572000" cy="34290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1635F52E-BA8C-4FAB-BCFA-C67A14D9CE22}" type="slidenum">
              <a:rPr lang="en-US" smtClean="0"/>
              <a:pPr/>
              <a:t>11</a:t>
            </a:fld>
            <a:endParaRPr lang="en-US"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1635F52E-BA8C-4FAB-BCFA-C67A14D9CE22}" type="slidenum">
              <a:rPr lang="en-US" smtClean="0"/>
              <a:pPr/>
              <a:t>13</a:t>
            </a:fld>
            <a:endParaRPr lang="en-US"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A58A328-0627-5C4C-1AF1-F4E088BABE9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0EF649FC-A84E-89D1-8912-941A2DF070D4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1143000" y="685800"/>
            <a:ext cx="4572000" cy="3429000"/>
          </a:xfrm>
        </p:spPr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ED7F6377-1C0B-F996-F40E-56021D912560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7CA4FA1-51E3-6805-AE42-7F300297057A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1635F52E-BA8C-4FAB-BCFA-C67A14D9CE22}" type="slidenum">
              <a:rPr lang="en-US" smtClean="0"/>
              <a:pPr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60446704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1635F52E-BA8C-4FAB-BCFA-C67A14D9CE22}" type="slidenum">
              <a:rPr lang="en-US" smtClean="0"/>
              <a:t>39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49384450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1635F52E-BA8C-4FAB-BCFA-C67A14D9CE22}" type="slidenum">
              <a:rPr lang="en-US" smtClean="0"/>
              <a:t>61</a:t>
            </a:fld>
            <a:endParaRPr lang="en-US"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635F52E-BA8C-4FAB-BCFA-C67A14D9CE22}" type="slidenum">
              <a:rPr lang="en-US" smtClean="0"/>
              <a:t>77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06370170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1635F52E-BA8C-4FAB-BCFA-C67A14D9CE22}" type="slidenum">
              <a:rPr lang="en-US" smtClean="0"/>
              <a:t>79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60024227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1635F52E-BA8C-4FAB-BCFA-C67A14D9CE22}" type="slidenum">
              <a:rPr lang="en-US" smtClean="0"/>
              <a:t>80</a:t>
            </a:fld>
            <a:endParaRPr lang="en-US"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1635F52E-BA8C-4FAB-BCFA-C67A14D9CE22}" type="slidenum">
              <a:rPr lang="en-US" smtClean="0"/>
              <a:t>81</a:t>
            </a:fld>
            <a:endParaRPr lang="en-US"/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1635F52E-BA8C-4FAB-BCFA-C67A14D9CE22}" type="slidenum">
              <a:rPr lang="en-US" smtClean="0"/>
              <a:t>82</a:t>
            </a:fld>
            <a:endParaRPr lang="en-US"/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1635F52E-BA8C-4FAB-BCFA-C67A14D9CE22}" type="slidenum">
              <a:rPr lang="en-US" smtClean="0"/>
              <a:t>83</a:t>
            </a:fld>
            <a:endParaRPr lang="en-US"/>
          </a:p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1635F52E-BA8C-4FAB-BCFA-C67A14D9CE22}" type="slidenum">
              <a:rPr lang="en-US" smtClean="0"/>
              <a:t>84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04127098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1635F52E-BA8C-4FAB-BCFA-C67A14D9CE22}" type="slidenum">
              <a:rPr lang="en-US" smtClean="0"/>
              <a:t>85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30313962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1635F52E-BA8C-4FAB-BCFA-C67A14D9CE22}" type="slidenum">
              <a:rPr lang="en-US" smtClean="0"/>
              <a:t>86</a:t>
            </a:fld>
            <a:endParaRPr lang="en-US"/>
          </a:p>
        </p:txBody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1635F52E-BA8C-4FAB-BCFA-C67A14D9CE22}" type="slidenum">
              <a:rPr lang="en-US" smtClean="0"/>
              <a:t>87</a:t>
            </a:fld>
            <a:endParaRPr lang="en-US"/>
          </a:p>
        </p:txBody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1635F52E-BA8C-4FAB-BCFA-C67A14D9CE22}" type="slidenum">
              <a:rPr lang="en-US" smtClean="0"/>
              <a:t>88</a:t>
            </a:fld>
            <a:endParaRPr lang="en-US"/>
          </a:p>
        </p:txBody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1635F52E-BA8C-4FAB-BCFA-C67A14D9CE22}" type="slidenum">
              <a:rPr lang="en-US" smtClean="0"/>
              <a:t>89</a:t>
            </a:fld>
            <a:endParaRPr lang="en-US"/>
          </a:p>
        </p:txBody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1635F52E-BA8C-4FAB-BCFA-C67A14D9CE22}" type="slidenum">
              <a:rPr lang="en-US" smtClean="0"/>
              <a:t>90</a:t>
            </a:fld>
            <a:endParaRPr lang="en-US"/>
          </a:p>
        </p:txBody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1635F52E-BA8C-4FAB-BCFA-C67A14D9CE22}" type="slidenum">
              <a:rPr lang="en-US" smtClean="0"/>
              <a:t>91</a:t>
            </a:fld>
            <a:endParaRPr lang="en-US"/>
          </a:p>
        </p:txBody>
      </p:sp>
    </p:spTree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1635F52E-BA8C-4FAB-BCFA-C67A14D9CE22}" type="slidenum">
              <a:rPr lang="en-US" smtClean="0"/>
              <a:t>92</a:t>
            </a:fld>
            <a:endParaRPr lang="en-US"/>
          </a:p>
        </p:txBody>
      </p:sp>
    </p:spTree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1635F52E-BA8C-4FAB-BCFA-C67A14D9CE22}" type="slidenum">
              <a:rPr lang="en-US" smtClean="0"/>
              <a:t>93</a:t>
            </a:fld>
            <a:endParaRPr lang="en-US"/>
          </a:p>
        </p:txBody>
      </p:sp>
    </p:spTree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1635F52E-BA8C-4FAB-BCFA-C67A14D9CE22}" type="slidenum">
              <a:rPr lang="en-US" smtClean="0"/>
              <a:t>94</a:t>
            </a:fld>
            <a:endParaRPr lang="en-US"/>
          </a:p>
        </p:txBody>
      </p:sp>
    </p:spTree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1635F52E-BA8C-4FAB-BCFA-C67A14D9CE22}" type="slidenum">
              <a:rPr lang="en-US" smtClean="0"/>
              <a:t>95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22308432"/>
      </p:ext>
    </p:extLst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1635F52E-BA8C-4FAB-BCFA-C67A14D9CE22}" type="slidenum">
              <a:rPr lang="en-US" smtClean="0"/>
              <a:t>96</a:t>
            </a:fld>
            <a:endParaRPr lang="en-US"/>
          </a:p>
        </p:txBody>
      </p:sp>
    </p:spTree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1635F52E-BA8C-4FAB-BCFA-C67A14D9CE22}" type="slidenum">
              <a:rPr lang="en-US" smtClean="0"/>
              <a:t>97</a:t>
            </a:fld>
            <a:endParaRPr lang="en-US"/>
          </a:p>
        </p:txBody>
      </p:sp>
    </p:spTree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1635F52E-BA8C-4FAB-BCFA-C67A14D9CE22}" type="slidenum">
              <a:rPr lang="en-US" smtClean="0"/>
              <a:t>98</a:t>
            </a:fld>
            <a:endParaRPr lang="en-US"/>
          </a:p>
        </p:txBody>
      </p:sp>
    </p:spTree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1635F52E-BA8C-4FAB-BCFA-C67A14D9CE22}" type="slidenum">
              <a:rPr lang="en-US" smtClean="0"/>
              <a:t>99</a:t>
            </a:fld>
            <a:endParaRPr lang="en-US"/>
          </a:p>
        </p:txBody>
      </p:sp>
    </p:spTree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1635F52E-BA8C-4FAB-BCFA-C67A14D9CE22}" type="slidenum">
              <a:rPr lang="en-US" smtClean="0"/>
              <a:t>100</a:t>
            </a:fld>
            <a:endParaRPr lang="en-US"/>
          </a:p>
        </p:txBody>
      </p:sp>
    </p:spTree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1635F52E-BA8C-4FAB-BCFA-C67A14D9CE22}" type="slidenum">
              <a:rPr lang="en-US" smtClean="0"/>
              <a:t>101</a:t>
            </a:fld>
            <a:endParaRPr lang="en-US"/>
          </a:p>
        </p:txBody>
      </p:sp>
    </p:spTree>
  </p:cSld>
  <p:clrMapOvr>
    <a:masterClrMapping/>
  </p:clrMapOvr>
</p:notes>
</file>

<file path=ppt/notesSlides/notesSlide3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1635F52E-BA8C-4FAB-BCFA-C67A14D9CE22}" type="slidenum">
              <a:rPr lang="en-US" smtClean="0"/>
              <a:t>102</a:t>
            </a:fld>
            <a:endParaRPr lang="en-US"/>
          </a:p>
        </p:txBody>
      </p:sp>
    </p:spTree>
  </p:cSld>
  <p:clrMapOvr>
    <a:masterClrMapping/>
  </p:clrMapOvr>
</p:notes>
</file>

<file path=ppt/notesSlides/notesSlide4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1635F52E-BA8C-4FAB-BCFA-C67A14D9CE22}" type="slidenum">
              <a:rPr lang="en-US" smtClean="0"/>
              <a:t>103</a:t>
            </a:fld>
            <a:endParaRPr lang="en-US"/>
          </a:p>
        </p:txBody>
      </p:sp>
    </p:spTree>
  </p:cSld>
  <p:clrMapOvr>
    <a:masterClrMapping/>
  </p:clrMapOvr>
</p:notes>
</file>

<file path=ppt/notesSlides/notesSlide4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1635F52E-BA8C-4FAB-BCFA-C67A14D9CE22}" type="slidenum">
              <a:rPr lang="en-US" smtClean="0"/>
              <a:t>104</a:t>
            </a:fld>
            <a:endParaRPr lang="en-US"/>
          </a:p>
        </p:txBody>
      </p:sp>
    </p:spTree>
  </p:cSld>
  <p:clrMapOvr>
    <a:masterClrMapping/>
  </p:clrMapOvr>
</p:notes>
</file>

<file path=ppt/notesSlides/notesSlide4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1635F52E-BA8C-4FAB-BCFA-C67A14D9CE22}" type="slidenum">
              <a:rPr lang="en-US" smtClean="0"/>
              <a:t>105</a:t>
            </a:fld>
            <a:endParaRPr lang="en-US"/>
          </a:p>
        </p:txBody>
      </p:sp>
    </p:spTree>
  </p:cSld>
  <p:clrMapOvr>
    <a:masterClrMapping/>
  </p:clrMapOvr>
</p:notes>
</file>

<file path=ppt/notesSlides/notesSlide4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1635F52E-BA8C-4FAB-BCFA-C67A14D9CE22}" type="slidenum">
              <a:rPr lang="en-US" smtClean="0"/>
              <a:t>106</a:t>
            </a:fld>
            <a:endParaRPr lang="en-US"/>
          </a:p>
        </p:txBody>
      </p:sp>
    </p:spTree>
  </p:cSld>
  <p:clrMapOvr>
    <a:masterClrMapping/>
  </p:clrMapOvr>
</p:notes>
</file>

<file path=ppt/notesSlides/notesSlide4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1635F52E-BA8C-4FAB-BCFA-C67A14D9CE22}" type="slidenum">
              <a:rPr lang="en-US" smtClean="0"/>
              <a:t>107</a:t>
            </a:fld>
            <a:endParaRPr lang="en-US"/>
          </a:p>
        </p:txBody>
      </p:sp>
    </p:spTree>
  </p:cSld>
  <p:clrMapOvr>
    <a:masterClrMapping/>
  </p:clrMapOvr>
</p:notes>
</file>

<file path=ppt/notesSlides/notesSlide4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1635F52E-BA8C-4FAB-BCFA-C67A14D9CE22}" type="slidenum">
              <a:rPr lang="en-US" smtClean="0"/>
              <a:t>108</a:t>
            </a:fld>
            <a:endParaRPr lang="en-US"/>
          </a:p>
        </p:txBody>
      </p:sp>
    </p:spTree>
  </p:cSld>
  <p:clrMapOvr>
    <a:masterClrMapping/>
  </p:clrMapOvr>
</p:notes>
</file>

<file path=ppt/notesSlides/notesSlide4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1635F52E-BA8C-4FAB-BCFA-C67A14D9CE22}" type="slidenum">
              <a:rPr lang="en-US" smtClean="0"/>
              <a:t>109</a:t>
            </a:fld>
            <a:endParaRPr lang="en-US"/>
          </a:p>
        </p:txBody>
      </p:sp>
    </p:spTree>
  </p:cSld>
  <p:clrMapOvr>
    <a:masterClrMapping/>
  </p:clrMapOvr>
</p:notes>
</file>

<file path=ppt/notesSlides/notesSlide4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1635F52E-BA8C-4FAB-BCFA-C67A14D9CE22}" type="slidenum">
              <a:rPr lang="en-US" smtClean="0"/>
              <a:t>110</a:t>
            </a:fld>
            <a:endParaRPr lang="en-US"/>
          </a:p>
        </p:txBody>
      </p:sp>
    </p:spTree>
  </p:cSld>
  <p:clrMapOvr>
    <a:masterClrMapping/>
  </p:clrMapOvr>
</p:notes>
</file>

<file path=ppt/notesSlides/notesSlide4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1635F52E-BA8C-4FAB-BCFA-C67A14D9CE22}" type="slidenum">
              <a:rPr lang="en-US" smtClean="0"/>
              <a:t>111</a:t>
            </a:fld>
            <a:endParaRPr lang="en-US"/>
          </a:p>
        </p:txBody>
      </p:sp>
    </p:spTree>
  </p:cSld>
  <p:clrMapOvr>
    <a:masterClrMapping/>
  </p:clrMapOvr>
</p:notes>
</file>

<file path=ppt/notesSlides/notesSlide4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1635F52E-BA8C-4FAB-BCFA-C67A14D9CE22}" type="slidenum">
              <a:rPr lang="en-US" smtClean="0"/>
              <a:t>112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52343195"/>
      </p:ext>
    </p:extLst>
  </p:cSld>
  <p:clrMapOvr>
    <a:masterClrMapping/>
  </p:clrMapOvr>
</p:notes>
</file>

<file path=ppt/notesSlides/notesSlide5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1635F52E-BA8C-4FAB-BCFA-C67A14D9CE22}" type="slidenum">
              <a:rPr lang="en-US" smtClean="0"/>
              <a:t>113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44817185"/>
      </p:ext>
    </p:extLst>
  </p:cSld>
  <p:clrMapOvr>
    <a:masterClrMapping/>
  </p:clrMapOvr>
</p:notes>
</file>

<file path=ppt/notesSlides/notesSlide5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1635F52E-BA8C-4FAB-BCFA-C67A14D9CE22}" type="slidenum">
              <a:rPr lang="en-US" smtClean="0"/>
              <a:t>114</a:t>
            </a:fld>
            <a:endParaRPr lang="en-US"/>
          </a:p>
        </p:txBody>
      </p:sp>
    </p:spTree>
  </p:cSld>
  <p:clrMapOvr>
    <a:masterClrMapping/>
  </p:clrMapOvr>
</p:notes>
</file>

<file path=ppt/notesSlides/notesSlide5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1635F52E-BA8C-4FAB-BCFA-C67A14D9CE22}" type="slidenum">
              <a:rPr lang="en-US" smtClean="0"/>
              <a:t>115</a:t>
            </a:fld>
            <a:endParaRPr lang="en-US"/>
          </a:p>
        </p:txBody>
      </p:sp>
    </p:spTree>
  </p:cSld>
  <p:clrMapOvr>
    <a:masterClrMapping/>
  </p:clrMapOvr>
</p:notes>
</file>

<file path=ppt/notesSlides/notesSlide5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1C348F2-A180-DE02-406D-7694647EA87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54EDDE71-3FEE-EE78-C430-1D3B8446EFA6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FF6D6B39-B8F1-72E8-3657-63A677C0D4E0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IN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66A5AAA-ABED-2568-270F-8A198B0DFE0B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1635F52E-BA8C-4FAB-BCFA-C67A14D9CE22}" type="slidenum">
              <a:rPr lang="en-US" smtClean="0"/>
              <a:t>116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69833038"/>
      </p:ext>
    </p:extLst>
  </p:cSld>
  <p:clrMapOvr>
    <a:masterClrMapping/>
  </p:clrMapOvr>
</p:notes>
</file>

<file path=ppt/notesSlides/notesSlide5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26FFF23-07AC-92C5-FFDD-963240F4B57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C2DEBB91-403D-173B-5B6B-A76936020452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B2570E87-EA2C-6BFC-062B-196206E8E988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IN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A35D4B3-25A8-3B16-146B-A17D55193D76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1635F52E-BA8C-4FAB-BCFA-C67A14D9CE22}" type="slidenum">
              <a:rPr lang="en-US" smtClean="0"/>
              <a:t>117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26659335"/>
      </p:ext>
    </p:extLst>
  </p:cSld>
  <p:clrMapOvr>
    <a:masterClrMapping/>
  </p:clrMapOvr>
</p:notes>
</file>

<file path=ppt/notesSlides/notesSlide5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7D9F53F-094B-AB01-C144-5B57BD8609D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B5BAE9F7-DF90-E731-78DF-67EBA34012EA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9B6EFAD1-30E7-B7B9-8249-E9149C528892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IN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DB02559-9354-100C-2F4C-20C144145F92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1635F52E-BA8C-4FAB-BCFA-C67A14D9CE22}" type="slidenum">
              <a:rPr lang="en-US" smtClean="0"/>
              <a:t>118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35560077"/>
      </p:ext>
    </p:extLst>
  </p:cSld>
  <p:clrMapOvr>
    <a:masterClrMapping/>
  </p:clrMapOvr>
</p:notes>
</file>

<file path=ppt/notesSlides/notesSlide5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057C2DC-1A9F-2F4F-C099-D193F9047D7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5407CFF8-1D0A-B7EE-715B-0828B492DCC7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C0385CFD-F68D-91D5-21A8-299E039B02E4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IN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FEDB1B2-5514-0795-DF13-A4A78CF60CAD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1635F52E-BA8C-4FAB-BCFA-C67A14D9CE22}" type="slidenum">
              <a:rPr lang="en-US" smtClean="0"/>
              <a:t>119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87888574"/>
      </p:ext>
    </p:extLst>
  </p:cSld>
  <p:clrMapOvr>
    <a:masterClrMapping/>
  </p:clrMapOvr>
</p:notes>
</file>

<file path=ppt/notesSlides/notesSlide5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36ED780-0E9C-EA23-B251-4A960093478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858364D8-2170-56D1-3074-41737CDB83B3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28301894-E3FB-FC37-C7A1-1C1F86001467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IN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0601803-7543-6847-AB27-B9EC42B31A12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1635F52E-BA8C-4FAB-BCFA-C67A14D9CE22}" type="slidenum">
              <a:rPr lang="en-US" smtClean="0"/>
              <a:t>120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89699716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47B8B6B-2805-4048-98FB-1237F584C8A1}" type="datetime3">
              <a:rPr lang="en-US" smtClean="0"/>
              <a:t>1 September 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Atul Garg           BCSE0303            Unit- III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 lang="en-US" sz="21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4C555FA-B498-4181-9B31-9FA0064B4230}" type="datetime3">
              <a:rPr lang="en-US" smtClean="0"/>
              <a:t>1 September 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Atul Garg           BCSE0303            Unit- III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77E53CE-C300-4251-A5AE-80487B396867}" type="datetime3">
              <a:rPr lang="en-US" smtClean="0"/>
              <a:t>1 September 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Atul Garg           BCSE0303            Unit- III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A10A324-7C0C-4BDF-8BC2-BAE70FAF3CCC}" type="datetime3">
              <a:rPr lang="en-US" smtClean="0"/>
              <a:t>1 September 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Atul Garg           BCSE0303            Unit- III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1E6CFF-4412-42A8-A84E-36CC8BDE44DD}" type="datetime3">
              <a:rPr lang="en-US" smtClean="0"/>
              <a:t>1 September 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Atul Garg           BCSE0303            Unit- III</a:t>
            </a:r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DB792F7-079F-4EC6-BD16-CDECE1CA1B89}" type="datetime3">
              <a:rPr lang="en-US" smtClean="0"/>
              <a:t>1 September 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Atul Garg           BCSE0303            Unit- III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96875BB-D0F3-42E4-9694-B4C9CD01A7E8}" type="datetime3">
              <a:rPr lang="en-US" smtClean="0"/>
              <a:t>1 September 2025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Atul Garg           BCSE0303            Unit- III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26163C9-B44E-456D-B6F8-35F0051E9785}" type="datetime3">
              <a:rPr lang="en-US" smtClean="0"/>
              <a:t>1 September 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Atul Garg           BCSE0303            Unit- III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F9C5225-162C-47CF-AC1A-2A5C780CA081}" type="datetime3">
              <a:rPr lang="en-US" smtClean="0"/>
              <a:t>1 September 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Atul Garg           BCSE0303            Unit- III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81C8048-1405-45E9-BED0-239FC6DA2F6B}" type="datetime3">
              <a:rPr lang="en-US" smtClean="0"/>
              <a:t>1 September 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Atul Garg           BCSE0303            Unit- III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B817E28-60D5-4FF6-BE40-D2321E87A321}" type="datetime3">
              <a:rPr lang="en-US" smtClean="0"/>
              <a:t>1 September 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Atul Garg           BCSE0303            Unit- III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BB1D230-533C-4B82-9C3A-1D982556D087}" type="datetime3">
              <a:rPr lang="en-US" smtClean="0"/>
              <a:t>1 September 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r>
              <a:rPr lang="en-US"/>
              <a:t>Atul Garg           BCSE0303            Unit- III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hdr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3.jpeg"/><Relationship Id="rId4" Type="http://schemas.openxmlformats.org/officeDocument/2006/relationships/image" Target="../media/image2.jpe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4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5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6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7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8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9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1.png"/><Relationship Id="rId4" Type="http://schemas.openxmlformats.org/officeDocument/2006/relationships/image" Target="../media/image10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2.png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jpe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jpe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Word_Document.docx"/><Relationship Id="rId2" Type="http://schemas.openxmlformats.org/officeDocument/2006/relationships/image" Target="../media/image13.jpe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4.emf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jpe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5.wmf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jpe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image" Target="../media/image16.jpe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jpeg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jpeg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jpeg"/><Relationship Id="rId2" Type="http://schemas.openxmlformats.org/officeDocument/2006/relationships/hyperlink" Target="https://www.bing.com/videos/riverview/relatedvideo?&amp;q" TargetMode="External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jpeg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jpeg"/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2.xml"/></Relationships>
</file>

<file path=ppt/slides/_rels/slide3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2.xml"/></Relationships>
</file>

<file path=ppt/slides/_rels/slide3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2.xml"/></Relationships>
</file>

<file path=ppt/slides/_rels/slide3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2.xml"/></Relationships>
</file>

<file path=ppt/slides/_rels/slide3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2.xml"/></Relationships>
</file>

<file path=ppt/slides/_rels/slide3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image" Target="../media/image21.jpeg"/><Relationship Id="rId1" Type="http://schemas.openxmlformats.org/officeDocument/2006/relationships/slideLayout" Target="../slideLayouts/slideLayout2.xml"/></Relationships>
</file>

<file path=ppt/slides/_rels/slide3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2.xml"/></Relationships>
</file>

<file path=ppt/slides/_rels/slide4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2.xml"/></Relationships>
</file>

<file path=ppt/slides/_rels/slide4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2.xml"/></Relationships>
</file>

<file path=ppt/slides/_rels/slide4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2.xml"/></Relationships>
</file>

<file path=ppt/slides/_rels/slide4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2.xml"/></Relationships>
</file>

<file path=ppt/slides/_rels/slide4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2.xml"/></Relationships>
</file>

<file path=ppt/slides/_rels/slide4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2.xml"/></Relationships>
</file>

<file path=ppt/slides/_rels/slide4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2.xml"/></Relationships>
</file>

<file path=ppt/slides/_rels/slide4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2.xml"/></Relationships>
</file>

<file path=ppt/slides/_rels/slide4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2.xml"/></Relationships>
</file>

<file path=ppt/slides/_rels/slide4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2.xml"/></Relationships>
</file>

<file path=ppt/slides/_rels/slide5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2.xml"/></Relationships>
</file>

<file path=ppt/slides/_rels/slide5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2.xml"/></Relationships>
</file>

<file path=ppt/slides/_rels/slide5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2.xml"/></Relationships>
</file>

<file path=ppt/slides/_rels/slide5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2.xml"/></Relationships>
</file>

<file path=ppt/slides/_rels/slide5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2.xml"/></Relationships>
</file>

<file path=ppt/slides/_rels/slide5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2.xml"/></Relationships>
</file>

<file path=ppt/slides/_rels/slide5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2.xml"/></Relationships>
</file>

<file path=ppt/slides/_rels/slide5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png"/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2.xml"/></Relationships>
</file>

<file path=ppt/slides/_rels/slide5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png"/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2.xml"/></Relationships>
</file>

<file path=ppt/slides/_rels/slide5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2.xml"/></Relationships>
</file>

<file path=ppt/slides/_rels/slide6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2.xml"/></Relationships>
</file>

<file path=ppt/slides/_rels/slide6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2.xml"/></Relationships>
</file>

<file path=ppt/slides/_rels/slide6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2.xml"/></Relationships>
</file>

<file path=ppt/slides/_rels/slide6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2.xml"/></Relationships>
</file>

<file path=ppt/slides/_rels/slide6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image" Target="../media/image24.jpeg"/><Relationship Id="rId1" Type="http://schemas.openxmlformats.org/officeDocument/2006/relationships/slideLayout" Target="../slideLayouts/slideLayout2.xml"/></Relationships>
</file>

<file path=ppt/slides/_rels/slide6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2.xml"/></Relationships>
</file>

<file path=ppt/slides/_rels/slide6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2.xml"/></Relationships>
</file>

<file path=ppt/slides/_rels/slide6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2.xml"/></Relationships>
</file>

<file path=ppt/slides/_rels/slide6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2.xml"/></Relationships>
</file>

<file path=ppt/slides/_rels/slide6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2.xml"/></Relationships>
</file>

<file path=ppt/slides/_rels/slide7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2.xml"/></Relationships>
</file>

<file path=ppt/slides/_rels/slide7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2.xml"/></Relationships>
</file>

<file path=ppt/slides/_rels/slide7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2.xml"/></Relationships>
</file>

<file path=ppt/slides/_rels/slide7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2.xml"/></Relationships>
</file>

<file path=ppt/slides/_rels/slide7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2.xml"/></Relationships>
</file>

<file path=ppt/slides/_rels/slide7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2.xml"/></Relationships>
</file>

<file path=ppt/slides/_rels/slide7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2.xml"/></Relationships>
</file>

<file path=ppt/slides/_rels/slide7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2.xml"/></Relationships>
</file>

<file path=ppt/slides/_rels/slide7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2.xml"/></Relationships>
</file>

<file path=ppt/slides/_rels/slide7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2.xml"/></Relationships>
</file>

<file path=ppt/slides/_rels/slide8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2.xml"/></Relationships>
</file>

<file path=ppt/slides/_rels/slide8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2.xml"/></Relationships>
</file>

<file path=ppt/slides/_rels/slide8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2.xml"/></Relationships>
</file>

<file path=ppt/slides/_rels/slide8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5.png"/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.jpeg"/></Relationships>
</file>

<file path=ppt/slides/_rels/slide8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6.png"/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.jpeg"/></Relationships>
</file>

<file path=ppt/slides/_rels/slide8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7.png"/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.jpeg"/></Relationships>
</file>

<file path=ppt/slides/_rels/slide8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2.xml"/></Relationships>
</file>

<file path=ppt/slides/_rels/slide8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2.xml"/></Relationships>
</file>

<file path=ppt/slides/_rels/slide8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2.xml"/></Relationships>
</file>

<file path=ppt/slides/_rels/slide8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2.xml"/></Relationships>
</file>

<file path=ppt/slides/_rels/slide9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notesSlide" Target="../notesSlides/notesSlide27.xml"/><Relationship Id="rId1" Type="http://schemas.openxmlformats.org/officeDocument/2006/relationships/slideLayout" Target="../slideLayouts/slideLayout2.xml"/></Relationships>
</file>

<file path=ppt/slides/_rels/slide9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notesSlide" Target="../notesSlides/notesSlide28.xml"/><Relationship Id="rId1" Type="http://schemas.openxmlformats.org/officeDocument/2006/relationships/slideLayout" Target="../slideLayouts/slideLayout2.xml"/></Relationships>
</file>

<file path=ppt/slides/_rels/slide9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notesSlide" Target="../notesSlides/notesSlide29.xml"/><Relationship Id="rId1" Type="http://schemas.openxmlformats.org/officeDocument/2006/relationships/slideLayout" Target="../slideLayouts/slideLayout2.xml"/></Relationships>
</file>

<file path=ppt/slides/_rels/slide9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notesSlide" Target="../notesSlides/notesSlide30.xml"/><Relationship Id="rId1" Type="http://schemas.openxmlformats.org/officeDocument/2006/relationships/slideLayout" Target="../slideLayouts/slideLayout2.xml"/></Relationships>
</file>

<file path=ppt/slides/_rels/slide9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8.png"/><Relationship Id="rId2" Type="http://schemas.openxmlformats.org/officeDocument/2006/relationships/notesSlide" Target="../notesSlides/notesSlide31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.jpeg"/></Relationships>
</file>

<file path=ppt/slides/_rels/slide9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9.png"/><Relationship Id="rId2" Type="http://schemas.openxmlformats.org/officeDocument/2006/relationships/notesSlide" Target="../notesSlides/notesSlide32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.jpeg"/></Relationships>
</file>

<file path=ppt/slides/_rels/slide9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notesSlide" Target="../notesSlides/notesSlide33.xml"/><Relationship Id="rId1" Type="http://schemas.openxmlformats.org/officeDocument/2006/relationships/slideLayout" Target="../slideLayouts/slideLayout2.xml"/></Relationships>
</file>

<file path=ppt/slides/_rels/slide9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0.png"/><Relationship Id="rId2" Type="http://schemas.openxmlformats.org/officeDocument/2006/relationships/notesSlide" Target="../notesSlides/notesSlide34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.jpeg"/></Relationships>
</file>

<file path=ppt/slides/_rels/slide9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1.png"/><Relationship Id="rId2" Type="http://schemas.openxmlformats.org/officeDocument/2006/relationships/notesSlide" Target="../notesSlides/notesSlide35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.jpeg"/></Relationships>
</file>

<file path=ppt/slides/_rels/slide9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notesSlide" Target="../notesSlides/notesSlide36.xml"/><Relationship Id="rId1" Type="http://schemas.openxmlformats.org/officeDocument/2006/relationships/slideLayout" Target="../slideLayouts/slideLayout2.xml"/></Relationships>
</file>

<file path=ppt/slides/_rels/slide10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notesSlide" Target="../notesSlides/notesSlide37.xml"/><Relationship Id="rId1" Type="http://schemas.openxmlformats.org/officeDocument/2006/relationships/slideLayout" Target="../slideLayouts/slideLayout2.xml"/></Relationships>
</file>

<file path=ppt/slides/_rels/slide10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notesSlide" Target="../notesSlides/notesSlide38.xml"/><Relationship Id="rId1" Type="http://schemas.openxmlformats.org/officeDocument/2006/relationships/slideLayout" Target="../slideLayouts/slideLayout2.xml"/></Relationships>
</file>

<file path=ppt/slides/_rels/slide10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notesSlide" Target="../notesSlides/notesSlide39.xml"/><Relationship Id="rId1" Type="http://schemas.openxmlformats.org/officeDocument/2006/relationships/slideLayout" Target="../slideLayouts/slideLayout2.xml"/></Relationships>
</file>

<file path=ppt/slides/_rels/slide10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notesSlide" Target="../notesSlides/notesSlide40.xml"/><Relationship Id="rId1" Type="http://schemas.openxmlformats.org/officeDocument/2006/relationships/slideLayout" Target="../slideLayouts/slideLayout2.xml"/></Relationships>
</file>

<file path=ppt/slides/_rels/slide10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notesSlide" Target="../notesSlides/notesSlide41.xml"/><Relationship Id="rId1" Type="http://schemas.openxmlformats.org/officeDocument/2006/relationships/slideLayout" Target="../slideLayouts/slideLayout2.xml"/></Relationships>
</file>

<file path=ppt/slides/_rels/slide10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notesSlide" Target="../notesSlides/notesSlide42.xml"/><Relationship Id="rId1" Type="http://schemas.openxmlformats.org/officeDocument/2006/relationships/slideLayout" Target="../slideLayouts/slideLayout2.xml"/></Relationships>
</file>

<file path=ppt/slides/_rels/slide10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notesSlide" Target="../notesSlides/notesSlide43.xml"/><Relationship Id="rId1" Type="http://schemas.openxmlformats.org/officeDocument/2006/relationships/slideLayout" Target="../slideLayouts/slideLayout2.xml"/></Relationships>
</file>

<file path=ppt/slides/_rels/slide10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2.png"/><Relationship Id="rId2" Type="http://schemas.openxmlformats.org/officeDocument/2006/relationships/notesSlide" Target="../notesSlides/notesSlide44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.jpeg"/></Relationships>
</file>

<file path=ppt/slides/_rels/slide10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notesSlide" Target="../notesSlides/notesSlide45.xml"/><Relationship Id="rId1" Type="http://schemas.openxmlformats.org/officeDocument/2006/relationships/slideLayout" Target="../slideLayouts/slideLayout2.xml"/></Relationships>
</file>

<file path=ppt/slides/_rels/slide10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3.jpeg"/><Relationship Id="rId2" Type="http://schemas.openxmlformats.org/officeDocument/2006/relationships/notesSlide" Target="../notesSlides/notesSlide46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.jpeg"/></Relationships>
</file>

<file path=ppt/slides/_rels/slide1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notesSlide" Target="../notesSlides/notesSlide47.xml"/><Relationship Id="rId1" Type="http://schemas.openxmlformats.org/officeDocument/2006/relationships/slideLayout" Target="../slideLayouts/slideLayout2.xml"/></Relationships>
</file>

<file path=ppt/slides/_rels/slide1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4.png"/><Relationship Id="rId2" Type="http://schemas.openxmlformats.org/officeDocument/2006/relationships/notesSlide" Target="../notesSlides/notesSlide48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.jpeg"/></Relationships>
</file>

<file path=ppt/slides/_rels/slide1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5.png"/><Relationship Id="rId2" Type="http://schemas.openxmlformats.org/officeDocument/2006/relationships/notesSlide" Target="../notesSlides/notesSlide49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.jpeg"/></Relationships>
</file>

<file path=ppt/slides/_rels/slide1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6.png"/><Relationship Id="rId2" Type="http://schemas.openxmlformats.org/officeDocument/2006/relationships/notesSlide" Target="../notesSlides/notesSlide50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.jpeg"/></Relationships>
</file>

<file path=ppt/slides/_rels/slide1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notesSlide" Target="../notesSlides/notesSlide51.xml"/><Relationship Id="rId1" Type="http://schemas.openxmlformats.org/officeDocument/2006/relationships/slideLayout" Target="../slideLayouts/slideLayout2.xml"/></Relationships>
</file>

<file path=ppt/slides/_rels/slide1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notesSlide" Target="../notesSlides/notesSlide52.xml"/><Relationship Id="rId1" Type="http://schemas.openxmlformats.org/officeDocument/2006/relationships/slideLayout" Target="../slideLayouts/slideLayout2.xml"/></Relationships>
</file>

<file path=ppt/slides/_rels/slide1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notesSlide" Target="../notesSlides/notesSlide53.xml"/><Relationship Id="rId1" Type="http://schemas.openxmlformats.org/officeDocument/2006/relationships/slideLayout" Target="../slideLayouts/slideLayout2.xml"/></Relationships>
</file>

<file path=ppt/slides/_rels/slide1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notesSlide" Target="../notesSlides/notesSlide54.xml"/><Relationship Id="rId1" Type="http://schemas.openxmlformats.org/officeDocument/2006/relationships/slideLayout" Target="../slideLayouts/slideLayout2.xml"/></Relationships>
</file>

<file path=ppt/slides/_rels/slide1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notesSlide" Target="../notesSlides/notesSlide55.xml"/><Relationship Id="rId1" Type="http://schemas.openxmlformats.org/officeDocument/2006/relationships/slideLayout" Target="../slideLayouts/slideLayout2.xml"/></Relationships>
</file>

<file path=ppt/slides/_rels/slide1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notesSlide" Target="../notesSlides/notesSlide56.xml"/><Relationship Id="rId1" Type="http://schemas.openxmlformats.org/officeDocument/2006/relationships/slideLayout" Target="../slideLayouts/slideLayout2.xml"/></Relationships>
</file>

<file path=ppt/slides/_rels/slide1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notesSlide" Target="../notesSlides/notesSlide57.xml"/><Relationship Id="rId1" Type="http://schemas.openxmlformats.org/officeDocument/2006/relationships/slideLayout" Target="../slideLayouts/slideLayout2.xml"/></Relationships>
</file>

<file path=ppt/slides/_rels/slide1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2.xml"/></Relationships>
</file>

<file path=ppt/slides/_rels/slide1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2.xml"/></Relationships>
</file>

<file path=ppt/slides/_rels/slide1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2.xml"/></Relationships>
</file>

<file path=ppt/slides/_rels/slide1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2.xml"/></Relationships>
</file>

<file path=ppt/slides/_rels/slide1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2.xml"/></Relationships>
</file>

<file path=ppt/slides/_rels/slide126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youtube.com/playlist?list=PLmXKhU9FNesSFvj6gASuWmQd23Ul5omtD" TargetMode="External"/><Relationship Id="rId7" Type="http://schemas.openxmlformats.org/officeDocument/2006/relationships/image" Target="../media/image2.jpeg"/><Relationship Id="rId2" Type="http://schemas.openxmlformats.org/officeDocument/2006/relationships/hyperlink" Target="https://www.youtube.com/watch?v=_zOTMOubT1M" TargetMode="External"/><Relationship Id="rId1" Type="http://schemas.openxmlformats.org/officeDocument/2006/relationships/slideLayout" Target="../slideLayouts/slideLayout2.xml"/><Relationship Id="rId6" Type="http://schemas.openxmlformats.org/officeDocument/2006/relationships/hyperlink" Target="https://nptel.ac.in/courses/106108101" TargetMode="External"/><Relationship Id="rId5" Type="http://schemas.openxmlformats.org/officeDocument/2006/relationships/hyperlink" Target="https://www.youtube.com/watch?v=cviEfwtdcEE" TargetMode="External"/><Relationship Id="rId4" Type="http://schemas.openxmlformats.org/officeDocument/2006/relationships/hyperlink" Target="https://www.youtube.com/watch?v=x_UpLHXF9dU" TargetMode="External"/></Relationships>
</file>

<file path=ppt/slides/_rels/slide12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2.xml"/></Relationships>
</file>

<file path=ppt/slides/_rels/slide12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2.xml"/></Relationships>
</file>

<file path=ppt/slides/_rels/slide12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2.xml"/></Relationships>
</file>

<file path=ppt/slides/_rels/slide13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2.xml"/></Relationships>
</file>

<file path=ppt/slides/_rels/slide13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2.xml"/></Relationships>
</file>

<file path=ppt/slides/_rels/slide13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2.xml"/></Relationships>
</file>

<file path=ppt/slides/_rels/slide13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2.xml"/></Relationships>
</file>

<file path=ppt/slides/_rels/slide13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image" Target="../media/image37.png"/><Relationship Id="rId1" Type="http://schemas.openxmlformats.org/officeDocument/2006/relationships/slideLayout" Target="../slideLayouts/slideLayout2.xml"/></Relationships>
</file>

<file path=ppt/slides/_rels/slide13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image" Target="../media/image38.png"/><Relationship Id="rId1" Type="http://schemas.openxmlformats.org/officeDocument/2006/relationships/slideLayout" Target="../slideLayouts/slideLayout2.xml"/></Relationships>
</file>

<file path=ppt/slides/_rels/slide13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image" Target="../media/image39.png"/><Relationship Id="rId1" Type="http://schemas.openxmlformats.org/officeDocument/2006/relationships/slideLayout" Target="../slideLayouts/slideLayout2.xml"/></Relationships>
</file>

<file path=ppt/slides/_rels/slide137.xml.rels><?xml version="1.0" encoding="UTF-8" standalone="yes"?>
<Relationships xmlns="http://schemas.openxmlformats.org/package/2006/relationships"><Relationship Id="rId3" Type="http://schemas.openxmlformats.org/officeDocument/2006/relationships/image" Target="../media/image40.png"/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2.xml"/></Relationships>
</file>

<file path=ppt/slides/_rels/slide138.xml.rels><?xml version="1.0" encoding="UTF-8" standalone="yes"?>
<Relationships xmlns="http://schemas.openxmlformats.org/package/2006/relationships"><Relationship Id="rId3" Type="http://schemas.openxmlformats.org/officeDocument/2006/relationships/image" Target="../media/image41.png"/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2.xml"/></Relationships>
</file>

<file path=ppt/slides/_rels/slide139.xml.rels><?xml version="1.0" encoding="UTF-8" standalone="yes"?>
<Relationships xmlns="http://schemas.openxmlformats.org/package/2006/relationships"><Relationship Id="rId3" Type="http://schemas.openxmlformats.org/officeDocument/2006/relationships/image" Target="../media/image42.png"/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2.xml"/></Relationships>
</file>

<file path=ppt/slides/_rels/slide14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2.xml"/></Relationships>
</file>

<file path=ppt/slides/_rels/slide14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2.xml"/></Relationships>
</file>

<file path=ppt/slides/_rels/slide14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2.xml"/></Relationships>
</file>

<file path=ppt/slides/_rels/slide14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657350" y="136526"/>
            <a:ext cx="7163122" cy="854468"/>
          </a:xfrm>
          <a:gradFill flip="none" rotWithShape="1">
            <a:gsLst>
              <a:gs pos="0">
                <a:srgbClr val="FF0000">
                  <a:tint val="66000"/>
                  <a:satMod val="160000"/>
                </a:srgbClr>
              </a:gs>
              <a:gs pos="50000">
                <a:srgbClr val="FF0000">
                  <a:tint val="44500"/>
                  <a:satMod val="160000"/>
                </a:srgbClr>
              </a:gs>
              <a:gs pos="100000">
                <a:srgbClr val="FF0000">
                  <a:tint val="23500"/>
                  <a:satMod val="160000"/>
                </a:srgbClr>
              </a:gs>
            </a:gsLst>
            <a:lin ang="0" scaled="1"/>
            <a:tileRect/>
          </a:gradFill>
        </p:spPr>
        <p:style>
          <a:lnRef idx="1">
            <a:schemeClr val="accent5"/>
          </a:lnRef>
          <a:fillRef idx="2">
            <a:schemeClr val="accent5"/>
          </a:fillRef>
          <a:effectRef idx="1">
            <a:schemeClr val="accent5"/>
          </a:effectRef>
          <a:fontRef idx="minor">
            <a:schemeClr val="dk1"/>
          </a:fontRef>
        </p:style>
        <p:txBody>
          <a:bodyPr>
            <a:noAutofit/>
          </a:bodyPr>
          <a:lstStyle/>
          <a:p>
            <a:r>
              <a:rPr lang="en-US" sz="2100" dirty="0"/>
              <a:t>Noida Institute of Engineering and Technology, Greater Noida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971600" y="1340768"/>
            <a:ext cx="7486600" cy="575522"/>
          </a:xfrm>
          <a:ln>
            <a:solidFill>
              <a:schemeClr val="accent2"/>
            </a:solidFill>
          </a:ln>
        </p:spPr>
        <p:style>
          <a:lnRef idx="2">
            <a:schemeClr val="accent5"/>
          </a:lnRef>
          <a:fillRef idx="1">
            <a:schemeClr val="lt1"/>
          </a:fillRef>
          <a:effectRef idx="0">
            <a:schemeClr val="accent5"/>
          </a:effectRef>
          <a:fontRef idx="minor">
            <a:schemeClr val="dk1"/>
          </a:fontRef>
        </p:style>
        <p:txBody>
          <a:bodyPr>
            <a:normAutofit/>
          </a:bodyPr>
          <a:lstStyle/>
          <a:p>
            <a:r>
              <a:rPr lang="en-US" sz="2000" dirty="0">
                <a:solidFill>
                  <a:schemeClr val="tx1"/>
                </a:solidFill>
              </a:rPr>
              <a:t> </a:t>
            </a:r>
            <a:r>
              <a:rPr lang="en-US" sz="2800" dirty="0">
                <a:solidFill>
                  <a:schemeClr val="tx1"/>
                </a:solidFill>
              </a:rPr>
              <a:t>Concurrency and Deadlock Management</a:t>
            </a:r>
            <a:r>
              <a:rPr lang="en-IN" sz="2800" dirty="0"/>
              <a:t> </a:t>
            </a:r>
            <a:endParaRPr lang="en-US" sz="1875" dirty="0">
              <a:solidFill>
                <a:schemeClr val="tx1"/>
              </a:solidFill>
            </a:endParaRPr>
          </a:p>
        </p:txBody>
      </p:sp>
      <p:sp>
        <p:nvSpPr>
          <p:cNvPr id="6" name="Subtitle 2"/>
          <p:cNvSpPr txBox="1">
            <a:spLocks/>
          </p:cNvSpPr>
          <p:nvPr/>
        </p:nvSpPr>
        <p:spPr>
          <a:xfrm>
            <a:off x="6743700" y="4024313"/>
            <a:ext cx="2286000" cy="1314450"/>
          </a:xfrm>
          <a:prstGeom prst="rect">
            <a:avLst/>
          </a:prstGeom>
          <a:ln>
            <a:solidFill>
              <a:schemeClr val="accent2"/>
            </a:solidFill>
          </a:ln>
        </p:spPr>
        <p:style>
          <a:lnRef idx="2">
            <a:schemeClr val="accent5"/>
          </a:lnRef>
          <a:fillRef idx="1">
            <a:schemeClr val="lt1"/>
          </a:fillRef>
          <a:effectRef idx="0">
            <a:schemeClr val="accent5"/>
          </a:effectRef>
          <a:fontRef idx="minor">
            <a:schemeClr val="dk1"/>
          </a:fontRef>
        </p:style>
        <p:txBody>
          <a:bodyPr vert="horz" lIns="68580" tIns="34290" rIns="68580" bIns="34290" rtlCol="0">
            <a:norm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r>
              <a:rPr lang="en-US" sz="2400" dirty="0">
                <a:solidFill>
                  <a:schemeClr val="tx1"/>
                </a:solidFill>
              </a:rPr>
              <a:t>Atul Garg</a:t>
            </a: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r>
              <a:rPr kumimoji="0" lang="en-US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Assistant</a:t>
            </a:r>
            <a:r>
              <a:rPr kumimoji="0" lang="en-US" b="0" i="0" u="none" strike="noStrike" kern="1200" cap="none" spc="0" normalizeH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 Professor </a:t>
            </a: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r>
              <a:rPr kumimoji="0" lang="en-US" b="0" i="0" u="none" strike="noStrike" kern="1200" cap="none" spc="0" normalizeH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IT Department</a:t>
            </a:r>
            <a:r>
              <a:rPr kumimoji="0" lang="en-US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 </a:t>
            </a:r>
          </a:p>
        </p:txBody>
      </p:sp>
      <p:sp>
        <p:nvSpPr>
          <p:cNvPr id="10" name="Slide Number Placeholder 9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1</a:t>
            </a:fld>
            <a:endParaRPr lang="en-US" dirty="0"/>
          </a:p>
        </p:txBody>
      </p:sp>
      <p:pic>
        <p:nvPicPr>
          <p:cNvPr id="11" name="Picture 4" descr="C:\Users\Manks\Downloads\speak.png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7258050" y="2738438"/>
            <a:ext cx="1143000" cy="1143000"/>
          </a:xfrm>
          <a:prstGeom prst="rect">
            <a:avLst/>
          </a:prstGeom>
          <a:noFill/>
        </p:spPr>
      </p:pic>
      <p:sp>
        <p:nvSpPr>
          <p:cNvPr id="12" name="Subtitle 2"/>
          <p:cNvSpPr txBox="1">
            <a:spLocks/>
          </p:cNvSpPr>
          <p:nvPr/>
        </p:nvSpPr>
        <p:spPr>
          <a:xfrm>
            <a:off x="285750" y="3028950"/>
            <a:ext cx="1543050" cy="400050"/>
          </a:xfrm>
          <a:prstGeom prst="rect">
            <a:avLst/>
          </a:prstGeom>
          <a:ln>
            <a:solidFill>
              <a:schemeClr val="accent2"/>
            </a:solidFill>
          </a:ln>
        </p:spPr>
        <p:style>
          <a:lnRef idx="2">
            <a:schemeClr val="accent5"/>
          </a:lnRef>
          <a:fillRef idx="1">
            <a:schemeClr val="lt1"/>
          </a:fillRef>
          <a:effectRef idx="0">
            <a:schemeClr val="accent5"/>
          </a:effectRef>
          <a:fontRef idx="minor">
            <a:schemeClr val="dk1"/>
          </a:fontRef>
        </p:style>
        <p:txBody>
          <a:bodyPr vert="horz" lIns="68580" tIns="34290" rIns="68580" bIns="34290" rtlCol="0">
            <a:normAutofit/>
          </a:bodyPr>
          <a:lstStyle/>
          <a:p>
            <a:pPr algn="ctr">
              <a:spcBef>
                <a:spcPct val="20000"/>
              </a:spcBef>
              <a:defRPr/>
            </a:pPr>
            <a:r>
              <a:rPr lang="en-US" sz="1875" dirty="0">
                <a:solidFill>
                  <a:schemeClr val="tx1"/>
                </a:solidFill>
              </a:rPr>
              <a:t>Unit: 3</a:t>
            </a:r>
          </a:p>
        </p:txBody>
      </p:sp>
      <p:sp>
        <p:nvSpPr>
          <p:cNvPr id="14" name="Subtitle 2"/>
          <p:cNvSpPr txBox="1">
            <a:spLocks/>
          </p:cNvSpPr>
          <p:nvPr/>
        </p:nvSpPr>
        <p:spPr>
          <a:xfrm>
            <a:off x="256253" y="3669506"/>
            <a:ext cx="3143250" cy="628650"/>
          </a:xfrm>
          <a:prstGeom prst="rect">
            <a:avLst/>
          </a:prstGeom>
          <a:ln>
            <a:solidFill>
              <a:schemeClr val="accent2"/>
            </a:solidFill>
          </a:ln>
        </p:spPr>
        <p:style>
          <a:lnRef idx="2">
            <a:schemeClr val="accent5"/>
          </a:lnRef>
          <a:fillRef idx="1">
            <a:schemeClr val="lt1"/>
          </a:fillRef>
          <a:effectRef idx="0">
            <a:schemeClr val="accent5"/>
          </a:effectRef>
          <a:fontRef idx="minor">
            <a:schemeClr val="dk1"/>
          </a:fontRef>
        </p:style>
        <p:txBody>
          <a:bodyPr vert="horz" lIns="68580" tIns="34290" rIns="68580" bIns="34290" rtlCol="0">
            <a:normAutofit/>
          </a:bodyPr>
          <a:lstStyle/>
          <a:p>
            <a:pPr algn="ctr">
              <a:spcBef>
                <a:spcPct val="20000"/>
              </a:spcBef>
              <a:defRPr/>
            </a:pPr>
            <a:r>
              <a:rPr lang="en-US" sz="1500" dirty="0">
                <a:solidFill>
                  <a:schemeClr val="tx1"/>
                </a:solidFill>
              </a:rPr>
              <a:t>Operating Systems (BCSE0303)</a:t>
            </a:r>
          </a:p>
        </p:txBody>
      </p:sp>
      <p:sp>
        <p:nvSpPr>
          <p:cNvPr id="15" name="Subtitle 2"/>
          <p:cNvSpPr txBox="1">
            <a:spLocks/>
          </p:cNvSpPr>
          <p:nvPr/>
        </p:nvSpPr>
        <p:spPr>
          <a:xfrm>
            <a:off x="256253" y="4538663"/>
            <a:ext cx="3143250" cy="628650"/>
          </a:xfrm>
          <a:prstGeom prst="rect">
            <a:avLst/>
          </a:prstGeom>
          <a:ln>
            <a:solidFill>
              <a:schemeClr val="accent2"/>
            </a:solidFill>
          </a:ln>
        </p:spPr>
        <p:style>
          <a:lnRef idx="2">
            <a:schemeClr val="accent5"/>
          </a:lnRef>
          <a:fillRef idx="1">
            <a:schemeClr val="lt1"/>
          </a:fillRef>
          <a:effectRef idx="0">
            <a:schemeClr val="accent5"/>
          </a:effectRef>
          <a:fontRef idx="minor">
            <a:schemeClr val="dk1"/>
          </a:fontRef>
        </p:style>
        <p:txBody>
          <a:bodyPr vert="horz" lIns="68580" tIns="34290" rIns="68580" bIns="34290" rtlCol="0">
            <a:normAutofit/>
          </a:bodyPr>
          <a:lstStyle/>
          <a:p>
            <a:pPr algn="ctr">
              <a:spcBef>
                <a:spcPct val="20000"/>
              </a:spcBef>
              <a:defRPr/>
            </a:pPr>
            <a:r>
              <a:rPr lang="en-US" sz="1500" dirty="0">
                <a:solidFill>
                  <a:schemeClr val="tx1"/>
                </a:solidFill>
              </a:rPr>
              <a:t>Course Details</a:t>
            </a:r>
            <a:br>
              <a:rPr lang="en-US" sz="1500" dirty="0">
                <a:solidFill>
                  <a:schemeClr val="tx1"/>
                </a:solidFill>
              </a:rPr>
            </a:br>
            <a:r>
              <a:rPr lang="en-US" sz="1500" dirty="0">
                <a:solidFill>
                  <a:schemeClr val="tx1"/>
                </a:solidFill>
              </a:rPr>
              <a:t>(B Tech </a:t>
            </a:r>
            <a:r>
              <a:rPr lang="en-US" sz="1500" dirty="0" err="1">
                <a:solidFill>
                  <a:schemeClr val="tx1"/>
                </a:solidFill>
              </a:rPr>
              <a:t>IIIrd</a:t>
            </a:r>
            <a:r>
              <a:rPr lang="en-US" sz="1500" dirty="0">
                <a:solidFill>
                  <a:schemeClr val="tx1"/>
                </a:solidFill>
              </a:rPr>
              <a:t>  Sem)</a:t>
            </a:r>
          </a:p>
        </p:txBody>
      </p:sp>
      <p:pic>
        <p:nvPicPr>
          <p:cNvPr id="7" name="Picture 6" descr="A black and red logo&#10;&#10;Description automatically generated">
            <a:extLst>
              <a:ext uri="{FF2B5EF4-FFF2-40B4-BE49-F238E27FC236}">
                <a16:creationId xmlns:a16="http://schemas.microsoft.com/office/drawing/2014/main" id="{51AB1F46-F1A3-2DF2-5EE0-F05547C4DDF6}"/>
              </a:ext>
            </a:extLst>
          </p:cNvPr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126260"/>
            <a:ext cx="1657350" cy="854468"/>
          </a:xfrm>
          <a:prstGeom prst="rect">
            <a:avLst/>
          </a:prstGeom>
        </p:spPr>
      </p:pic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721DA620-40F1-17A2-9294-7D80D4513C1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BD8A3F6-A7DE-4CA0-A987-C619EAD671FD}" type="datetime3">
              <a:rPr lang="en-US" smtClean="0"/>
              <a:t>1 September 2025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B915C962-4B60-E645-39D2-03727577288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Atul Garg           BCSE0303            Unit- III</a:t>
            </a:r>
          </a:p>
        </p:txBody>
      </p:sp>
      <p:pic>
        <p:nvPicPr>
          <p:cNvPr id="13" name="Picture 12">
            <a:extLst>
              <a:ext uri="{FF2B5EF4-FFF2-40B4-BE49-F238E27FC236}">
                <a16:creationId xmlns:a16="http://schemas.microsoft.com/office/drawing/2014/main" id="{EC7C2DDE-86A0-9844-22FB-A0FCAD25DBAC}"/>
              </a:ext>
            </a:extLst>
          </p:cNvPr>
          <p:cNvPicPr>
            <a:picLocks noChangeAspect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071360" y="2564903"/>
            <a:ext cx="1386840" cy="1414869"/>
          </a:xfrm>
          <a:prstGeom prst="rect">
            <a:avLst/>
          </a:prstGeom>
        </p:spPr>
      </p:pic>
      <p:cxnSp>
        <p:nvCxnSpPr>
          <p:cNvPr id="9" name="Straight Arrow Connector 8">
            <a:extLst>
              <a:ext uri="{FF2B5EF4-FFF2-40B4-BE49-F238E27FC236}">
                <a16:creationId xmlns:a16="http://schemas.microsoft.com/office/drawing/2014/main" id="{F2AC171F-8100-AB7E-9B65-32B59B21A450}"/>
              </a:ext>
            </a:extLst>
          </p:cNvPr>
          <p:cNvCxnSpPr>
            <a:cxnSpLocks/>
          </p:cNvCxnSpPr>
          <p:nvPr/>
        </p:nvCxnSpPr>
        <p:spPr>
          <a:xfrm>
            <a:off x="1259632" y="1916832"/>
            <a:ext cx="0" cy="1112118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18" name="Straight Arrow Connector 17">
            <a:extLst>
              <a:ext uri="{FF2B5EF4-FFF2-40B4-BE49-F238E27FC236}">
                <a16:creationId xmlns:a16="http://schemas.microsoft.com/office/drawing/2014/main" id="{69FA7774-2888-411A-49E6-1EA80F1BBFEC}"/>
              </a:ext>
            </a:extLst>
          </p:cNvPr>
          <p:cNvCxnSpPr/>
          <p:nvPr/>
        </p:nvCxnSpPr>
        <p:spPr>
          <a:xfrm>
            <a:off x="7812360" y="1916290"/>
            <a:ext cx="0" cy="648613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EE37C9A-C89E-B568-B7C9-E56FEA1FB86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Date Placeholder 5">
            <a:extLst>
              <a:ext uri="{FF2B5EF4-FFF2-40B4-BE49-F238E27FC236}">
                <a16:creationId xmlns:a16="http://schemas.microsoft.com/office/drawing/2014/main" id="{40A911E7-F996-22DD-3375-BE02761C4AD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028CC3D-6D61-44BD-9249-036F52A455E2}" type="datetime3">
              <a:rPr lang="en-US" smtClean="0"/>
              <a:t>1 September 2025</a:t>
            </a:fld>
            <a:endParaRPr lang="en-US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05178DA8-8C28-B83B-129A-1BECD454507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2</a:t>
            </a:fld>
            <a:endParaRPr lang="en-US"/>
          </a:p>
        </p:txBody>
      </p:sp>
      <p:sp>
        <p:nvSpPr>
          <p:cNvPr id="8" name="Title 1">
            <a:extLst>
              <a:ext uri="{FF2B5EF4-FFF2-40B4-BE49-F238E27FC236}">
                <a16:creationId xmlns:a16="http://schemas.microsoft.com/office/drawing/2014/main" id="{352BEE44-9768-7B3C-D631-C2054F9FC4E5}"/>
              </a:ext>
            </a:extLst>
          </p:cNvPr>
          <p:cNvSpPr txBox="1">
            <a:spLocks/>
          </p:cNvSpPr>
          <p:nvPr/>
        </p:nvSpPr>
        <p:spPr>
          <a:xfrm>
            <a:off x="2123727" y="44624"/>
            <a:ext cx="6956705" cy="864096"/>
          </a:xfrm>
          <a:prstGeom prst="rect">
            <a:avLst/>
          </a:prstGeom>
          <a:gradFill flip="none" rotWithShape="1">
            <a:gsLst>
              <a:gs pos="0">
                <a:srgbClr val="FF0000">
                  <a:tint val="66000"/>
                  <a:satMod val="160000"/>
                </a:srgbClr>
              </a:gs>
              <a:gs pos="50000">
                <a:srgbClr val="FF0000">
                  <a:tint val="44500"/>
                  <a:satMod val="160000"/>
                </a:srgbClr>
              </a:gs>
              <a:gs pos="100000">
                <a:srgbClr val="FF0000">
                  <a:tint val="23500"/>
                  <a:satMod val="160000"/>
                </a:srgbClr>
              </a:gs>
            </a:gsLst>
            <a:lin ang="0" scaled="1"/>
            <a:tileRect/>
          </a:gradFill>
        </p:spPr>
        <p:style>
          <a:lnRef idx="1">
            <a:schemeClr val="accent5"/>
          </a:lnRef>
          <a:fillRef idx="2">
            <a:schemeClr val="accent5"/>
          </a:fillRef>
          <a:effectRef idx="1">
            <a:schemeClr val="accent5"/>
          </a:effectRef>
          <a:fontRef idx="minor">
            <a:schemeClr val="dk1"/>
          </a:fontRef>
        </p:style>
        <p:txBody>
          <a:bodyPr vert="horz" lIns="68580" tIns="34290" rIns="68580" bIns="34290" rtlCol="0" anchor="ctr">
            <a:noAutofit/>
          </a:bodyPr>
          <a:lstStyle>
            <a:lvl1pPr algn="ctr">
              <a:spcBef>
                <a:spcPct val="0"/>
              </a:spcBef>
              <a:buNone/>
              <a:defRPr sz="2800"/>
            </a:lvl1pPr>
          </a:lstStyle>
          <a:p>
            <a:pPr lvl="0" defTabSz="992764">
              <a:defRPr/>
            </a:pPr>
            <a:r>
              <a:rPr lang="en-US" sz="2400" dirty="0"/>
              <a:t>Syllabus Of Course </a:t>
            </a:r>
          </a:p>
        </p:txBody>
      </p:sp>
      <p:pic>
        <p:nvPicPr>
          <p:cNvPr id="2" name="Picture 1" descr="A black and red logo&#10;&#10;Description automatically generated">
            <a:extLst>
              <a:ext uri="{FF2B5EF4-FFF2-40B4-BE49-F238E27FC236}">
                <a16:creationId xmlns:a16="http://schemas.microsoft.com/office/drawing/2014/main" id="{69F788EC-8C94-A4BF-EF3F-AFF320553FC3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3567" y="44624"/>
            <a:ext cx="2015775" cy="864096"/>
          </a:xfrm>
          <a:prstGeom prst="rect">
            <a:avLst/>
          </a:prstGeom>
        </p:spPr>
      </p:pic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20B248B-FF4F-7501-0FD1-078FEA8C12D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Atul Garg           BCSE0303            Unit- III</a:t>
            </a:r>
          </a:p>
        </p:txBody>
      </p:sp>
      <p:pic>
        <p:nvPicPr>
          <p:cNvPr id="9" name="Content Placeholder 8">
            <a:extLst>
              <a:ext uri="{FF2B5EF4-FFF2-40B4-BE49-F238E27FC236}">
                <a16:creationId xmlns:a16="http://schemas.microsoft.com/office/drawing/2014/main" id="{78C31226-CD59-59C1-E507-627006E08839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4"/>
          <a:stretch>
            <a:fillRect/>
          </a:stretch>
        </p:blipFill>
        <p:spPr>
          <a:xfrm>
            <a:off x="442780" y="908720"/>
            <a:ext cx="8229600" cy="2273370"/>
          </a:xfrm>
          <a:prstGeom prst="rect">
            <a:avLst/>
          </a:prstGeom>
        </p:spPr>
      </p:pic>
      <p:graphicFrame>
        <p:nvGraphicFramePr>
          <p:cNvPr id="12" name="Table 11">
            <a:extLst>
              <a:ext uri="{FF2B5EF4-FFF2-40B4-BE49-F238E27FC236}">
                <a16:creationId xmlns:a16="http://schemas.microsoft.com/office/drawing/2014/main" id="{60022A5E-D9E4-C9F3-7340-BCA0A1489AE4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702600932"/>
              </p:ext>
            </p:extLst>
          </p:nvPr>
        </p:nvGraphicFramePr>
        <p:xfrm>
          <a:off x="611559" y="3429000"/>
          <a:ext cx="7992889" cy="2827835"/>
        </p:xfrm>
        <a:graphic>
          <a:graphicData uri="http://schemas.openxmlformats.org/drawingml/2006/table">
            <a:tbl>
              <a:tblPr firstRow="1" firstCol="1" bandRow="1">
                <a:tableStyleId>{5940675A-B579-460E-94D1-54222C63F5DA}</a:tableStyleId>
              </a:tblPr>
              <a:tblGrid>
                <a:gridCol w="1000884">
                  <a:extLst>
                    <a:ext uri="{9D8B030D-6E8A-4147-A177-3AD203B41FA5}">
                      <a16:colId xmlns:a16="http://schemas.microsoft.com/office/drawing/2014/main" val="2683499897"/>
                    </a:ext>
                  </a:extLst>
                </a:gridCol>
                <a:gridCol w="6283673">
                  <a:extLst>
                    <a:ext uri="{9D8B030D-6E8A-4147-A177-3AD203B41FA5}">
                      <a16:colId xmlns:a16="http://schemas.microsoft.com/office/drawing/2014/main" val="3340188901"/>
                    </a:ext>
                  </a:extLst>
                </a:gridCol>
                <a:gridCol w="708332">
                  <a:extLst>
                    <a:ext uri="{9D8B030D-6E8A-4147-A177-3AD203B41FA5}">
                      <a16:colId xmlns:a16="http://schemas.microsoft.com/office/drawing/2014/main" val="389629711"/>
                    </a:ext>
                  </a:extLst>
                </a:gridCol>
              </a:tblGrid>
              <a:tr h="565567"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IN" sz="1200" kern="100" dirty="0">
                          <a:effectLst/>
                        </a:rPr>
                        <a:t>CO 1</a:t>
                      </a:r>
                      <a:endParaRPr lang="en-IN" sz="1200" kern="1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IN" sz="1200" kern="100" dirty="0">
                          <a:effectLst/>
                        </a:rPr>
                        <a:t>Understand operating systems architecture and types, and use the Linux CLI for basic Operations</a:t>
                      </a:r>
                      <a:endParaRPr lang="en-IN" sz="1200" kern="1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IN" sz="1200" kern="100">
                          <a:effectLst/>
                        </a:rPr>
                        <a:t>K2</a:t>
                      </a:r>
                      <a:endParaRPr lang="en-IN" sz="1200" kern="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3519597193"/>
                  </a:ext>
                </a:extLst>
              </a:tr>
              <a:tr h="565567"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IN" sz="1200" kern="100">
                          <a:effectLst/>
                        </a:rPr>
                        <a:t>CO2</a:t>
                      </a:r>
                      <a:endParaRPr lang="en-IN" sz="1200" kern="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IN" sz="1200" kern="100" dirty="0">
                          <a:effectLst/>
                        </a:rPr>
                        <a:t>Implement the CPU scheduling algorithms along with uses of multithreading models</a:t>
                      </a:r>
                      <a:endParaRPr lang="en-IN" sz="1200" kern="1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IN" sz="1200" kern="100" dirty="0">
                          <a:effectLst/>
                        </a:rPr>
                        <a:t>K4</a:t>
                      </a:r>
                      <a:endParaRPr lang="en-IN" sz="1200" kern="1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3201193792"/>
                  </a:ext>
                </a:extLst>
              </a:tr>
              <a:tr h="565567"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IN" sz="1200" kern="100">
                          <a:effectLst/>
                        </a:rPr>
                        <a:t>CO3</a:t>
                      </a:r>
                      <a:endParaRPr lang="en-IN" sz="1200" kern="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IN" sz="1200" kern="100">
                          <a:effectLst/>
                        </a:rPr>
                        <a:t> Implement concurrency control, process synchronization techniques, and deadlock handling methods</a:t>
                      </a:r>
                      <a:endParaRPr lang="en-IN" sz="1200" kern="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IN" sz="1200" kern="100">
                          <a:effectLst/>
                        </a:rPr>
                        <a:t>K4</a:t>
                      </a:r>
                      <a:endParaRPr lang="en-IN" sz="1200" kern="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2516478635"/>
                  </a:ext>
                </a:extLst>
              </a:tr>
              <a:tr h="565567"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IN" sz="1200" kern="100" dirty="0">
                          <a:effectLst/>
                        </a:rPr>
                        <a:t>CO4</a:t>
                      </a:r>
                      <a:endParaRPr lang="en-IN" sz="1200" kern="1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IN" sz="1200" kern="100" dirty="0">
                          <a:effectLst/>
                        </a:rPr>
                        <a:t>Implement memory management strategies and page repla cement algorithms to optimize system performance</a:t>
                      </a:r>
                      <a:endParaRPr lang="en-IN" sz="1200" kern="1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IN" sz="1200" kern="100">
                          <a:effectLst/>
                        </a:rPr>
                        <a:t>K4</a:t>
                      </a:r>
                      <a:endParaRPr lang="en-IN" sz="1200" kern="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4230994038"/>
                  </a:ext>
                </a:extLst>
              </a:tr>
              <a:tr h="565567"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200" kern="100" dirty="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C</a:t>
                      </a:r>
                      <a:r>
                        <a:rPr lang="en-IN" sz="1200" kern="100" dirty="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O5</a:t>
                      </a: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IN" sz="1200" kern="100" dirty="0" err="1">
                          <a:effectLst/>
                        </a:rPr>
                        <a:t>Analyze</a:t>
                      </a:r>
                      <a:r>
                        <a:rPr lang="en-IN" sz="1200" kern="100" dirty="0">
                          <a:effectLst/>
                        </a:rPr>
                        <a:t> file systems and configure distributed systems and virtual machines in modern operating systems.</a:t>
                      </a:r>
                      <a:endParaRPr lang="en-IN" sz="1200" kern="1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IN" sz="1200" kern="100" dirty="0">
                          <a:effectLst/>
                        </a:rPr>
                        <a:t>K4</a:t>
                      </a:r>
                      <a:endParaRPr lang="en-IN" sz="1200" kern="1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85531152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27588670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849C742-7302-7B4C-A94C-7EDC8BC5550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Date Placeholder 5">
            <a:extLst>
              <a:ext uri="{FF2B5EF4-FFF2-40B4-BE49-F238E27FC236}">
                <a16:creationId xmlns:a16="http://schemas.microsoft.com/office/drawing/2014/main" id="{5DFE38B3-4DDC-A4DF-C51A-9B3E5D785D9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E2A21E0-2DE1-4E63-846E-99EB3E6A7C3A}" type="datetime3">
              <a:rPr lang="en-US" smtClean="0"/>
              <a:t>1 September 2025</a:t>
            </a:fld>
            <a:endParaRPr lang="en-US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4F4C410D-6EE9-627A-B516-C52F1224800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3</a:t>
            </a:fld>
            <a:endParaRPr lang="en-US"/>
          </a:p>
        </p:txBody>
      </p:sp>
      <p:sp>
        <p:nvSpPr>
          <p:cNvPr id="8" name="Title 1">
            <a:extLst>
              <a:ext uri="{FF2B5EF4-FFF2-40B4-BE49-F238E27FC236}">
                <a16:creationId xmlns:a16="http://schemas.microsoft.com/office/drawing/2014/main" id="{8854A3CD-AD99-FB7D-9E15-8E4030D78E70}"/>
              </a:ext>
            </a:extLst>
          </p:cNvPr>
          <p:cNvSpPr txBox="1">
            <a:spLocks/>
          </p:cNvSpPr>
          <p:nvPr/>
        </p:nvSpPr>
        <p:spPr>
          <a:xfrm>
            <a:off x="1835696" y="44624"/>
            <a:ext cx="7272808" cy="687213"/>
          </a:xfrm>
          <a:prstGeom prst="rect">
            <a:avLst/>
          </a:prstGeom>
          <a:gradFill flip="none" rotWithShape="1">
            <a:gsLst>
              <a:gs pos="0">
                <a:srgbClr val="FF0000">
                  <a:tint val="66000"/>
                  <a:satMod val="160000"/>
                </a:srgbClr>
              </a:gs>
              <a:gs pos="50000">
                <a:srgbClr val="FF0000">
                  <a:tint val="44500"/>
                  <a:satMod val="160000"/>
                </a:srgbClr>
              </a:gs>
              <a:gs pos="100000">
                <a:srgbClr val="FF0000">
                  <a:tint val="23500"/>
                  <a:satMod val="160000"/>
                </a:srgbClr>
              </a:gs>
            </a:gsLst>
            <a:lin ang="0" scaled="1"/>
            <a:tileRect/>
          </a:gradFill>
        </p:spPr>
        <p:style>
          <a:lnRef idx="1">
            <a:schemeClr val="accent5"/>
          </a:lnRef>
          <a:fillRef idx="2">
            <a:schemeClr val="accent5"/>
          </a:fillRef>
          <a:effectRef idx="1">
            <a:schemeClr val="accent5"/>
          </a:effectRef>
          <a:fontRef idx="minor">
            <a:schemeClr val="dk1"/>
          </a:fontRef>
        </p:style>
        <p:txBody>
          <a:bodyPr vert="horz" lIns="68580" tIns="34290" rIns="68580" bIns="34290" rtlCol="0" anchor="ctr">
            <a:noAutofit/>
          </a:bodyPr>
          <a:lstStyle>
            <a:lvl1pPr algn="ctr">
              <a:spcBef>
                <a:spcPct val="0"/>
              </a:spcBef>
              <a:buNone/>
              <a:defRPr sz="2800"/>
            </a:lvl1pPr>
          </a:lstStyle>
          <a:p>
            <a:endParaRPr lang="en-US" sz="2400" dirty="0"/>
          </a:p>
          <a:p>
            <a:pPr lvl="0" defTabSz="992764">
              <a:defRPr/>
            </a:pPr>
            <a:r>
              <a:rPr lang="en-US" sz="2400" dirty="0"/>
              <a:t>Syllabus Of Course </a:t>
            </a:r>
          </a:p>
          <a:p>
            <a:endParaRPr lang="en-US" sz="2100" dirty="0"/>
          </a:p>
        </p:txBody>
      </p:sp>
      <p:pic>
        <p:nvPicPr>
          <p:cNvPr id="2" name="Picture 1" descr="A black and red logo&#10;&#10;Description automatically generated">
            <a:extLst>
              <a:ext uri="{FF2B5EF4-FFF2-40B4-BE49-F238E27FC236}">
                <a16:creationId xmlns:a16="http://schemas.microsoft.com/office/drawing/2014/main" id="{7EFA2F29-38BF-2560-B1DC-FBC6A1E64503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5496" y="44624"/>
            <a:ext cx="1800200" cy="771686"/>
          </a:xfrm>
          <a:prstGeom prst="rect">
            <a:avLst/>
          </a:prstGeom>
        </p:spPr>
      </p:pic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5F0A4B4-0BF3-F4C4-7399-4B464E39F2C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Atul Garg           BCSE0303            Unit- III</a:t>
            </a:r>
          </a:p>
        </p:txBody>
      </p:sp>
      <p:pic>
        <p:nvPicPr>
          <p:cNvPr id="9" name="Content Placeholder 8">
            <a:extLst>
              <a:ext uri="{FF2B5EF4-FFF2-40B4-BE49-F238E27FC236}">
                <a16:creationId xmlns:a16="http://schemas.microsoft.com/office/drawing/2014/main" id="{122F9703-DC3A-BAF3-3CB3-040946481513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4"/>
          <a:stretch>
            <a:fillRect/>
          </a:stretch>
        </p:blipFill>
        <p:spPr>
          <a:xfrm>
            <a:off x="915892" y="816310"/>
            <a:ext cx="7544540" cy="530985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22635557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D5AD82B-5FF5-EE66-F81E-B2E4B9B0ABE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Date Placeholder 5">
            <a:extLst>
              <a:ext uri="{FF2B5EF4-FFF2-40B4-BE49-F238E27FC236}">
                <a16:creationId xmlns:a16="http://schemas.microsoft.com/office/drawing/2014/main" id="{3D3ACF0A-7503-E830-02DA-83CC3E8CE4F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26EFAB-3821-45AD-A959-7ECF8F3ECE5B}" type="datetime3">
              <a:rPr lang="en-US" smtClean="0"/>
              <a:t>1 September 2025</a:t>
            </a:fld>
            <a:endParaRPr lang="en-US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F01FAD7A-04B9-E82C-E69E-0C967B21453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4</a:t>
            </a:fld>
            <a:endParaRPr lang="en-US"/>
          </a:p>
        </p:txBody>
      </p:sp>
      <p:sp>
        <p:nvSpPr>
          <p:cNvPr id="8" name="Title 1">
            <a:extLst>
              <a:ext uri="{FF2B5EF4-FFF2-40B4-BE49-F238E27FC236}">
                <a16:creationId xmlns:a16="http://schemas.microsoft.com/office/drawing/2014/main" id="{6912E136-73B9-8E13-BE53-421E0BF68839}"/>
              </a:ext>
            </a:extLst>
          </p:cNvPr>
          <p:cNvSpPr txBox="1">
            <a:spLocks/>
          </p:cNvSpPr>
          <p:nvPr/>
        </p:nvSpPr>
        <p:spPr>
          <a:xfrm>
            <a:off x="1547664" y="44624"/>
            <a:ext cx="7488832" cy="687213"/>
          </a:xfrm>
          <a:prstGeom prst="rect">
            <a:avLst/>
          </a:prstGeom>
          <a:gradFill flip="none" rotWithShape="1">
            <a:gsLst>
              <a:gs pos="0">
                <a:srgbClr val="FF0000">
                  <a:tint val="66000"/>
                  <a:satMod val="160000"/>
                </a:srgbClr>
              </a:gs>
              <a:gs pos="50000">
                <a:srgbClr val="FF0000">
                  <a:tint val="44500"/>
                  <a:satMod val="160000"/>
                </a:srgbClr>
              </a:gs>
              <a:gs pos="100000">
                <a:srgbClr val="FF0000">
                  <a:tint val="23500"/>
                  <a:satMod val="160000"/>
                </a:srgbClr>
              </a:gs>
            </a:gsLst>
            <a:lin ang="0" scaled="1"/>
            <a:tileRect/>
          </a:gradFill>
        </p:spPr>
        <p:style>
          <a:lnRef idx="1">
            <a:schemeClr val="accent5"/>
          </a:lnRef>
          <a:fillRef idx="2">
            <a:schemeClr val="accent5"/>
          </a:fillRef>
          <a:effectRef idx="1">
            <a:schemeClr val="accent5"/>
          </a:effectRef>
          <a:fontRef idx="minor">
            <a:schemeClr val="dk1"/>
          </a:fontRef>
        </p:style>
        <p:txBody>
          <a:bodyPr vert="horz" lIns="68580" tIns="34290" rIns="68580" bIns="34290" rtlCol="0" anchor="ctr">
            <a:noAutofit/>
          </a:bodyPr>
          <a:lstStyle>
            <a:lvl1pPr algn="ctr">
              <a:spcBef>
                <a:spcPct val="0"/>
              </a:spcBef>
              <a:buNone/>
              <a:defRPr sz="2800"/>
            </a:lvl1pPr>
          </a:lstStyle>
          <a:p>
            <a:endParaRPr lang="en-US" sz="2400" dirty="0"/>
          </a:p>
          <a:p>
            <a:pPr lvl="0" defTabSz="992764">
              <a:defRPr/>
            </a:pPr>
            <a:r>
              <a:rPr lang="en-US" sz="2400" dirty="0"/>
              <a:t>Syllabus Of Course </a:t>
            </a:r>
          </a:p>
          <a:p>
            <a:endParaRPr lang="en-US" sz="2100" dirty="0"/>
          </a:p>
        </p:txBody>
      </p:sp>
      <p:pic>
        <p:nvPicPr>
          <p:cNvPr id="2" name="Picture 1" descr="A black and red logo&#10;&#10;Description automatically generated">
            <a:extLst>
              <a:ext uri="{FF2B5EF4-FFF2-40B4-BE49-F238E27FC236}">
                <a16:creationId xmlns:a16="http://schemas.microsoft.com/office/drawing/2014/main" id="{7CD319F6-CE57-5F72-4529-7C43CADA1CB6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5496" y="44624"/>
            <a:ext cx="1657350" cy="710451"/>
          </a:xfrm>
          <a:prstGeom prst="rect">
            <a:avLst/>
          </a:prstGeom>
        </p:spPr>
      </p:pic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8486615-0560-DE78-2A69-6B0219FFD5A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Atul Garg           BCSE0303            Unit- III</a:t>
            </a:r>
          </a:p>
        </p:txBody>
      </p:sp>
      <p:pic>
        <p:nvPicPr>
          <p:cNvPr id="10" name="Content Placeholder 9">
            <a:extLst>
              <a:ext uri="{FF2B5EF4-FFF2-40B4-BE49-F238E27FC236}">
                <a16:creationId xmlns:a16="http://schemas.microsoft.com/office/drawing/2014/main" id="{5E7CDBC8-5A43-5A66-BA7E-404FB03A5AAB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4"/>
          <a:stretch>
            <a:fillRect/>
          </a:stretch>
        </p:blipFill>
        <p:spPr>
          <a:xfrm>
            <a:off x="687938" y="836613"/>
            <a:ext cx="7768123" cy="52895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83893656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04AD5DA-37CF-37DB-E3F1-F549393FD9E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Date Placeholder 5">
            <a:extLst>
              <a:ext uri="{FF2B5EF4-FFF2-40B4-BE49-F238E27FC236}">
                <a16:creationId xmlns:a16="http://schemas.microsoft.com/office/drawing/2014/main" id="{6BC493E5-7B9F-A74E-B3CD-109931F7F3D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12728A1-EFA3-48A4-800D-E72FF1C74594}" type="datetime3">
              <a:rPr lang="en-US" smtClean="0"/>
              <a:t>1 September 2025</a:t>
            </a:fld>
            <a:endParaRPr lang="en-US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5DE85793-EB46-07DB-1BFD-C76760EDD38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5</a:t>
            </a:fld>
            <a:endParaRPr lang="en-US"/>
          </a:p>
        </p:txBody>
      </p:sp>
      <p:sp>
        <p:nvSpPr>
          <p:cNvPr id="8" name="Title 1">
            <a:extLst>
              <a:ext uri="{FF2B5EF4-FFF2-40B4-BE49-F238E27FC236}">
                <a16:creationId xmlns:a16="http://schemas.microsoft.com/office/drawing/2014/main" id="{4507AB40-4F2C-42B3-20A3-F5A0F01B4F31}"/>
              </a:ext>
            </a:extLst>
          </p:cNvPr>
          <p:cNvSpPr txBox="1">
            <a:spLocks/>
          </p:cNvSpPr>
          <p:nvPr/>
        </p:nvSpPr>
        <p:spPr>
          <a:xfrm>
            <a:off x="1835696" y="44624"/>
            <a:ext cx="7308304" cy="706265"/>
          </a:xfrm>
          <a:prstGeom prst="rect">
            <a:avLst/>
          </a:prstGeom>
          <a:gradFill flip="none" rotWithShape="1">
            <a:gsLst>
              <a:gs pos="0">
                <a:srgbClr val="FF0000">
                  <a:tint val="66000"/>
                  <a:satMod val="160000"/>
                </a:srgbClr>
              </a:gs>
              <a:gs pos="50000">
                <a:srgbClr val="FF0000">
                  <a:tint val="44500"/>
                  <a:satMod val="160000"/>
                </a:srgbClr>
              </a:gs>
              <a:gs pos="100000">
                <a:srgbClr val="FF0000">
                  <a:tint val="23500"/>
                  <a:satMod val="160000"/>
                </a:srgbClr>
              </a:gs>
            </a:gsLst>
            <a:lin ang="0" scaled="1"/>
            <a:tileRect/>
          </a:gradFill>
        </p:spPr>
        <p:style>
          <a:lnRef idx="1">
            <a:schemeClr val="accent5"/>
          </a:lnRef>
          <a:fillRef idx="2">
            <a:schemeClr val="accent5"/>
          </a:fillRef>
          <a:effectRef idx="1">
            <a:schemeClr val="accent5"/>
          </a:effectRef>
          <a:fontRef idx="minor">
            <a:schemeClr val="dk1"/>
          </a:fontRef>
        </p:style>
        <p:txBody>
          <a:bodyPr vert="horz" lIns="68580" tIns="34290" rIns="68580" bIns="34290" rtlCol="0" anchor="ctr">
            <a:noAutofit/>
          </a:bodyPr>
          <a:lstStyle>
            <a:lvl1pPr algn="ctr">
              <a:spcBef>
                <a:spcPct val="0"/>
              </a:spcBef>
              <a:buNone/>
              <a:defRPr sz="2800"/>
            </a:lvl1pPr>
          </a:lstStyle>
          <a:p>
            <a:endParaRPr lang="en-US" sz="2400" dirty="0"/>
          </a:p>
          <a:p>
            <a:r>
              <a:rPr lang="en-US" sz="2400" dirty="0"/>
              <a:t>Subject Syllabus</a:t>
            </a:r>
            <a:endParaRPr kumimoji="0" lang="en-US" sz="2400" b="0" i="0" u="none" strike="noStrike" kern="1200" cap="none" spc="0" normalizeH="0" baseline="0" noProof="0" dirty="0">
              <a:ln>
                <a:noFill/>
              </a:ln>
              <a:solidFill>
                <a:schemeClr val="dk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  <a:p>
            <a:endParaRPr lang="en-US" sz="2100" dirty="0"/>
          </a:p>
        </p:txBody>
      </p:sp>
      <p:pic>
        <p:nvPicPr>
          <p:cNvPr id="2" name="Picture 1" descr="A black and red logo&#10;&#10;Description automatically generated">
            <a:extLst>
              <a:ext uri="{FF2B5EF4-FFF2-40B4-BE49-F238E27FC236}">
                <a16:creationId xmlns:a16="http://schemas.microsoft.com/office/drawing/2014/main" id="{E40D3474-55DE-C426-9583-3356C08F23F2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5496" y="44624"/>
            <a:ext cx="1657350" cy="710451"/>
          </a:xfrm>
          <a:prstGeom prst="rect">
            <a:avLst/>
          </a:prstGeom>
        </p:spPr>
      </p:pic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CE41280-FE06-FF12-D5FC-81260975553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Atul Garg           BCSE0303            Unit- III</a:t>
            </a:r>
          </a:p>
        </p:txBody>
      </p:sp>
      <p:pic>
        <p:nvPicPr>
          <p:cNvPr id="10" name="Content Placeholder 9">
            <a:extLst>
              <a:ext uri="{FF2B5EF4-FFF2-40B4-BE49-F238E27FC236}">
                <a16:creationId xmlns:a16="http://schemas.microsoft.com/office/drawing/2014/main" id="{7B074E91-54C1-A099-EE12-C650D463D609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4"/>
          <a:stretch>
            <a:fillRect/>
          </a:stretch>
        </p:blipFill>
        <p:spPr>
          <a:xfrm>
            <a:off x="1001649" y="750889"/>
            <a:ext cx="7685151" cy="521744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469788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B10BBA9-B70E-A74A-7D38-BECC4BA36C4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Date Placeholder 5">
            <a:extLst>
              <a:ext uri="{FF2B5EF4-FFF2-40B4-BE49-F238E27FC236}">
                <a16:creationId xmlns:a16="http://schemas.microsoft.com/office/drawing/2014/main" id="{15428D21-557D-7158-3418-0043B832610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FF2EA9-CD3B-4DFB-95C3-FE585D335E78}" type="datetime3">
              <a:rPr lang="en-US" smtClean="0"/>
              <a:t>1 September 2025</a:t>
            </a:fld>
            <a:endParaRPr lang="en-US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0AF50C42-006E-0B1F-D02A-3C0D667D1F3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6</a:t>
            </a:fld>
            <a:endParaRPr lang="en-US"/>
          </a:p>
        </p:txBody>
      </p:sp>
      <p:sp>
        <p:nvSpPr>
          <p:cNvPr id="8" name="Title 1">
            <a:extLst>
              <a:ext uri="{FF2B5EF4-FFF2-40B4-BE49-F238E27FC236}">
                <a16:creationId xmlns:a16="http://schemas.microsoft.com/office/drawing/2014/main" id="{DA3EF596-EA9F-3102-8BA2-332FE2D42B24}"/>
              </a:ext>
            </a:extLst>
          </p:cNvPr>
          <p:cNvSpPr txBox="1">
            <a:spLocks/>
          </p:cNvSpPr>
          <p:nvPr/>
        </p:nvSpPr>
        <p:spPr>
          <a:xfrm>
            <a:off x="1619672" y="77491"/>
            <a:ext cx="7488832" cy="687213"/>
          </a:xfrm>
          <a:prstGeom prst="rect">
            <a:avLst/>
          </a:prstGeom>
          <a:gradFill flip="none" rotWithShape="1">
            <a:gsLst>
              <a:gs pos="0">
                <a:srgbClr val="FF0000">
                  <a:tint val="66000"/>
                  <a:satMod val="160000"/>
                </a:srgbClr>
              </a:gs>
              <a:gs pos="50000">
                <a:srgbClr val="FF0000">
                  <a:tint val="44500"/>
                  <a:satMod val="160000"/>
                </a:srgbClr>
              </a:gs>
              <a:gs pos="100000">
                <a:srgbClr val="FF0000">
                  <a:tint val="23500"/>
                  <a:satMod val="160000"/>
                </a:srgbClr>
              </a:gs>
            </a:gsLst>
            <a:lin ang="0" scaled="1"/>
            <a:tileRect/>
          </a:gradFill>
        </p:spPr>
        <p:style>
          <a:lnRef idx="1">
            <a:schemeClr val="accent5"/>
          </a:lnRef>
          <a:fillRef idx="2">
            <a:schemeClr val="accent5"/>
          </a:fillRef>
          <a:effectRef idx="1">
            <a:schemeClr val="accent5"/>
          </a:effectRef>
          <a:fontRef idx="minor">
            <a:schemeClr val="dk1"/>
          </a:fontRef>
        </p:style>
        <p:txBody>
          <a:bodyPr vert="horz" lIns="68580" tIns="34290" rIns="68580" bIns="34290" rtlCol="0" anchor="ctr">
            <a:noAutofit/>
          </a:bodyPr>
          <a:lstStyle>
            <a:lvl1pPr algn="ctr">
              <a:spcBef>
                <a:spcPct val="0"/>
              </a:spcBef>
              <a:buNone/>
              <a:defRPr sz="2800"/>
            </a:lvl1pPr>
          </a:lstStyle>
          <a:p>
            <a:endParaRPr lang="en-US" sz="2400" dirty="0"/>
          </a:p>
          <a:p>
            <a:r>
              <a:rPr lang="en-US" sz="2400" dirty="0"/>
              <a:t>Subject Syllabus</a:t>
            </a:r>
            <a:endParaRPr kumimoji="0" lang="en-US" sz="2400" b="0" i="0" u="none" strike="noStrike" kern="1200" cap="none" spc="0" normalizeH="0" baseline="0" noProof="0" dirty="0">
              <a:ln>
                <a:noFill/>
              </a:ln>
              <a:solidFill>
                <a:schemeClr val="dk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  <a:p>
            <a:endParaRPr lang="en-US" sz="2100" dirty="0"/>
          </a:p>
        </p:txBody>
      </p:sp>
      <p:pic>
        <p:nvPicPr>
          <p:cNvPr id="2" name="Picture 1" descr="A black and red logo&#10;&#10;Description automatically generated">
            <a:extLst>
              <a:ext uri="{FF2B5EF4-FFF2-40B4-BE49-F238E27FC236}">
                <a16:creationId xmlns:a16="http://schemas.microsoft.com/office/drawing/2014/main" id="{3D34D7ED-FA86-C8CC-934D-08B97A43CED3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5496" y="44624"/>
            <a:ext cx="1657350" cy="710451"/>
          </a:xfrm>
          <a:prstGeom prst="rect">
            <a:avLst/>
          </a:prstGeom>
        </p:spPr>
      </p:pic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49ADB48-0589-1873-3364-D54CBB42BC4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Atul Garg           BCSE0303            Unit- III</a:t>
            </a:r>
          </a:p>
        </p:txBody>
      </p:sp>
      <p:pic>
        <p:nvPicPr>
          <p:cNvPr id="3" name="Content Placeholder 2">
            <a:extLst>
              <a:ext uri="{FF2B5EF4-FFF2-40B4-BE49-F238E27FC236}">
                <a16:creationId xmlns:a16="http://schemas.microsoft.com/office/drawing/2014/main" id="{F81D208A-E1D4-4E6E-D2CF-FAF9BD78D282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4"/>
          <a:stretch>
            <a:fillRect/>
          </a:stretch>
        </p:blipFill>
        <p:spPr>
          <a:xfrm>
            <a:off x="1043608" y="908050"/>
            <a:ext cx="7776864" cy="521811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75759949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EF974EE-168A-3C4A-D750-8DB5229C205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Date Placeholder 5">
            <a:extLst>
              <a:ext uri="{FF2B5EF4-FFF2-40B4-BE49-F238E27FC236}">
                <a16:creationId xmlns:a16="http://schemas.microsoft.com/office/drawing/2014/main" id="{E023348E-6793-FFC7-1AE2-EA3B7F8B1DE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5A857E4-2BD2-49C6-BCE1-6C2A66A69851}" type="datetime3">
              <a:rPr lang="en-US" smtClean="0"/>
              <a:t>1 September 2025</a:t>
            </a:fld>
            <a:endParaRPr lang="en-US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5895A510-1596-2173-D7D3-8295EDA5DCE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7</a:t>
            </a:fld>
            <a:endParaRPr lang="en-US"/>
          </a:p>
        </p:txBody>
      </p:sp>
      <p:sp>
        <p:nvSpPr>
          <p:cNvPr id="8" name="Title 1">
            <a:extLst>
              <a:ext uri="{FF2B5EF4-FFF2-40B4-BE49-F238E27FC236}">
                <a16:creationId xmlns:a16="http://schemas.microsoft.com/office/drawing/2014/main" id="{BDC6D650-5302-60F1-4ECD-CA9D3221F72A}"/>
              </a:ext>
            </a:extLst>
          </p:cNvPr>
          <p:cNvSpPr txBox="1">
            <a:spLocks/>
          </p:cNvSpPr>
          <p:nvPr/>
        </p:nvSpPr>
        <p:spPr>
          <a:xfrm>
            <a:off x="1835696" y="44624"/>
            <a:ext cx="7272808" cy="710451"/>
          </a:xfrm>
          <a:prstGeom prst="rect">
            <a:avLst/>
          </a:prstGeom>
          <a:gradFill flip="none" rotWithShape="1">
            <a:gsLst>
              <a:gs pos="0">
                <a:srgbClr val="FF0000">
                  <a:tint val="66000"/>
                  <a:satMod val="160000"/>
                </a:srgbClr>
              </a:gs>
              <a:gs pos="50000">
                <a:srgbClr val="FF0000">
                  <a:tint val="44500"/>
                  <a:satMod val="160000"/>
                </a:srgbClr>
              </a:gs>
              <a:gs pos="100000">
                <a:srgbClr val="FF0000">
                  <a:tint val="23500"/>
                  <a:satMod val="160000"/>
                </a:srgbClr>
              </a:gs>
            </a:gsLst>
            <a:lin ang="0" scaled="1"/>
            <a:tileRect/>
          </a:gradFill>
        </p:spPr>
        <p:style>
          <a:lnRef idx="1">
            <a:schemeClr val="accent5"/>
          </a:lnRef>
          <a:fillRef idx="2">
            <a:schemeClr val="accent5"/>
          </a:fillRef>
          <a:effectRef idx="1">
            <a:schemeClr val="accent5"/>
          </a:effectRef>
          <a:fontRef idx="minor">
            <a:schemeClr val="dk1"/>
          </a:fontRef>
        </p:style>
        <p:txBody>
          <a:bodyPr vert="horz" lIns="68580" tIns="34290" rIns="68580" bIns="34290" rtlCol="0" anchor="ctr">
            <a:noAutofit/>
          </a:bodyPr>
          <a:lstStyle>
            <a:lvl1pPr algn="ctr">
              <a:spcBef>
                <a:spcPct val="0"/>
              </a:spcBef>
              <a:buNone/>
              <a:defRPr sz="2800"/>
            </a:lvl1pPr>
          </a:lstStyle>
          <a:p>
            <a:endParaRPr lang="en-US" sz="2400" dirty="0"/>
          </a:p>
          <a:p>
            <a:r>
              <a:rPr lang="en-US" sz="2400" b="1" dirty="0"/>
              <a:t>UNIT Content</a:t>
            </a:r>
          </a:p>
          <a:p>
            <a:endParaRPr lang="en-US" sz="2100" dirty="0"/>
          </a:p>
        </p:txBody>
      </p:sp>
      <p:pic>
        <p:nvPicPr>
          <p:cNvPr id="2" name="Picture 1" descr="A black and red logo&#10;&#10;Description automatically generated">
            <a:extLst>
              <a:ext uri="{FF2B5EF4-FFF2-40B4-BE49-F238E27FC236}">
                <a16:creationId xmlns:a16="http://schemas.microsoft.com/office/drawing/2014/main" id="{D91F5858-0215-62E6-25BB-013504C5DD04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5496" y="44624"/>
            <a:ext cx="1657350" cy="710451"/>
          </a:xfrm>
          <a:prstGeom prst="rect">
            <a:avLst/>
          </a:prstGeom>
        </p:spPr>
      </p:pic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8EC0CD1-8DB3-9F16-39B9-B46B3C30F97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Atul Garg           BCSE0303            Unit- III</a:t>
            </a:r>
          </a:p>
        </p:txBody>
      </p:sp>
      <p:pic>
        <p:nvPicPr>
          <p:cNvPr id="4" name="Content Placeholder 3">
            <a:extLst>
              <a:ext uri="{FF2B5EF4-FFF2-40B4-BE49-F238E27FC236}">
                <a16:creationId xmlns:a16="http://schemas.microsoft.com/office/drawing/2014/main" id="{A524A42B-EB56-4DB4-1F7B-BD4DC6241137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4"/>
          <a:stretch>
            <a:fillRect/>
          </a:stretch>
        </p:blipFill>
        <p:spPr>
          <a:xfrm>
            <a:off x="457199" y="908720"/>
            <a:ext cx="8385389" cy="489654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33248561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DD5C4C4-EB61-2180-226D-394B273552B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Date Placeholder 5">
            <a:extLst>
              <a:ext uri="{FF2B5EF4-FFF2-40B4-BE49-F238E27FC236}">
                <a16:creationId xmlns:a16="http://schemas.microsoft.com/office/drawing/2014/main" id="{5608C909-CCD6-7F07-D237-F3FF573669D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CDFB1E8-3CF4-4C8E-81B7-D5F514D6DD04}" type="datetime3">
              <a:rPr lang="en-US" smtClean="0"/>
              <a:t>1 September 2025</a:t>
            </a:fld>
            <a:endParaRPr lang="en-US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FDD28B04-D768-9531-429C-A8F4F4FB224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8</a:t>
            </a:fld>
            <a:endParaRPr lang="en-US"/>
          </a:p>
        </p:txBody>
      </p:sp>
      <p:sp>
        <p:nvSpPr>
          <p:cNvPr id="8" name="Title 1">
            <a:extLst>
              <a:ext uri="{FF2B5EF4-FFF2-40B4-BE49-F238E27FC236}">
                <a16:creationId xmlns:a16="http://schemas.microsoft.com/office/drawing/2014/main" id="{424D83BC-6685-87E3-3182-A5067B41D230}"/>
              </a:ext>
            </a:extLst>
          </p:cNvPr>
          <p:cNvSpPr txBox="1">
            <a:spLocks/>
          </p:cNvSpPr>
          <p:nvPr/>
        </p:nvSpPr>
        <p:spPr>
          <a:xfrm>
            <a:off x="1619673" y="44624"/>
            <a:ext cx="7488831" cy="855222"/>
          </a:xfrm>
          <a:prstGeom prst="rect">
            <a:avLst/>
          </a:prstGeom>
          <a:gradFill flip="none" rotWithShape="1">
            <a:gsLst>
              <a:gs pos="0">
                <a:srgbClr val="FF0000">
                  <a:tint val="66000"/>
                  <a:satMod val="160000"/>
                </a:srgbClr>
              </a:gs>
              <a:gs pos="50000">
                <a:srgbClr val="FF0000">
                  <a:tint val="44500"/>
                  <a:satMod val="160000"/>
                </a:srgbClr>
              </a:gs>
              <a:gs pos="100000">
                <a:srgbClr val="FF0000">
                  <a:tint val="23500"/>
                  <a:satMod val="160000"/>
                </a:srgbClr>
              </a:gs>
            </a:gsLst>
            <a:lin ang="0" scaled="1"/>
            <a:tileRect/>
          </a:gradFill>
        </p:spPr>
        <p:style>
          <a:lnRef idx="1">
            <a:schemeClr val="accent5"/>
          </a:lnRef>
          <a:fillRef idx="2">
            <a:schemeClr val="accent5"/>
          </a:fillRef>
          <a:effectRef idx="1">
            <a:schemeClr val="accent5"/>
          </a:effectRef>
          <a:fontRef idx="minor">
            <a:schemeClr val="dk1"/>
          </a:fontRef>
        </p:style>
        <p:txBody>
          <a:bodyPr vert="horz" lIns="68580" tIns="34290" rIns="68580" bIns="34290" rtlCol="0" anchor="ctr">
            <a:noAutofit/>
          </a:bodyPr>
          <a:lstStyle>
            <a:lvl1pPr algn="ctr">
              <a:spcBef>
                <a:spcPct val="0"/>
              </a:spcBef>
              <a:buNone/>
              <a:defRPr sz="2800"/>
            </a:lvl1pPr>
          </a:lstStyle>
          <a:p>
            <a:endParaRPr lang="en-US" sz="2400" dirty="0"/>
          </a:p>
          <a:p>
            <a:r>
              <a:rPr lang="en-US" sz="2400" dirty="0"/>
              <a:t>Subject Syllabus</a:t>
            </a:r>
            <a:endParaRPr kumimoji="0" lang="en-US" sz="2400" b="0" i="0" u="none" strike="noStrike" kern="1200" cap="none" spc="0" normalizeH="0" baseline="0" noProof="0" dirty="0">
              <a:ln>
                <a:noFill/>
              </a:ln>
              <a:solidFill>
                <a:schemeClr val="dk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  <a:p>
            <a:endParaRPr lang="en-US" sz="2100" dirty="0"/>
          </a:p>
        </p:txBody>
      </p:sp>
      <p:pic>
        <p:nvPicPr>
          <p:cNvPr id="2" name="Picture 1" descr="A black and red logo&#10;&#10;Description automatically generated">
            <a:extLst>
              <a:ext uri="{FF2B5EF4-FFF2-40B4-BE49-F238E27FC236}">
                <a16:creationId xmlns:a16="http://schemas.microsoft.com/office/drawing/2014/main" id="{C6E4E1FC-9242-191E-BCC9-8177FB4BDD02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5496" y="44624"/>
            <a:ext cx="1657350" cy="789429"/>
          </a:xfrm>
          <a:prstGeom prst="rect">
            <a:avLst/>
          </a:prstGeom>
        </p:spPr>
      </p:pic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2804C67-FE18-3B19-6866-CD32D0A536B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Atul Garg           BCSE0303            Unit- III</a:t>
            </a:r>
          </a:p>
        </p:txBody>
      </p:sp>
      <p:pic>
        <p:nvPicPr>
          <p:cNvPr id="11" name="Content Placeholder 10">
            <a:extLst>
              <a:ext uri="{FF2B5EF4-FFF2-40B4-BE49-F238E27FC236}">
                <a16:creationId xmlns:a16="http://schemas.microsoft.com/office/drawing/2014/main" id="{74916BB9-8BDA-9C6F-34E9-18E269EAA92D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4"/>
          <a:stretch>
            <a:fillRect/>
          </a:stretch>
        </p:blipFill>
        <p:spPr>
          <a:xfrm>
            <a:off x="683568" y="1051054"/>
            <a:ext cx="7488831" cy="5075110"/>
          </a:xfrm>
        </p:spPr>
      </p:pic>
      <p:pic>
        <p:nvPicPr>
          <p:cNvPr id="4" name="Picture 3">
            <a:extLst>
              <a:ext uri="{FF2B5EF4-FFF2-40B4-BE49-F238E27FC236}">
                <a16:creationId xmlns:a16="http://schemas.microsoft.com/office/drawing/2014/main" id="{F768C922-E8E5-AB36-8E14-207AE837AFB0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25252" y="985261"/>
            <a:ext cx="8097380" cy="529211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62423282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DCFAB0C-F68A-14DB-9A44-400792DE42C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Date Placeholder 5">
            <a:extLst>
              <a:ext uri="{FF2B5EF4-FFF2-40B4-BE49-F238E27FC236}">
                <a16:creationId xmlns:a16="http://schemas.microsoft.com/office/drawing/2014/main" id="{FF81B561-BC29-2870-4620-30101496CD9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BAF04F3-7F12-4D38-B2DF-56F9ACA667EB}" type="datetime3">
              <a:rPr lang="en-US" smtClean="0"/>
              <a:t>1 September 2025</a:t>
            </a:fld>
            <a:endParaRPr lang="en-US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2C4437B-D5EB-DFC8-0AE4-4EA30E773EF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9</a:t>
            </a:fld>
            <a:endParaRPr lang="en-US"/>
          </a:p>
        </p:txBody>
      </p:sp>
      <p:sp>
        <p:nvSpPr>
          <p:cNvPr id="8" name="Title 1">
            <a:extLst>
              <a:ext uri="{FF2B5EF4-FFF2-40B4-BE49-F238E27FC236}">
                <a16:creationId xmlns:a16="http://schemas.microsoft.com/office/drawing/2014/main" id="{0204159A-73D2-4644-D84F-C27871DC7DDA}"/>
              </a:ext>
            </a:extLst>
          </p:cNvPr>
          <p:cNvSpPr txBox="1">
            <a:spLocks/>
          </p:cNvSpPr>
          <p:nvPr/>
        </p:nvSpPr>
        <p:spPr>
          <a:xfrm>
            <a:off x="1692846" y="44624"/>
            <a:ext cx="7415658" cy="792088"/>
          </a:xfrm>
          <a:prstGeom prst="rect">
            <a:avLst/>
          </a:prstGeom>
          <a:gradFill flip="none" rotWithShape="1">
            <a:gsLst>
              <a:gs pos="0">
                <a:srgbClr val="FF0000">
                  <a:tint val="66000"/>
                  <a:satMod val="160000"/>
                </a:srgbClr>
              </a:gs>
              <a:gs pos="50000">
                <a:srgbClr val="FF0000">
                  <a:tint val="44500"/>
                  <a:satMod val="160000"/>
                </a:srgbClr>
              </a:gs>
              <a:gs pos="100000">
                <a:srgbClr val="FF0000">
                  <a:tint val="23500"/>
                  <a:satMod val="160000"/>
                </a:srgbClr>
              </a:gs>
            </a:gsLst>
            <a:lin ang="0" scaled="1"/>
            <a:tileRect/>
          </a:gradFill>
        </p:spPr>
        <p:style>
          <a:lnRef idx="1">
            <a:schemeClr val="accent5"/>
          </a:lnRef>
          <a:fillRef idx="2">
            <a:schemeClr val="accent5"/>
          </a:fillRef>
          <a:effectRef idx="1">
            <a:schemeClr val="accent5"/>
          </a:effectRef>
          <a:fontRef idx="minor">
            <a:schemeClr val="dk1"/>
          </a:fontRef>
        </p:style>
        <p:txBody>
          <a:bodyPr vert="horz" lIns="68580" tIns="34290" rIns="68580" bIns="34290" rtlCol="0" anchor="ctr">
            <a:noAutofit/>
          </a:bodyPr>
          <a:lstStyle>
            <a:lvl1pPr algn="ctr">
              <a:spcBef>
                <a:spcPct val="0"/>
              </a:spcBef>
              <a:buNone/>
              <a:defRPr sz="2800"/>
            </a:lvl1pPr>
          </a:lstStyle>
          <a:p>
            <a:endParaRPr lang="en-US" sz="2400" dirty="0"/>
          </a:p>
          <a:p>
            <a:r>
              <a:rPr lang="en-US" sz="2400" dirty="0"/>
              <a:t>Subject Syllabus</a:t>
            </a:r>
            <a:endParaRPr kumimoji="0" lang="en-US" sz="2400" b="0" i="0" u="none" strike="noStrike" kern="1200" cap="none" spc="0" normalizeH="0" baseline="0" noProof="0" dirty="0">
              <a:ln>
                <a:noFill/>
              </a:ln>
              <a:solidFill>
                <a:schemeClr val="dk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  <a:p>
            <a:endParaRPr lang="en-US" sz="2100" dirty="0"/>
          </a:p>
        </p:txBody>
      </p:sp>
      <p:pic>
        <p:nvPicPr>
          <p:cNvPr id="2" name="Picture 1" descr="A black and red logo&#10;&#10;Description automatically generated">
            <a:extLst>
              <a:ext uri="{FF2B5EF4-FFF2-40B4-BE49-F238E27FC236}">
                <a16:creationId xmlns:a16="http://schemas.microsoft.com/office/drawing/2014/main" id="{B86F1523-5253-CEBB-5C0D-BC5AB6D60DBD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5496" y="44624"/>
            <a:ext cx="1657350" cy="792088"/>
          </a:xfrm>
          <a:prstGeom prst="rect">
            <a:avLst/>
          </a:prstGeom>
        </p:spPr>
      </p:pic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CF94015-D9AB-A579-D841-5A47456F0D1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Atul Garg           BCSE0303            Unit- III</a:t>
            </a:r>
          </a:p>
        </p:txBody>
      </p:sp>
      <p:pic>
        <p:nvPicPr>
          <p:cNvPr id="12" name="Content Placeholder 11">
            <a:extLst>
              <a:ext uri="{FF2B5EF4-FFF2-40B4-BE49-F238E27FC236}">
                <a16:creationId xmlns:a16="http://schemas.microsoft.com/office/drawing/2014/main" id="{8D66CC0B-FD6A-56A5-FDBE-5BC5E8419AAB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4"/>
          <a:stretch>
            <a:fillRect/>
          </a:stretch>
        </p:blipFill>
        <p:spPr>
          <a:xfrm>
            <a:off x="457200" y="755075"/>
            <a:ext cx="8229600" cy="4906173"/>
          </a:xfrm>
        </p:spPr>
      </p:pic>
    </p:spTree>
    <p:extLst>
      <p:ext uri="{BB962C8B-B14F-4D97-AF65-F5344CB8AC3E}">
        <p14:creationId xmlns:p14="http://schemas.microsoft.com/office/powerpoint/2010/main" val="3227146163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Date Placeholder 3"/>
          <p:cNvSpPr>
            <a:spLocks noGrp="1"/>
          </p:cNvSpPr>
          <p:nvPr>
            <p:ph type="dt" sz="quarter" idx="10"/>
          </p:nvPr>
        </p:nvSpPr>
        <p:spPr/>
        <p:txBody>
          <a:bodyPr/>
          <a:lstStyle/>
          <a:p>
            <a:pPr>
              <a:defRPr/>
            </a:pPr>
            <a:fld id="{48283E27-F5BE-4579-811F-F50F24DBD950}" type="datetime3">
              <a:rPr lang="en-US" smtClean="0"/>
              <a:t>1 September 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2573482" y="6220102"/>
            <a:ext cx="5029200" cy="272495"/>
          </a:xfrm>
        </p:spPr>
        <p:txBody>
          <a:bodyPr/>
          <a:lstStyle/>
          <a:p>
            <a:pPr>
              <a:defRPr/>
            </a:pPr>
            <a:r>
              <a:rPr lang="fi-FI"/>
              <a:t>Atul Garg           BCSE0303            Unit- III</a:t>
            </a:r>
            <a:endParaRPr lang="en-US" dirty="0"/>
          </a:p>
        </p:txBody>
      </p:sp>
      <p:sp>
        <p:nvSpPr>
          <p:cNvPr id="5125" name="Rectangle 11"/>
          <p:cNvSpPr>
            <a:spLocks noChangeArrowheads="1"/>
          </p:cNvSpPr>
          <p:nvPr/>
        </p:nvSpPr>
        <p:spPr bwMode="auto">
          <a:xfrm>
            <a:off x="323529" y="1052736"/>
            <a:ext cx="8391848" cy="359622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 lIns="74090" tIns="37045" rIns="74090" bIns="37045">
            <a:spAutoFit/>
          </a:bodyPr>
          <a:lstStyle/>
          <a:p>
            <a:pPr>
              <a:buFont typeface="Arial" pitchFamily="34" charset="0"/>
              <a:buChar char="•"/>
            </a:pPr>
            <a:r>
              <a:rPr lang="en-US" sz="2800" dirty="0">
                <a:latin typeface="Times New Roman" pitchFamily="18" charset="0"/>
                <a:cs typeface="Times New Roman" pitchFamily="18" charset="0"/>
              </a:rPr>
              <a:t>  </a:t>
            </a:r>
            <a:r>
              <a:rPr lang="en-US" sz="2400" dirty="0">
                <a:cs typeface="Times New Roman" pitchFamily="18" charset="0"/>
              </a:rPr>
              <a:t>Airlines reservation system.</a:t>
            </a:r>
          </a:p>
          <a:p>
            <a:pPr>
              <a:buFont typeface="Arial" pitchFamily="34" charset="0"/>
              <a:buChar char="•"/>
            </a:pPr>
            <a:r>
              <a:rPr lang="en-US" sz="2400" dirty="0">
                <a:cs typeface="Times New Roman" pitchFamily="18" charset="0"/>
              </a:rPr>
              <a:t>  Air traffic control system.</a:t>
            </a:r>
          </a:p>
          <a:p>
            <a:pPr>
              <a:buFont typeface="Arial" pitchFamily="34" charset="0"/>
              <a:buChar char="•"/>
            </a:pPr>
            <a:r>
              <a:rPr lang="en-US" sz="2400" dirty="0">
                <a:cs typeface="Times New Roman" pitchFamily="18" charset="0"/>
              </a:rPr>
              <a:t>  Systems that provide immediate updating.</a:t>
            </a:r>
          </a:p>
          <a:p>
            <a:pPr>
              <a:buFont typeface="Arial" pitchFamily="34" charset="0"/>
              <a:buChar char="•"/>
            </a:pPr>
            <a:r>
              <a:rPr lang="en-US" sz="2400" dirty="0">
                <a:cs typeface="Times New Roman" pitchFamily="18" charset="0"/>
              </a:rPr>
              <a:t>  Used in any system that provides up to date and minute</a:t>
            </a:r>
          </a:p>
          <a:p>
            <a:r>
              <a:rPr lang="en-US" sz="2400" dirty="0">
                <a:cs typeface="Times New Roman" pitchFamily="18" charset="0"/>
              </a:rPr>
              <a:t>   information on stock prices.</a:t>
            </a:r>
          </a:p>
          <a:p>
            <a:pPr>
              <a:buFont typeface="Arial" pitchFamily="34" charset="0"/>
              <a:buChar char="•"/>
            </a:pPr>
            <a:r>
              <a:rPr lang="en-US" sz="2400" dirty="0">
                <a:cs typeface="Times New Roman" pitchFamily="18" charset="0"/>
              </a:rPr>
              <a:t>  Defense application systems like RADAR.</a:t>
            </a:r>
          </a:p>
          <a:p>
            <a:pPr>
              <a:buFont typeface="Arial" pitchFamily="34" charset="0"/>
              <a:buChar char="•"/>
            </a:pPr>
            <a:r>
              <a:rPr lang="en-US" sz="2400" dirty="0">
                <a:cs typeface="Times New Roman" pitchFamily="18" charset="0"/>
              </a:rPr>
              <a:t>  Networked Multimedia Systems.</a:t>
            </a:r>
          </a:p>
          <a:p>
            <a:pPr>
              <a:buFont typeface="Arial" pitchFamily="34" charset="0"/>
              <a:buChar char="•"/>
            </a:pPr>
            <a:r>
              <a:rPr lang="en-US" sz="2400" dirty="0">
                <a:cs typeface="Times New Roman" pitchFamily="18" charset="0"/>
              </a:rPr>
              <a:t>  Command Control Systems.</a:t>
            </a:r>
          </a:p>
          <a:p>
            <a:pPr>
              <a:buFont typeface="Arial" pitchFamily="34" charset="0"/>
              <a:buChar char="•"/>
            </a:pPr>
            <a:endParaRPr lang="en-US" sz="1940" dirty="0">
              <a:latin typeface="Times New Roman" pitchFamily="18" charset="0"/>
              <a:cs typeface="Times New Roman" pitchFamily="18" charset="0"/>
            </a:endParaRPr>
          </a:p>
          <a:p>
            <a:endParaRPr lang="en-US" sz="1343" dirty="0">
              <a:latin typeface="Calibri" pitchFamily="34" charset="0"/>
            </a:endParaRPr>
          </a:p>
        </p:txBody>
      </p:sp>
      <p:sp>
        <p:nvSpPr>
          <p:cNvPr id="8" name="Slide Number Placeholder 7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91DDBBAE-AD88-416A-A87A-9C67A20F38A3}" type="slidenum">
              <a:rPr lang="en-US"/>
              <a:pPr>
                <a:defRPr/>
              </a:pPr>
              <a:t>10</a:t>
            </a:fld>
            <a:endParaRPr lang="en-US"/>
          </a:p>
        </p:txBody>
      </p:sp>
      <p:pic>
        <p:nvPicPr>
          <p:cNvPr id="9" name="Picture 8" descr="A black and red logo&#10;&#10;Description automatically generated">
            <a:extLst>
              <a:ext uri="{FF2B5EF4-FFF2-40B4-BE49-F238E27FC236}">
                <a16:creationId xmlns:a16="http://schemas.microsoft.com/office/drawing/2014/main" id="{51AB1F46-F1A3-2DF2-5EE0-F05547C4DDF6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30782" y="107150"/>
            <a:ext cx="1649190" cy="706953"/>
          </a:xfrm>
          <a:prstGeom prst="rect">
            <a:avLst/>
          </a:prstGeom>
        </p:spPr>
      </p:pic>
      <p:sp>
        <p:nvSpPr>
          <p:cNvPr id="10" name="Title 1"/>
          <p:cNvSpPr txBox="1">
            <a:spLocks/>
          </p:cNvSpPr>
          <p:nvPr/>
        </p:nvSpPr>
        <p:spPr>
          <a:xfrm>
            <a:off x="1600152" y="-2875"/>
            <a:ext cx="7496376" cy="715508"/>
          </a:xfrm>
          <a:prstGeom prst="rect">
            <a:avLst/>
          </a:prstGeom>
          <a:gradFill flip="none" rotWithShape="1">
            <a:gsLst>
              <a:gs pos="0">
                <a:srgbClr val="FF0000">
                  <a:tint val="66000"/>
                  <a:satMod val="160000"/>
                </a:srgbClr>
              </a:gs>
              <a:gs pos="50000">
                <a:srgbClr val="FF0000">
                  <a:tint val="44500"/>
                  <a:satMod val="160000"/>
                </a:srgbClr>
              </a:gs>
              <a:gs pos="100000">
                <a:srgbClr val="FF0000">
                  <a:tint val="23500"/>
                  <a:satMod val="160000"/>
                </a:srgbClr>
              </a:gs>
            </a:gsLst>
            <a:lin ang="0" scaled="1"/>
            <a:tileRect/>
          </a:gradFill>
        </p:spPr>
        <p:style>
          <a:lnRef idx="1">
            <a:schemeClr val="accent5"/>
          </a:lnRef>
          <a:fillRef idx="2">
            <a:schemeClr val="accent5"/>
          </a:fillRef>
          <a:effectRef idx="1">
            <a:schemeClr val="accent5"/>
          </a:effectRef>
          <a:fontRef idx="minor">
            <a:schemeClr val="dk1"/>
          </a:fontRef>
        </p:style>
        <p:txBody>
          <a:bodyPr vert="horz" lIns="74090" tIns="37045" rIns="74090" bIns="37045" rtlCol="0" anchor="ctr">
            <a:noAutofit/>
          </a:bodyPr>
          <a:lstStyle/>
          <a:p>
            <a:pPr algn="ctr"/>
            <a:r>
              <a:rPr lang="en-US" sz="2400" b="1" dirty="0"/>
              <a:t>Branch wise Applications</a:t>
            </a:r>
          </a:p>
        </p:txBody>
      </p:sp>
    </p:spTree>
  </p:cSld>
  <p:clrMapOvr>
    <a:masterClrMapping/>
  </p:clrMapOvr>
  <p:transition>
    <p:wipe/>
  </p:transition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90873" y="1268760"/>
            <a:ext cx="8229600" cy="3831943"/>
          </a:xfrm>
        </p:spPr>
        <p:txBody>
          <a:bodyPr>
            <a:normAutofit/>
          </a:bodyPr>
          <a:lstStyle/>
          <a:p>
            <a:pPr marL="0" indent="0" algn="just"/>
            <a:r>
              <a:rPr lang="en-IN" sz="1791" dirty="0"/>
              <a:t> </a:t>
            </a:r>
            <a:r>
              <a:rPr lang="en-IN" sz="2400" dirty="0"/>
              <a:t>To learn the fundamentals of Operating Systems. </a:t>
            </a:r>
          </a:p>
          <a:p>
            <a:pPr marL="0" indent="0" algn="just"/>
            <a:r>
              <a:rPr lang="en-IN" sz="2400" dirty="0"/>
              <a:t> To understand what a process is and how processes are synchronized and scheduled. </a:t>
            </a:r>
          </a:p>
          <a:p>
            <a:pPr marL="0" indent="0" algn="just"/>
            <a:r>
              <a:rPr lang="en-IN" sz="2400" dirty="0"/>
              <a:t> To understand different approaches to memory management. </a:t>
            </a:r>
          </a:p>
          <a:p>
            <a:pPr marL="0" indent="0" algn="just"/>
            <a:r>
              <a:rPr lang="en-IN" sz="2400" dirty="0"/>
              <a:t> Students should be able to use system calls for managing processes, memory and the file system. </a:t>
            </a:r>
          </a:p>
          <a:p>
            <a:pPr marL="0" indent="0" algn="just"/>
            <a:r>
              <a:rPr lang="en-IN" sz="2400" dirty="0"/>
              <a:t> To understand the structure and organization of the file system. </a:t>
            </a:r>
            <a:endParaRPr lang="en-US" sz="2400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FBEF01F-7ACD-4F47-A0AE-44077B0E8B33}" type="datetime3">
              <a:rPr lang="en-US" smtClean="0"/>
              <a:t>1 September 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2819400" y="5533142"/>
            <a:ext cx="4724400" cy="272495"/>
          </a:xfrm>
        </p:spPr>
        <p:txBody>
          <a:bodyPr/>
          <a:lstStyle/>
          <a:p>
            <a:r>
              <a:rPr lang="fi-FI"/>
              <a:t>Atul Garg           BCSE0303            Unit- III</a:t>
            </a:r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11</a:t>
            </a:fld>
            <a:endParaRPr lang="en-US"/>
          </a:p>
        </p:txBody>
      </p:sp>
      <p:pic>
        <p:nvPicPr>
          <p:cNvPr id="8" name="Picture 7" descr="A black and red logo&#10;&#10;Description automatically generated">
            <a:extLst>
              <a:ext uri="{FF2B5EF4-FFF2-40B4-BE49-F238E27FC236}">
                <a16:creationId xmlns:a16="http://schemas.microsoft.com/office/drawing/2014/main" id="{51AB1F46-F1A3-2DF2-5EE0-F05547C4DDF6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13065" y="196554"/>
            <a:ext cx="1649190" cy="706953"/>
          </a:xfrm>
          <a:prstGeom prst="rect">
            <a:avLst/>
          </a:prstGeom>
        </p:spPr>
      </p:pic>
      <p:sp>
        <p:nvSpPr>
          <p:cNvPr id="10" name="Title 1"/>
          <p:cNvSpPr txBox="1">
            <a:spLocks/>
          </p:cNvSpPr>
          <p:nvPr/>
        </p:nvSpPr>
        <p:spPr>
          <a:xfrm>
            <a:off x="1621096" y="13113"/>
            <a:ext cx="7496376" cy="715508"/>
          </a:xfrm>
          <a:prstGeom prst="rect">
            <a:avLst/>
          </a:prstGeom>
          <a:gradFill flip="none" rotWithShape="1">
            <a:gsLst>
              <a:gs pos="0">
                <a:srgbClr val="FF0000">
                  <a:tint val="66000"/>
                  <a:satMod val="160000"/>
                </a:srgbClr>
              </a:gs>
              <a:gs pos="50000">
                <a:srgbClr val="FF0000">
                  <a:tint val="44500"/>
                  <a:satMod val="160000"/>
                </a:srgbClr>
              </a:gs>
              <a:gs pos="100000">
                <a:srgbClr val="FF0000">
                  <a:tint val="23500"/>
                  <a:satMod val="160000"/>
                </a:srgbClr>
              </a:gs>
            </a:gsLst>
            <a:lin ang="0" scaled="1"/>
            <a:tileRect/>
          </a:gradFill>
        </p:spPr>
        <p:style>
          <a:lnRef idx="1">
            <a:schemeClr val="accent5"/>
          </a:lnRef>
          <a:fillRef idx="2">
            <a:schemeClr val="accent5"/>
          </a:fillRef>
          <a:effectRef idx="1">
            <a:schemeClr val="accent5"/>
          </a:effectRef>
          <a:fontRef idx="minor">
            <a:schemeClr val="dk1"/>
          </a:fontRef>
        </p:style>
        <p:txBody>
          <a:bodyPr vert="horz" lIns="74090" tIns="37045" rIns="74090" bIns="37045" rtlCol="0" anchor="ctr">
            <a:noAutofit/>
          </a:bodyPr>
          <a:lstStyle/>
          <a:p>
            <a:pPr algn="ctr" defTabSz="740900">
              <a:spcBef>
                <a:spcPct val="0"/>
              </a:spcBef>
              <a:defRPr/>
            </a:pPr>
            <a:r>
              <a:rPr lang="en-IN" sz="2090" dirty="0"/>
              <a:t>Course Objectives</a:t>
            </a:r>
            <a:endParaRPr lang="en-US" sz="2090" dirty="0"/>
          </a:p>
        </p:txBody>
      </p:sp>
    </p:spTree>
  </p:cSld>
  <p:clrMapOvr>
    <a:masterClrMapping/>
  </p:clrMapOvr>
  <p:transition>
    <p:wipe dir="d"/>
  </p:transition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11984" y="916628"/>
            <a:ext cx="8136731" cy="4661532"/>
          </a:xfrm>
        </p:spPr>
        <p:txBody>
          <a:bodyPr rtlCol="0">
            <a:noAutofit/>
          </a:bodyPr>
          <a:lstStyle/>
          <a:p>
            <a:pPr algn="just">
              <a:lnSpc>
                <a:spcPct val="150000"/>
              </a:lnSpc>
              <a:spcBef>
                <a:spcPts val="0"/>
              </a:spcBef>
              <a:buNone/>
              <a:defRPr/>
            </a:pPr>
            <a:endParaRPr lang="en-US" sz="1791" dirty="0">
              <a:latin typeface="Times New Roman" pitchFamily="18" charset="0"/>
              <a:cs typeface="Times New Roman" pitchFamily="18" charset="0"/>
            </a:endParaRPr>
          </a:p>
          <a:p>
            <a:pPr algn="just">
              <a:lnSpc>
                <a:spcPct val="150000"/>
              </a:lnSpc>
              <a:spcBef>
                <a:spcPts val="0"/>
              </a:spcBef>
              <a:buNone/>
              <a:defRPr/>
            </a:pPr>
            <a:r>
              <a:rPr lang="en-US" sz="1791" dirty="0">
                <a:latin typeface="Times New Roman" pitchFamily="18" charset="0"/>
                <a:cs typeface="Times New Roman" pitchFamily="18" charset="0"/>
              </a:rPr>
              <a:t>At the end of semester, students will be able to: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quarter" idx="10"/>
          </p:nvPr>
        </p:nvSpPr>
        <p:spPr/>
        <p:txBody>
          <a:bodyPr/>
          <a:lstStyle/>
          <a:p>
            <a:pPr>
              <a:defRPr/>
            </a:pPr>
            <a:fld id="{BC78E950-DCA9-4C40-A74F-3BA5BE04B9D1}" type="datetime3">
              <a:rPr lang="en-US" smtClean="0"/>
              <a:t>1 September 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2514600" y="6171386"/>
            <a:ext cx="5029200" cy="272495"/>
          </a:xfrm>
        </p:spPr>
        <p:txBody>
          <a:bodyPr/>
          <a:lstStyle/>
          <a:p>
            <a:pPr>
              <a:defRPr/>
            </a:pPr>
            <a:r>
              <a:rPr lang="fi-FI"/>
              <a:t>Atul Garg           BCSE0303            Unit- III</a:t>
            </a:r>
            <a:endParaRPr lang="en-US" dirty="0"/>
          </a:p>
        </p:txBody>
      </p:sp>
      <p:sp>
        <p:nvSpPr>
          <p:cNvPr id="10" name="Slide Number Placeholder 9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EF782E0B-47C3-4CA7-8042-88DE90C5361B}" type="slidenum">
              <a:rPr lang="en-US"/>
              <a:pPr>
                <a:defRPr/>
              </a:pPr>
              <a:t>12</a:t>
            </a:fld>
            <a:endParaRPr lang="en-US"/>
          </a:p>
        </p:txBody>
      </p:sp>
      <p:pic>
        <p:nvPicPr>
          <p:cNvPr id="9" name="Picture 8" descr="A black and red logo&#10;&#10;Description automatically generated">
            <a:extLst>
              <a:ext uri="{FF2B5EF4-FFF2-40B4-BE49-F238E27FC236}">
                <a16:creationId xmlns:a16="http://schemas.microsoft.com/office/drawing/2014/main" id="{51AB1F46-F1A3-2DF2-5EE0-F05547C4DDF6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499" y="24711"/>
            <a:ext cx="1649190" cy="706953"/>
          </a:xfrm>
          <a:prstGeom prst="rect">
            <a:avLst/>
          </a:prstGeom>
        </p:spPr>
      </p:pic>
      <p:sp>
        <p:nvSpPr>
          <p:cNvPr id="12" name="Title 1"/>
          <p:cNvSpPr txBox="1">
            <a:spLocks/>
          </p:cNvSpPr>
          <p:nvPr/>
        </p:nvSpPr>
        <p:spPr>
          <a:xfrm>
            <a:off x="1636125" y="0"/>
            <a:ext cx="7496376" cy="807212"/>
          </a:xfrm>
          <a:prstGeom prst="rect">
            <a:avLst/>
          </a:prstGeom>
          <a:gradFill flip="none" rotWithShape="1">
            <a:gsLst>
              <a:gs pos="0">
                <a:srgbClr val="FF0000">
                  <a:tint val="66000"/>
                  <a:satMod val="160000"/>
                </a:srgbClr>
              </a:gs>
              <a:gs pos="50000">
                <a:srgbClr val="FF0000">
                  <a:tint val="44500"/>
                  <a:satMod val="160000"/>
                </a:srgbClr>
              </a:gs>
              <a:gs pos="100000">
                <a:srgbClr val="FF0000">
                  <a:tint val="23500"/>
                  <a:satMod val="160000"/>
                </a:srgbClr>
              </a:gs>
            </a:gsLst>
            <a:lin ang="0" scaled="1"/>
            <a:tileRect/>
          </a:gradFill>
        </p:spPr>
        <p:style>
          <a:lnRef idx="1">
            <a:schemeClr val="accent5"/>
          </a:lnRef>
          <a:fillRef idx="2">
            <a:schemeClr val="accent5"/>
          </a:fillRef>
          <a:effectRef idx="1">
            <a:schemeClr val="accent5"/>
          </a:effectRef>
          <a:fontRef idx="minor">
            <a:schemeClr val="dk1"/>
          </a:fontRef>
        </p:style>
        <p:txBody>
          <a:bodyPr vert="horz" lIns="74090" tIns="37045" rIns="74090" bIns="37045" rtlCol="0" anchor="ctr">
            <a:noAutofit/>
          </a:bodyPr>
          <a:lstStyle/>
          <a:p>
            <a:pPr algn="ctr" defTabSz="740900">
              <a:spcBef>
                <a:spcPct val="0"/>
              </a:spcBef>
              <a:defRPr/>
            </a:pPr>
            <a:r>
              <a:rPr lang="en-IN" sz="2090" dirty="0"/>
              <a:t>Course Outcome</a:t>
            </a:r>
            <a:endParaRPr lang="en-US" sz="2090" dirty="0"/>
          </a:p>
        </p:txBody>
      </p:sp>
      <p:graphicFrame>
        <p:nvGraphicFramePr>
          <p:cNvPr id="6" name="Object 5">
            <a:extLst>
              <a:ext uri="{FF2B5EF4-FFF2-40B4-BE49-F238E27FC236}">
                <a16:creationId xmlns:a16="http://schemas.microsoft.com/office/drawing/2014/main" id="{FD963CF1-2346-F261-740B-8DCFFA274B38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301013318"/>
              </p:ext>
            </p:extLst>
          </p:nvPr>
        </p:nvGraphicFramePr>
        <p:xfrm>
          <a:off x="1200329" y="2325319"/>
          <a:ext cx="6743341" cy="329021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Document" r:id="rId3" imgW="7193697" imgH="3242636" progId="Word.Document.12">
                  <p:embed/>
                </p:oleObj>
              </mc:Choice>
              <mc:Fallback>
                <p:oleObj name="Document" r:id="rId3" imgW="7193697" imgH="3242636" progId="Word.Document.12">
                  <p:embed/>
                  <p:pic>
                    <p:nvPicPr>
                      <p:cNvPr id="6" name="Object 5">
                        <a:extLst>
                          <a:ext uri="{FF2B5EF4-FFF2-40B4-BE49-F238E27FC236}">
                            <a16:creationId xmlns:a16="http://schemas.microsoft.com/office/drawing/2014/main" id="{FD963CF1-2346-F261-740B-8DCFFA274B38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200329" y="2325319"/>
                        <a:ext cx="6743341" cy="329021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8" name="Rectangle: Rounded Corners 7">
            <a:extLst>
              <a:ext uri="{FF2B5EF4-FFF2-40B4-BE49-F238E27FC236}">
                <a16:creationId xmlns:a16="http://schemas.microsoft.com/office/drawing/2014/main" id="{0272EBF1-67D3-F38D-17FC-D340ADAFEBCE}"/>
              </a:ext>
            </a:extLst>
          </p:cNvPr>
          <p:cNvSpPr/>
          <p:nvPr/>
        </p:nvSpPr>
        <p:spPr>
          <a:xfrm>
            <a:off x="1259633" y="3356993"/>
            <a:ext cx="6552728" cy="504056"/>
          </a:xfrm>
          <a:prstGeom prst="round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sz="1343"/>
          </a:p>
        </p:txBody>
      </p:sp>
    </p:spTree>
  </p:cSld>
  <p:clrMapOvr>
    <a:masterClrMapping/>
  </p:clrMapOvr>
  <p:transition>
    <p:wipe dir="d"/>
  </p:transition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Date Placeholder 3"/>
          <p:cNvSpPr>
            <a:spLocks noGrp="1"/>
          </p:cNvSpPr>
          <p:nvPr>
            <p:ph type="dt" sz="quarter" idx="10"/>
          </p:nvPr>
        </p:nvSpPr>
        <p:spPr/>
        <p:txBody>
          <a:bodyPr/>
          <a:lstStyle/>
          <a:p>
            <a:pPr>
              <a:defRPr/>
            </a:pPr>
            <a:fld id="{9959682E-811B-443B-9807-B2C5F81FE4BE}" type="datetime3">
              <a:rPr lang="en-US" smtClean="0"/>
              <a:t>1 September 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1959580" y="5613706"/>
            <a:ext cx="4060222" cy="272495"/>
          </a:xfrm>
        </p:spPr>
        <p:txBody>
          <a:bodyPr/>
          <a:lstStyle/>
          <a:p>
            <a:pPr>
              <a:defRPr/>
            </a:pPr>
            <a:r>
              <a:rPr lang="fi-FI"/>
              <a:t>Atul Garg           BCSE0303            Unit- III</a:t>
            </a:r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18489F6E-009F-4481-9318-50784B4F5F86}" type="slidenum">
              <a:rPr lang="en-US"/>
              <a:pPr>
                <a:defRPr/>
              </a:pPr>
              <a:t>13</a:t>
            </a:fld>
            <a:endParaRPr lang="en-US"/>
          </a:p>
        </p:txBody>
      </p:sp>
      <p:pic>
        <p:nvPicPr>
          <p:cNvPr id="8" name="Picture 7" descr="A black and red logo&#10;&#10;Description automatically generated">
            <a:extLst>
              <a:ext uri="{FF2B5EF4-FFF2-40B4-BE49-F238E27FC236}">
                <a16:creationId xmlns:a16="http://schemas.microsoft.com/office/drawing/2014/main" id="{51AB1F46-F1A3-2DF2-5EE0-F05547C4DDF6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9498" y="101241"/>
            <a:ext cx="1649190" cy="706953"/>
          </a:xfrm>
          <a:prstGeom prst="rect">
            <a:avLst/>
          </a:prstGeom>
        </p:spPr>
      </p:pic>
      <p:sp>
        <p:nvSpPr>
          <p:cNvPr id="9" name="Title 1"/>
          <p:cNvSpPr txBox="1">
            <a:spLocks/>
          </p:cNvSpPr>
          <p:nvPr/>
        </p:nvSpPr>
        <p:spPr>
          <a:xfrm>
            <a:off x="1573897" y="83855"/>
            <a:ext cx="7496376" cy="715508"/>
          </a:xfrm>
          <a:prstGeom prst="rect">
            <a:avLst/>
          </a:prstGeom>
          <a:gradFill flip="none" rotWithShape="1">
            <a:gsLst>
              <a:gs pos="0">
                <a:srgbClr val="FF0000">
                  <a:tint val="66000"/>
                  <a:satMod val="160000"/>
                </a:srgbClr>
              </a:gs>
              <a:gs pos="50000">
                <a:srgbClr val="FF0000">
                  <a:tint val="44500"/>
                  <a:satMod val="160000"/>
                </a:srgbClr>
              </a:gs>
              <a:gs pos="100000">
                <a:srgbClr val="FF0000">
                  <a:tint val="23500"/>
                  <a:satMod val="160000"/>
                </a:srgbClr>
              </a:gs>
            </a:gsLst>
            <a:lin ang="0" scaled="1"/>
            <a:tileRect/>
          </a:gradFill>
        </p:spPr>
        <p:style>
          <a:lnRef idx="1">
            <a:schemeClr val="accent5"/>
          </a:lnRef>
          <a:fillRef idx="2">
            <a:schemeClr val="accent5"/>
          </a:fillRef>
          <a:effectRef idx="1">
            <a:schemeClr val="accent5"/>
          </a:effectRef>
          <a:fontRef idx="minor">
            <a:schemeClr val="dk1"/>
          </a:fontRef>
        </p:style>
        <p:txBody>
          <a:bodyPr vert="horz" lIns="74090" tIns="37045" rIns="74090" bIns="37045" rtlCol="0" anchor="ctr">
            <a:noAutofit/>
          </a:bodyPr>
          <a:lstStyle/>
          <a:p>
            <a:pPr algn="ctr" defTabSz="740900">
              <a:spcBef>
                <a:spcPct val="0"/>
              </a:spcBef>
              <a:defRPr/>
            </a:pPr>
            <a:r>
              <a:rPr lang="en-IN" sz="2090" dirty="0"/>
              <a:t>Program Outcomes</a:t>
            </a:r>
            <a:endParaRPr lang="en-US" sz="2090" dirty="0"/>
          </a:p>
        </p:txBody>
      </p:sp>
      <p:pic>
        <p:nvPicPr>
          <p:cNvPr id="3074" name="Picture 2"/>
          <p:cNvPicPr>
            <a:picLocks noGrp="1" noChangeAspect="1" noChangeArrowheads="1"/>
          </p:cNvPicPr>
          <p:nvPr>
            <p:ph idx="1"/>
          </p:nvPr>
        </p:nvPicPr>
        <p:blipFill>
          <a:blip r:embed="rId4"/>
          <a:srcRect/>
          <a:stretch>
            <a:fillRect/>
          </a:stretch>
        </p:blipFill>
        <p:spPr bwMode="auto">
          <a:xfrm>
            <a:off x="1206749" y="966792"/>
            <a:ext cx="7863524" cy="5596286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sp>
        <p:nvSpPr>
          <p:cNvPr id="3" name="Title 2">
            <a:extLst>
              <a:ext uri="{FF2B5EF4-FFF2-40B4-BE49-F238E27FC236}">
                <a16:creationId xmlns:a16="http://schemas.microsoft.com/office/drawing/2014/main" id="{E9727438-CD1A-F981-8F82-7E9994E931D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43608" y="1263464"/>
            <a:ext cx="8229600" cy="1143000"/>
          </a:xfrm>
        </p:spPr>
        <p:txBody>
          <a:bodyPr/>
          <a:lstStyle/>
          <a:p>
            <a:endParaRPr lang="en-IN" dirty="0"/>
          </a:p>
        </p:txBody>
      </p:sp>
    </p:spTree>
  </p:cSld>
  <p:clrMapOvr>
    <a:masterClrMapping/>
  </p:clrMapOvr>
  <p:transition/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058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834" name="Google Shape;205834;p1"/>
          <p:cNvSpPr txBox="1">
            <a:spLocks noGrp="1"/>
          </p:cNvSpPr>
          <p:nvPr>
            <p:ph type="dt" idx="10"/>
          </p:nvPr>
        </p:nvSpPr>
        <p:spPr>
          <a:xfrm>
            <a:off x="457200" y="5613706"/>
            <a:ext cx="2133693" cy="272477"/>
          </a:xfrm>
          <a:prstGeom prst="rect">
            <a:avLst/>
          </a:prstGeom>
          <a:noFill/>
          <a:ln>
            <a:noFill/>
          </a:ln>
        </p:spPr>
        <p:txBody>
          <a:bodyPr spcFirstLastPara="1" vert="horz" wrap="square" lIns="74090" tIns="37036" rIns="74090" bIns="37036" rtlCol="0" anchor="ctr" anchorCtr="0">
            <a:noAutofit/>
          </a:bodyPr>
          <a:lstStyle/>
          <a:p>
            <a:fld id="{4707AB97-D1FA-4797-AF30-227EEA942531}" type="datetime3">
              <a:rPr lang="en-US" smtClean="0"/>
              <a:t>1 September 2025</a:t>
            </a:fld>
            <a:endParaRPr dirty="0"/>
          </a:p>
        </p:txBody>
      </p:sp>
      <p:sp>
        <p:nvSpPr>
          <p:cNvPr id="205835" name="Google Shape;205835;p1"/>
          <p:cNvSpPr txBox="1">
            <a:spLocks noGrp="1"/>
          </p:cNvSpPr>
          <p:nvPr>
            <p:ph type="ftr" idx="11"/>
          </p:nvPr>
        </p:nvSpPr>
        <p:spPr>
          <a:xfrm>
            <a:off x="2483768" y="6327022"/>
            <a:ext cx="5029290" cy="272477"/>
          </a:xfrm>
          <a:prstGeom prst="rect">
            <a:avLst/>
          </a:prstGeom>
          <a:noFill/>
          <a:ln>
            <a:noFill/>
          </a:ln>
        </p:spPr>
        <p:txBody>
          <a:bodyPr spcFirstLastPara="1" vert="horz" wrap="square" lIns="74090" tIns="37036" rIns="74090" bIns="37036" rtlCol="0" anchor="ctr" anchorCtr="0">
            <a:noAutofit/>
          </a:bodyPr>
          <a:lstStyle/>
          <a:p>
            <a:r>
              <a:rPr lang="en-US"/>
              <a:t>Atul Garg           BCSE0303            Unit- III</a:t>
            </a:r>
            <a:endParaRPr dirty="0"/>
          </a:p>
        </p:txBody>
      </p:sp>
      <p:sp>
        <p:nvSpPr>
          <p:cNvPr id="205839" name="Google Shape;205839;p1"/>
          <p:cNvSpPr txBox="1">
            <a:spLocks noGrp="1"/>
          </p:cNvSpPr>
          <p:nvPr>
            <p:ph type="sldNum" idx="12"/>
          </p:nvPr>
        </p:nvSpPr>
        <p:spPr>
          <a:xfrm>
            <a:off x="6553201" y="5613706"/>
            <a:ext cx="2133693" cy="272477"/>
          </a:xfrm>
          <a:prstGeom prst="rect">
            <a:avLst/>
          </a:prstGeom>
          <a:noFill/>
          <a:ln>
            <a:noFill/>
          </a:ln>
        </p:spPr>
        <p:txBody>
          <a:bodyPr spcFirstLastPara="1" vert="horz" wrap="square" lIns="74090" tIns="37036" rIns="74090" bIns="37036" rtlCol="0" anchor="ctr" anchorCtr="0">
            <a:noAutofit/>
          </a:bodyPr>
          <a:lstStyle/>
          <a:p>
            <a:fld id="{00000000-1234-1234-1234-123412341234}" type="slidenum">
              <a:rPr lang="en-US"/>
              <a:pPr/>
              <a:t>14</a:t>
            </a:fld>
            <a:endParaRPr/>
          </a:p>
        </p:txBody>
      </p:sp>
      <p:pic>
        <p:nvPicPr>
          <p:cNvPr id="205840" name="Google Shape;205840;p1" descr="A black and red logo&#10;&#10;Description automatically generated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114498" y="-21558"/>
            <a:ext cx="1649190" cy="706953"/>
          </a:xfrm>
          <a:prstGeom prst="rect">
            <a:avLst/>
          </a:prstGeom>
          <a:noFill/>
          <a:ln>
            <a:noFill/>
          </a:ln>
        </p:spPr>
      </p:pic>
      <p:sp>
        <p:nvSpPr>
          <p:cNvPr id="205841" name="Google Shape;205841;p1"/>
          <p:cNvSpPr txBox="1"/>
          <p:nvPr/>
        </p:nvSpPr>
        <p:spPr>
          <a:xfrm>
            <a:off x="1763689" y="-30164"/>
            <a:ext cx="7265814" cy="715559"/>
          </a:xfrm>
          <a:prstGeom prst="rect">
            <a:avLst/>
          </a:prstGeom>
          <a:gradFill>
            <a:gsLst>
              <a:gs pos="0">
                <a:srgbClr val="FF7E7E"/>
              </a:gs>
              <a:gs pos="50000">
                <a:srgbClr val="FFB1B1"/>
              </a:gs>
              <a:gs pos="100000">
                <a:srgbClr val="FFD9D9"/>
              </a:gs>
            </a:gsLst>
            <a:lin ang="0" scaled="0"/>
          </a:gradFill>
          <a:ln w="9525" cap="flat" cmpd="sng">
            <a:solidFill>
              <a:srgbClr val="45A9C4"/>
            </a:solidFill>
            <a:prstDash val="solid"/>
            <a:round/>
            <a:headEnd type="none" w="sm" len="sm"/>
            <a:tailEnd type="none" w="sm" len="sm"/>
          </a:ln>
          <a:effectLst>
            <a:outerShdw blurRad="40000" dist="20000" dir="5400000" rotWithShape="0">
              <a:srgbClr val="000000">
                <a:alpha val="37650"/>
              </a:srgbClr>
            </a:outerShdw>
          </a:effectLst>
        </p:spPr>
        <p:txBody>
          <a:bodyPr spcFirstLastPara="1" wrap="square" lIns="74090" tIns="37036" rIns="74090" bIns="37036" anchor="ctr" anchorCtr="0">
            <a:noAutofit/>
          </a:bodyPr>
          <a:lstStyle/>
          <a:p>
            <a:pPr algn="ctr">
              <a:buClr>
                <a:schemeClr val="dk1"/>
              </a:buClr>
              <a:buSzPts val="2800"/>
            </a:pPr>
            <a:r>
              <a:rPr lang="en-US" sz="209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COs and POs Mapping</a:t>
            </a:r>
            <a:endParaRPr sz="209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" name="Rectangle: Rounded Corners 6">
            <a:extLst>
              <a:ext uri="{FF2B5EF4-FFF2-40B4-BE49-F238E27FC236}">
                <a16:creationId xmlns:a16="http://schemas.microsoft.com/office/drawing/2014/main" id="{D3337837-9C43-A7F9-EE68-84F7F21E8F05}"/>
              </a:ext>
            </a:extLst>
          </p:cNvPr>
          <p:cNvSpPr/>
          <p:nvPr/>
        </p:nvSpPr>
        <p:spPr>
          <a:xfrm>
            <a:off x="889451" y="3315902"/>
            <a:ext cx="7245957" cy="368049"/>
          </a:xfrm>
          <a:prstGeom prst="round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sz="1343"/>
          </a:p>
        </p:txBody>
      </p:sp>
      <p:graphicFrame>
        <p:nvGraphicFramePr>
          <p:cNvPr id="3" name="Content Placeholder 14">
            <a:extLst>
              <a:ext uri="{FF2B5EF4-FFF2-40B4-BE49-F238E27FC236}">
                <a16:creationId xmlns:a16="http://schemas.microsoft.com/office/drawing/2014/main" id="{E255F433-CBD4-1269-E885-E1C18548248F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4181187800"/>
              </p:ext>
            </p:extLst>
          </p:nvPr>
        </p:nvGraphicFramePr>
        <p:xfrm>
          <a:off x="457200" y="971816"/>
          <a:ext cx="8572302" cy="4545413"/>
        </p:xfrm>
        <a:graphic>
          <a:graphicData uri="http://schemas.openxmlformats.org/drawingml/2006/table">
            <a:tbl>
              <a:tblPr firstRow="1" bandRow="1">
                <a:tableStyleId>{3C2FFA5D-87B4-456A-9821-1D502468CF0F}</a:tableStyleId>
              </a:tblPr>
              <a:tblGrid>
                <a:gridCol w="343061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975753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659408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659408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659408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659408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659408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659408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  <a:gridCol w="659408">
                  <a:extLst>
                    <a:ext uri="{9D8B030D-6E8A-4147-A177-3AD203B41FA5}">
                      <a16:colId xmlns:a16="http://schemas.microsoft.com/office/drawing/2014/main" val="20008"/>
                    </a:ext>
                  </a:extLst>
                </a:gridCol>
                <a:gridCol w="659408">
                  <a:extLst>
                    <a:ext uri="{9D8B030D-6E8A-4147-A177-3AD203B41FA5}">
                      <a16:colId xmlns:a16="http://schemas.microsoft.com/office/drawing/2014/main" val="20009"/>
                    </a:ext>
                  </a:extLst>
                </a:gridCol>
                <a:gridCol w="659408">
                  <a:extLst>
                    <a:ext uri="{9D8B030D-6E8A-4147-A177-3AD203B41FA5}">
                      <a16:colId xmlns:a16="http://schemas.microsoft.com/office/drawing/2014/main" val="20010"/>
                    </a:ext>
                  </a:extLst>
                </a:gridCol>
                <a:gridCol w="659408">
                  <a:extLst>
                    <a:ext uri="{9D8B030D-6E8A-4147-A177-3AD203B41FA5}">
                      <a16:colId xmlns:a16="http://schemas.microsoft.com/office/drawing/2014/main" val="20011"/>
                    </a:ext>
                  </a:extLst>
                </a:gridCol>
                <a:gridCol w="659408">
                  <a:extLst>
                    <a:ext uri="{9D8B030D-6E8A-4147-A177-3AD203B41FA5}">
                      <a16:colId xmlns:a16="http://schemas.microsoft.com/office/drawing/2014/main" val="20012"/>
                    </a:ext>
                  </a:extLst>
                </a:gridCol>
              </a:tblGrid>
              <a:tr h="1444115"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US" sz="1500" dirty="0"/>
                        <a:t>Sr. No</a:t>
                      </a:r>
                      <a:endParaRPr lang="en-US" sz="1500" dirty="0">
                        <a:solidFill>
                          <a:schemeClr val="tx1">
                            <a:lumMod val="95000"/>
                            <a:lumOff val="5000"/>
                          </a:schemeClr>
                        </a:solidFill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51182" marR="51182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US" sz="1500"/>
                        <a:t>Course  Outcome</a:t>
                      </a:r>
                      <a:endParaRPr lang="en-US" sz="1500">
                        <a:solidFill>
                          <a:schemeClr val="tx1">
                            <a:lumMod val="95000"/>
                            <a:lumOff val="5000"/>
                          </a:schemeClr>
                        </a:solidFill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51182" marR="51182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US" sz="1500"/>
                        <a:t>PO1</a:t>
                      </a:r>
                      <a:endParaRPr lang="en-US" sz="1500">
                        <a:solidFill>
                          <a:schemeClr val="tx1">
                            <a:lumMod val="95000"/>
                            <a:lumOff val="5000"/>
                          </a:schemeClr>
                        </a:solidFill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51182" marR="51182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US" sz="1500" dirty="0"/>
                        <a:t>PO2</a:t>
                      </a:r>
                      <a:endParaRPr lang="en-US" sz="1500" dirty="0">
                        <a:solidFill>
                          <a:schemeClr val="tx1">
                            <a:lumMod val="95000"/>
                            <a:lumOff val="5000"/>
                          </a:schemeClr>
                        </a:solidFill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51182" marR="51182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US" sz="1500"/>
                        <a:t>PO3</a:t>
                      </a:r>
                      <a:endParaRPr lang="en-US" sz="1500">
                        <a:solidFill>
                          <a:schemeClr val="tx1">
                            <a:lumMod val="95000"/>
                            <a:lumOff val="5000"/>
                          </a:schemeClr>
                        </a:solidFill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51182" marR="51182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US" sz="1500" dirty="0"/>
                        <a:t>PO4</a:t>
                      </a:r>
                      <a:endParaRPr lang="en-US" sz="1500" dirty="0">
                        <a:solidFill>
                          <a:schemeClr val="tx1">
                            <a:lumMod val="95000"/>
                            <a:lumOff val="5000"/>
                          </a:schemeClr>
                        </a:solidFill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51182" marR="51182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US" sz="1500" dirty="0"/>
                        <a:t>PO5</a:t>
                      </a:r>
                      <a:endParaRPr lang="en-US" sz="1500" dirty="0">
                        <a:solidFill>
                          <a:schemeClr val="tx1">
                            <a:lumMod val="95000"/>
                            <a:lumOff val="5000"/>
                          </a:schemeClr>
                        </a:solidFill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51182" marR="51182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US" sz="1500"/>
                        <a:t>PO6</a:t>
                      </a:r>
                      <a:endParaRPr lang="en-US" sz="1500">
                        <a:solidFill>
                          <a:schemeClr val="tx1">
                            <a:lumMod val="95000"/>
                            <a:lumOff val="5000"/>
                          </a:schemeClr>
                        </a:solidFill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51182" marR="51182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US" sz="1500"/>
                        <a:t>PO7</a:t>
                      </a:r>
                      <a:endParaRPr lang="en-US" sz="1500">
                        <a:solidFill>
                          <a:schemeClr val="tx1">
                            <a:lumMod val="95000"/>
                            <a:lumOff val="5000"/>
                          </a:schemeClr>
                        </a:solidFill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51182" marR="51182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US" sz="1500"/>
                        <a:t>PO8</a:t>
                      </a:r>
                      <a:endParaRPr lang="en-US" sz="1500">
                        <a:solidFill>
                          <a:schemeClr val="tx1">
                            <a:lumMod val="95000"/>
                            <a:lumOff val="5000"/>
                          </a:schemeClr>
                        </a:solidFill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51182" marR="51182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US" sz="1500"/>
                        <a:t>PO9</a:t>
                      </a:r>
                      <a:endParaRPr lang="en-US" sz="1500">
                        <a:solidFill>
                          <a:schemeClr val="tx1">
                            <a:lumMod val="95000"/>
                            <a:lumOff val="5000"/>
                          </a:schemeClr>
                        </a:solidFill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51182" marR="51182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US" sz="1500"/>
                        <a:t>PO10</a:t>
                      </a:r>
                      <a:endParaRPr lang="en-US" sz="1500">
                        <a:solidFill>
                          <a:schemeClr val="tx1">
                            <a:lumMod val="95000"/>
                            <a:lumOff val="5000"/>
                          </a:schemeClr>
                        </a:solidFill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51182" marR="51182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US" sz="1500" dirty="0"/>
                        <a:t>PO11</a:t>
                      </a:r>
                      <a:endParaRPr lang="en-US" sz="1500" dirty="0">
                        <a:solidFill>
                          <a:schemeClr val="tx1">
                            <a:lumMod val="95000"/>
                            <a:lumOff val="5000"/>
                          </a:schemeClr>
                        </a:solidFill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51182" marR="51182" marT="0" marB="0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16883"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US" sz="1000" dirty="0"/>
                        <a:t>1</a:t>
                      </a:r>
                      <a:endParaRPr lang="en-US" sz="1000" dirty="0"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51182" marR="51182" marT="0" marB="0"/>
                </a:tc>
                <a:tc>
                  <a:txBody>
                    <a:bodyPr/>
                    <a:lstStyle/>
                    <a:p>
                      <a:pPr algn="l" rtl="0" fontAlgn="base"/>
                      <a:r>
                        <a:rPr lang="en-US" sz="1200" b="1" i="0" dirty="0">
                          <a:solidFill>
                            <a:srgbClr val="000000"/>
                          </a:solidFill>
                          <a:latin typeface="Times New Roman"/>
                        </a:rPr>
                        <a:t>.1</a:t>
                      </a:r>
                      <a:r>
                        <a:rPr lang="en-US" sz="1200" b="0" i="0" dirty="0">
                          <a:solidFill>
                            <a:srgbClr val="000000"/>
                          </a:solidFill>
                          <a:latin typeface="Times New Roman"/>
                        </a:rPr>
                        <a:t> </a:t>
                      </a:r>
                      <a:endParaRPr lang="en-US" sz="2100" b="0" i="0" dirty="0">
                        <a:solidFill>
                          <a:srgbClr val="000000"/>
                        </a:solidFill>
                      </a:endParaRPr>
                    </a:p>
                  </a:txBody>
                  <a:tcPr marL="68242" marR="68242" marT="34121" marB="34121"/>
                </a:tc>
                <a:tc>
                  <a:txBody>
                    <a:bodyPr/>
                    <a:lstStyle/>
                    <a:p>
                      <a:pPr algn="ctr" rtl="0" fontAlgn="base"/>
                      <a:r>
                        <a:rPr lang="en-US" sz="1200" b="0" i="0">
                          <a:latin typeface="Times New Roman"/>
                        </a:rPr>
                        <a:t>3 </a:t>
                      </a:r>
                      <a:endParaRPr lang="en-US" sz="2100" b="0" i="0"/>
                    </a:p>
                  </a:txBody>
                  <a:tcPr marL="68242" marR="68242" marT="34121" marB="34121"/>
                </a:tc>
                <a:tc>
                  <a:txBody>
                    <a:bodyPr/>
                    <a:lstStyle/>
                    <a:p>
                      <a:pPr algn="ctr" rtl="0" fontAlgn="base"/>
                      <a:r>
                        <a:rPr lang="en-US" sz="1200" b="0" i="0">
                          <a:latin typeface="Times New Roman"/>
                        </a:rPr>
                        <a:t>2 </a:t>
                      </a:r>
                      <a:endParaRPr lang="en-US" sz="2100" b="0" i="0"/>
                    </a:p>
                  </a:txBody>
                  <a:tcPr marL="68242" marR="68242" marT="34121" marB="34121"/>
                </a:tc>
                <a:tc>
                  <a:txBody>
                    <a:bodyPr/>
                    <a:lstStyle/>
                    <a:p>
                      <a:pPr algn="ctr" rtl="0" fontAlgn="base"/>
                      <a:r>
                        <a:rPr lang="en-US" sz="1200" b="0" i="0">
                          <a:latin typeface="Times New Roman"/>
                        </a:rPr>
                        <a:t>2 </a:t>
                      </a:r>
                      <a:endParaRPr lang="en-US" sz="2100" b="0" i="0"/>
                    </a:p>
                  </a:txBody>
                  <a:tcPr marL="68242" marR="68242" marT="34121" marB="34121"/>
                </a:tc>
                <a:tc>
                  <a:txBody>
                    <a:bodyPr/>
                    <a:lstStyle/>
                    <a:p>
                      <a:pPr algn="ctr" rtl="0" fontAlgn="base"/>
                      <a:r>
                        <a:rPr lang="en-US" sz="1200" b="0" i="0">
                          <a:latin typeface="Times New Roman"/>
                        </a:rPr>
                        <a:t>1 </a:t>
                      </a:r>
                      <a:endParaRPr lang="en-US" sz="2100" b="0" i="0"/>
                    </a:p>
                  </a:txBody>
                  <a:tcPr marL="68242" marR="68242" marT="34121" marB="34121"/>
                </a:tc>
                <a:tc>
                  <a:txBody>
                    <a:bodyPr/>
                    <a:lstStyle/>
                    <a:p>
                      <a:pPr algn="ctr" rtl="0" fontAlgn="base"/>
                      <a:r>
                        <a:rPr lang="en-US" sz="1200" b="0" i="0">
                          <a:latin typeface="Times New Roman"/>
                        </a:rPr>
                        <a:t>2 </a:t>
                      </a:r>
                      <a:endParaRPr lang="en-US" sz="2100" b="0" i="0"/>
                    </a:p>
                  </a:txBody>
                  <a:tcPr marL="68242" marR="68242" marT="34121" marB="34121"/>
                </a:tc>
                <a:tc>
                  <a:txBody>
                    <a:bodyPr/>
                    <a:lstStyle/>
                    <a:p>
                      <a:pPr algn="ctr" rtl="0" fontAlgn="base"/>
                      <a:r>
                        <a:rPr lang="en-US" sz="1200" b="0" i="0">
                          <a:latin typeface="Times New Roman"/>
                        </a:rPr>
                        <a:t>- </a:t>
                      </a:r>
                      <a:endParaRPr lang="en-US" sz="2100" b="0" i="0"/>
                    </a:p>
                  </a:txBody>
                  <a:tcPr marL="68242" marR="68242" marT="34121" marB="34121"/>
                </a:tc>
                <a:tc>
                  <a:txBody>
                    <a:bodyPr/>
                    <a:lstStyle/>
                    <a:p>
                      <a:pPr algn="ctr" rtl="0" fontAlgn="base"/>
                      <a:r>
                        <a:rPr lang="en-US" sz="1200" b="0" i="0">
                          <a:latin typeface="Times New Roman"/>
                        </a:rPr>
                        <a:t>- </a:t>
                      </a:r>
                      <a:endParaRPr lang="en-US" sz="2100" b="0" i="0"/>
                    </a:p>
                  </a:txBody>
                  <a:tcPr marL="68242" marR="68242" marT="34121" marB="34121"/>
                </a:tc>
                <a:tc>
                  <a:txBody>
                    <a:bodyPr/>
                    <a:lstStyle/>
                    <a:p>
                      <a:pPr algn="ctr" rtl="0" fontAlgn="base"/>
                      <a:r>
                        <a:rPr lang="en-US" sz="1200" b="0" i="0">
                          <a:latin typeface="Times New Roman"/>
                        </a:rPr>
                        <a:t>- </a:t>
                      </a:r>
                      <a:endParaRPr lang="en-US" sz="2100" b="0" i="0"/>
                    </a:p>
                  </a:txBody>
                  <a:tcPr marL="68242" marR="68242" marT="34121" marB="34121"/>
                </a:tc>
                <a:tc>
                  <a:txBody>
                    <a:bodyPr/>
                    <a:lstStyle/>
                    <a:p>
                      <a:pPr algn="ctr" rtl="0" fontAlgn="base"/>
                      <a:r>
                        <a:rPr lang="en-US" sz="1200" b="0" i="0" dirty="0">
                          <a:latin typeface="Times New Roman"/>
                        </a:rPr>
                        <a:t>- </a:t>
                      </a:r>
                      <a:endParaRPr lang="en-US" sz="2100" b="0" i="0" dirty="0"/>
                    </a:p>
                  </a:txBody>
                  <a:tcPr marL="68242" marR="68242" marT="34121" marB="34121"/>
                </a:tc>
                <a:tc>
                  <a:txBody>
                    <a:bodyPr/>
                    <a:lstStyle/>
                    <a:p>
                      <a:pPr algn="ctr" rtl="0" fontAlgn="base"/>
                      <a:r>
                        <a:rPr lang="en-US" sz="1200" b="0" i="0">
                          <a:latin typeface="Times New Roman"/>
                        </a:rPr>
                        <a:t>1 </a:t>
                      </a:r>
                      <a:endParaRPr lang="en-US" sz="2100" b="0" i="0"/>
                    </a:p>
                  </a:txBody>
                  <a:tcPr marL="68242" marR="68242" marT="34121" marB="34121"/>
                </a:tc>
                <a:tc>
                  <a:txBody>
                    <a:bodyPr/>
                    <a:lstStyle/>
                    <a:p>
                      <a:pPr algn="ctr" rtl="0" fontAlgn="base"/>
                      <a:r>
                        <a:rPr lang="en-US" sz="1200" b="0" i="0" dirty="0">
                          <a:latin typeface="Times New Roman"/>
                        </a:rPr>
                        <a:t>1 </a:t>
                      </a:r>
                      <a:endParaRPr lang="en-US" sz="2100" b="0" i="0" dirty="0"/>
                    </a:p>
                  </a:txBody>
                  <a:tcPr marL="68242" marR="68242" marT="34121" marB="34121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16883"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US" sz="1000"/>
                        <a:t>2</a:t>
                      </a:r>
                      <a:endParaRPr lang="en-US" sz="1000"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51182" marR="51182" marT="0" marB="0"/>
                </a:tc>
                <a:tc>
                  <a:txBody>
                    <a:bodyPr/>
                    <a:lstStyle/>
                    <a:p>
                      <a:pPr algn="just" rtl="0" fontAlgn="base"/>
                      <a:r>
                        <a:rPr lang="en-US" sz="1200" b="1" i="0">
                          <a:solidFill>
                            <a:srgbClr val="000000"/>
                          </a:solidFill>
                          <a:latin typeface="Times New Roman"/>
                        </a:rPr>
                        <a:t>.2</a:t>
                      </a:r>
                      <a:r>
                        <a:rPr lang="en-US" sz="1200" b="0" i="0">
                          <a:solidFill>
                            <a:srgbClr val="000000"/>
                          </a:solidFill>
                          <a:latin typeface="Times New Roman"/>
                        </a:rPr>
                        <a:t> </a:t>
                      </a:r>
                      <a:endParaRPr lang="en-US" sz="2100" b="0" i="0">
                        <a:solidFill>
                          <a:srgbClr val="000000"/>
                        </a:solidFill>
                      </a:endParaRPr>
                    </a:p>
                  </a:txBody>
                  <a:tcPr marL="68242" marR="68242" marT="34121" marB="34121"/>
                </a:tc>
                <a:tc>
                  <a:txBody>
                    <a:bodyPr/>
                    <a:lstStyle/>
                    <a:p>
                      <a:pPr algn="ctr" rtl="0" fontAlgn="base"/>
                      <a:r>
                        <a:rPr lang="en-US" sz="1200" b="0" i="0">
                          <a:latin typeface="Times New Roman"/>
                        </a:rPr>
                        <a:t>3 </a:t>
                      </a:r>
                      <a:endParaRPr lang="en-US" sz="2100" b="0" i="0"/>
                    </a:p>
                  </a:txBody>
                  <a:tcPr marL="68242" marR="68242" marT="34121" marB="34121"/>
                </a:tc>
                <a:tc>
                  <a:txBody>
                    <a:bodyPr/>
                    <a:lstStyle/>
                    <a:p>
                      <a:pPr algn="ctr" rtl="0" fontAlgn="base"/>
                      <a:r>
                        <a:rPr lang="en-US" sz="1200" b="0" i="0" dirty="0">
                          <a:latin typeface="Times New Roman"/>
                        </a:rPr>
                        <a:t>3 </a:t>
                      </a:r>
                      <a:endParaRPr lang="en-US" sz="2100" b="0" i="0" dirty="0"/>
                    </a:p>
                  </a:txBody>
                  <a:tcPr marL="68242" marR="68242" marT="34121" marB="34121"/>
                </a:tc>
                <a:tc>
                  <a:txBody>
                    <a:bodyPr/>
                    <a:lstStyle/>
                    <a:p>
                      <a:pPr algn="ctr" rtl="0" fontAlgn="base"/>
                      <a:r>
                        <a:rPr lang="en-US" sz="1200" b="0" i="0" dirty="0">
                          <a:latin typeface="Times New Roman"/>
                        </a:rPr>
                        <a:t>3 </a:t>
                      </a:r>
                      <a:endParaRPr lang="en-US" sz="2100" b="0" i="0" dirty="0"/>
                    </a:p>
                  </a:txBody>
                  <a:tcPr marL="68242" marR="68242" marT="34121" marB="34121"/>
                </a:tc>
                <a:tc>
                  <a:txBody>
                    <a:bodyPr/>
                    <a:lstStyle/>
                    <a:p>
                      <a:pPr algn="ctr" rtl="0" fontAlgn="base"/>
                      <a:r>
                        <a:rPr lang="en-US" sz="1200" b="0" i="0">
                          <a:latin typeface="Times New Roman"/>
                        </a:rPr>
                        <a:t>2 </a:t>
                      </a:r>
                      <a:endParaRPr lang="en-US" sz="2100" b="0" i="0"/>
                    </a:p>
                  </a:txBody>
                  <a:tcPr marL="68242" marR="68242" marT="34121" marB="34121"/>
                </a:tc>
                <a:tc>
                  <a:txBody>
                    <a:bodyPr/>
                    <a:lstStyle/>
                    <a:p>
                      <a:pPr algn="ctr" rtl="0" fontAlgn="base"/>
                      <a:r>
                        <a:rPr lang="en-US" sz="1200" b="0" i="0">
                          <a:latin typeface="Times New Roman"/>
                        </a:rPr>
                        <a:t>2 </a:t>
                      </a:r>
                      <a:endParaRPr lang="en-US" sz="2100" b="0" i="0"/>
                    </a:p>
                  </a:txBody>
                  <a:tcPr marL="68242" marR="68242" marT="34121" marB="34121"/>
                </a:tc>
                <a:tc>
                  <a:txBody>
                    <a:bodyPr/>
                    <a:lstStyle/>
                    <a:p>
                      <a:pPr algn="ctr" rtl="0" fontAlgn="base"/>
                      <a:r>
                        <a:rPr lang="en-US" sz="1200" b="0" i="0">
                          <a:latin typeface="Times New Roman"/>
                        </a:rPr>
                        <a:t>- </a:t>
                      </a:r>
                      <a:endParaRPr lang="en-US" sz="2100" b="0" i="0"/>
                    </a:p>
                  </a:txBody>
                  <a:tcPr marL="68242" marR="68242" marT="34121" marB="34121"/>
                </a:tc>
                <a:tc>
                  <a:txBody>
                    <a:bodyPr/>
                    <a:lstStyle/>
                    <a:p>
                      <a:pPr algn="ctr" rtl="0" fontAlgn="base"/>
                      <a:r>
                        <a:rPr lang="en-US" sz="1200" b="0" i="0">
                          <a:latin typeface="Times New Roman"/>
                        </a:rPr>
                        <a:t>- </a:t>
                      </a:r>
                      <a:endParaRPr lang="en-US" sz="2100" b="0" i="0"/>
                    </a:p>
                  </a:txBody>
                  <a:tcPr marL="68242" marR="68242" marT="34121" marB="34121"/>
                </a:tc>
                <a:tc>
                  <a:txBody>
                    <a:bodyPr/>
                    <a:lstStyle/>
                    <a:p>
                      <a:pPr algn="ctr" rtl="0" fontAlgn="base"/>
                      <a:r>
                        <a:rPr lang="en-US" sz="1200" b="0" i="0">
                          <a:latin typeface="Times New Roman"/>
                        </a:rPr>
                        <a:t>- </a:t>
                      </a:r>
                      <a:endParaRPr lang="en-US" sz="2100" b="0" i="0"/>
                    </a:p>
                  </a:txBody>
                  <a:tcPr marL="68242" marR="68242" marT="34121" marB="34121"/>
                </a:tc>
                <a:tc>
                  <a:txBody>
                    <a:bodyPr/>
                    <a:lstStyle/>
                    <a:p>
                      <a:pPr algn="ctr" rtl="0" fontAlgn="base"/>
                      <a:r>
                        <a:rPr lang="en-US" sz="1200" b="0" i="0">
                          <a:latin typeface="Times New Roman"/>
                        </a:rPr>
                        <a:t>- </a:t>
                      </a:r>
                      <a:endParaRPr lang="en-US" sz="2100" b="0" i="0"/>
                    </a:p>
                  </a:txBody>
                  <a:tcPr marL="68242" marR="68242" marT="34121" marB="34121"/>
                </a:tc>
                <a:tc>
                  <a:txBody>
                    <a:bodyPr/>
                    <a:lstStyle/>
                    <a:p>
                      <a:pPr algn="ctr" rtl="0" fontAlgn="base"/>
                      <a:r>
                        <a:rPr lang="en-US" sz="1200" b="0" i="0">
                          <a:latin typeface="Times New Roman"/>
                        </a:rPr>
                        <a:t>1 </a:t>
                      </a:r>
                      <a:endParaRPr lang="en-US" sz="2100" b="0" i="0"/>
                    </a:p>
                  </a:txBody>
                  <a:tcPr marL="68242" marR="68242" marT="34121" marB="34121"/>
                </a:tc>
                <a:tc>
                  <a:txBody>
                    <a:bodyPr/>
                    <a:lstStyle/>
                    <a:p>
                      <a:pPr algn="ctr" rtl="0" fontAlgn="base"/>
                      <a:r>
                        <a:rPr lang="en-US" sz="1200" b="0" i="0">
                          <a:latin typeface="Times New Roman"/>
                        </a:rPr>
                        <a:t>1 </a:t>
                      </a:r>
                      <a:endParaRPr lang="en-US" sz="2100" b="0" i="0"/>
                    </a:p>
                  </a:txBody>
                  <a:tcPr marL="68242" marR="68242" marT="34121" marB="34121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16883"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US" sz="1000"/>
                        <a:t>3</a:t>
                      </a:r>
                      <a:endParaRPr lang="en-US" sz="1000"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51182" marR="51182" marT="0" marB="0"/>
                </a:tc>
                <a:tc>
                  <a:txBody>
                    <a:bodyPr/>
                    <a:lstStyle/>
                    <a:p>
                      <a:pPr algn="just" rtl="0" fontAlgn="base"/>
                      <a:r>
                        <a:rPr lang="en-US" sz="1200" b="1" i="0" dirty="0">
                          <a:solidFill>
                            <a:srgbClr val="000000"/>
                          </a:solidFill>
                          <a:latin typeface="Times New Roman"/>
                        </a:rPr>
                        <a:t>.3</a:t>
                      </a:r>
                      <a:r>
                        <a:rPr lang="en-US" sz="1200" b="0" i="0" dirty="0">
                          <a:solidFill>
                            <a:srgbClr val="000000"/>
                          </a:solidFill>
                          <a:latin typeface="Times New Roman"/>
                        </a:rPr>
                        <a:t> </a:t>
                      </a:r>
                      <a:endParaRPr lang="en-US" sz="2100" b="0" i="0" dirty="0">
                        <a:solidFill>
                          <a:srgbClr val="000000"/>
                        </a:solidFill>
                      </a:endParaRPr>
                    </a:p>
                  </a:txBody>
                  <a:tcPr marL="68242" marR="68242" marT="34121" marB="34121"/>
                </a:tc>
                <a:tc>
                  <a:txBody>
                    <a:bodyPr/>
                    <a:lstStyle/>
                    <a:p>
                      <a:pPr algn="ctr" rtl="0" fontAlgn="base"/>
                      <a:r>
                        <a:rPr lang="en-US" sz="1200" b="0" i="0">
                          <a:latin typeface="Times New Roman"/>
                        </a:rPr>
                        <a:t>3 </a:t>
                      </a:r>
                      <a:endParaRPr lang="en-US" sz="2100" b="0" i="0"/>
                    </a:p>
                  </a:txBody>
                  <a:tcPr marL="68242" marR="68242" marT="34121" marB="34121"/>
                </a:tc>
                <a:tc>
                  <a:txBody>
                    <a:bodyPr/>
                    <a:lstStyle/>
                    <a:p>
                      <a:pPr algn="ctr" rtl="0" fontAlgn="base"/>
                      <a:r>
                        <a:rPr lang="en-US" sz="1200" b="0" i="0">
                          <a:latin typeface="Times New Roman"/>
                        </a:rPr>
                        <a:t>3 </a:t>
                      </a:r>
                      <a:endParaRPr lang="en-US" sz="2100" b="0" i="0"/>
                    </a:p>
                  </a:txBody>
                  <a:tcPr marL="68242" marR="68242" marT="34121" marB="34121"/>
                </a:tc>
                <a:tc>
                  <a:txBody>
                    <a:bodyPr/>
                    <a:lstStyle/>
                    <a:p>
                      <a:pPr algn="ctr" rtl="0" fontAlgn="base"/>
                      <a:r>
                        <a:rPr lang="en-US" sz="1200" b="0" i="0" dirty="0">
                          <a:latin typeface="Times New Roman"/>
                        </a:rPr>
                        <a:t>3 </a:t>
                      </a:r>
                      <a:endParaRPr lang="en-US" sz="2100" b="0" i="0" dirty="0"/>
                    </a:p>
                  </a:txBody>
                  <a:tcPr marL="68242" marR="68242" marT="34121" marB="34121"/>
                </a:tc>
                <a:tc>
                  <a:txBody>
                    <a:bodyPr/>
                    <a:lstStyle/>
                    <a:p>
                      <a:pPr algn="ctr" rtl="0" fontAlgn="base"/>
                      <a:r>
                        <a:rPr lang="en-US" sz="1200" b="0" i="0">
                          <a:latin typeface="Times New Roman"/>
                        </a:rPr>
                        <a:t>2 </a:t>
                      </a:r>
                      <a:endParaRPr lang="en-US" sz="2100" b="0" i="0"/>
                    </a:p>
                  </a:txBody>
                  <a:tcPr marL="68242" marR="68242" marT="34121" marB="34121"/>
                </a:tc>
                <a:tc>
                  <a:txBody>
                    <a:bodyPr/>
                    <a:lstStyle/>
                    <a:p>
                      <a:pPr algn="ctr" rtl="0" fontAlgn="base"/>
                      <a:r>
                        <a:rPr lang="en-US" sz="1200" b="0" i="0">
                          <a:latin typeface="Times New Roman"/>
                        </a:rPr>
                        <a:t>2 </a:t>
                      </a:r>
                      <a:endParaRPr lang="en-US" sz="2100" b="0" i="0"/>
                    </a:p>
                  </a:txBody>
                  <a:tcPr marL="68242" marR="68242" marT="34121" marB="34121"/>
                </a:tc>
                <a:tc>
                  <a:txBody>
                    <a:bodyPr/>
                    <a:lstStyle/>
                    <a:p>
                      <a:pPr algn="ctr" rtl="0" fontAlgn="base"/>
                      <a:r>
                        <a:rPr lang="en-US" sz="1200" b="0" i="0">
                          <a:latin typeface="Times New Roman"/>
                        </a:rPr>
                        <a:t>- </a:t>
                      </a:r>
                      <a:endParaRPr lang="en-US" sz="2100" b="0" i="0"/>
                    </a:p>
                  </a:txBody>
                  <a:tcPr marL="68242" marR="68242" marT="34121" marB="34121"/>
                </a:tc>
                <a:tc>
                  <a:txBody>
                    <a:bodyPr/>
                    <a:lstStyle/>
                    <a:p>
                      <a:pPr algn="ctr" rtl="0" fontAlgn="base"/>
                      <a:r>
                        <a:rPr lang="en-US" sz="1200" b="0" i="0">
                          <a:latin typeface="Times New Roman"/>
                        </a:rPr>
                        <a:t>- </a:t>
                      </a:r>
                      <a:endParaRPr lang="en-US" sz="2100" b="0" i="0"/>
                    </a:p>
                  </a:txBody>
                  <a:tcPr marL="68242" marR="68242" marT="34121" marB="34121"/>
                </a:tc>
                <a:tc>
                  <a:txBody>
                    <a:bodyPr/>
                    <a:lstStyle/>
                    <a:p>
                      <a:pPr algn="ctr" rtl="0" fontAlgn="base"/>
                      <a:r>
                        <a:rPr lang="en-US" sz="1200" b="0" i="0">
                          <a:latin typeface="Times New Roman"/>
                        </a:rPr>
                        <a:t>- </a:t>
                      </a:r>
                      <a:endParaRPr lang="en-US" sz="2100" b="0" i="0"/>
                    </a:p>
                  </a:txBody>
                  <a:tcPr marL="68242" marR="68242" marT="34121" marB="34121"/>
                </a:tc>
                <a:tc>
                  <a:txBody>
                    <a:bodyPr/>
                    <a:lstStyle/>
                    <a:p>
                      <a:pPr algn="ctr" rtl="0" fontAlgn="base"/>
                      <a:r>
                        <a:rPr lang="en-US" sz="1200" b="0" i="0">
                          <a:latin typeface="Times New Roman"/>
                        </a:rPr>
                        <a:t>- </a:t>
                      </a:r>
                      <a:endParaRPr lang="en-US" sz="2100" b="0" i="0"/>
                    </a:p>
                  </a:txBody>
                  <a:tcPr marL="68242" marR="68242" marT="34121" marB="34121"/>
                </a:tc>
                <a:tc>
                  <a:txBody>
                    <a:bodyPr/>
                    <a:lstStyle/>
                    <a:p>
                      <a:pPr algn="ctr" rtl="0" fontAlgn="base"/>
                      <a:r>
                        <a:rPr lang="en-US" sz="1200" b="0" i="0">
                          <a:latin typeface="Times New Roman"/>
                        </a:rPr>
                        <a:t>1 </a:t>
                      </a:r>
                      <a:endParaRPr lang="en-US" sz="2100" b="0" i="0"/>
                    </a:p>
                  </a:txBody>
                  <a:tcPr marL="68242" marR="68242" marT="34121" marB="34121"/>
                </a:tc>
                <a:tc>
                  <a:txBody>
                    <a:bodyPr/>
                    <a:lstStyle/>
                    <a:p>
                      <a:pPr algn="ctr" rtl="0" fontAlgn="base"/>
                      <a:r>
                        <a:rPr lang="en-US" sz="1200" b="0" i="0">
                          <a:latin typeface="Times New Roman"/>
                        </a:rPr>
                        <a:t>1 </a:t>
                      </a:r>
                      <a:endParaRPr lang="en-US" sz="2100" b="0" i="0"/>
                    </a:p>
                  </a:txBody>
                  <a:tcPr marL="68242" marR="68242" marT="34121" marB="34121"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516883"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US" sz="1000"/>
                        <a:t>4</a:t>
                      </a:r>
                      <a:endParaRPr lang="en-US" sz="1000"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51182" marR="51182" marT="0" marB="0"/>
                </a:tc>
                <a:tc>
                  <a:txBody>
                    <a:bodyPr/>
                    <a:lstStyle/>
                    <a:p>
                      <a:pPr algn="just" rtl="0" fontAlgn="base"/>
                      <a:r>
                        <a:rPr lang="en-US" sz="1200" b="1" i="0">
                          <a:latin typeface="Times New Roman"/>
                        </a:rPr>
                        <a:t>.4</a:t>
                      </a:r>
                      <a:r>
                        <a:rPr lang="en-US" sz="1200" b="0" i="0">
                          <a:latin typeface="Times New Roman"/>
                        </a:rPr>
                        <a:t> </a:t>
                      </a:r>
                      <a:endParaRPr lang="en-US" sz="2100" b="0" i="0"/>
                    </a:p>
                  </a:txBody>
                  <a:tcPr marL="68242" marR="68242" marT="34121" marB="34121"/>
                </a:tc>
                <a:tc>
                  <a:txBody>
                    <a:bodyPr/>
                    <a:lstStyle/>
                    <a:p>
                      <a:pPr algn="ctr" rtl="0" fontAlgn="base"/>
                      <a:r>
                        <a:rPr lang="en-US" sz="1200" b="0" i="0">
                          <a:latin typeface="Times New Roman"/>
                        </a:rPr>
                        <a:t>3 </a:t>
                      </a:r>
                      <a:endParaRPr lang="en-US" sz="2100" b="0" i="0"/>
                    </a:p>
                  </a:txBody>
                  <a:tcPr marL="68242" marR="68242" marT="34121" marB="34121"/>
                </a:tc>
                <a:tc>
                  <a:txBody>
                    <a:bodyPr/>
                    <a:lstStyle/>
                    <a:p>
                      <a:pPr algn="ctr" rtl="0" fontAlgn="base"/>
                      <a:r>
                        <a:rPr lang="en-US" sz="1200" b="0" i="0">
                          <a:latin typeface="Times New Roman"/>
                        </a:rPr>
                        <a:t>3 </a:t>
                      </a:r>
                      <a:endParaRPr lang="en-US" sz="2100" b="0" i="0"/>
                    </a:p>
                  </a:txBody>
                  <a:tcPr marL="68242" marR="68242" marT="34121" marB="34121"/>
                </a:tc>
                <a:tc>
                  <a:txBody>
                    <a:bodyPr/>
                    <a:lstStyle/>
                    <a:p>
                      <a:pPr algn="ctr" rtl="0" fontAlgn="base"/>
                      <a:r>
                        <a:rPr lang="en-US" sz="1200" b="0" i="0">
                          <a:latin typeface="Times New Roman"/>
                        </a:rPr>
                        <a:t>3 </a:t>
                      </a:r>
                      <a:endParaRPr lang="en-US" sz="2100" b="0" i="0"/>
                    </a:p>
                  </a:txBody>
                  <a:tcPr marL="68242" marR="68242" marT="34121" marB="34121"/>
                </a:tc>
                <a:tc>
                  <a:txBody>
                    <a:bodyPr/>
                    <a:lstStyle/>
                    <a:p>
                      <a:pPr algn="ctr" rtl="0" fontAlgn="base"/>
                      <a:r>
                        <a:rPr lang="en-US" sz="1200" b="0" i="0">
                          <a:latin typeface="Times New Roman"/>
                        </a:rPr>
                        <a:t>2 </a:t>
                      </a:r>
                      <a:endParaRPr lang="en-US" sz="2100" b="0" i="0"/>
                    </a:p>
                  </a:txBody>
                  <a:tcPr marL="68242" marR="68242" marT="34121" marB="34121"/>
                </a:tc>
                <a:tc>
                  <a:txBody>
                    <a:bodyPr/>
                    <a:lstStyle/>
                    <a:p>
                      <a:pPr algn="ctr" rtl="0" fontAlgn="base"/>
                      <a:r>
                        <a:rPr lang="en-US" sz="1200" b="0" i="0">
                          <a:latin typeface="Times New Roman"/>
                        </a:rPr>
                        <a:t>2 </a:t>
                      </a:r>
                      <a:endParaRPr lang="en-US" sz="2100" b="0" i="0"/>
                    </a:p>
                  </a:txBody>
                  <a:tcPr marL="68242" marR="68242" marT="34121" marB="34121"/>
                </a:tc>
                <a:tc>
                  <a:txBody>
                    <a:bodyPr/>
                    <a:lstStyle/>
                    <a:p>
                      <a:pPr algn="ctr" rtl="0" fontAlgn="base"/>
                      <a:r>
                        <a:rPr lang="en-US" sz="1200" b="0" i="0">
                          <a:latin typeface="Times New Roman"/>
                        </a:rPr>
                        <a:t>- </a:t>
                      </a:r>
                      <a:endParaRPr lang="en-US" sz="2100" b="0" i="0"/>
                    </a:p>
                  </a:txBody>
                  <a:tcPr marL="68242" marR="68242" marT="34121" marB="34121"/>
                </a:tc>
                <a:tc>
                  <a:txBody>
                    <a:bodyPr/>
                    <a:lstStyle/>
                    <a:p>
                      <a:pPr algn="ctr" rtl="0" fontAlgn="base"/>
                      <a:r>
                        <a:rPr lang="en-US" sz="1200" b="0" i="0">
                          <a:latin typeface="Times New Roman"/>
                        </a:rPr>
                        <a:t>- </a:t>
                      </a:r>
                      <a:endParaRPr lang="en-US" sz="2100" b="0" i="0"/>
                    </a:p>
                  </a:txBody>
                  <a:tcPr marL="68242" marR="68242" marT="34121" marB="34121"/>
                </a:tc>
                <a:tc>
                  <a:txBody>
                    <a:bodyPr/>
                    <a:lstStyle/>
                    <a:p>
                      <a:pPr algn="ctr" rtl="0" fontAlgn="base"/>
                      <a:r>
                        <a:rPr lang="en-US" sz="1200" b="0" i="0">
                          <a:latin typeface="Times New Roman"/>
                        </a:rPr>
                        <a:t>- </a:t>
                      </a:r>
                      <a:endParaRPr lang="en-US" sz="2100" b="0" i="0"/>
                    </a:p>
                  </a:txBody>
                  <a:tcPr marL="68242" marR="68242" marT="34121" marB="34121"/>
                </a:tc>
                <a:tc>
                  <a:txBody>
                    <a:bodyPr/>
                    <a:lstStyle/>
                    <a:p>
                      <a:pPr algn="ctr" rtl="0" fontAlgn="base"/>
                      <a:r>
                        <a:rPr lang="en-US" sz="1200" b="0" i="0">
                          <a:latin typeface="Times New Roman"/>
                        </a:rPr>
                        <a:t>- </a:t>
                      </a:r>
                      <a:endParaRPr lang="en-US" sz="2100" b="0" i="0"/>
                    </a:p>
                  </a:txBody>
                  <a:tcPr marL="68242" marR="68242" marT="34121" marB="34121"/>
                </a:tc>
                <a:tc>
                  <a:txBody>
                    <a:bodyPr/>
                    <a:lstStyle/>
                    <a:p>
                      <a:pPr algn="ctr" rtl="0" fontAlgn="base"/>
                      <a:r>
                        <a:rPr lang="en-US" sz="1200" b="0" i="0">
                          <a:latin typeface="Times New Roman"/>
                        </a:rPr>
                        <a:t>1 </a:t>
                      </a:r>
                      <a:endParaRPr lang="en-US" sz="2100" b="0" i="0"/>
                    </a:p>
                  </a:txBody>
                  <a:tcPr marL="68242" marR="68242" marT="34121" marB="34121"/>
                </a:tc>
                <a:tc>
                  <a:txBody>
                    <a:bodyPr/>
                    <a:lstStyle/>
                    <a:p>
                      <a:pPr algn="ctr" rtl="0" fontAlgn="base"/>
                      <a:r>
                        <a:rPr lang="en-US" sz="1200" b="0" i="0">
                          <a:latin typeface="Times New Roman"/>
                        </a:rPr>
                        <a:t>1 </a:t>
                      </a:r>
                      <a:endParaRPr lang="en-US" sz="2100" b="0" i="0"/>
                    </a:p>
                  </a:txBody>
                  <a:tcPr marL="68242" marR="68242" marT="34121" marB="34121"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516883"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US" sz="1000"/>
                        <a:t>5</a:t>
                      </a:r>
                      <a:endParaRPr lang="en-US" sz="1000"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51182" marR="51182" marT="0" marB="0"/>
                </a:tc>
                <a:tc>
                  <a:txBody>
                    <a:bodyPr/>
                    <a:lstStyle/>
                    <a:p>
                      <a:pPr algn="just" rtl="0" fontAlgn="base"/>
                      <a:r>
                        <a:rPr lang="en-US" sz="1200" b="1" i="0">
                          <a:latin typeface="Times New Roman"/>
                        </a:rPr>
                        <a:t>.5</a:t>
                      </a:r>
                      <a:r>
                        <a:rPr lang="en-US" sz="1200" b="0" i="0">
                          <a:latin typeface="Times New Roman"/>
                        </a:rPr>
                        <a:t> </a:t>
                      </a:r>
                      <a:endParaRPr lang="en-US" sz="2100" b="0" i="0"/>
                    </a:p>
                  </a:txBody>
                  <a:tcPr marL="68242" marR="68242" marT="34121" marB="34121"/>
                </a:tc>
                <a:tc>
                  <a:txBody>
                    <a:bodyPr/>
                    <a:lstStyle/>
                    <a:p>
                      <a:pPr algn="ctr" rtl="0" fontAlgn="base"/>
                      <a:r>
                        <a:rPr lang="en-US" sz="1200" b="0" i="0">
                          <a:latin typeface="Times New Roman"/>
                        </a:rPr>
                        <a:t>3 </a:t>
                      </a:r>
                      <a:endParaRPr lang="en-US" sz="2100" b="0" i="0"/>
                    </a:p>
                  </a:txBody>
                  <a:tcPr marL="68242" marR="68242" marT="34121" marB="34121"/>
                </a:tc>
                <a:tc>
                  <a:txBody>
                    <a:bodyPr/>
                    <a:lstStyle/>
                    <a:p>
                      <a:pPr algn="ctr" rtl="0" fontAlgn="base"/>
                      <a:r>
                        <a:rPr lang="en-US" sz="1200" b="0" i="0" dirty="0">
                          <a:latin typeface="Times New Roman"/>
                        </a:rPr>
                        <a:t>2 </a:t>
                      </a:r>
                      <a:endParaRPr lang="en-US" sz="2100" b="0" i="0" dirty="0"/>
                    </a:p>
                  </a:txBody>
                  <a:tcPr marL="68242" marR="68242" marT="34121" marB="34121"/>
                </a:tc>
                <a:tc>
                  <a:txBody>
                    <a:bodyPr/>
                    <a:lstStyle/>
                    <a:p>
                      <a:pPr algn="ctr" rtl="0" fontAlgn="base"/>
                      <a:r>
                        <a:rPr lang="en-US" sz="1200" b="0" i="0" dirty="0">
                          <a:latin typeface="Times New Roman"/>
                        </a:rPr>
                        <a:t>3 </a:t>
                      </a:r>
                      <a:endParaRPr lang="en-US" sz="2100" b="0" i="0" dirty="0"/>
                    </a:p>
                  </a:txBody>
                  <a:tcPr marL="68242" marR="68242" marT="34121" marB="34121"/>
                </a:tc>
                <a:tc>
                  <a:txBody>
                    <a:bodyPr/>
                    <a:lstStyle/>
                    <a:p>
                      <a:pPr algn="ctr" rtl="0" fontAlgn="base"/>
                      <a:r>
                        <a:rPr lang="en-US" sz="1200" b="0" i="0">
                          <a:latin typeface="Times New Roman"/>
                        </a:rPr>
                        <a:t>2 </a:t>
                      </a:r>
                      <a:endParaRPr lang="en-US" sz="2100" b="0" i="0"/>
                    </a:p>
                  </a:txBody>
                  <a:tcPr marL="68242" marR="68242" marT="34121" marB="34121"/>
                </a:tc>
                <a:tc>
                  <a:txBody>
                    <a:bodyPr/>
                    <a:lstStyle/>
                    <a:p>
                      <a:pPr algn="ctr" rtl="0" fontAlgn="base"/>
                      <a:r>
                        <a:rPr lang="en-US" sz="1200" b="0" i="0">
                          <a:latin typeface="Times New Roman"/>
                        </a:rPr>
                        <a:t>2 </a:t>
                      </a:r>
                      <a:endParaRPr lang="en-US" sz="2100" b="0" i="0"/>
                    </a:p>
                  </a:txBody>
                  <a:tcPr marL="68242" marR="68242" marT="34121" marB="34121"/>
                </a:tc>
                <a:tc>
                  <a:txBody>
                    <a:bodyPr/>
                    <a:lstStyle/>
                    <a:p>
                      <a:pPr algn="ctr" rtl="0" fontAlgn="base"/>
                      <a:r>
                        <a:rPr lang="en-US" sz="1200" b="0" i="0">
                          <a:latin typeface="Times New Roman"/>
                        </a:rPr>
                        <a:t>- </a:t>
                      </a:r>
                      <a:endParaRPr lang="en-US" sz="2100" b="0" i="0"/>
                    </a:p>
                  </a:txBody>
                  <a:tcPr marL="68242" marR="68242" marT="34121" marB="34121"/>
                </a:tc>
                <a:tc>
                  <a:txBody>
                    <a:bodyPr/>
                    <a:lstStyle/>
                    <a:p>
                      <a:pPr algn="ctr" rtl="0" fontAlgn="base"/>
                      <a:r>
                        <a:rPr lang="en-US" sz="1200" b="0" i="0">
                          <a:latin typeface="Times New Roman"/>
                        </a:rPr>
                        <a:t>- </a:t>
                      </a:r>
                      <a:endParaRPr lang="en-US" sz="2100" b="0" i="0"/>
                    </a:p>
                  </a:txBody>
                  <a:tcPr marL="68242" marR="68242" marT="34121" marB="34121"/>
                </a:tc>
                <a:tc>
                  <a:txBody>
                    <a:bodyPr/>
                    <a:lstStyle/>
                    <a:p>
                      <a:pPr algn="ctr" rtl="0" fontAlgn="base"/>
                      <a:r>
                        <a:rPr lang="en-US" sz="1200" b="0" i="0">
                          <a:latin typeface="Times New Roman"/>
                        </a:rPr>
                        <a:t>- </a:t>
                      </a:r>
                      <a:endParaRPr lang="en-US" sz="2100" b="0" i="0"/>
                    </a:p>
                  </a:txBody>
                  <a:tcPr marL="68242" marR="68242" marT="34121" marB="34121"/>
                </a:tc>
                <a:tc>
                  <a:txBody>
                    <a:bodyPr/>
                    <a:lstStyle/>
                    <a:p>
                      <a:pPr algn="ctr" rtl="0" fontAlgn="base"/>
                      <a:r>
                        <a:rPr lang="en-US" sz="1200" b="0" i="0">
                          <a:latin typeface="Times New Roman"/>
                        </a:rPr>
                        <a:t>- </a:t>
                      </a:r>
                      <a:endParaRPr lang="en-US" sz="2100" b="0" i="0"/>
                    </a:p>
                  </a:txBody>
                  <a:tcPr marL="68242" marR="68242" marT="34121" marB="34121"/>
                </a:tc>
                <a:tc>
                  <a:txBody>
                    <a:bodyPr/>
                    <a:lstStyle/>
                    <a:p>
                      <a:pPr algn="ctr" rtl="0" fontAlgn="base"/>
                      <a:r>
                        <a:rPr lang="en-US" sz="1200" b="0" i="0">
                          <a:latin typeface="Times New Roman"/>
                        </a:rPr>
                        <a:t>1 </a:t>
                      </a:r>
                      <a:endParaRPr lang="en-US" sz="2100" b="0" i="0"/>
                    </a:p>
                  </a:txBody>
                  <a:tcPr marL="68242" marR="68242" marT="34121" marB="34121"/>
                </a:tc>
                <a:tc>
                  <a:txBody>
                    <a:bodyPr/>
                    <a:lstStyle/>
                    <a:p>
                      <a:pPr algn="ctr" rtl="0" fontAlgn="base"/>
                      <a:r>
                        <a:rPr lang="en-US" sz="1200" b="0" i="0">
                          <a:latin typeface="Times New Roman"/>
                        </a:rPr>
                        <a:t>2 </a:t>
                      </a:r>
                      <a:endParaRPr lang="en-US" sz="2100" b="0" i="0"/>
                    </a:p>
                  </a:txBody>
                  <a:tcPr marL="68242" marR="68242" marT="34121" marB="34121"/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516883"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US" sz="1000"/>
                        <a:t>6</a:t>
                      </a:r>
                      <a:endParaRPr lang="en-US" sz="1000"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51182" marR="51182" marT="0" marB="0"/>
                </a:tc>
                <a:tc>
                  <a:txBody>
                    <a:bodyPr/>
                    <a:lstStyle/>
                    <a:p>
                      <a:pPr algn="just" rtl="0" fontAlgn="base"/>
                      <a:r>
                        <a:rPr lang="en-US" sz="1200" b="1" i="0">
                          <a:latin typeface="Times New Roman"/>
                        </a:rPr>
                        <a:t>Average</a:t>
                      </a:r>
                      <a:r>
                        <a:rPr lang="en-US" sz="1200" b="0" i="0">
                          <a:latin typeface="Times New Roman"/>
                        </a:rPr>
                        <a:t> </a:t>
                      </a:r>
                      <a:endParaRPr lang="en-US" sz="2100" b="0" i="0"/>
                    </a:p>
                  </a:txBody>
                  <a:tcPr marL="68242" marR="68242" marT="34121" marB="34121"/>
                </a:tc>
                <a:tc>
                  <a:txBody>
                    <a:bodyPr/>
                    <a:lstStyle/>
                    <a:p>
                      <a:pPr algn="l" rtl="0" fontAlgn="base"/>
                      <a:r>
                        <a:rPr lang="en-US" sz="1200" b="1" i="0">
                          <a:latin typeface="Times New Roman"/>
                        </a:rPr>
                        <a:t>  3 </a:t>
                      </a:r>
                      <a:r>
                        <a:rPr lang="en-US" sz="1200" b="0" i="0">
                          <a:latin typeface="Times New Roman"/>
                        </a:rPr>
                        <a:t> </a:t>
                      </a:r>
                      <a:endParaRPr lang="en-US" sz="2100" b="0" i="0"/>
                    </a:p>
                  </a:txBody>
                  <a:tcPr marL="68242" marR="68242" marT="34121" marB="34121" anchor="b"/>
                </a:tc>
                <a:tc>
                  <a:txBody>
                    <a:bodyPr/>
                    <a:lstStyle/>
                    <a:p>
                      <a:pPr algn="ctr" rtl="0" fontAlgn="base"/>
                      <a:r>
                        <a:rPr lang="en-US" sz="1200" b="1" i="0">
                          <a:latin typeface="Times New Roman"/>
                        </a:rPr>
                        <a:t>2.6</a:t>
                      </a:r>
                      <a:r>
                        <a:rPr lang="en-US" sz="1200" b="0" i="0">
                          <a:latin typeface="Times New Roman"/>
                        </a:rPr>
                        <a:t> </a:t>
                      </a:r>
                      <a:endParaRPr lang="en-US" sz="2100" b="0" i="0"/>
                    </a:p>
                  </a:txBody>
                  <a:tcPr marL="68242" marR="68242" marT="34121" marB="34121" anchor="b"/>
                </a:tc>
                <a:tc>
                  <a:txBody>
                    <a:bodyPr/>
                    <a:lstStyle/>
                    <a:p>
                      <a:pPr algn="ctr" rtl="0" fontAlgn="base"/>
                      <a:r>
                        <a:rPr lang="en-US" sz="1200" b="1" i="0" dirty="0">
                          <a:latin typeface="Times New Roman"/>
                        </a:rPr>
                        <a:t>2.8</a:t>
                      </a:r>
                      <a:r>
                        <a:rPr lang="en-US" sz="1200" b="0" i="0" dirty="0">
                          <a:latin typeface="Times New Roman"/>
                        </a:rPr>
                        <a:t> </a:t>
                      </a:r>
                      <a:endParaRPr lang="en-US" sz="2100" b="0" i="0" dirty="0"/>
                    </a:p>
                  </a:txBody>
                  <a:tcPr marL="68242" marR="68242" marT="34121" marB="34121" anchor="b"/>
                </a:tc>
                <a:tc>
                  <a:txBody>
                    <a:bodyPr/>
                    <a:lstStyle/>
                    <a:p>
                      <a:pPr algn="ctr" rtl="0" fontAlgn="base"/>
                      <a:r>
                        <a:rPr lang="en-US" sz="1200" b="1" i="0">
                          <a:latin typeface="Times New Roman"/>
                        </a:rPr>
                        <a:t>1.8</a:t>
                      </a:r>
                      <a:r>
                        <a:rPr lang="en-US" sz="1200" b="0" i="0">
                          <a:latin typeface="Times New Roman"/>
                        </a:rPr>
                        <a:t> </a:t>
                      </a:r>
                      <a:endParaRPr lang="en-US" sz="2100" b="0" i="0"/>
                    </a:p>
                  </a:txBody>
                  <a:tcPr marL="68242" marR="68242" marT="34121" marB="34121" anchor="b"/>
                </a:tc>
                <a:tc>
                  <a:txBody>
                    <a:bodyPr/>
                    <a:lstStyle/>
                    <a:p>
                      <a:pPr algn="ctr" rtl="0" fontAlgn="base"/>
                      <a:r>
                        <a:rPr lang="en-US" sz="1200" b="1" i="0">
                          <a:latin typeface="Times New Roman"/>
                        </a:rPr>
                        <a:t>2</a:t>
                      </a:r>
                      <a:r>
                        <a:rPr lang="en-US" sz="1200" b="0" i="0">
                          <a:latin typeface="Times New Roman"/>
                        </a:rPr>
                        <a:t> </a:t>
                      </a:r>
                      <a:endParaRPr lang="en-US" sz="2100" b="0" i="0"/>
                    </a:p>
                  </a:txBody>
                  <a:tcPr marL="68242" marR="68242" marT="34121" marB="34121" anchor="b"/>
                </a:tc>
                <a:tc>
                  <a:txBody>
                    <a:bodyPr/>
                    <a:lstStyle/>
                    <a:p>
                      <a:pPr algn="ctr" rtl="0" fontAlgn="base"/>
                      <a:r>
                        <a:rPr lang="en-US" sz="1200" b="1" i="0">
                          <a:latin typeface="Times New Roman"/>
                        </a:rPr>
                        <a:t>-</a:t>
                      </a:r>
                      <a:r>
                        <a:rPr lang="en-US" sz="1200" b="0" i="0">
                          <a:latin typeface="Times New Roman"/>
                        </a:rPr>
                        <a:t> </a:t>
                      </a:r>
                      <a:endParaRPr lang="en-US" sz="2100" b="0" i="0"/>
                    </a:p>
                  </a:txBody>
                  <a:tcPr marL="68242" marR="68242" marT="34121" marB="34121" anchor="b"/>
                </a:tc>
                <a:tc>
                  <a:txBody>
                    <a:bodyPr/>
                    <a:lstStyle/>
                    <a:p>
                      <a:pPr algn="ctr" rtl="0" fontAlgn="base"/>
                      <a:r>
                        <a:rPr lang="en-US" sz="1200" b="1" i="0">
                          <a:latin typeface="Times New Roman"/>
                        </a:rPr>
                        <a:t>-</a:t>
                      </a:r>
                      <a:r>
                        <a:rPr lang="en-US" sz="1200" b="0" i="0">
                          <a:latin typeface="Times New Roman"/>
                        </a:rPr>
                        <a:t> </a:t>
                      </a:r>
                      <a:endParaRPr lang="en-US" sz="2100" b="0" i="0"/>
                    </a:p>
                  </a:txBody>
                  <a:tcPr marL="68242" marR="68242" marT="34121" marB="34121" anchor="b"/>
                </a:tc>
                <a:tc>
                  <a:txBody>
                    <a:bodyPr/>
                    <a:lstStyle/>
                    <a:p>
                      <a:pPr algn="ctr" rtl="0" fontAlgn="base"/>
                      <a:r>
                        <a:rPr lang="en-US" sz="1200" b="1" i="0">
                          <a:latin typeface="Times New Roman"/>
                        </a:rPr>
                        <a:t>-</a:t>
                      </a:r>
                      <a:r>
                        <a:rPr lang="en-US" sz="1200" b="0" i="0">
                          <a:latin typeface="Times New Roman"/>
                        </a:rPr>
                        <a:t> </a:t>
                      </a:r>
                      <a:endParaRPr lang="en-US" sz="2100" b="0" i="0"/>
                    </a:p>
                  </a:txBody>
                  <a:tcPr marL="68242" marR="68242" marT="34121" marB="34121" anchor="b"/>
                </a:tc>
                <a:tc>
                  <a:txBody>
                    <a:bodyPr/>
                    <a:lstStyle/>
                    <a:p>
                      <a:pPr algn="ctr" rtl="0" fontAlgn="base"/>
                      <a:r>
                        <a:rPr lang="en-US" sz="1200" b="1" i="0">
                          <a:latin typeface="Times New Roman"/>
                        </a:rPr>
                        <a:t>-</a:t>
                      </a:r>
                      <a:r>
                        <a:rPr lang="en-US" sz="1200" b="0" i="0">
                          <a:latin typeface="Times New Roman"/>
                        </a:rPr>
                        <a:t> </a:t>
                      </a:r>
                      <a:endParaRPr lang="en-US" sz="2100" b="0" i="0"/>
                    </a:p>
                  </a:txBody>
                  <a:tcPr marL="68242" marR="68242" marT="34121" marB="34121" anchor="b"/>
                </a:tc>
                <a:tc>
                  <a:txBody>
                    <a:bodyPr/>
                    <a:lstStyle/>
                    <a:p>
                      <a:pPr algn="ctr" rtl="0" fontAlgn="base"/>
                      <a:r>
                        <a:rPr lang="en-US" sz="1200" b="1" i="0">
                          <a:latin typeface="Times New Roman"/>
                        </a:rPr>
                        <a:t>1</a:t>
                      </a:r>
                      <a:r>
                        <a:rPr lang="en-US" sz="1200" b="0" i="0">
                          <a:latin typeface="Times New Roman"/>
                        </a:rPr>
                        <a:t> </a:t>
                      </a:r>
                      <a:endParaRPr lang="en-US" sz="2100" b="0" i="0"/>
                    </a:p>
                  </a:txBody>
                  <a:tcPr marL="68242" marR="68242" marT="34121" marB="34121" anchor="b"/>
                </a:tc>
                <a:tc>
                  <a:txBody>
                    <a:bodyPr/>
                    <a:lstStyle/>
                    <a:p>
                      <a:pPr algn="ctr" rtl="0" fontAlgn="base"/>
                      <a:r>
                        <a:rPr lang="en-US" sz="1200" b="1" i="0" dirty="0">
                          <a:latin typeface="Times New Roman"/>
                        </a:rPr>
                        <a:t>1.2</a:t>
                      </a:r>
                      <a:r>
                        <a:rPr lang="en-US" sz="1200" b="0" i="0" dirty="0">
                          <a:latin typeface="Times New Roman"/>
                        </a:rPr>
                        <a:t> </a:t>
                      </a:r>
                      <a:endParaRPr lang="en-US" sz="2100" b="0" i="0" dirty="0"/>
                    </a:p>
                  </a:txBody>
                  <a:tcPr marL="68242" marR="68242" marT="34121" marB="34121" anchor="b"/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</p:spTree>
  </p:cSld>
  <p:clrMapOvr>
    <a:masterClrMapping/>
  </p:clrMapOvr>
  <p:transition>
    <p:wipe dir="d"/>
  </p:transition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058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843" name="Google Shape;205843;p2"/>
          <p:cNvSpPr txBox="1">
            <a:spLocks noGrp="1"/>
          </p:cNvSpPr>
          <p:nvPr>
            <p:ph type="body" idx="1"/>
          </p:nvPr>
        </p:nvSpPr>
        <p:spPr>
          <a:xfrm>
            <a:off x="457201" y="1552339"/>
            <a:ext cx="8229606" cy="3377862"/>
          </a:xfrm>
          <a:prstGeom prst="rect">
            <a:avLst/>
          </a:prstGeom>
          <a:noFill/>
          <a:ln>
            <a:noFill/>
          </a:ln>
        </p:spPr>
        <p:txBody>
          <a:bodyPr spcFirstLastPara="1" vert="horz" wrap="square" lIns="74090" tIns="37036" rIns="74090" bIns="37036" rtlCol="0" anchor="t" anchorCtr="0">
            <a:normAutofit/>
          </a:bodyPr>
          <a:lstStyle/>
          <a:p>
            <a:pPr marL="277837" indent="-277837">
              <a:spcBef>
                <a:spcPts val="0"/>
              </a:spcBef>
              <a:buClr>
                <a:schemeClr val="dk1"/>
              </a:buClr>
              <a:buSzPts val="2200"/>
              <a:buNone/>
            </a:pPr>
            <a:r>
              <a:rPr lang="en-US" sz="1642" dirty="0"/>
              <a:t>	</a:t>
            </a:r>
            <a:endParaRPr dirty="0"/>
          </a:p>
          <a:p>
            <a:pPr marL="277837" indent="-277837">
              <a:spcBef>
                <a:spcPts val="328"/>
              </a:spcBef>
              <a:buClr>
                <a:schemeClr val="dk1"/>
              </a:buClr>
              <a:buSzPts val="2200"/>
              <a:buNone/>
            </a:pPr>
            <a:r>
              <a:rPr lang="en-US" sz="1642" dirty="0"/>
              <a:t> </a:t>
            </a:r>
            <a:endParaRPr dirty="0"/>
          </a:p>
          <a:p>
            <a:pPr marL="277837" indent="-173579" algn="just">
              <a:spcBef>
                <a:spcPts val="328"/>
              </a:spcBef>
              <a:buClr>
                <a:schemeClr val="dk1"/>
              </a:buClr>
              <a:buSzPts val="2200"/>
              <a:buNone/>
            </a:pPr>
            <a:endParaRPr sz="1642" dirty="0"/>
          </a:p>
          <a:p>
            <a:pPr marL="277837" indent="-173579">
              <a:spcBef>
                <a:spcPts val="328"/>
              </a:spcBef>
              <a:buClr>
                <a:schemeClr val="dk1"/>
              </a:buClr>
              <a:buSzPts val="2200"/>
              <a:buNone/>
            </a:pPr>
            <a:endParaRPr sz="1642" dirty="0"/>
          </a:p>
        </p:txBody>
      </p:sp>
      <p:sp>
        <p:nvSpPr>
          <p:cNvPr id="205844" name="Google Shape;205844;p2"/>
          <p:cNvSpPr txBox="1">
            <a:spLocks noGrp="1"/>
          </p:cNvSpPr>
          <p:nvPr>
            <p:ph type="dt" idx="10"/>
          </p:nvPr>
        </p:nvSpPr>
        <p:spPr>
          <a:xfrm>
            <a:off x="457200" y="5613706"/>
            <a:ext cx="2133693" cy="272477"/>
          </a:xfrm>
          <a:prstGeom prst="rect">
            <a:avLst/>
          </a:prstGeom>
          <a:noFill/>
          <a:ln>
            <a:noFill/>
          </a:ln>
        </p:spPr>
        <p:txBody>
          <a:bodyPr spcFirstLastPara="1" vert="horz" wrap="square" lIns="74090" tIns="37036" rIns="74090" bIns="37036" rtlCol="0" anchor="ctr" anchorCtr="0">
            <a:noAutofit/>
          </a:bodyPr>
          <a:lstStyle/>
          <a:p>
            <a:fld id="{593FA82A-AF9C-4231-B35F-F70525D6567C}" type="datetime3">
              <a:rPr lang="en-US" smtClean="0"/>
              <a:t>1 September 2025</a:t>
            </a:fld>
            <a:endParaRPr/>
          </a:p>
        </p:txBody>
      </p:sp>
      <p:sp>
        <p:nvSpPr>
          <p:cNvPr id="205845" name="Google Shape;205845;p2"/>
          <p:cNvSpPr txBox="1">
            <a:spLocks noGrp="1"/>
          </p:cNvSpPr>
          <p:nvPr>
            <p:ph type="ftr" idx="11"/>
          </p:nvPr>
        </p:nvSpPr>
        <p:spPr>
          <a:xfrm>
            <a:off x="3124201" y="5613706"/>
            <a:ext cx="3900202" cy="272477"/>
          </a:xfrm>
          <a:prstGeom prst="rect">
            <a:avLst/>
          </a:prstGeom>
          <a:noFill/>
          <a:ln>
            <a:noFill/>
          </a:ln>
        </p:spPr>
        <p:txBody>
          <a:bodyPr spcFirstLastPara="1" vert="horz" wrap="square" lIns="74090" tIns="37036" rIns="74090" bIns="37036" rtlCol="0" anchor="ctr" anchorCtr="0">
            <a:noAutofit/>
          </a:bodyPr>
          <a:lstStyle/>
          <a:p>
            <a:r>
              <a:rPr lang="en-US"/>
              <a:t>Atul Garg           BCSE0303            Unit- III</a:t>
            </a:r>
            <a:endParaRPr/>
          </a:p>
        </p:txBody>
      </p:sp>
      <p:sp>
        <p:nvSpPr>
          <p:cNvPr id="205846" name="Google Shape;205846;p2"/>
          <p:cNvSpPr txBox="1">
            <a:spLocks noGrp="1"/>
          </p:cNvSpPr>
          <p:nvPr>
            <p:ph type="sldNum" idx="12"/>
          </p:nvPr>
        </p:nvSpPr>
        <p:spPr>
          <a:xfrm>
            <a:off x="6553201" y="5613706"/>
            <a:ext cx="2133693" cy="272477"/>
          </a:xfrm>
          <a:prstGeom prst="rect">
            <a:avLst/>
          </a:prstGeom>
          <a:noFill/>
          <a:ln>
            <a:noFill/>
          </a:ln>
        </p:spPr>
        <p:txBody>
          <a:bodyPr spcFirstLastPara="1" vert="horz" wrap="square" lIns="74090" tIns="37036" rIns="74090" bIns="37036" rtlCol="0" anchor="ctr" anchorCtr="0">
            <a:noAutofit/>
          </a:bodyPr>
          <a:lstStyle/>
          <a:p>
            <a:fld id="{00000000-1234-1234-1234-123412341234}" type="slidenum">
              <a:rPr lang="en-US"/>
              <a:pPr/>
              <a:t>15</a:t>
            </a:fld>
            <a:endParaRPr/>
          </a:p>
        </p:txBody>
      </p:sp>
      <p:pic>
        <p:nvPicPr>
          <p:cNvPr id="205848" name="Google Shape;205848;p2" descr="A black and red logo&#10;&#10;Description automatically generated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24264" y="97335"/>
            <a:ext cx="1649190" cy="706953"/>
          </a:xfrm>
          <a:prstGeom prst="rect">
            <a:avLst/>
          </a:prstGeom>
          <a:noFill/>
          <a:ln>
            <a:noFill/>
          </a:ln>
        </p:spPr>
      </p:pic>
      <p:sp>
        <p:nvSpPr>
          <p:cNvPr id="205849" name="Google Shape;205849;p2"/>
          <p:cNvSpPr txBox="1">
            <a:spLocks noGrp="1"/>
          </p:cNvSpPr>
          <p:nvPr>
            <p:ph type="title"/>
          </p:nvPr>
        </p:nvSpPr>
        <p:spPr>
          <a:xfrm>
            <a:off x="1591658" y="34679"/>
            <a:ext cx="7504419" cy="687271"/>
          </a:xfrm>
          <a:prstGeom prst="rect">
            <a:avLst/>
          </a:prstGeom>
          <a:gradFill>
            <a:gsLst>
              <a:gs pos="0">
                <a:srgbClr val="FF7E7E"/>
              </a:gs>
              <a:gs pos="50000">
                <a:srgbClr val="FFB1B1"/>
              </a:gs>
              <a:gs pos="100000">
                <a:srgbClr val="FFD9D9"/>
              </a:gs>
            </a:gsLst>
            <a:lin ang="0" scaled="0"/>
          </a:gradFill>
          <a:ln w="9525" cap="flat" cmpd="sng">
            <a:solidFill>
              <a:srgbClr val="45A9C4"/>
            </a:solidFill>
            <a:prstDash val="solid"/>
            <a:round/>
            <a:headEnd type="none" w="sm" len="sm"/>
            <a:tailEnd type="none" w="sm" len="sm"/>
          </a:ln>
          <a:effectLst>
            <a:outerShdw blurRad="40000" dist="20000" dir="5400000" rotWithShape="0">
              <a:srgbClr val="000000">
                <a:alpha val="37650"/>
              </a:srgbClr>
            </a:outerShdw>
          </a:effectLst>
        </p:spPr>
        <p:txBody>
          <a:bodyPr spcFirstLastPara="1" vert="horz" wrap="square" lIns="74090" tIns="37036" rIns="74090" bIns="37036" rtlCol="0" anchor="ctr" anchorCtr="0">
            <a:noAutofit/>
          </a:bodyPr>
          <a:lstStyle/>
          <a:p>
            <a:pPr>
              <a:spcBef>
                <a:spcPts val="0"/>
              </a:spcBef>
              <a:buClr>
                <a:schemeClr val="dk1"/>
              </a:buClr>
              <a:buSzPts val="2800"/>
            </a:pPr>
            <a:r>
              <a:rPr lang="en-US" sz="2090" b="1">
                <a:latin typeface="Times New Roman"/>
                <a:ea typeface="Times New Roman"/>
                <a:cs typeface="Times New Roman"/>
                <a:sym typeface="Times New Roman"/>
              </a:rPr>
              <a:t>Program Specific Outcomes</a:t>
            </a:r>
            <a:endParaRPr sz="2090"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3BF0E65A-31D6-FE90-CD7F-DEBD1858CA2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7504" y="971817"/>
            <a:ext cx="8856984" cy="4333844"/>
          </a:xfrm>
          <a:prstGeom prst="rect">
            <a:avLst/>
          </a:prstGeom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Date Placeholder 3"/>
          <p:cNvSpPr>
            <a:spLocks noGrp="1"/>
          </p:cNvSpPr>
          <p:nvPr>
            <p:ph type="dt" sz="quarter" idx="10"/>
          </p:nvPr>
        </p:nvSpPr>
        <p:spPr/>
        <p:txBody>
          <a:bodyPr/>
          <a:lstStyle/>
          <a:p>
            <a:pPr>
              <a:defRPr/>
            </a:pPr>
            <a:fld id="{1D80AF56-FF7D-479E-94E3-4D70B5575DFF}" type="datetime3">
              <a:rPr lang="en-US" smtClean="0"/>
              <a:t>1 September 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2267744" y="6083855"/>
            <a:ext cx="5029200" cy="272495"/>
          </a:xfrm>
        </p:spPr>
        <p:txBody>
          <a:bodyPr/>
          <a:lstStyle/>
          <a:p>
            <a:pPr>
              <a:defRPr/>
            </a:pPr>
            <a:r>
              <a:rPr lang="fi-FI"/>
              <a:t>Atul Garg           BCSE0303            Unit- III</a:t>
            </a:r>
            <a:endParaRPr lang="en-US" dirty="0"/>
          </a:p>
        </p:txBody>
      </p:sp>
      <p:sp>
        <p:nvSpPr>
          <p:cNvPr id="12" name="Slide Number Placeholder 1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544ABBCB-1687-4CB7-85F0-97CF59761114}" type="slidenum">
              <a:rPr lang="en-US"/>
              <a:pPr>
                <a:defRPr/>
              </a:pPr>
              <a:t>16</a:t>
            </a:fld>
            <a:endParaRPr lang="en-US"/>
          </a:p>
        </p:txBody>
      </p:sp>
      <p:pic>
        <p:nvPicPr>
          <p:cNvPr id="9" name="Picture 8" descr="A black and red logo&#10;&#10;Description automatically generated">
            <a:extLst>
              <a:ext uri="{FF2B5EF4-FFF2-40B4-BE49-F238E27FC236}">
                <a16:creationId xmlns:a16="http://schemas.microsoft.com/office/drawing/2014/main" id="{51AB1F46-F1A3-2DF2-5EE0-F05547C4DDF6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28202" y="39067"/>
            <a:ext cx="1649190" cy="706953"/>
          </a:xfrm>
          <a:prstGeom prst="rect">
            <a:avLst/>
          </a:prstGeom>
        </p:spPr>
      </p:pic>
      <p:sp>
        <p:nvSpPr>
          <p:cNvPr id="13" name="Title 1"/>
          <p:cNvSpPr txBox="1">
            <a:spLocks noGrp="1"/>
          </p:cNvSpPr>
          <p:nvPr>
            <p:ph type="title"/>
          </p:nvPr>
        </p:nvSpPr>
        <p:spPr>
          <a:xfrm>
            <a:off x="1603400" y="123019"/>
            <a:ext cx="7504309" cy="511818"/>
          </a:xfrm>
          <a:prstGeom prst="rect">
            <a:avLst/>
          </a:prstGeom>
          <a:gradFill flip="none" rotWithShape="1">
            <a:gsLst>
              <a:gs pos="0">
                <a:srgbClr val="FF0000">
                  <a:tint val="66000"/>
                  <a:satMod val="160000"/>
                </a:srgbClr>
              </a:gs>
              <a:gs pos="50000">
                <a:srgbClr val="FF0000">
                  <a:tint val="44500"/>
                  <a:satMod val="160000"/>
                </a:srgbClr>
              </a:gs>
              <a:gs pos="100000">
                <a:srgbClr val="FF0000">
                  <a:tint val="23500"/>
                  <a:satMod val="160000"/>
                </a:srgbClr>
              </a:gs>
            </a:gsLst>
            <a:lin ang="0" scaled="1"/>
            <a:tileRect/>
          </a:gradFill>
        </p:spPr>
        <p:style>
          <a:lnRef idx="1">
            <a:schemeClr val="accent5"/>
          </a:lnRef>
          <a:fillRef idx="2">
            <a:schemeClr val="accent5"/>
          </a:fillRef>
          <a:effectRef idx="1">
            <a:schemeClr val="accent5"/>
          </a:effectRef>
          <a:fontRef idx="minor">
            <a:schemeClr val="dk1"/>
          </a:fontRef>
        </p:style>
        <p:txBody>
          <a:bodyPr vert="horz" lIns="74090" tIns="37045" rIns="74090" bIns="37045" rtlCol="0" anchor="ctr">
            <a:noAutofit/>
          </a:bodyPr>
          <a:lstStyle/>
          <a:p>
            <a:pPr lvl="0"/>
            <a:r>
              <a:rPr lang="en-IN" sz="209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COs and PSOs Mapping</a:t>
            </a:r>
            <a:endParaRPr lang="en-US" sz="2090" dirty="0"/>
          </a:p>
        </p:txBody>
      </p:sp>
      <p:graphicFrame>
        <p:nvGraphicFramePr>
          <p:cNvPr id="8" name="Table 7">
            <a:extLst>
              <a:ext uri="{FF2B5EF4-FFF2-40B4-BE49-F238E27FC236}">
                <a16:creationId xmlns:a16="http://schemas.microsoft.com/office/drawing/2014/main" id="{AF787528-C89E-E2D0-D504-2D6B60296EA7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986915284"/>
              </p:ext>
            </p:extLst>
          </p:nvPr>
        </p:nvGraphicFramePr>
        <p:xfrm>
          <a:off x="755576" y="1018515"/>
          <a:ext cx="8064895" cy="4125035"/>
        </p:xfrm>
        <a:graphic>
          <a:graphicData uri="http://schemas.openxmlformats.org/drawingml/2006/table">
            <a:tbl>
              <a:tblPr/>
              <a:tblGrid>
                <a:gridCol w="1705168">
                  <a:extLst>
                    <a:ext uri="{9D8B030D-6E8A-4147-A177-3AD203B41FA5}">
                      <a16:colId xmlns:a16="http://schemas.microsoft.com/office/drawing/2014/main" val="1589776944"/>
                    </a:ext>
                  </a:extLst>
                </a:gridCol>
                <a:gridCol w="2185029">
                  <a:extLst>
                    <a:ext uri="{9D8B030D-6E8A-4147-A177-3AD203B41FA5}">
                      <a16:colId xmlns:a16="http://schemas.microsoft.com/office/drawing/2014/main" val="1433979571"/>
                    </a:ext>
                  </a:extLst>
                </a:gridCol>
                <a:gridCol w="2185029">
                  <a:extLst>
                    <a:ext uri="{9D8B030D-6E8A-4147-A177-3AD203B41FA5}">
                      <a16:colId xmlns:a16="http://schemas.microsoft.com/office/drawing/2014/main" val="337161411"/>
                    </a:ext>
                  </a:extLst>
                </a:gridCol>
                <a:gridCol w="1989669">
                  <a:extLst>
                    <a:ext uri="{9D8B030D-6E8A-4147-A177-3AD203B41FA5}">
                      <a16:colId xmlns:a16="http://schemas.microsoft.com/office/drawing/2014/main" val="3329584857"/>
                    </a:ext>
                  </a:extLst>
                </a:gridCol>
              </a:tblGrid>
              <a:tr h="637269">
                <a:tc rowSpan="2"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en-US" sz="1200" b="1" dirty="0">
                          <a:effectLst/>
                        </a:rPr>
                        <a:t>Course Outcomes</a:t>
                      </a:r>
                      <a:endParaRPr lang="en-IN" sz="1200" b="1" dirty="0">
                        <a:effectLst/>
                        <a:latin typeface="Times New Roman" panose="02020603050405020304" pitchFamily="18" charset="0"/>
                        <a:ea typeface="SimSun" panose="02010600030101010101" pitchFamily="2" charset="-122"/>
                      </a:endParaRPr>
                    </a:p>
                  </a:txBody>
                  <a:tcPr marL="68716" marR="68716" marT="7109" marB="0" anchor="ctr"/>
                </a:tc>
                <a:tc gridSpan="3"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en-US" sz="1200" b="1" dirty="0">
                          <a:effectLst/>
                        </a:rPr>
                        <a:t>Program Specific Outcomes</a:t>
                      </a:r>
                      <a:endParaRPr lang="en-IN" sz="1200" b="1" dirty="0">
                        <a:effectLst/>
                        <a:latin typeface="Times New Roman" panose="02020603050405020304" pitchFamily="18" charset="0"/>
                        <a:ea typeface="SimSun" panose="02010600030101010101" pitchFamily="2" charset="-122"/>
                      </a:endParaRPr>
                    </a:p>
                  </a:txBody>
                  <a:tcPr marL="68716" marR="68716" marT="7109" marB="0"/>
                </a:tc>
                <a:tc hMerge="1"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573295399"/>
                  </a:ext>
                </a:extLst>
              </a:tr>
              <a:tr h="659596">
                <a:tc vMerge="1"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en-US" sz="1200" b="1" dirty="0">
                          <a:effectLst/>
                        </a:rPr>
                        <a:t>PSO1</a:t>
                      </a:r>
                      <a:endParaRPr lang="en-IN" sz="1200" b="1" dirty="0">
                        <a:effectLst/>
                        <a:latin typeface="Times New Roman" panose="02020603050405020304" pitchFamily="18" charset="0"/>
                        <a:ea typeface="SimSun" panose="02010600030101010101" pitchFamily="2" charset="-122"/>
                      </a:endParaRPr>
                    </a:p>
                  </a:txBody>
                  <a:tcPr marL="68716" marR="68716" marT="7109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en-US" sz="1200" b="1" dirty="0">
                          <a:effectLst/>
                        </a:rPr>
                        <a:t>PSO2</a:t>
                      </a:r>
                      <a:endParaRPr lang="en-IN" sz="1200" b="1" dirty="0">
                        <a:effectLst/>
                        <a:latin typeface="Times New Roman" panose="02020603050405020304" pitchFamily="18" charset="0"/>
                        <a:ea typeface="SimSun" panose="02010600030101010101" pitchFamily="2" charset="-122"/>
                      </a:endParaRPr>
                    </a:p>
                  </a:txBody>
                  <a:tcPr marL="68716" marR="68716" marT="7109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en-US" sz="1200" b="1" dirty="0">
                          <a:effectLst/>
                        </a:rPr>
                        <a:t>PSO3</a:t>
                      </a:r>
                      <a:endParaRPr lang="en-IN" sz="1200" b="1" dirty="0">
                        <a:effectLst/>
                        <a:latin typeface="Times New Roman" panose="02020603050405020304" pitchFamily="18" charset="0"/>
                        <a:ea typeface="SimSun" panose="02010600030101010101" pitchFamily="2" charset="-122"/>
                      </a:endParaRPr>
                    </a:p>
                  </a:txBody>
                  <a:tcPr marL="68716" marR="68716" marT="7109" marB="0"/>
                </a:tc>
                <a:extLst>
                  <a:ext uri="{0D108BD9-81ED-4DB2-BD59-A6C34878D82A}">
                    <a16:rowId xmlns:a16="http://schemas.microsoft.com/office/drawing/2014/main" val="1443011628"/>
                  </a:ext>
                </a:extLst>
              </a:tr>
              <a:tr h="565634"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en-IN" sz="1200" b="1" dirty="0">
                          <a:effectLst/>
                        </a:rPr>
                        <a:t>BCSE0303A</a:t>
                      </a:r>
                      <a:r>
                        <a:rPr lang="en-US" sz="1200" b="1" dirty="0">
                          <a:effectLst/>
                        </a:rPr>
                        <a:t>.1</a:t>
                      </a:r>
                      <a:endParaRPr lang="en-IN" sz="1200" b="1" dirty="0">
                        <a:effectLst/>
                        <a:latin typeface="Times New Roman" panose="02020603050405020304" pitchFamily="18" charset="0"/>
                        <a:ea typeface="SimSun" panose="02010600030101010101" pitchFamily="2" charset="-122"/>
                      </a:endParaRPr>
                    </a:p>
                  </a:txBody>
                  <a:tcPr marL="68716" marR="68716" marT="7109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en-US" sz="1200">
                          <a:effectLst/>
                        </a:rPr>
                        <a:t>2</a:t>
                      </a:r>
                      <a:endParaRPr lang="en-IN" sz="1200">
                        <a:effectLst/>
                        <a:latin typeface="Times New Roman" panose="02020603050405020304" pitchFamily="18" charset="0"/>
                        <a:ea typeface="SimSun" panose="02010600030101010101" pitchFamily="2" charset="-122"/>
                      </a:endParaRPr>
                    </a:p>
                  </a:txBody>
                  <a:tcPr marL="68716" marR="68716" marT="7109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en-US" sz="1200">
                          <a:effectLst/>
                        </a:rPr>
                        <a:t>1</a:t>
                      </a:r>
                      <a:endParaRPr lang="en-IN" sz="1200">
                        <a:effectLst/>
                        <a:latin typeface="Times New Roman" panose="02020603050405020304" pitchFamily="18" charset="0"/>
                        <a:ea typeface="SimSun" panose="02010600030101010101" pitchFamily="2" charset="-122"/>
                      </a:endParaRPr>
                    </a:p>
                  </a:txBody>
                  <a:tcPr marL="68716" marR="68716" marT="7109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en-US" sz="1200">
                          <a:effectLst/>
                        </a:rPr>
                        <a:t>2</a:t>
                      </a:r>
                      <a:endParaRPr lang="en-IN" sz="1200">
                        <a:effectLst/>
                        <a:latin typeface="Times New Roman" panose="02020603050405020304" pitchFamily="18" charset="0"/>
                        <a:ea typeface="SimSun" panose="02010600030101010101" pitchFamily="2" charset="-122"/>
                      </a:endParaRPr>
                    </a:p>
                  </a:txBody>
                  <a:tcPr marL="68716" marR="68716" marT="7109" marB="0"/>
                </a:tc>
                <a:extLst>
                  <a:ext uri="{0D108BD9-81ED-4DB2-BD59-A6C34878D82A}">
                    <a16:rowId xmlns:a16="http://schemas.microsoft.com/office/drawing/2014/main" val="1220781212"/>
                  </a:ext>
                </a:extLst>
              </a:tr>
              <a:tr h="565634"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en-IN" sz="1200" b="1" dirty="0">
                          <a:effectLst/>
                        </a:rPr>
                        <a:t>BCSE0303A</a:t>
                      </a:r>
                      <a:r>
                        <a:rPr lang="en-US" sz="1200" b="1" dirty="0">
                          <a:effectLst/>
                        </a:rPr>
                        <a:t>.2</a:t>
                      </a:r>
                      <a:endParaRPr lang="en-IN" sz="1200" b="1" dirty="0">
                        <a:effectLst/>
                        <a:latin typeface="Times New Roman" panose="02020603050405020304" pitchFamily="18" charset="0"/>
                        <a:ea typeface="SimSun" panose="02010600030101010101" pitchFamily="2" charset="-122"/>
                      </a:endParaRPr>
                    </a:p>
                  </a:txBody>
                  <a:tcPr marL="68716" marR="68716" marT="7109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en-US" sz="1200">
                          <a:effectLst/>
                        </a:rPr>
                        <a:t>2</a:t>
                      </a:r>
                      <a:endParaRPr lang="en-IN" sz="1200">
                        <a:effectLst/>
                        <a:latin typeface="Times New Roman" panose="02020603050405020304" pitchFamily="18" charset="0"/>
                        <a:ea typeface="SimSun" panose="02010600030101010101" pitchFamily="2" charset="-122"/>
                      </a:endParaRPr>
                    </a:p>
                  </a:txBody>
                  <a:tcPr marL="68716" marR="68716" marT="7109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en-US" sz="1200">
                          <a:effectLst/>
                        </a:rPr>
                        <a:t>2</a:t>
                      </a:r>
                      <a:endParaRPr lang="en-IN" sz="1200">
                        <a:effectLst/>
                        <a:latin typeface="Times New Roman" panose="02020603050405020304" pitchFamily="18" charset="0"/>
                        <a:ea typeface="SimSun" panose="02010600030101010101" pitchFamily="2" charset="-122"/>
                      </a:endParaRPr>
                    </a:p>
                  </a:txBody>
                  <a:tcPr marL="68716" marR="68716" marT="7109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en-US" sz="1200">
                          <a:effectLst/>
                        </a:rPr>
                        <a:t>1</a:t>
                      </a:r>
                      <a:endParaRPr lang="en-IN" sz="1200">
                        <a:effectLst/>
                        <a:latin typeface="Times New Roman" panose="02020603050405020304" pitchFamily="18" charset="0"/>
                        <a:ea typeface="SimSun" panose="02010600030101010101" pitchFamily="2" charset="-122"/>
                      </a:endParaRPr>
                    </a:p>
                  </a:txBody>
                  <a:tcPr marL="68716" marR="68716" marT="7109" marB="0"/>
                </a:tc>
                <a:extLst>
                  <a:ext uri="{0D108BD9-81ED-4DB2-BD59-A6C34878D82A}">
                    <a16:rowId xmlns:a16="http://schemas.microsoft.com/office/drawing/2014/main" val="2382489772"/>
                  </a:ext>
                </a:extLst>
              </a:tr>
              <a:tr h="565634"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en-IN" sz="1200" b="1" dirty="0">
                          <a:effectLst/>
                        </a:rPr>
                        <a:t>BCSE0303A</a:t>
                      </a:r>
                      <a:r>
                        <a:rPr lang="en-US" sz="1200" b="1" dirty="0">
                          <a:effectLst/>
                        </a:rPr>
                        <a:t>.3</a:t>
                      </a:r>
                      <a:endParaRPr lang="en-IN" sz="1200" b="1" dirty="0">
                        <a:effectLst/>
                        <a:latin typeface="Times New Roman" panose="02020603050405020304" pitchFamily="18" charset="0"/>
                        <a:ea typeface="SimSun" panose="02010600030101010101" pitchFamily="2" charset="-122"/>
                      </a:endParaRPr>
                    </a:p>
                  </a:txBody>
                  <a:tcPr marL="68716" marR="68716" marT="7109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en-US" sz="1200">
                          <a:effectLst/>
                        </a:rPr>
                        <a:t>2</a:t>
                      </a:r>
                      <a:endParaRPr lang="en-IN" sz="1200">
                        <a:effectLst/>
                        <a:latin typeface="Times New Roman" panose="02020603050405020304" pitchFamily="18" charset="0"/>
                        <a:ea typeface="SimSun" panose="02010600030101010101" pitchFamily="2" charset="-122"/>
                      </a:endParaRPr>
                    </a:p>
                  </a:txBody>
                  <a:tcPr marL="68716" marR="68716" marT="7109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en-US" sz="1200" dirty="0">
                          <a:effectLst/>
                        </a:rPr>
                        <a:t>3</a:t>
                      </a:r>
                      <a:endParaRPr lang="en-IN" sz="1200" dirty="0">
                        <a:effectLst/>
                        <a:latin typeface="Times New Roman" panose="02020603050405020304" pitchFamily="18" charset="0"/>
                        <a:ea typeface="SimSun" panose="02010600030101010101" pitchFamily="2" charset="-122"/>
                      </a:endParaRPr>
                    </a:p>
                  </a:txBody>
                  <a:tcPr marL="68716" marR="68716" marT="7109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en-US" sz="1200">
                          <a:effectLst/>
                        </a:rPr>
                        <a:t>3</a:t>
                      </a:r>
                      <a:endParaRPr lang="en-IN" sz="1200">
                        <a:effectLst/>
                        <a:latin typeface="Times New Roman" panose="02020603050405020304" pitchFamily="18" charset="0"/>
                        <a:ea typeface="SimSun" panose="02010600030101010101" pitchFamily="2" charset="-122"/>
                      </a:endParaRPr>
                    </a:p>
                  </a:txBody>
                  <a:tcPr marL="68716" marR="68716" marT="7109" marB="0"/>
                </a:tc>
                <a:extLst>
                  <a:ext uri="{0D108BD9-81ED-4DB2-BD59-A6C34878D82A}">
                    <a16:rowId xmlns:a16="http://schemas.microsoft.com/office/drawing/2014/main" val="1757402632"/>
                  </a:ext>
                </a:extLst>
              </a:tr>
              <a:tr h="565634"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en-IN" sz="1200" b="1" dirty="0">
                          <a:effectLst/>
                        </a:rPr>
                        <a:t>BCSE0303A</a:t>
                      </a:r>
                      <a:r>
                        <a:rPr lang="en-US" sz="1200" b="1" dirty="0">
                          <a:effectLst/>
                        </a:rPr>
                        <a:t>.4</a:t>
                      </a:r>
                      <a:endParaRPr lang="en-IN" sz="1200" b="1" dirty="0">
                        <a:effectLst/>
                        <a:latin typeface="Times New Roman" panose="02020603050405020304" pitchFamily="18" charset="0"/>
                        <a:ea typeface="SimSun" panose="02010600030101010101" pitchFamily="2" charset="-122"/>
                      </a:endParaRPr>
                    </a:p>
                  </a:txBody>
                  <a:tcPr marL="68716" marR="68716" marT="7109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en-US" sz="1200">
                          <a:effectLst/>
                        </a:rPr>
                        <a:t>2</a:t>
                      </a:r>
                      <a:endParaRPr lang="en-IN" sz="1200">
                        <a:effectLst/>
                        <a:latin typeface="Times New Roman" panose="02020603050405020304" pitchFamily="18" charset="0"/>
                        <a:ea typeface="SimSun" panose="02010600030101010101" pitchFamily="2" charset="-122"/>
                      </a:endParaRPr>
                    </a:p>
                  </a:txBody>
                  <a:tcPr marL="68716" marR="68716" marT="7109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en-US" sz="1200">
                          <a:effectLst/>
                        </a:rPr>
                        <a:t>2</a:t>
                      </a:r>
                      <a:endParaRPr lang="en-IN" sz="1200">
                        <a:effectLst/>
                        <a:latin typeface="Times New Roman" panose="02020603050405020304" pitchFamily="18" charset="0"/>
                        <a:ea typeface="SimSun" panose="02010600030101010101" pitchFamily="2" charset="-122"/>
                      </a:endParaRPr>
                    </a:p>
                  </a:txBody>
                  <a:tcPr marL="68716" marR="68716" marT="7109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en-US" sz="1200">
                          <a:effectLst/>
                        </a:rPr>
                        <a:t>1</a:t>
                      </a:r>
                      <a:endParaRPr lang="en-IN" sz="1200">
                        <a:effectLst/>
                        <a:latin typeface="Times New Roman" panose="02020603050405020304" pitchFamily="18" charset="0"/>
                        <a:ea typeface="SimSun" panose="02010600030101010101" pitchFamily="2" charset="-122"/>
                      </a:endParaRPr>
                    </a:p>
                  </a:txBody>
                  <a:tcPr marL="68716" marR="68716" marT="7109" marB="0"/>
                </a:tc>
                <a:extLst>
                  <a:ext uri="{0D108BD9-81ED-4DB2-BD59-A6C34878D82A}">
                    <a16:rowId xmlns:a16="http://schemas.microsoft.com/office/drawing/2014/main" val="2781043448"/>
                  </a:ext>
                </a:extLst>
              </a:tr>
              <a:tr h="565634"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en-IN" sz="1200" b="1" dirty="0">
                          <a:effectLst/>
                        </a:rPr>
                        <a:t>BCSE0303A</a:t>
                      </a:r>
                      <a:r>
                        <a:rPr lang="en-US" sz="1200" b="1" dirty="0">
                          <a:effectLst/>
                        </a:rPr>
                        <a:t>.5</a:t>
                      </a:r>
                      <a:endParaRPr lang="en-IN" sz="1200" b="1" dirty="0">
                        <a:effectLst/>
                        <a:latin typeface="Times New Roman" panose="02020603050405020304" pitchFamily="18" charset="0"/>
                        <a:ea typeface="SimSun" panose="02010600030101010101" pitchFamily="2" charset="-122"/>
                      </a:endParaRPr>
                    </a:p>
                  </a:txBody>
                  <a:tcPr marL="68716" marR="68716" marT="7109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en-US" sz="1200">
                          <a:effectLst/>
                        </a:rPr>
                        <a:t>2</a:t>
                      </a:r>
                      <a:endParaRPr lang="en-IN" sz="1200">
                        <a:effectLst/>
                        <a:latin typeface="Times New Roman" panose="02020603050405020304" pitchFamily="18" charset="0"/>
                        <a:ea typeface="SimSun" panose="02010600030101010101" pitchFamily="2" charset="-122"/>
                      </a:endParaRPr>
                    </a:p>
                  </a:txBody>
                  <a:tcPr marL="68716" marR="68716" marT="7109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en-US" sz="1200">
                          <a:effectLst/>
                        </a:rPr>
                        <a:t>2</a:t>
                      </a:r>
                      <a:endParaRPr lang="en-IN" sz="1200">
                        <a:effectLst/>
                        <a:latin typeface="Times New Roman" panose="02020603050405020304" pitchFamily="18" charset="0"/>
                        <a:ea typeface="SimSun" panose="02010600030101010101" pitchFamily="2" charset="-122"/>
                      </a:endParaRPr>
                    </a:p>
                  </a:txBody>
                  <a:tcPr marL="68716" marR="68716" marT="7109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en-US" sz="1200" dirty="0">
                          <a:effectLst/>
                        </a:rPr>
                        <a:t>2</a:t>
                      </a:r>
                      <a:endParaRPr lang="en-IN" sz="1200" dirty="0">
                        <a:effectLst/>
                        <a:latin typeface="Times New Roman" panose="02020603050405020304" pitchFamily="18" charset="0"/>
                        <a:ea typeface="SimSun" panose="02010600030101010101" pitchFamily="2" charset="-122"/>
                      </a:endParaRPr>
                    </a:p>
                  </a:txBody>
                  <a:tcPr marL="68716" marR="68716" marT="7109" marB="0"/>
                </a:tc>
                <a:extLst>
                  <a:ext uri="{0D108BD9-81ED-4DB2-BD59-A6C34878D82A}">
                    <a16:rowId xmlns:a16="http://schemas.microsoft.com/office/drawing/2014/main" val="2429927621"/>
                  </a:ext>
                </a:extLst>
              </a:tr>
            </a:tbl>
          </a:graphicData>
        </a:graphic>
      </p:graphicFrame>
    </p:spTree>
  </p:cSld>
  <p:clrMapOvr>
    <a:masterClrMapping/>
  </p:clrMapOvr>
  <p:transition>
    <p:wipe dir="d"/>
  </p:transition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91" name="Content Placeholder 2"/>
          <p:cNvSpPr>
            <a:spLocks noGrp="1"/>
          </p:cNvSpPr>
          <p:nvPr>
            <p:ph idx="1"/>
          </p:nvPr>
        </p:nvSpPr>
        <p:spPr>
          <a:xfrm>
            <a:off x="792120" y="1052736"/>
            <a:ext cx="7668312" cy="4464495"/>
          </a:xfrm>
        </p:spPr>
        <p:txBody>
          <a:bodyPr>
            <a:normAutofit fontScale="47500" lnSpcReduction="20000"/>
          </a:bodyPr>
          <a:lstStyle/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r>
              <a:rPr lang="en-US" dirty="0"/>
              <a:t>The graduates will be:</a:t>
            </a:r>
          </a:p>
          <a:p>
            <a:pPr marL="0" indent="0">
              <a:buNone/>
            </a:pPr>
            <a:endParaRPr lang="en-IN" dirty="0"/>
          </a:p>
          <a:p>
            <a:r>
              <a:rPr lang="en-US" b="1" dirty="0"/>
              <a:t>PEO1:</a:t>
            </a:r>
            <a:r>
              <a:rPr lang="en-US" dirty="0"/>
              <a:t>To apply sound knowledge combining technical expertise, and problem-solving skills to fulfill the needs of the IT industry and stay updated with the latest emerging trends.</a:t>
            </a:r>
          </a:p>
          <a:p>
            <a:pPr marL="0" indent="0">
              <a:buNone/>
            </a:pPr>
            <a:endParaRPr lang="en-IN" dirty="0"/>
          </a:p>
          <a:p>
            <a:r>
              <a:rPr lang="en-US" b="1" dirty="0"/>
              <a:t>PEO2:</a:t>
            </a:r>
            <a:r>
              <a:rPr lang="en-US" dirty="0"/>
              <a:t>To provide sustainable solutions for real-life problems by designing innovative and interdisciplinary systems using the latest digital technologies for serving academia, industry, and society.</a:t>
            </a:r>
          </a:p>
          <a:p>
            <a:pPr marL="0" indent="0">
              <a:buNone/>
            </a:pPr>
            <a:endParaRPr lang="en-IN" dirty="0"/>
          </a:p>
          <a:p>
            <a:r>
              <a:rPr lang="en-US" b="1" dirty="0"/>
              <a:t>PEO3:</a:t>
            </a:r>
            <a:r>
              <a:rPr lang="en-US" dirty="0"/>
              <a:t>To reflect professional attitude, social ethics, communication, teamwork, and leadership skills in research and product development to face global challenges.</a:t>
            </a:r>
          </a:p>
          <a:p>
            <a:pPr marL="0" indent="0">
              <a:buNone/>
            </a:pPr>
            <a:endParaRPr lang="en-IN" dirty="0"/>
          </a:p>
          <a:p>
            <a:r>
              <a:rPr lang="en-US" b="1" dirty="0"/>
              <a:t>PEO4:</a:t>
            </a:r>
            <a:r>
              <a:rPr lang="en-US" dirty="0"/>
              <a:t>To pursue higher studies and develop their career successfully in the software industry and R&amp;D sectors with a lifelong learning frame of mind.</a:t>
            </a:r>
            <a:endParaRPr lang="en-IN" dirty="0"/>
          </a:p>
          <a:p>
            <a:pPr marL="0" indent="0">
              <a:buNone/>
            </a:pPr>
            <a:r>
              <a:rPr lang="en-US" dirty="0"/>
              <a:t> </a:t>
            </a:r>
            <a:endParaRPr lang="en-IN" dirty="0"/>
          </a:p>
          <a:p>
            <a:endParaRPr lang="en-IN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quarter" idx="10"/>
          </p:nvPr>
        </p:nvSpPr>
        <p:spPr/>
        <p:txBody>
          <a:bodyPr/>
          <a:lstStyle/>
          <a:p>
            <a:pPr>
              <a:defRPr/>
            </a:pPr>
            <a:fld id="{2F99DF8E-1F07-409C-A17E-44E099AFE5C3}" type="datetime3">
              <a:rPr lang="en-US" smtClean="0"/>
              <a:t>1 September 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2411760" y="6119807"/>
            <a:ext cx="3740333" cy="272495"/>
          </a:xfrm>
        </p:spPr>
        <p:txBody>
          <a:bodyPr/>
          <a:lstStyle/>
          <a:p>
            <a:pPr>
              <a:defRPr/>
            </a:pPr>
            <a:r>
              <a:rPr lang="fi-FI"/>
              <a:t>Atul Garg           BCSE0303            Unit- III</a:t>
            </a:r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9B7C4740-3AA1-4D64-A2FF-91058A1A4A79}" type="slidenum">
              <a:rPr lang="en-US"/>
              <a:pPr>
                <a:defRPr/>
              </a:pPr>
              <a:t>17</a:t>
            </a:fld>
            <a:endParaRPr lang="en-US"/>
          </a:p>
        </p:txBody>
      </p:sp>
      <p:pic>
        <p:nvPicPr>
          <p:cNvPr id="8" name="Picture 7" descr="A black and red logo&#10;&#10;Description automatically generated">
            <a:extLst>
              <a:ext uri="{FF2B5EF4-FFF2-40B4-BE49-F238E27FC236}">
                <a16:creationId xmlns:a16="http://schemas.microsoft.com/office/drawing/2014/main" id="{51AB1F46-F1A3-2DF2-5EE0-F05547C4DDF6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9499" y="83283"/>
            <a:ext cx="1649190" cy="760194"/>
          </a:xfrm>
          <a:prstGeom prst="rect">
            <a:avLst/>
          </a:prstGeom>
        </p:spPr>
      </p:pic>
      <p:sp>
        <p:nvSpPr>
          <p:cNvPr id="9" name="Title 1"/>
          <p:cNvSpPr txBox="1">
            <a:spLocks noGrp="1"/>
          </p:cNvSpPr>
          <p:nvPr>
            <p:ph type="title"/>
          </p:nvPr>
        </p:nvSpPr>
        <p:spPr>
          <a:xfrm>
            <a:off x="1524000" y="136524"/>
            <a:ext cx="7504309" cy="706953"/>
          </a:xfrm>
          <a:prstGeom prst="rect">
            <a:avLst/>
          </a:prstGeom>
          <a:gradFill flip="none" rotWithShape="1">
            <a:gsLst>
              <a:gs pos="0">
                <a:srgbClr val="FF0000">
                  <a:tint val="66000"/>
                  <a:satMod val="160000"/>
                </a:srgbClr>
              </a:gs>
              <a:gs pos="50000">
                <a:srgbClr val="FF0000">
                  <a:tint val="44500"/>
                  <a:satMod val="160000"/>
                </a:srgbClr>
              </a:gs>
              <a:gs pos="100000">
                <a:srgbClr val="FF0000">
                  <a:tint val="23500"/>
                  <a:satMod val="160000"/>
                </a:srgbClr>
              </a:gs>
            </a:gsLst>
            <a:lin ang="0" scaled="1"/>
            <a:tileRect/>
          </a:gradFill>
        </p:spPr>
        <p:style>
          <a:lnRef idx="1">
            <a:schemeClr val="accent5"/>
          </a:lnRef>
          <a:fillRef idx="2">
            <a:schemeClr val="accent5"/>
          </a:fillRef>
          <a:effectRef idx="1">
            <a:schemeClr val="accent5"/>
          </a:effectRef>
          <a:fontRef idx="minor">
            <a:schemeClr val="dk1"/>
          </a:fontRef>
        </p:style>
        <p:txBody>
          <a:bodyPr vert="horz" lIns="74090" tIns="37045" rIns="74090" bIns="37045" rtlCol="0" anchor="ctr">
            <a:noAutofit/>
          </a:bodyPr>
          <a:lstStyle/>
          <a:p>
            <a:pPr lvl="0"/>
            <a:r>
              <a:rPr lang="en-IN" sz="209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Program Educational Objectives (PEOs)</a:t>
            </a:r>
            <a:endParaRPr lang="en-US" sz="2090" dirty="0"/>
          </a:p>
        </p:txBody>
      </p:sp>
    </p:spTree>
  </p:cSld>
  <p:clrMapOvr>
    <a:masterClrMapping/>
  </p:clrMapOvr>
  <p:transition/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Date Placeholder 3"/>
          <p:cNvSpPr>
            <a:spLocks noGrp="1"/>
          </p:cNvSpPr>
          <p:nvPr>
            <p:ph type="dt" sz="quarter" idx="10"/>
          </p:nvPr>
        </p:nvSpPr>
        <p:spPr/>
        <p:txBody>
          <a:bodyPr/>
          <a:lstStyle/>
          <a:p>
            <a:pPr>
              <a:defRPr/>
            </a:pPr>
            <a:fld id="{9D1AC8FB-78EB-4CFE-91F0-7C4375BE75BE}" type="datetime3">
              <a:rPr lang="en-US" smtClean="0"/>
              <a:t>1 September 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fi-FI"/>
              <a:t>Atul Garg           BCSE0303            Unit- III</a:t>
            </a:r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CB90D50A-2F39-4690-9250-AE846C78FEDF}" type="slidenum">
              <a:rPr lang="en-US"/>
              <a:pPr>
                <a:defRPr/>
              </a:pPr>
              <a:t>18</a:t>
            </a:fld>
            <a:endParaRPr lang="en-US"/>
          </a:p>
        </p:txBody>
      </p:sp>
      <p:sp>
        <p:nvSpPr>
          <p:cNvPr id="8" name="Content Placeholder 2"/>
          <p:cNvSpPr>
            <a:spLocks noGrp="1"/>
          </p:cNvSpPr>
          <p:nvPr>
            <p:ph idx="1"/>
          </p:nvPr>
        </p:nvSpPr>
        <p:spPr>
          <a:xfrm>
            <a:off x="539552" y="1124744"/>
            <a:ext cx="8352928" cy="4248472"/>
          </a:xfrm>
        </p:spPr>
        <p:txBody>
          <a:bodyPr rtlCol="0">
            <a:normAutofit/>
          </a:bodyPr>
          <a:lstStyle/>
          <a:p>
            <a:pPr marL="0" indent="0">
              <a:lnSpc>
                <a:spcPct val="150000"/>
              </a:lnSpc>
              <a:buNone/>
              <a:defRPr/>
            </a:pPr>
            <a:r>
              <a:rPr lang="en-US" sz="1269" dirty="0">
                <a:latin typeface="+mj-lt"/>
              </a:rPr>
              <a:t> </a:t>
            </a:r>
            <a:r>
              <a:rPr lang="en-US" sz="1418" dirty="0">
                <a:latin typeface="Times New Roman" panose="02020603050405020304" pitchFamily="18" charset="0"/>
                <a:cs typeface="Times New Roman" panose="02020603050405020304" pitchFamily="18" charset="0"/>
              </a:rPr>
              <a:t>A </a:t>
            </a:r>
            <a:r>
              <a:rPr lang="en-US" sz="1418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process</a:t>
            </a:r>
            <a:r>
              <a:rPr lang="en-US" sz="1418" dirty="0">
                <a:latin typeface="Times New Roman" panose="02020603050405020304" pitchFamily="18" charset="0"/>
                <a:cs typeface="Times New Roman" panose="02020603050405020304" pitchFamily="18" charset="0"/>
              </a:rPr>
              <a:t> in an operating system (OS) is essentially a program in execution. It represents the basic unit of work that the OS manages. When a program is loaded into memory and begins execution, it becomes a process. This transformation from a passive entity (program) to an active entity (process) is fundamental to how operating systems functions</a:t>
            </a:r>
          </a:p>
          <a:p>
            <a:pPr algn="just">
              <a:lnSpc>
                <a:spcPct val="150000"/>
              </a:lnSpc>
              <a:buNone/>
              <a:defRPr/>
            </a:pPr>
            <a:r>
              <a:rPr lang="en-US" sz="1642" dirty="0">
                <a:latin typeface="+mj-lt"/>
              </a:rPr>
              <a:t>YouTube/other  Video Links</a:t>
            </a:r>
          </a:p>
          <a:p>
            <a:pPr algn="just">
              <a:lnSpc>
                <a:spcPct val="150000"/>
              </a:lnSpc>
              <a:buNone/>
              <a:defRPr/>
            </a:pPr>
            <a:r>
              <a:rPr lang="en-US" sz="1642" dirty="0">
                <a:latin typeface="+mj-lt"/>
                <a:hlinkClick r:id="rId2"/>
              </a:rPr>
              <a:t>https://www.bing.com/videos/riverview/relatedvideo?&amp;q</a:t>
            </a:r>
            <a:endParaRPr lang="en-US" sz="1642" dirty="0">
              <a:latin typeface="+mj-lt"/>
            </a:endParaRPr>
          </a:p>
          <a:p>
            <a:pPr algn="just">
              <a:lnSpc>
                <a:spcPct val="150000"/>
              </a:lnSpc>
              <a:buNone/>
              <a:defRPr/>
            </a:pPr>
            <a:r>
              <a:rPr lang="en-US" sz="1642" dirty="0">
                <a:latin typeface="+mj-lt"/>
              </a:rPr>
              <a:t>https://www.bing.com/videos/riverview/relatedvideo?&amp;q</a:t>
            </a:r>
          </a:p>
          <a:p>
            <a:pPr>
              <a:lnSpc>
                <a:spcPct val="150000"/>
              </a:lnSpc>
              <a:buNone/>
              <a:defRPr/>
            </a:pPr>
            <a:endParaRPr lang="en-US" sz="1269" dirty="0">
              <a:latin typeface="+mj-lt"/>
            </a:endParaRPr>
          </a:p>
        </p:txBody>
      </p:sp>
      <p:pic>
        <p:nvPicPr>
          <p:cNvPr id="9" name="Picture 8" descr="A black and red logo&#10;&#10;Description automatically generated">
            <a:extLst>
              <a:ext uri="{FF2B5EF4-FFF2-40B4-BE49-F238E27FC236}">
                <a16:creationId xmlns:a16="http://schemas.microsoft.com/office/drawing/2014/main" id="{51AB1F46-F1A3-2DF2-5EE0-F05547C4DDF6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38957"/>
            <a:ext cx="1649190" cy="797755"/>
          </a:xfrm>
          <a:prstGeom prst="rect">
            <a:avLst/>
          </a:prstGeom>
        </p:spPr>
      </p:pic>
      <p:sp>
        <p:nvSpPr>
          <p:cNvPr id="11" name="Title 1"/>
          <p:cNvSpPr txBox="1">
            <a:spLocks noGrp="1"/>
          </p:cNvSpPr>
          <p:nvPr>
            <p:ph type="title"/>
          </p:nvPr>
        </p:nvSpPr>
        <p:spPr>
          <a:xfrm>
            <a:off x="1550040" y="30706"/>
            <a:ext cx="7593960" cy="706952"/>
          </a:xfrm>
          <a:prstGeom prst="rect">
            <a:avLst/>
          </a:prstGeom>
          <a:gradFill flip="none" rotWithShape="1">
            <a:gsLst>
              <a:gs pos="0">
                <a:srgbClr val="FF0000">
                  <a:tint val="66000"/>
                  <a:satMod val="160000"/>
                </a:srgbClr>
              </a:gs>
              <a:gs pos="50000">
                <a:srgbClr val="FF0000">
                  <a:tint val="44500"/>
                  <a:satMod val="160000"/>
                </a:srgbClr>
              </a:gs>
              <a:gs pos="100000">
                <a:srgbClr val="FF0000">
                  <a:tint val="23500"/>
                  <a:satMod val="160000"/>
                </a:srgbClr>
              </a:gs>
            </a:gsLst>
            <a:lin ang="0" scaled="1"/>
            <a:tileRect/>
          </a:gradFill>
        </p:spPr>
        <p:style>
          <a:lnRef idx="1">
            <a:schemeClr val="accent5"/>
          </a:lnRef>
          <a:fillRef idx="2">
            <a:schemeClr val="accent5"/>
          </a:fillRef>
          <a:effectRef idx="1">
            <a:schemeClr val="accent5"/>
          </a:effectRef>
          <a:fontRef idx="minor">
            <a:schemeClr val="dk1"/>
          </a:fontRef>
        </p:style>
        <p:txBody>
          <a:bodyPr vert="horz" lIns="74090" tIns="37045" rIns="74090" bIns="37045" rtlCol="0" anchor="ctr">
            <a:noAutofit/>
          </a:bodyPr>
          <a:lstStyle/>
          <a:p>
            <a:pPr>
              <a:defRPr/>
            </a:pPr>
            <a:r>
              <a:rPr lang="en-US" sz="2090" b="1" dirty="0"/>
              <a:t>Brief Introduction about the subject with video</a:t>
            </a:r>
          </a:p>
        </p:txBody>
      </p:sp>
    </p:spTree>
  </p:cSld>
  <p:clrMapOvr>
    <a:masterClrMapping/>
  </p:clrMapOvr>
  <p:transition/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995494"/>
            <a:ext cx="8277947" cy="4651739"/>
          </a:xfrm>
        </p:spPr>
        <p:txBody>
          <a:bodyPr>
            <a:noAutofit/>
          </a:bodyPr>
          <a:lstStyle/>
          <a:p>
            <a:r>
              <a:rPr lang="en-IN" sz="2400" b="1" dirty="0"/>
              <a:t>Concurrency</a:t>
            </a:r>
            <a:r>
              <a:rPr lang="en-IN" sz="2400" dirty="0"/>
              <a:t>: </a:t>
            </a:r>
            <a:r>
              <a:rPr lang="en-IN" sz="2000" dirty="0"/>
              <a:t>Race condition, critical section, Inter process communication</a:t>
            </a:r>
            <a:endParaRPr lang="en-IN" sz="2400" dirty="0"/>
          </a:p>
          <a:p>
            <a:r>
              <a:rPr lang="en-IN" sz="2400" b="1" dirty="0"/>
              <a:t>Classical problems of synchronization:</a:t>
            </a:r>
          </a:p>
          <a:p>
            <a:pPr lvl="1"/>
            <a:r>
              <a:rPr lang="en-IN" sz="1800" dirty="0"/>
              <a:t>Producer consumer problem</a:t>
            </a:r>
          </a:p>
          <a:p>
            <a:pPr lvl="1"/>
            <a:r>
              <a:rPr lang="en-IN" sz="1800" dirty="0"/>
              <a:t>Dining philosopher’s problem</a:t>
            </a:r>
          </a:p>
          <a:p>
            <a:pPr lvl="1"/>
            <a:r>
              <a:rPr lang="en-IN" sz="1800" dirty="0"/>
              <a:t>Readers writers problem</a:t>
            </a:r>
          </a:p>
          <a:p>
            <a:pPr lvl="1"/>
            <a:r>
              <a:rPr lang="en-IN" sz="1800" dirty="0"/>
              <a:t>Sleeping barber problem</a:t>
            </a:r>
            <a:endParaRPr lang="en-IN" sz="2000" dirty="0"/>
          </a:p>
          <a:p>
            <a:pPr lvl="1"/>
            <a:endParaRPr lang="en-IN" sz="2000" dirty="0"/>
          </a:p>
          <a:p>
            <a:pPr marL="457200" lvl="1" indent="0">
              <a:buNone/>
            </a:pPr>
            <a:r>
              <a:rPr lang="en-IN" sz="2400" b="1" dirty="0"/>
              <a:t>Process Synchronization</a:t>
            </a:r>
            <a:r>
              <a:rPr lang="en-IN" sz="2000" dirty="0"/>
              <a:t>: </a:t>
            </a:r>
            <a:r>
              <a:rPr lang="en-IN" sz="1800" dirty="0"/>
              <a:t>Lock variable’s, Peterson’s solution, strict alternation, Lamport Bakery solution, test and set lock, semaphore</a:t>
            </a:r>
            <a:endParaRPr lang="en-IN" sz="2000" dirty="0"/>
          </a:p>
          <a:p>
            <a:pPr marL="457200" lvl="1" indent="0">
              <a:buNone/>
            </a:pPr>
            <a:endParaRPr lang="en-IN" sz="2000" dirty="0"/>
          </a:p>
          <a:p>
            <a:pPr marL="457200" lvl="1" indent="0">
              <a:buNone/>
            </a:pPr>
            <a:r>
              <a:rPr lang="en-IN" sz="2400" b="1" dirty="0"/>
              <a:t>Deadlock:</a:t>
            </a:r>
            <a:r>
              <a:rPr lang="en-IN" sz="2000" dirty="0"/>
              <a:t> </a:t>
            </a:r>
            <a:r>
              <a:rPr lang="en-IN" sz="1800" dirty="0"/>
              <a:t>Deadlock characterization, prevention, Avoidance, Banker’s Algorithm, Deadlock detection, Recovery from deadlock</a:t>
            </a:r>
            <a:endParaRPr lang="en-IN" sz="2000" dirty="0"/>
          </a:p>
          <a:p>
            <a:pPr>
              <a:spcBef>
                <a:spcPts val="0"/>
              </a:spcBef>
              <a:buNone/>
            </a:pPr>
            <a:endParaRPr lang="en-US" sz="1642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689AFA5-47EE-4DAE-948D-D06ACB077300}" type="datetime3">
              <a:rPr lang="en-US" smtClean="0"/>
              <a:t>1 September 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2339752" y="6220102"/>
            <a:ext cx="4876800" cy="272495"/>
          </a:xfrm>
        </p:spPr>
        <p:txBody>
          <a:bodyPr/>
          <a:lstStyle/>
          <a:p>
            <a:r>
              <a:rPr lang="fi-FI"/>
              <a:t>Atul Garg           BCSE0303            Unit- III</a:t>
            </a:r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19</a:t>
            </a:fld>
            <a:endParaRPr lang="en-US"/>
          </a:p>
        </p:txBody>
      </p:sp>
      <p:pic>
        <p:nvPicPr>
          <p:cNvPr id="8" name="Picture 7" descr="A black and red logo&#10;&#10;Description automatically generated">
            <a:extLst>
              <a:ext uri="{FF2B5EF4-FFF2-40B4-BE49-F238E27FC236}">
                <a16:creationId xmlns:a16="http://schemas.microsoft.com/office/drawing/2014/main" id="{51AB1F46-F1A3-2DF2-5EE0-F05547C4DDF6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29142" y="106371"/>
            <a:ext cx="1649190" cy="706953"/>
          </a:xfrm>
          <a:prstGeom prst="rect">
            <a:avLst/>
          </a:prstGeom>
        </p:spPr>
      </p:pic>
      <p:sp>
        <p:nvSpPr>
          <p:cNvPr id="10" name="Title 1"/>
          <p:cNvSpPr txBox="1">
            <a:spLocks noGrp="1"/>
          </p:cNvSpPr>
          <p:nvPr>
            <p:ph type="title"/>
          </p:nvPr>
        </p:nvSpPr>
        <p:spPr>
          <a:xfrm>
            <a:off x="1584768" y="91103"/>
            <a:ext cx="7504309" cy="706953"/>
          </a:xfrm>
          <a:prstGeom prst="rect">
            <a:avLst/>
          </a:prstGeom>
          <a:gradFill flip="none" rotWithShape="1">
            <a:gsLst>
              <a:gs pos="0">
                <a:srgbClr val="FF0000">
                  <a:tint val="66000"/>
                  <a:satMod val="160000"/>
                </a:srgbClr>
              </a:gs>
              <a:gs pos="50000">
                <a:srgbClr val="FF0000">
                  <a:tint val="44500"/>
                  <a:satMod val="160000"/>
                </a:srgbClr>
              </a:gs>
              <a:gs pos="100000">
                <a:srgbClr val="FF0000">
                  <a:tint val="23500"/>
                  <a:satMod val="160000"/>
                </a:srgbClr>
              </a:gs>
            </a:gsLst>
            <a:lin ang="0" scaled="1"/>
            <a:tileRect/>
          </a:gradFill>
        </p:spPr>
        <p:style>
          <a:lnRef idx="1">
            <a:schemeClr val="accent5"/>
          </a:lnRef>
          <a:fillRef idx="2">
            <a:schemeClr val="accent5"/>
          </a:fillRef>
          <a:effectRef idx="1">
            <a:schemeClr val="accent5"/>
          </a:effectRef>
          <a:fontRef idx="minor">
            <a:schemeClr val="dk1"/>
          </a:fontRef>
        </p:style>
        <p:txBody>
          <a:bodyPr vert="horz" lIns="74090" tIns="37045" rIns="74090" bIns="37045" rtlCol="0" anchor="ctr">
            <a:noAutofit/>
          </a:bodyPr>
          <a:lstStyle/>
          <a:p>
            <a:pPr>
              <a:defRPr/>
            </a:pPr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Unit-2 Content</a:t>
            </a:r>
          </a:p>
        </p:txBody>
      </p:sp>
    </p:spTree>
  </p:cSld>
  <p:clrMapOvr>
    <a:masterClrMapping/>
  </p:clrMapOvr>
  <p:transition>
    <p:wipe/>
  </p:transition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5E0F955-0882-D45A-7F88-4317F1A1162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285750" indent="-285750">
              <a:lnSpc>
                <a:spcPct val="150000"/>
              </a:lnSpc>
              <a:buFontTx/>
              <a:buChar char="-"/>
            </a:pPr>
            <a:r>
              <a:rPr lang="en-IN" sz="2400" dirty="0"/>
              <a:t>Familiarity from the operating system definition and characteristics</a:t>
            </a:r>
          </a:p>
          <a:p>
            <a:pPr marL="285750" indent="-285750">
              <a:lnSpc>
                <a:spcPct val="150000"/>
              </a:lnSpc>
              <a:buFontTx/>
              <a:buChar char="-"/>
            </a:pPr>
            <a:r>
              <a:rPr lang="en-IN" sz="2400" dirty="0"/>
              <a:t>Familiarity from operating system functions</a:t>
            </a:r>
          </a:p>
          <a:p>
            <a:pPr marL="285750" indent="-285750">
              <a:lnSpc>
                <a:spcPct val="150000"/>
              </a:lnSpc>
              <a:buFontTx/>
              <a:buChar char="-"/>
            </a:pPr>
            <a:r>
              <a:rPr lang="en-IN" sz="2400" dirty="0"/>
              <a:t>Process management and scheduling</a:t>
            </a:r>
          </a:p>
          <a:p>
            <a:pPr marL="285750" indent="-285750">
              <a:lnSpc>
                <a:spcPct val="150000"/>
              </a:lnSpc>
              <a:buFontTx/>
              <a:buChar char="-"/>
            </a:pPr>
            <a:r>
              <a:rPr lang="en-IN" sz="2400" dirty="0"/>
              <a:t>Different types of schedulers etc</a:t>
            </a:r>
            <a:r>
              <a:rPr lang="en-IN" dirty="0"/>
              <a:t>.</a:t>
            </a:r>
          </a:p>
          <a:p>
            <a:endParaRPr lang="en-IN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6EC7226-DE44-3A7B-502F-518A0AB811C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BBCFFC1-8032-434D-B1B7-342C0A750F23}" type="datetime3">
              <a:rPr lang="en-US" smtClean="0"/>
              <a:t>1 September 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B50D9BE-7FE6-9549-6CDB-3F304D6030C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Atul Garg           BCSE0303            Unit- III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36AC605-181F-FF3E-2ECC-67FF8397B80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t>20</a:t>
            </a:fld>
            <a:endParaRPr lang="en-US"/>
          </a:p>
        </p:txBody>
      </p:sp>
      <p:pic>
        <p:nvPicPr>
          <p:cNvPr id="7" name="Picture 6" descr="A black and red logo&#10;&#10;Description automatically generated">
            <a:extLst>
              <a:ext uri="{FF2B5EF4-FFF2-40B4-BE49-F238E27FC236}">
                <a16:creationId xmlns:a16="http://schemas.microsoft.com/office/drawing/2014/main" id="{9FDF5AA0-D401-D1F1-429F-0ACDEEF51E54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79512" y="95018"/>
            <a:ext cx="1657350" cy="926726"/>
          </a:xfrm>
          <a:prstGeom prst="rect">
            <a:avLst/>
          </a:prstGeom>
        </p:spPr>
      </p:pic>
      <p:sp>
        <p:nvSpPr>
          <p:cNvPr id="8" name="Title 1">
            <a:extLst>
              <a:ext uri="{FF2B5EF4-FFF2-40B4-BE49-F238E27FC236}">
                <a16:creationId xmlns:a16="http://schemas.microsoft.com/office/drawing/2014/main" id="{EB85D041-4DE6-E8B9-BE2F-314438D75604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1836862" y="95018"/>
            <a:ext cx="6983610" cy="772195"/>
          </a:xfrm>
          <a:prstGeom prst="rect">
            <a:avLst/>
          </a:prstGeom>
          <a:gradFill flip="none" rotWithShape="1">
            <a:gsLst>
              <a:gs pos="0">
                <a:srgbClr val="FF0000">
                  <a:tint val="66000"/>
                  <a:satMod val="160000"/>
                </a:srgbClr>
              </a:gs>
              <a:gs pos="50000">
                <a:srgbClr val="FF0000">
                  <a:tint val="44500"/>
                  <a:satMod val="160000"/>
                </a:srgbClr>
              </a:gs>
              <a:gs pos="100000">
                <a:srgbClr val="FF0000">
                  <a:tint val="23500"/>
                  <a:satMod val="160000"/>
                </a:srgbClr>
              </a:gs>
            </a:gsLst>
            <a:lin ang="0" scaled="1"/>
            <a:tileRect/>
          </a:gradFill>
        </p:spPr>
        <p:style>
          <a:lnRef idx="1">
            <a:schemeClr val="accent5"/>
          </a:lnRef>
          <a:fillRef idx="2">
            <a:schemeClr val="accent5"/>
          </a:fillRef>
          <a:effectRef idx="1">
            <a:schemeClr val="accent5"/>
          </a:effectRef>
          <a:fontRef idx="minor">
            <a:schemeClr val="dk1"/>
          </a:fontRef>
        </p:style>
        <p:txBody>
          <a:bodyPr vert="horz" lIns="68580" tIns="34290" rIns="68580" bIns="34290" rtlCol="0" anchor="ctr">
            <a:noAutofit/>
          </a:bodyPr>
          <a:lstStyle>
            <a:defPPr>
              <a:defRPr lang="en-US"/>
            </a:defPPr>
            <a:lvl1pPr algn="ctr">
              <a:spcBef>
                <a:spcPct val="0"/>
              </a:spcBef>
              <a:buNone/>
              <a:defRPr sz="2800"/>
            </a:lvl1pPr>
          </a:lstStyle>
          <a:p>
            <a:pPr>
              <a:defRPr/>
            </a:pPr>
            <a:r>
              <a:rPr lang="en-US" sz="2400" b="1" dirty="0"/>
              <a:t>Prerequisite and Recap</a:t>
            </a:r>
          </a:p>
        </p:txBody>
      </p:sp>
    </p:spTree>
    <p:extLst>
      <p:ext uri="{BB962C8B-B14F-4D97-AF65-F5344CB8AC3E}">
        <p14:creationId xmlns:p14="http://schemas.microsoft.com/office/powerpoint/2010/main" val="2390473272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CB60B15-3634-9EBB-68C9-1A45E8E5250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Date Placeholder 5">
            <a:extLst>
              <a:ext uri="{FF2B5EF4-FFF2-40B4-BE49-F238E27FC236}">
                <a16:creationId xmlns:a16="http://schemas.microsoft.com/office/drawing/2014/main" id="{0240EED3-CE06-AF03-4BA7-3290331547B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F574648-7E25-4978-B543-15970523B3A3}" type="datetime3">
              <a:rPr lang="en-US" smtClean="0"/>
              <a:t>1 September 2025</a:t>
            </a:fld>
            <a:endParaRPr lang="en-US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92E5A022-2885-AB66-EC99-7C92F92B3BD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21</a:t>
            </a:fld>
            <a:endParaRPr lang="en-US"/>
          </a:p>
        </p:txBody>
      </p:sp>
      <p:sp>
        <p:nvSpPr>
          <p:cNvPr id="8" name="Title 1">
            <a:extLst>
              <a:ext uri="{FF2B5EF4-FFF2-40B4-BE49-F238E27FC236}">
                <a16:creationId xmlns:a16="http://schemas.microsoft.com/office/drawing/2014/main" id="{97176AAD-9149-99F2-0F1F-4F88C84F0AB0}"/>
              </a:ext>
            </a:extLst>
          </p:cNvPr>
          <p:cNvSpPr txBox="1">
            <a:spLocks/>
          </p:cNvSpPr>
          <p:nvPr/>
        </p:nvSpPr>
        <p:spPr>
          <a:xfrm>
            <a:off x="1692846" y="44624"/>
            <a:ext cx="7199634" cy="720080"/>
          </a:xfrm>
          <a:prstGeom prst="rect">
            <a:avLst/>
          </a:prstGeom>
          <a:gradFill flip="none" rotWithShape="1">
            <a:gsLst>
              <a:gs pos="0">
                <a:srgbClr val="FF0000">
                  <a:tint val="66000"/>
                  <a:satMod val="160000"/>
                </a:srgbClr>
              </a:gs>
              <a:gs pos="50000">
                <a:srgbClr val="FF0000">
                  <a:tint val="44500"/>
                  <a:satMod val="160000"/>
                </a:srgbClr>
              </a:gs>
              <a:gs pos="100000">
                <a:srgbClr val="FF0000">
                  <a:tint val="23500"/>
                  <a:satMod val="160000"/>
                </a:srgbClr>
              </a:gs>
            </a:gsLst>
            <a:lin ang="0" scaled="1"/>
            <a:tileRect/>
          </a:gradFill>
        </p:spPr>
        <p:style>
          <a:lnRef idx="1">
            <a:schemeClr val="accent5"/>
          </a:lnRef>
          <a:fillRef idx="2">
            <a:schemeClr val="accent5"/>
          </a:fillRef>
          <a:effectRef idx="1">
            <a:schemeClr val="accent5"/>
          </a:effectRef>
          <a:fontRef idx="minor">
            <a:schemeClr val="dk1"/>
          </a:fontRef>
        </p:style>
        <p:txBody>
          <a:bodyPr vert="horz" lIns="68580" tIns="34290" rIns="68580" bIns="34290" rtlCol="0" anchor="ctr">
            <a:noAutofit/>
          </a:bodyPr>
          <a:lstStyle>
            <a:lvl1pPr algn="ctr">
              <a:spcBef>
                <a:spcPct val="0"/>
              </a:spcBef>
              <a:buNone/>
              <a:defRPr sz="2800"/>
            </a:lvl1pPr>
          </a:lstStyle>
          <a:p>
            <a:r>
              <a:rPr lang="en-US" sz="2400" b="1" dirty="0"/>
              <a:t>Contents</a:t>
            </a:r>
            <a:endParaRPr lang="en-US" sz="2100" b="1" dirty="0"/>
          </a:p>
        </p:txBody>
      </p:sp>
      <p:pic>
        <p:nvPicPr>
          <p:cNvPr id="2" name="Picture 1" descr="A black and red logo&#10;&#10;Description automatically generated">
            <a:extLst>
              <a:ext uri="{FF2B5EF4-FFF2-40B4-BE49-F238E27FC236}">
                <a16:creationId xmlns:a16="http://schemas.microsoft.com/office/drawing/2014/main" id="{2A1F00D6-8340-85AB-9950-91DC12A71D6C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5496" y="44624"/>
            <a:ext cx="1657350" cy="720080"/>
          </a:xfrm>
          <a:prstGeom prst="rect">
            <a:avLst/>
          </a:prstGeom>
        </p:spPr>
      </p:pic>
      <p:sp>
        <p:nvSpPr>
          <p:cNvPr id="3" name="Content Placeholder 3">
            <a:extLst>
              <a:ext uri="{FF2B5EF4-FFF2-40B4-BE49-F238E27FC236}">
                <a16:creationId xmlns:a16="http://schemas.microsoft.com/office/drawing/2014/main" id="{664C6041-0A30-C231-2FEC-0D1186DA9A8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83568" y="1052736"/>
            <a:ext cx="7776864" cy="4525963"/>
          </a:xfrm>
        </p:spPr>
        <p:txBody>
          <a:bodyPr/>
          <a:lstStyle/>
          <a:p>
            <a:r>
              <a:rPr lang="en-IN" sz="2000" b="1" dirty="0"/>
              <a:t>Concurrency</a:t>
            </a:r>
            <a:r>
              <a:rPr lang="en-IN" sz="2000" dirty="0"/>
              <a:t>: </a:t>
            </a:r>
            <a:r>
              <a:rPr lang="en-IN" sz="1800" dirty="0"/>
              <a:t>Race condition, critical section, Inter process communication</a:t>
            </a:r>
            <a:endParaRPr lang="en-IN" sz="2000" dirty="0"/>
          </a:p>
          <a:p>
            <a:r>
              <a:rPr lang="en-IN" sz="2000" b="1" dirty="0"/>
              <a:t>Classical problems of synchronization:</a:t>
            </a:r>
          </a:p>
          <a:p>
            <a:pPr lvl="1"/>
            <a:r>
              <a:rPr lang="en-IN" sz="1600" dirty="0"/>
              <a:t>Producer consumer problem</a:t>
            </a:r>
          </a:p>
          <a:p>
            <a:pPr lvl="1"/>
            <a:r>
              <a:rPr lang="en-IN" sz="1600" dirty="0"/>
              <a:t>Dining philosopher’s problem</a:t>
            </a:r>
          </a:p>
          <a:p>
            <a:pPr lvl="1"/>
            <a:r>
              <a:rPr lang="en-IN" sz="1600" dirty="0"/>
              <a:t>Readers writers problem</a:t>
            </a:r>
          </a:p>
          <a:p>
            <a:pPr lvl="1"/>
            <a:r>
              <a:rPr lang="en-IN" sz="1600" dirty="0"/>
              <a:t>Sleeping barber problem</a:t>
            </a:r>
            <a:endParaRPr lang="en-IN" sz="1800" dirty="0"/>
          </a:p>
          <a:p>
            <a:pPr lvl="1"/>
            <a:endParaRPr lang="en-IN" sz="1800" dirty="0"/>
          </a:p>
          <a:p>
            <a:pPr marL="457200" lvl="1" indent="0">
              <a:buNone/>
            </a:pPr>
            <a:r>
              <a:rPr lang="en-IN" sz="2000" b="1" dirty="0"/>
              <a:t>Process Synchronization</a:t>
            </a:r>
            <a:r>
              <a:rPr lang="en-IN" sz="1800" dirty="0"/>
              <a:t>: </a:t>
            </a:r>
            <a:r>
              <a:rPr lang="en-IN" sz="1600" dirty="0"/>
              <a:t>Lock variable’s, Peterson’s solution, strict alternation, Lamport Bakery solution, test and set lock, semaphore</a:t>
            </a:r>
            <a:endParaRPr lang="en-IN" sz="1800" dirty="0"/>
          </a:p>
          <a:p>
            <a:pPr marL="457200" lvl="1" indent="0">
              <a:buNone/>
            </a:pPr>
            <a:endParaRPr lang="en-IN" sz="1800" dirty="0"/>
          </a:p>
          <a:p>
            <a:pPr marL="457200" lvl="1" indent="0">
              <a:buNone/>
            </a:pPr>
            <a:r>
              <a:rPr lang="en-IN" sz="2000" b="1" dirty="0"/>
              <a:t>Deadlock:</a:t>
            </a:r>
            <a:r>
              <a:rPr lang="en-IN" sz="1800" dirty="0"/>
              <a:t> </a:t>
            </a:r>
            <a:r>
              <a:rPr lang="en-IN" sz="1600" dirty="0"/>
              <a:t>Deadlock characterization, prevention, Avoidance, Banker’s Algorithm, Deadlock detection, Recovery from deadlock</a:t>
            </a:r>
            <a:endParaRPr lang="en-IN" sz="1800" dirty="0"/>
          </a:p>
          <a:p>
            <a:pPr marL="457200" lvl="1" indent="0">
              <a:buNone/>
            </a:pPr>
            <a:endParaRPr lang="en-IN" sz="1800" b="1" dirty="0"/>
          </a:p>
          <a:p>
            <a:pPr marL="457200" lvl="1" indent="0">
              <a:buNone/>
            </a:pPr>
            <a:endParaRPr lang="en-IN" sz="1600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8C89214-1322-206B-2932-8AAB433E42C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Atul Garg           BCSE0303            Unit- III</a:t>
            </a:r>
          </a:p>
        </p:txBody>
      </p:sp>
    </p:spTree>
    <p:extLst>
      <p:ext uri="{BB962C8B-B14F-4D97-AF65-F5344CB8AC3E}">
        <p14:creationId xmlns:p14="http://schemas.microsoft.com/office/powerpoint/2010/main" val="679261831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DB75B91-0637-687F-ADCA-7E691326720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5C05300-E8BE-A92B-8142-6B87FC65150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95536" y="1359695"/>
            <a:ext cx="8119814" cy="4102894"/>
          </a:xfrm>
        </p:spPr>
        <p:txBody>
          <a:bodyPr>
            <a:normAutofit/>
          </a:bodyPr>
          <a:lstStyle/>
          <a:p>
            <a:r>
              <a:rPr lang="en-US" sz="2000" dirty="0">
                <a:latin typeface="Times New Roman" pitchFamily="18" charset="0"/>
                <a:cs typeface="Times New Roman" pitchFamily="18" charset="0"/>
              </a:rPr>
              <a:t>  </a:t>
            </a:r>
            <a:r>
              <a:rPr lang="en-US" sz="2000" dirty="0"/>
              <a:t>Web Servers → handling thousands of requests at once</a:t>
            </a:r>
            <a:endParaRPr lang="en-US" sz="2000" dirty="0">
              <a:cs typeface="Times New Roman" pitchFamily="18" charset="0"/>
            </a:endParaRPr>
          </a:p>
          <a:p>
            <a:r>
              <a:rPr lang="en-US" sz="2000" dirty="0">
                <a:cs typeface="Times New Roman" pitchFamily="18" charset="0"/>
              </a:rPr>
              <a:t>  Banking system → Two ATMs withdrawing from the same account.</a:t>
            </a:r>
          </a:p>
          <a:p>
            <a:pPr marL="0" indent="0">
              <a:buNone/>
            </a:pPr>
            <a:r>
              <a:rPr lang="en-US" sz="2000" b="1" dirty="0"/>
              <a:t>Mutex Locks</a:t>
            </a:r>
          </a:p>
          <a:p>
            <a:r>
              <a:rPr lang="en-US" sz="2000" b="1" dirty="0"/>
              <a:t>Application 1:</a:t>
            </a:r>
            <a:r>
              <a:rPr lang="en-US" sz="2000" dirty="0"/>
              <a:t> File access → Only one process edits a file at a time.</a:t>
            </a:r>
          </a:p>
          <a:p>
            <a:r>
              <a:rPr lang="en-US" sz="2000" b="1" dirty="0"/>
              <a:t>Application 2:</a:t>
            </a:r>
            <a:r>
              <a:rPr lang="en-US" sz="2000" dirty="0"/>
              <a:t> Bank account → Prevents two ATMs from updating balance simultaneously.</a:t>
            </a:r>
          </a:p>
          <a:p>
            <a:pPr marL="0" indent="0">
              <a:buNone/>
            </a:pPr>
            <a:r>
              <a:rPr lang="en-US" sz="2000" b="1" dirty="0"/>
              <a:t>Semaphores</a:t>
            </a:r>
          </a:p>
          <a:p>
            <a:r>
              <a:rPr lang="en-US" sz="2000" b="1" dirty="0"/>
              <a:t>Application 1:</a:t>
            </a:r>
            <a:r>
              <a:rPr lang="en-US" sz="2000" dirty="0"/>
              <a:t> Traffic signals → Semaphore values manage cars at intersections.</a:t>
            </a:r>
          </a:p>
          <a:p>
            <a:r>
              <a:rPr lang="en-US" sz="2000" b="1" dirty="0"/>
              <a:t>Application 2:</a:t>
            </a:r>
            <a:r>
              <a:rPr lang="en-US" sz="2000" dirty="0"/>
              <a:t> Operating system scheduling → Controls access to limited resources like CPU or printers.</a:t>
            </a:r>
          </a:p>
          <a:p>
            <a:endParaRPr lang="en-US" sz="2000" dirty="0"/>
          </a:p>
          <a:p>
            <a:endParaRPr lang="en-US" sz="2000" dirty="0">
              <a:cs typeface="Times New Roman" pitchFamily="18" charset="0"/>
            </a:endParaRPr>
          </a:p>
          <a:p>
            <a:pPr algn="ctr">
              <a:buNone/>
            </a:pPr>
            <a:endParaRPr lang="en-US" sz="1800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23C2EBD-300A-7C27-5F92-C701CAE23E6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3846EEC-C3D5-4594-89B3-FF0E71633D26}" type="datetime3">
              <a:rPr lang="en-US" smtClean="0"/>
              <a:t>1 September 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718AACC-DD8F-D3BB-8545-8C802A606DE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3257550" y="5543551"/>
            <a:ext cx="3543300" cy="273844"/>
          </a:xfrm>
        </p:spPr>
        <p:txBody>
          <a:bodyPr/>
          <a:lstStyle/>
          <a:p>
            <a:r>
              <a:rPr lang="en-US"/>
              <a:t>Atul Garg           BCSE0303            Unit- III</a:t>
            </a:r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C4CD50B-9171-80B3-4F81-72A11BEE2A1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22</a:t>
            </a:fld>
            <a:endParaRPr lang="en-US"/>
          </a:p>
        </p:txBody>
      </p:sp>
      <p:sp>
        <p:nvSpPr>
          <p:cNvPr id="7" name="Title 1">
            <a:extLst>
              <a:ext uri="{FF2B5EF4-FFF2-40B4-BE49-F238E27FC236}">
                <a16:creationId xmlns:a16="http://schemas.microsoft.com/office/drawing/2014/main" id="{67598918-2C24-55DA-EE1F-8191105E880F}"/>
              </a:ext>
            </a:extLst>
          </p:cNvPr>
          <p:cNvSpPr txBox="1">
            <a:spLocks/>
          </p:cNvSpPr>
          <p:nvPr/>
        </p:nvSpPr>
        <p:spPr>
          <a:xfrm>
            <a:off x="1657350" y="136525"/>
            <a:ext cx="7486650" cy="750913"/>
          </a:xfrm>
          <a:prstGeom prst="rect">
            <a:avLst/>
          </a:prstGeom>
          <a:gradFill flip="none" rotWithShape="1">
            <a:gsLst>
              <a:gs pos="0">
                <a:srgbClr val="FF0000">
                  <a:tint val="66000"/>
                  <a:satMod val="160000"/>
                </a:srgbClr>
              </a:gs>
              <a:gs pos="50000">
                <a:srgbClr val="FF0000">
                  <a:tint val="44500"/>
                  <a:satMod val="160000"/>
                </a:srgbClr>
              </a:gs>
              <a:gs pos="100000">
                <a:srgbClr val="FF0000">
                  <a:tint val="23500"/>
                  <a:satMod val="160000"/>
                </a:srgbClr>
              </a:gs>
            </a:gsLst>
            <a:lin ang="0" scaled="1"/>
            <a:tileRect/>
          </a:gradFill>
        </p:spPr>
        <p:style>
          <a:lnRef idx="1">
            <a:schemeClr val="accent5"/>
          </a:lnRef>
          <a:fillRef idx="2">
            <a:schemeClr val="accent5"/>
          </a:fillRef>
          <a:effectRef idx="1">
            <a:schemeClr val="accent5"/>
          </a:effectRef>
          <a:fontRef idx="minor">
            <a:schemeClr val="dk1"/>
          </a:fontRef>
        </p:style>
        <p:txBody>
          <a:bodyPr vert="horz" lIns="68580" tIns="34290" rIns="68580" bIns="34290" rtlCol="0" anchor="ctr">
            <a:noAutofit/>
          </a:bodyPr>
          <a:lstStyle>
            <a:defPPr>
              <a:defRPr lang="en-US"/>
            </a:defPPr>
            <a:lvl1pPr algn="ctr">
              <a:spcBef>
                <a:spcPct val="0"/>
              </a:spcBef>
              <a:buNone/>
              <a:defRPr sz="2800"/>
            </a:lvl1pPr>
          </a:lstStyle>
          <a:p>
            <a:r>
              <a:rPr lang="en-US" sz="2100" dirty="0"/>
              <a:t>Branch wise Applications</a:t>
            </a:r>
          </a:p>
        </p:txBody>
      </p:sp>
      <p:pic>
        <p:nvPicPr>
          <p:cNvPr id="2" name="Picture 1" descr="A black and red logo&#10;&#10;Description automatically generated">
            <a:extLst>
              <a:ext uri="{FF2B5EF4-FFF2-40B4-BE49-F238E27FC236}">
                <a16:creationId xmlns:a16="http://schemas.microsoft.com/office/drawing/2014/main" id="{4965956B-75A8-4911-4759-306F0D9DE4C6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122532"/>
            <a:ext cx="1657350" cy="94701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05960579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70F69A1-EF3D-C0A1-B551-5FBEF9C22C5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AC90260-D070-A4CF-4819-F215CA67C34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95536" y="1359695"/>
            <a:ext cx="8119814" cy="4102894"/>
          </a:xfrm>
        </p:spPr>
        <p:txBody>
          <a:bodyPr>
            <a:normAutofit/>
          </a:bodyPr>
          <a:lstStyle/>
          <a:p>
            <a:endParaRPr lang="en-US" sz="2000" dirty="0"/>
          </a:p>
          <a:p>
            <a:r>
              <a:rPr lang="en-US" sz="2000" b="1" dirty="0">
                <a:cs typeface="Times New Roman" pitchFamily="18" charset="0"/>
              </a:rPr>
              <a:t>Resource Deadlock</a:t>
            </a:r>
          </a:p>
          <a:p>
            <a:r>
              <a:rPr lang="en-US" sz="2000" dirty="0">
                <a:cs typeface="Times New Roman" pitchFamily="18" charset="0"/>
              </a:rPr>
              <a:t>Application 1: Printer + Scanner → One process holds printer and waits for scanner, another holds scanner and waits for printer.</a:t>
            </a:r>
          </a:p>
          <a:p>
            <a:r>
              <a:rPr lang="en-US" sz="2000" dirty="0">
                <a:cs typeface="Times New Roman" pitchFamily="18" charset="0"/>
              </a:rPr>
              <a:t>Application 2: Database system → Transaction 1 locks Table A and waits for Table B, while Transaction 2 locks Table B and waits for Table A.🔹 2. </a:t>
            </a:r>
          </a:p>
          <a:p>
            <a:r>
              <a:rPr lang="en-US" sz="2000" b="1" dirty="0">
                <a:cs typeface="Times New Roman" pitchFamily="18" charset="0"/>
              </a:rPr>
              <a:t>Communication Deadlock</a:t>
            </a:r>
          </a:p>
          <a:p>
            <a:r>
              <a:rPr lang="en-US" sz="2000" dirty="0">
                <a:cs typeface="Times New Roman" pitchFamily="18" charset="0"/>
              </a:rPr>
              <a:t>Application 1: Client–Server → Client waits for server response, server waits for client request (neither proceeds).Application 2: Message passing system → Two processes wait for messages from each other (circular wait).</a:t>
            </a:r>
          </a:p>
          <a:p>
            <a:pPr algn="ctr">
              <a:buNone/>
            </a:pPr>
            <a:endParaRPr lang="en-US" sz="1800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F8F9F2B-B655-65B0-1CC8-568A3799018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5407F33-98F9-4E83-A62E-D3EE2C79E8B7}" type="datetime3">
              <a:rPr lang="en-US" smtClean="0"/>
              <a:t>1 September 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4168DC0-ED51-693C-6F23-6CBF803A2F6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2800350" y="6265068"/>
            <a:ext cx="3543300" cy="273844"/>
          </a:xfrm>
        </p:spPr>
        <p:txBody>
          <a:bodyPr/>
          <a:lstStyle/>
          <a:p>
            <a:r>
              <a:rPr lang="en-US"/>
              <a:t>Atul Garg           BCSE0303            Unit- III</a:t>
            </a:r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689C314-9141-8D39-C7DF-C4187FEAF65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23</a:t>
            </a:fld>
            <a:endParaRPr lang="en-US"/>
          </a:p>
        </p:txBody>
      </p:sp>
      <p:sp>
        <p:nvSpPr>
          <p:cNvPr id="7" name="Title 1">
            <a:extLst>
              <a:ext uri="{FF2B5EF4-FFF2-40B4-BE49-F238E27FC236}">
                <a16:creationId xmlns:a16="http://schemas.microsoft.com/office/drawing/2014/main" id="{A69DC24A-CD69-F455-2F6F-CBF02A645231}"/>
              </a:ext>
            </a:extLst>
          </p:cNvPr>
          <p:cNvSpPr txBox="1">
            <a:spLocks/>
          </p:cNvSpPr>
          <p:nvPr/>
        </p:nvSpPr>
        <p:spPr>
          <a:xfrm>
            <a:off x="1657350" y="136525"/>
            <a:ext cx="7486650" cy="750913"/>
          </a:xfrm>
          <a:prstGeom prst="rect">
            <a:avLst/>
          </a:prstGeom>
          <a:gradFill flip="none" rotWithShape="1">
            <a:gsLst>
              <a:gs pos="0">
                <a:srgbClr val="FF0000">
                  <a:tint val="66000"/>
                  <a:satMod val="160000"/>
                </a:srgbClr>
              </a:gs>
              <a:gs pos="50000">
                <a:srgbClr val="FF0000">
                  <a:tint val="44500"/>
                  <a:satMod val="160000"/>
                </a:srgbClr>
              </a:gs>
              <a:gs pos="100000">
                <a:srgbClr val="FF0000">
                  <a:tint val="23500"/>
                  <a:satMod val="160000"/>
                </a:srgbClr>
              </a:gs>
            </a:gsLst>
            <a:lin ang="0" scaled="1"/>
            <a:tileRect/>
          </a:gradFill>
        </p:spPr>
        <p:style>
          <a:lnRef idx="1">
            <a:schemeClr val="accent5"/>
          </a:lnRef>
          <a:fillRef idx="2">
            <a:schemeClr val="accent5"/>
          </a:fillRef>
          <a:effectRef idx="1">
            <a:schemeClr val="accent5"/>
          </a:effectRef>
          <a:fontRef idx="minor">
            <a:schemeClr val="dk1"/>
          </a:fontRef>
        </p:style>
        <p:txBody>
          <a:bodyPr vert="horz" lIns="68580" tIns="34290" rIns="68580" bIns="34290" rtlCol="0" anchor="ctr">
            <a:noAutofit/>
          </a:bodyPr>
          <a:lstStyle>
            <a:defPPr>
              <a:defRPr lang="en-US"/>
            </a:defPPr>
            <a:lvl1pPr algn="ctr">
              <a:spcBef>
                <a:spcPct val="0"/>
              </a:spcBef>
              <a:buNone/>
              <a:defRPr sz="2800"/>
            </a:lvl1pPr>
          </a:lstStyle>
          <a:p>
            <a:r>
              <a:rPr lang="en-US" sz="2100" dirty="0"/>
              <a:t>Branch wise Applications</a:t>
            </a:r>
          </a:p>
        </p:txBody>
      </p:sp>
      <p:pic>
        <p:nvPicPr>
          <p:cNvPr id="2" name="Picture 1" descr="A black and red logo&#10;&#10;Description automatically generated">
            <a:extLst>
              <a:ext uri="{FF2B5EF4-FFF2-40B4-BE49-F238E27FC236}">
                <a16:creationId xmlns:a16="http://schemas.microsoft.com/office/drawing/2014/main" id="{A34CB710-27D4-9AC4-F50F-C647D175704F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122532"/>
            <a:ext cx="1657350" cy="94701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38488389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30986D2-5F69-88C4-DC9B-A4DBDDCB7C5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0721441-070D-781E-0B31-D649F5DF3D1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3EE9C9E-C137-46FA-4D72-AB51747FF5F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43A64B7-B43A-444E-80E8-480EF28B472E}" type="datetime3">
              <a:rPr lang="en-US" smtClean="0"/>
              <a:t>1 September 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B847F91-EFEF-9024-3B2A-F3F6871771F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Atul Garg           BCSE0303            Unit- III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FD3C9B1-3F1D-2C39-4A78-B8DF3EF3ED5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t>24</a:t>
            </a:fld>
            <a:endParaRPr lang="en-US"/>
          </a:p>
        </p:txBody>
      </p:sp>
      <p:pic>
        <p:nvPicPr>
          <p:cNvPr id="7" name="Picture 6" descr="A black and red logo&#10;&#10;Description automatically generated">
            <a:extLst>
              <a:ext uri="{FF2B5EF4-FFF2-40B4-BE49-F238E27FC236}">
                <a16:creationId xmlns:a16="http://schemas.microsoft.com/office/drawing/2014/main" id="{666270EC-FE95-3D41-98F7-D7F02D0A199C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8129" y="71808"/>
            <a:ext cx="1850741" cy="1034863"/>
          </a:xfrm>
          <a:prstGeom prst="rect">
            <a:avLst/>
          </a:prstGeom>
        </p:spPr>
      </p:pic>
      <p:sp>
        <p:nvSpPr>
          <p:cNvPr id="8" name="Title 1">
            <a:extLst>
              <a:ext uri="{FF2B5EF4-FFF2-40B4-BE49-F238E27FC236}">
                <a16:creationId xmlns:a16="http://schemas.microsoft.com/office/drawing/2014/main" id="{CEB963BA-A3C3-C202-0696-B301B23CA95D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1929666" y="71808"/>
            <a:ext cx="7214334" cy="1034863"/>
          </a:xfrm>
          <a:prstGeom prst="rect">
            <a:avLst/>
          </a:prstGeom>
          <a:gradFill flip="none" rotWithShape="1">
            <a:gsLst>
              <a:gs pos="0">
                <a:srgbClr val="FF0000">
                  <a:tint val="66000"/>
                  <a:satMod val="160000"/>
                </a:srgbClr>
              </a:gs>
              <a:gs pos="50000">
                <a:srgbClr val="FF0000">
                  <a:tint val="44500"/>
                  <a:satMod val="160000"/>
                </a:srgbClr>
              </a:gs>
              <a:gs pos="100000">
                <a:srgbClr val="FF0000">
                  <a:tint val="23500"/>
                  <a:satMod val="160000"/>
                </a:srgbClr>
              </a:gs>
            </a:gsLst>
            <a:lin ang="0" scaled="1"/>
            <a:tileRect/>
          </a:gradFill>
        </p:spPr>
        <p:style>
          <a:lnRef idx="1">
            <a:schemeClr val="accent5"/>
          </a:lnRef>
          <a:fillRef idx="2">
            <a:schemeClr val="accent5"/>
          </a:fillRef>
          <a:effectRef idx="1">
            <a:schemeClr val="accent5"/>
          </a:effectRef>
          <a:fontRef idx="minor">
            <a:schemeClr val="dk1"/>
          </a:fontRef>
        </p:style>
        <p:txBody>
          <a:bodyPr vert="horz" lIns="68580" tIns="34290" rIns="68580" bIns="34290" rtlCol="0" anchor="ctr">
            <a:noAutofit/>
          </a:bodyPr>
          <a:lstStyle>
            <a:defPPr>
              <a:defRPr lang="en-US"/>
            </a:defPPr>
            <a:lvl1pPr algn="ctr">
              <a:spcBef>
                <a:spcPct val="0"/>
              </a:spcBef>
              <a:buNone/>
              <a:defRPr sz="2800"/>
            </a:lvl1pPr>
          </a:lstStyle>
          <a:p>
            <a:pPr>
              <a:defRPr/>
            </a:pPr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Topic Objectives </a:t>
            </a:r>
            <a:endParaRPr lang="en-US" sz="2100" dirty="0"/>
          </a:p>
        </p:txBody>
      </p:sp>
      <p:sp>
        <p:nvSpPr>
          <p:cNvPr id="12" name="Date Placeholder 3">
            <a:extLst>
              <a:ext uri="{FF2B5EF4-FFF2-40B4-BE49-F238E27FC236}">
                <a16:creationId xmlns:a16="http://schemas.microsoft.com/office/drawing/2014/main" id="{2BACD68C-A892-4276-14ED-489EF5FF4B4B}"/>
              </a:ext>
            </a:extLst>
          </p:cNvPr>
          <p:cNvSpPr txBox="1">
            <a:spLocks/>
          </p:cNvSpPr>
          <p:nvPr/>
        </p:nvSpPr>
        <p:spPr>
          <a:xfrm>
            <a:off x="612616" y="6532987"/>
            <a:ext cx="1772339" cy="188492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l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defRPr/>
            </a:pPr>
            <a:fld id="{6821EDDE-00E4-4776-ACA5-EF5F8AEC90D6}" type="datetime1">
              <a:rPr lang="en-US" smtClean="0"/>
              <a:pPr>
                <a:defRPr/>
              </a:pPr>
              <a:t>9/1/2025</a:t>
            </a:fld>
            <a:endParaRPr lang="en-US"/>
          </a:p>
        </p:txBody>
      </p:sp>
      <p:sp>
        <p:nvSpPr>
          <p:cNvPr id="13" name="Footer Placeholder 4">
            <a:extLst>
              <a:ext uri="{FF2B5EF4-FFF2-40B4-BE49-F238E27FC236}">
                <a16:creationId xmlns:a16="http://schemas.microsoft.com/office/drawing/2014/main" id="{8EEA4D39-855A-E693-2F3F-4638479C0ACC}"/>
              </a:ext>
            </a:extLst>
          </p:cNvPr>
          <p:cNvSpPr txBox="1">
            <a:spLocks/>
          </p:cNvSpPr>
          <p:nvPr/>
        </p:nvSpPr>
        <p:spPr>
          <a:xfrm>
            <a:off x="3369390" y="6532984"/>
            <a:ext cx="4177656" cy="188492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ctr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defRPr/>
            </a:pPr>
            <a:r>
              <a:rPr lang="fi-FI"/>
              <a:t>Ms. Rashmi Bhardwaj                        OS              Unit Number:1</a:t>
            </a:r>
            <a:endParaRPr lang="en-US" dirty="0"/>
          </a:p>
        </p:txBody>
      </p:sp>
      <p:sp>
        <p:nvSpPr>
          <p:cNvPr id="14" name="Slide Number Placeholder 5">
            <a:extLst>
              <a:ext uri="{FF2B5EF4-FFF2-40B4-BE49-F238E27FC236}">
                <a16:creationId xmlns:a16="http://schemas.microsoft.com/office/drawing/2014/main" id="{07C723B1-E795-4DEE-4977-A0491BC9A442}"/>
              </a:ext>
            </a:extLst>
          </p:cNvPr>
          <p:cNvSpPr txBox="1">
            <a:spLocks/>
          </p:cNvSpPr>
          <p:nvPr/>
        </p:nvSpPr>
        <p:spPr>
          <a:xfrm>
            <a:off x="8780834" y="6532987"/>
            <a:ext cx="1772339" cy="188492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r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defRPr/>
            </a:pPr>
            <a:fld id="{6D589479-0575-4FC7-AC91-76154F19B013}" type="slidenum">
              <a:rPr lang="en-US" smtClean="0"/>
              <a:pPr>
                <a:defRPr/>
              </a:pPr>
              <a:t>24</a:t>
            </a:fld>
            <a:endParaRPr lang="en-US"/>
          </a:p>
        </p:txBody>
      </p:sp>
      <p:graphicFrame>
        <p:nvGraphicFramePr>
          <p:cNvPr id="15" name="Table 2">
            <a:extLst>
              <a:ext uri="{FF2B5EF4-FFF2-40B4-BE49-F238E27FC236}">
                <a16:creationId xmlns:a16="http://schemas.microsoft.com/office/drawing/2014/main" id="{1DB3F613-8240-CF6E-A765-2518EF485CEA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31200562"/>
              </p:ext>
            </p:extLst>
          </p:nvPr>
        </p:nvGraphicFramePr>
        <p:xfrm>
          <a:off x="457200" y="1546647"/>
          <a:ext cx="8229601" cy="4577522"/>
        </p:xfrm>
        <a:graphic>
          <a:graphicData uri="http://schemas.openxmlformats.org/drawingml/2006/table">
            <a:tbl>
              <a:tblPr firstRow="1" bandRow="1">
                <a:tableStyleId>{21E4AEA4-8DFA-4A89-87EB-49C32662AFE0}</a:tableStyleId>
              </a:tblPr>
              <a:tblGrid>
                <a:gridCol w="251752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5712081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521411">
                <a:tc>
                  <a:txBody>
                    <a:bodyPr/>
                    <a:lstStyle/>
                    <a:p>
                      <a:pPr algn="ctr"/>
                      <a:r>
                        <a:rPr lang="en-IN" sz="1800"/>
                        <a:t>Topic </a:t>
                      </a:r>
                      <a:endParaRPr lang="en-IN" sz="180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122523" marR="122523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1800" dirty="0"/>
                        <a:t>Objective </a:t>
                      </a:r>
                      <a:endParaRPr lang="en-IN" sz="180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122523" marR="122523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77960">
                <a:tc>
                  <a:txBody>
                    <a:bodyPr/>
                    <a:lstStyle/>
                    <a:p>
                      <a:endParaRPr lang="en-IN" sz="16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122523" marR="122523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b="1" dirty="0"/>
                        <a:t>Students will be able to</a:t>
                      </a:r>
                      <a:r>
                        <a:rPr lang="en-US" sz="1600" dirty="0"/>
                        <a:t> </a:t>
                      </a:r>
                      <a:endParaRPr lang="en-IN" sz="1600" b="1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122523" marR="122523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738665">
                <a:tc>
                  <a:txBody>
                    <a:bodyPr/>
                    <a:lstStyle/>
                    <a:p>
                      <a:pPr marL="363538" indent="-363538" algn="l"/>
                      <a:r>
                        <a:rPr kumimoji="0" lang="en-IN" sz="20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Concurrency</a:t>
                      </a:r>
                      <a:endParaRPr kumimoji="0" lang="en-US" sz="2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Times New Roman" panose="02020603050405020304" pitchFamily="18" charset="0"/>
                        <a:ea typeface="+mn-ea"/>
                        <a:cs typeface="Times New Roman" panose="02020603050405020304" pitchFamily="18" charset="0"/>
                      </a:endParaRPr>
                    </a:p>
                  </a:txBody>
                  <a:tcPr marL="122523" marR="122523"/>
                </a:tc>
                <a:tc>
                  <a:txBody>
                    <a:bodyPr/>
                    <a:lstStyle/>
                    <a:p>
                      <a:pPr marL="0" marR="0" lvl="0" indent="0" algn="just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800" b="1" dirty="0">
                          <a:latin typeface="+mj-lt"/>
                          <a:cs typeface="Times New Roman" panose="02020603050405020304" pitchFamily="18" charset="0"/>
                        </a:rPr>
                        <a:t>Understand the </a:t>
                      </a:r>
                      <a:r>
                        <a:rPr lang="en-US" sz="1800" b="1" dirty="0">
                          <a:latin typeface="+mj-lt"/>
                        </a:rPr>
                        <a:t>How multiple processes or threads can run independently and simultaneously.</a:t>
                      </a:r>
                      <a:endParaRPr lang="en-US" sz="1800" b="1" dirty="0">
                        <a:latin typeface="+mj-lt"/>
                        <a:cs typeface="Times New Roman" panose="02020603050405020304" pitchFamily="18" charset="0"/>
                      </a:endParaRPr>
                    </a:p>
                  </a:txBody>
                  <a:tcPr marL="122523" marR="122523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936449">
                <a:tc>
                  <a:txBody>
                    <a:bodyPr/>
                    <a:lstStyle/>
                    <a:p>
                      <a:pPr marL="0" marR="0" lvl="1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IN" sz="20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Classical problems of synchronization</a:t>
                      </a:r>
                      <a:endParaRPr kumimoji="0" lang="en-US" sz="20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Times New Roman" panose="02020603050405020304" pitchFamily="18" charset="0"/>
                        <a:ea typeface="+mn-ea"/>
                        <a:cs typeface="Times New Roman" panose="02020603050405020304" pitchFamily="18" charset="0"/>
                      </a:endParaRPr>
                    </a:p>
                  </a:txBody>
                  <a:tcPr marL="122523" marR="122523"/>
                </a:tc>
                <a:tc>
                  <a:txBody>
                    <a:bodyPr/>
                    <a:lstStyle/>
                    <a:p>
                      <a:pPr algn="just"/>
                      <a:r>
                        <a:rPr lang="en-US" sz="1800" b="1" dirty="0"/>
                        <a:t>Helping students apply concurrency concepts to real-world scenarios</a:t>
                      </a:r>
                      <a:r>
                        <a:rPr lang="en-US" sz="1600" dirty="0"/>
                        <a:t>.</a:t>
                      </a:r>
                      <a:endParaRPr lang="en-IN" sz="16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122523" marR="122523"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1026903">
                <a:tc>
                  <a:txBody>
                    <a:bodyPr/>
                    <a:lstStyle/>
                    <a:p>
                      <a:pPr marL="0" marR="0" lvl="1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IN" sz="20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Process Synchronization</a:t>
                      </a:r>
                      <a:endParaRPr kumimoji="0" lang="en-US" sz="1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Times New Roman" panose="02020603050405020304" pitchFamily="18" charset="0"/>
                        <a:ea typeface="+mn-ea"/>
                        <a:cs typeface="Times New Roman" panose="02020603050405020304" pitchFamily="18" charset="0"/>
                      </a:endParaRPr>
                    </a:p>
                  </a:txBody>
                  <a:tcPr marL="122523" marR="122523"/>
                </a:tc>
                <a:tc>
                  <a:txBody>
                    <a:bodyPr/>
                    <a:lstStyle/>
                    <a:p>
                      <a:pPr algn="just"/>
                      <a:r>
                        <a:rPr lang="en-US" sz="1600" b="1" dirty="0"/>
                        <a:t>Students will learn how to coordinate multiple processes to safely access shared resources without causing data inconsistency or conflicts.</a:t>
                      </a:r>
                      <a:endParaRPr lang="en-IN" sz="1600" b="1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122523" marR="122523"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876134">
                <a:tc>
                  <a:txBody>
                    <a:bodyPr/>
                    <a:lstStyle/>
                    <a:p>
                      <a:pPr marL="0" marR="0" lvl="1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IN" sz="20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Deadlock</a:t>
                      </a:r>
                      <a:endParaRPr kumimoji="0" lang="en-US" sz="1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Times New Roman" panose="02020603050405020304" pitchFamily="18" charset="0"/>
                        <a:ea typeface="+mn-ea"/>
                        <a:cs typeface="Times New Roman" panose="02020603050405020304" pitchFamily="18" charset="0"/>
                      </a:endParaRPr>
                    </a:p>
                  </a:txBody>
                  <a:tcPr marL="122523" marR="122523"/>
                </a:tc>
                <a:tc>
                  <a:txBody>
                    <a:bodyPr/>
                    <a:lstStyle/>
                    <a:p>
                      <a:pPr algn="just"/>
                      <a:r>
                        <a:rPr lang="en-US" sz="1600" b="1" dirty="0"/>
                        <a:t>Students will learn how to identify, prevent, avoid, detect, and recover from deadlocks in systems where multiple processes compete for limited shared resources.</a:t>
                      </a:r>
                      <a:endParaRPr lang="en-IN" sz="1600" b="1" kern="1200" dirty="0">
                        <a:solidFill>
                          <a:schemeClr val="dk1"/>
                        </a:solidFill>
                        <a:latin typeface="Times New Roman" panose="02020603050405020304" pitchFamily="18" charset="0"/>
                        <a:ea typeface="+mn-ea"/>
                        <a:cs typeface="Times New Roman" panose="02020603050405020304" pitchFamily="18" charset="0"/>
                      </a:endParaRPr>
                    </a:p>
                  </a:txBody>
                  <a:tcPr marL="122523" marR="122523"/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492528103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A5C3922-AC8B-A90A-B0E7-D199B5EEE5F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A382BE0-B96F-7D6E-2B20-4DA1F32AE0C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>
              <a:buNone/>
            </a:pPr>
            <a:r>
              <a:rPr lang="en-US" sz="1800" b="1" dirty="0"/>
              <a:t>Definition</a:t>
            </a:r>
          </a:p>
          <a:p>
            <a:r>
              <a:rPr lang="en-US" sz="1800" dirty="0"/>
              <a:t>Concurrency in OS means executing multiple processes or threads in overlapping time periods.</a:t>
            </a:r>
          </a:p>
          <a:p>
            <a:r>
              <a:rPr lang="en-US" sz="1800" dirty="0"/>
              <a:t>OS manages resources to ensure fairness, efficiency, and correctness.</a:t>
            </a:r>
          </a:p>
          <a:p>
            <a:r>
              <a:rPr lang="en-US" sz="1800" dirty="0"/>
              <a:t>It does not require simultaneous execution — interleaving is enough.</a:t>
            </a:r>
          </a:p>
          <a:p>
            <a:pPr marL="0" indent="0">
              <a:buNone/>
            </a:pPr>
            <a:endParaRPr lang="en-US" sz="1800" dirty="0"/>
          </a:p>
          <a:p>
            <a:pPr marL="0" indent="0">
              <a:buNone/>
            </a:pPr>
            <a:r>
              <a:rPr lang="en-US" sz="1600" b="1" dirty="0"/>
              <a:t>OS Role in Concurrency</a:t>
            </a:r>
          </a:p>
          <a:p>
            <a:r>
              <a:rPr lang="en-US" sz="1800" dirty="0"/>
              <a:t>Process Scheduling – decides which process runs next.</a:t>
            </a:r>
          </a:p>
          <a:p>
            <a:r>
              <a:rPr lang="en-US" sz="1800" dirty="0"/>
              <a:t>Resource Allocation – manages CPU, memory, I/O.</a:t>
            </a:r>
          </a:p>
          <a:p>
            <a:r>
              <a:rPr lang="en-US" sz="1800" dirty="0"/>
              <a:t>Synchronization – coordinates access to shared data.</a:t>
            </a:r>
          </a:p>
          <a:p>
            <a:r>
              <a:rPr lang="en-US" sz="1800" dirty="0"/>
              <a:t>Deadlock Handling – prevents or resolves resource waits.</a:t>
            </a:r>
          </a:p>
          <a:p>
            <a:endParaRPr lang="en-US" sz="1800" dirty="0"/>
          </a:p>
          <a:p>
            <a:endParaRPr lang="en-US" sz="1800" dirty="0"/>
          </a:p>
          <a:p>
            <a:endParaRPr lang="en-US" sz="1800" dirty="0"/>
          </a:p>
          <a:p>
            <a:endParaRPr lang="en-US" sz="1800" dirty="0"/>
          </a:p>
          <a:p>
            <a:endParaRPr lang="en-US" sz="1800" dirty="0"/>
          </a:p>
          <a:p>
            <a:endParaRPr lang="en-US" sz="1800" dirty="0"/>
          </a:p>
          <a:p>
            <a:endParaRPr lang="en-US" sz="1800" dirty="0"/>
          </a:p>
          <a:p>
            <a:endParaRPr lang="en-US" sz="1800" dirty="0"/>
          </a:p>
          <a:p>
            <a:endParaRPr lang="en-IN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839AD1E-52B1-A357-0D8F-A39FAB2EDCF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629AD21-D0D2-4751-846B-2B13FF1B1326}" type="datetime3">
              <a:rPr lang="en-US" smtClean="0"/>
              <a:t>1 September 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4208B8D-9019-07F5-3DDD-D09EE2A69E2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Atul Garg           BCSE0303            Unit- III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5677AC0-19E9-DE4E-80ED-E352F98D0DF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t>25</a:t>
            </a:fld>
            <a:endParaRPr lang="en-US"/>
          </a:p>
        </p:txBody>
      </p:sp>
      <p:pic>
        <p:nvPicPr>
          <p:cNvPr id="7" name="Picture 6" descr="A black and red logo&#10;&#10;Description automatically generated">
            <a:extLst>
              <a:ext uri="{FF2B5EF4-FFF2-40B4-BE49-F238E27FC236}">
                <a16:creationId xmlns:a16="http://schemas.microsoft.com/office/drawing/2014/main" id="{B1EE8006-3DBE-DDEC-B96D-FFFE4B301FE0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8129" y="71808"/>
            <a:ext cx="1850741" cy="1034863"/>
          </a:xfrm>
          <a:prstGeom prst="rect">
            <a:avLst/>
          </a:prstGeom>
        </p:spPr>
      </p:pic>
      <p:sp>
        <p:nvSpPr>
          <p:cNvPr id="8" name="Title 1">
            <a:extLst>
              <a:ext uri="{FF2B5EF4-FFF2-40B4-BE49-F238E27FC236}">
                <a16:creationId xmlns:a16="http://schemas.microsoft.com/office/drawing/2014/main" id="{76F58DDD-814C-770A-486F-1816F26F513B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1829140" y="39321"/>
            <a:ext cx="7314860" cy="1034863"/>
          </a:xfrm>
          <a:prstGeom prst="rect">
            <a:avLst/>
          </a:prstGeom>
          <a:gradFill flip="none" rotWithShape="1">
            <a:gsLst>
              <a:gs pos="0">
                <a:srgbClr val="FF0000">
                  <a:tint val="66000"/>
                  <a:satMod val="160000"/>
                </a:srgbClr>
              </a:gs>
              <a:gs pos="50000">
                <a:srgbClr val="FF0000">
                  <a:tint val="44500"/>
                  <a:satMod val="160000"/>
                </a:srgbClr>
              </a:gs>
              <a:gs pos="100000">
                <a:srgbClr val="FF0000">
                  <a:tint val="23500"/>
                  <a:satMod val="160000"/>
                </a:srgbClr>
              </a:gs>
            </a:gsLst>
            <a:lin ang="0" scaled="1"/>
            <a:tileRect/>
          </a:gradFill>
        </p:spPr>
        <p:style>
          <a:lnRef idx="1">
            <a:schemeClr val="accent5"/>
          </a:lnRef>
          <a:fillRef idx="2">
            <a:schemeClr val="accent5"/>
          </a:fillRef>
          <a:effectRef idx="1">
            <a:schemeClr val="accent5"/>
          </a:effectRef>
          <a:fontRef idx="minor">
            <a:schemeClr val="dk1"/>
          </a:fontRef>
        </p:style>
        <p:txBody>
          <a:bodyPr vert="horz" lIns="68580" tIns="34290" rIns="68580" bIns="34290" rtlCol="0" anchor="ctr">
            <a:noAutofit/>
          </a:bodyPr>
          <a:lstStyle>
            <a:defPPr>
              <a:defRPr lang="en-US"/>
            </a:defPPr>
            <a:lvl1pPr algn="ctr">
              <a:spcBef>
                <a:spcPct val="0"/>
              </a:spcBef>
              <a:buNone/>
              <a:defRPr sz="2800"/>
            </a:lvl1pPr>
          </a:lstStyle>
          <a:p>
            <a:pPr>
              <a:defRPr/>
            </a:pPr>
            <a:r>
              <a:rPr lang="en-IN" b="1" dirty="0"/>
              <a:t>Concurrency</a:t>
            </a:r>
            <a:endParaRPr lang="en-US" sz="2400" dirty="0"/>
          </a:p>
        </p:txBody>
      </p:sp>
      <p:sp>
        <p:nvSpPr>
          <p:cNvPr id="12" name="Date Placeholder 3">
            <a:extLst>
              <a:ext uri="{FF2B5EF4-FFF2-40B4-BE49-F238E27FC236}">
                <a16:creationId xmlns:a16="http://schemas.microsoft.com/office/drawing/2014/main" id="{C8872622-8DEA-659E-03FA-9E10786A4AED}"/>
              </a:ext>
            </a:extLst>
          </p:cNvPr>
          <p:cNvSpPr txBox="1">
            <a:spLocks/>
          </p:cNvSpPr>
          <p:nvPr/>
        </p:nvSpPr>
        <p:spPr>
          <a:xfrm>
            <a:off x="612616" y="6532987"/>
            <a:ext cx="1772339" cy="188492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l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defRPr/>
            </a:pPr>
            <a:fld id="{6821EDDE-00E4-4776-ACA5-EF5F8AEC90D6}" type="datetime1">
              <a:rPr lang="en-US" smtClean="0"/>
              <a:pPr>
                <a:defRPr/>
              </a:pPr>
              <a:t>9/1/2025</a:t>
            </a:fld>
            <a:endParaRPr lang="en-US"/>
          </a:p>
        </p:txBody>
      </p:sp>
      <p:sp>
        <p:nvSpPr>
          <p:cNvPr id="14" name="Slide Number Placeholder 5">
            <a:extLst>
              <a:ext uri="{FF2B5EF4-FFF2-40B4-BE49-F238E27FC236}">
                <a16:creationId xmlns:a16="http://schemas.microsoft.com/office/drawing/2014/main" id="{37D2F4B0-6CAD-E465-305F-04C9AF97AA97}"/>
              </a:ext>
            </a:extLst>
          </p:cNvPr>
          <p:cNvSpPr txBox="1">
            <a:spLocks/>
          </p:cNvSpPr>
          <p:nvPr/>
        </p:nvSpPr>
        <p:spPr>
          <a:xfrm>
            <a:off x="8780834" y="6532987"/>
            <a:ext cx="1772339" cy="188492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r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defRPr/>
            </a:pPr>
            <a:fld id="{6D589479-0575-4FC7-AC91-76154F19B013}" type="slidenum">
              <a:rPr lang="en-US" smtClean="0"/>
              <a:pPr>
                <a:defRPr/>
              </a:pPr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15222065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80C6C11-6424-8416-539C-07243D02A56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7330CB4-2274-E1CA-01D8-561452FD743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>
              <a:buNone/>
            </a:pPr>
            <a:r>
              <a:rPr lang="en-US" sz="1800" b="1" dirty="0"/>
              <a:t>Types of Concurrency in OS</a:t>
            </a:r>
          </a:p>
          <a:p>
            <a:r>
              <a:rPr lang="en-US" sz="1800" dirty="0"/>
              <a:t>Process-Level Concurrency – multiple independent processes.</a:t>
            </a:r>
          </a:p>
          <a:p>
            <a:r>
              <a:rPr lang="en-US" sz="1800" dirty="0"/>
              <a:t>Thread-Level Concurrency – threads within a process.</a:t>
            </a:r>
          </a:p>
          <a:p>
            <a:r>
              <a:rPr lang="en-US" sz="1800" dirty="0"/>
              <a:t>Distributed Concurrency – processes across networked systems.</a:t>
            </a:r>
          </a:p>
          <a:p>
            <a:endParaRPr lang="en-US" sz="1800" dirty="0"/>
          </a:p>
          <a:p>
            <a:pPr marL="0" indent="0">
              <a:buNone/>
            </a:pPr>
            <a:r>
              <a:rPr lang="en-US" sz="1800" b="1" dirty="0"/>
              <a:t>Challenges in OS Concurrency</a:t>
            </a:r>
          </a:p>
          <a:p>
            <a:r>
              <a:rPr lang="en-US" sz="1800" dirty="0"/>
              <a:t>Race Conditions – incorrect results due to interleaving.</a:t>
            </a:r>
          </a:p>
          <a:p>
            <a:r>
              <a:rPr lang="en-US" sz="1800" dirty="0"/>
              <a:t>Deadlocks – processes wait forever for resources.</a:t>
            </a:r>
          </a:p>
          <a:p>
            <a:r>
              <a:rPr lang="en-US" sz="1800" dirty="0"/>
              <a:t>Starvation – some processes never get CPU time.</a:t>
            </a:r>
          </a:p>
          <a:p>
            <a:r>
              <a:rPr lang="en-US" sz="1800" dirty="0"/>
              <a:t>Synchronization Overhead – too much locking slows performance.</a:t>
            </a:r>
          </a:p>
          <a:p>
            <a:pPr marL="0" indent="0">
              <a:buNone/>
            </a:pPr>
            <a:endParaRPr lang="en-US" sz="1800" dirty="0"/>
          </a:p>
          <a:p>
            <a:pPr marL="0" indent="0">
              <a:buNone/>
            </a:pPr>
            <a:endParaRPr lang="en-US" sz="1800" dirty="0"/>
          </a:p>
          <a:p>
            <a:endParaRPr lang="en-US" sz="1800" dirty="0"/>
          </a:p>
          <a:p>
            <a:endParaRPr lang="en-US" sz="1800" dirty="0"/>
          </a:p>
          <a:p>
            <a:endParaRPr lang="en-US" sz="1800" dirty="0"/>
          </a:p>
          <a:p>
            <a:endParaRPr lang="en-US" sz="1800" dirty="0"/>
          </a:p>
          <a:p>
            <a:endParaRPr lang="en-US" sz="1800" dirty="0"/>
          </a:p>
          <a:p>
            <a:endParaRPr lang="en-US" sz="1800" dirty="0"/>
          </a:p>
          <a:p>
            <a:endParaRPr lang="en-US" sz="1800" dirty="0"/>
          </a:p>
          <a:p>
            <a:endParaRPr lang="en-IN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45562E8-EE7A-9089-5CA8-8D7AB690908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9B7BC9E-66A1-49DF-95AA-2966FFDC1794}" type="datetime3">
              <a:rPr lang="en-US" smtClean="0"/>
              <a:t>1 September 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7CC7420-DE2B-A152-570E-C7DF108776D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Atul Garg           BCSE0303            Unit- III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11EC2F4-3DC8-2D76-79B7-55C28710A6D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t>26</a:t>
            </a:fld>
            <a:endParaRPr lang="en-US"/>
          </a:p>
        </p:txBody>
      </p:sp>
      <p:pic>
        <p:nvPicPr>
          <p:cNvPr id="7" name="Picture 6" descr="A black and red logo&#10;&#10;Description automatically generated">
            <a:extLst>
              <a:ext uri="{FF2B5EF4-FFF2-40B4-BE49-F238E27FC236}">
                <a16:creationId xmlns:a16="http://schemas.microsoft.com/office/drawing/2014/main" id="{3F9EBF48-BDFF-D45A-6D38-ED2936FAF2A3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8129" y="71808"/>
            <a:ext cx="1850741" cy="1034863"/>
          </a:xfrm>
          <a:prstGeom prst="rect">
            <a:avLst/>
          </a:prstGeom>
        </p:spPr>
      </p:pic>
      <p:sp>
        <p:nvSpPr>
          <p:cNvPr id="8" name="Title 1">
            <a:extLst>
              <a:ext uri="{FF2B5EF4-FFF2-40B4-BE49-F238E27FC236}">
                <a16:creationId xmlns:a16="http://schemas.microsoft.com/office/drawing/2014/main" id="{082DAC94-1661-164C-56BB-352102AD3259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1929666" y="71808"/>
            <a:ext cx="7214334" cy="1034863"/>
          </a:xfrm>
          <a:prstGeom prst="rect">
            <a:avLst/>
          </a:prstGeom>
          <a:gradFill flip="none" rotWithShape="1">
            <a:gsLst>
              <a:gs pos="0">
                <a:srgbClr val="FF0000">
                  <a:tint val="66000"/>
                  <a:satMod val="160000"/>
                </a:srgbClr>
              </a:gs>
              <a:gs pos="50000">
                <a:srgbClr val="FF0000">
                  <a:tint val="44500"/>
                  <a:satMod val="160000"/>
                </a:srgbClr>
              </a:gs>
              <a:gs pos="100000">
                <a:srgbClr val="FF0000">
                  <a:tint val="23500"/>
                  <a:satMod val="160000"/>
                </a:srgbClr>
              </a:gs>
            </a:gsLst>
            <a:lin ang="0" scaled="1"/>
            <a:tileRect/>
          </a:gradFill>
        </p:spPr>
        <p:style>
          <a:lnRef idx="1">
            <a:schemeClr val="accent5"/>
          </a:lnRef>
          <a:fillRef idx="2">
            <a:schemeClr val="accent5"/>
          </a:fillRef>
          <a:effectRef idx="1">
            <a:schemeClr val="accent5"/>
          </a:effectRef>
          <a:fontRef idx="minor">
            <a:schemeClr val="dk1"/>
          </a:fontRef>
        </p:style>
        <p:txBody>
          <a:bodyPr vert="horz" lIns="68580" tIns="34290" rIns="68580" bIns="34290" rtlCol="0" anchor="ctr">
            <a:noAutofit/>
          </a:bodyPr>
          <a:lstStyle>
            <a:defPPr>
              <a:defRPr lang="en-US"/>
            </a:defPPr>
            <a:lvl1pPr algn="ctr">
              <a:spcBef>
                <a:spcPct val="0"/>
              </a:spcBef>
              <a:buNone/>
              <a:defRPr sz="2800"/>
            </a:lvl1pPr>
          </a:lstStyle>
          <a:p>
            <a:pPr>
              <a:defRPr/>
            </a:pPr>
            <a:r>
              <a:rPr lang="en-IN" sz="2400" b="1" dirty="0"/>
              <a:t>Concurrency</a:t>
            </a:r>
            <a:endParaRPr lang="en-US" sz="2100" dirty="0"/>
          </a:p>
        </p:txBody>
      </p:sp>
      <p:sp>
        <p:nvSpPr>
          <p:cNvPr id="12" name="Date Placeholder 3">
            <a:extLst>
              <a:ext uri="{FF2B5EF4-FFF2-40B4-BE49-F238E27FC236}">
                <a16:creationId xmlns:a16="http://schemas.microsoft.com/office/drawing/2014/main" id="{F632A4F4-CDF3-2CB1-07A9-C7FF04A0672B}"/>
              </a:ext>
            </a:extLst>
          </p:cNvPr>
          <p:cNvSpPr txBox="1">
            <a:spLocks/>
          </p:cNvSpPr>
          <p:nvPr/>
        </p:nvSpPr>
        <p:spPr>
          <a:xfrm>
            <a:off x="612616" y="6532987"/>
            <a:ext cx="1772339" cy="188492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l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defRPr/>
            </a:pPr>
            <a:fld id="{6821EDDE-00E4-4776-ACA5-EF5F8AEC90D6}" type="datetime1">
              <a:rPr lang="en-US" smtClean="0"/>
              <a:pPr>
                <a:defRPr/>
              </a:pPr>
              <a:t>9/1/2025</a:t>
            </a:fld>
            <a:endParaRPr lang="en-US"/>
          </a:p>
        </p:txBody>
      </p:sp>
      <p:sp>
        <p:nvSpPr>
          <p:cNvPr id="14" name="Slide Number Placeholder 5">
            <a:extLst>
              <a:ext uri="{FF2B5EF4-FFF2-40B4-BE49-F238E27FC236}">
                <a16:creationId xmlns:a16="http://schemas.microsoft.com/office/drawing/2014/main" id="{549BD0B0-0B5E-C155-3E78-9FE188FB9E8E}"/>
              </a:ext>
            </a:extLst>
          </p:cNvPr>
          <p:cNvSpPr txBox="1">
            <a:spLocks/>
          </p:cNvSpPr>
          <p:nvPr/>
        </p:nvSpPr>
        <p:spPr>
          <a:xfrm>
            <a:off x="8780834" y="6532987"/>
            <a:ext cx="1772339" cy="188492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r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defRPr/>
            </a:pPr>
            <a:fld id="{6D589479-0575-4FC7-AC91-76154F19B013}" type="slidenum">
              <a:rPr lang="en-US" smtClean="0"/>
              <a:pPr>
                <a:defRPr/>
              </a:pPr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4287279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A07391A-45CC-07A6-19D5-7E81EF6E004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27BBDBA-A2E6-3924-E66C-D05E0E3346D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pPr marL="0" indent="0">
              <a:buNone/>
            </a:pPr>
            <a:r>
              <a:rPr lang="en-US" sz="1800" b="1" dirty="0"/>
              <a:t>Definition</a:t>
            </a:r>
          </a:p>
          <a:p>
            <a:r>
              <a:rPr lang="en-US" sz="1800" dirty="0"/>
              <a:t>A race condition occurs when multiple processes or threads access and manipulate shared data </a:t>
            </a:r>
            <a:r>
              <a:rPr lang="en-US" sz="1800" dirty="0" err="1"/>
              <a:t>concurrently,and</a:t>
            </a:r>
            <a:r>
              <a:rPr lang="en-US" sz="1800" dirty="0"/>
              <a:t> the final result depends on the timing or order of execution.</a:t>
            </a:r>
          </a:p>
          <a:p>
            <a:pPr marL="0" indent="0">
              <a:buNone/>
            </a:pPr>
            <a:r>
              <a:rPr lang="en-US" sz="1800" b="1" dirty="0"/>
              <a:t>How It Happens </a:t>
            </a:r>
            <a:r>
              <a:rPr lang="en-US" sz="1800" b="1" i="1" dirty="0"/>
              <a:t>(as in the image)</a:t>
            </a:r>
            <a:endParaRPr lang="en-US" sz="1800" b="1" dirty="0"/>
          </a:p>
          <a:p>
            <a:r>
              <a:rPr lang="en-US" sz="1800" b="1" dirty="0"/>
              <a:t>Two threads</a:t>
            </a:r>
            <a:r>
              <a:rPr lang="en-US" sz="1800" dirty="0"/>
              <a:t> (or processes) try to update the same variable in </a:t>
            </a:r>
            <a:r>
              <a:rPr lang="en-US" sz="1800" b="1" dirty="0"/>
              <a:t>shared memory</a:t>
            </a:r>
            <a:r>
              <a:rPr lang="en-US" sz="1800" dirty="0"/>
              <a:t>.</a:t>
            </a:r>
          </a:p>
          <a:p>
            <a:r>
              <a:rPr lang="en-US" sz="1800" b="1" dirty="0"/>
              <a:t>Thread 1</a:t>
            </a:r>
            <a:r>
              <a:rPr lang="en-US" sz="1800" dirty="0"/>
              <a:t> reads the value → modifies it → writes it back.</a:t>
            </a:r>
          </a:p>
          <a:p>
            <a:r>
              <a:rPr lang="en-US" sz="1800" b="1" dirty="0"/>
              <a:t>Thread 2</a:t>
            </a:r>
            <a:r>
              <a:rPr lang="en-US" sz="1800" dirty="0"/>
              <a:t> reads the value → modifies it → writes it back.</a:t>
            </a:r>
          </a:p>
          <a:p>
            <a:r>
              <a:rPr lang="en-US" sz="1800" dirty="0"/>
              <a:t>If both read the </a:t>
            </a:r>
            <a:r>
              <a:rPr lang="en-US" sz="1800" b="1" dirty="0"/>
              <a:t>old value</a:t>
            </a:r>
            <a:r>
              <a:rPr lang="en-US" sz="1800" dirty="0"/>
              <a:t> before either writes, one update gets </a:t>
            </a:r>
            <a:r>
              <a:rPr lang="en-US" sz="1800" b="1" dirty="0"/>
              <a:t>lost</a:t>
            </a:r>
            <a:r>
              <a:rPr lang="en-US" sz="1800" dirty="0"/>
              <a:t>.</a:t>
            </a:r>
          </a:p>
          <a:p>
            <a:pPr marL="0" indent="0">
              <a:buNone/>
            </a:pPr>
            <a:r>
              <a:rPr lang="en-US" sz="1800" b="1" dirty="0"/>
              <a:t>Example</a:t>
            </a:r>
          </a:p>
          <a:p>
            <a:pPr marL="0" indent="0">
              <a:buNone/>
            </a:pPr>
            <a:r>
              <a:rPr lang="en-US" sz="1800" dirty="0"/>
              <a:t>Shared variable X = 5 Thread 1: Reads 5 → adds 1 → writes 6.</a:t>
            </a:r>
          </a:p>
          <a:p>
            <a:pPr marL="0" indent="0">
              <a:buNone/>
            </a:pPr>
            <a:r>
              <a:rPr lang="en-US" sz="1800" dirty="0"/>
              <a:t>Thread 2: Reads 5 → adds 2 → writes 7.</a:t>
            </a:r>
          </a:p>
          <a:p>
            <a:pPr marL="0" indent="0">
              <a:buNone/>
            </a:pPr>
            <a:r>
              <a:rPr lang="en-US" sz="1800" dirty="0"/>
              <a:t>Expected: X = 8 </a:t>
            </a:r>
          </a:p>
          <a:p>
            <a:pPr marL="0" indent="0">
              <a:buNone/>
            </a:pPr>
            <a:r>
              <a:rPr lang="en-US" sz="1800" dirty="0"/>
              <a:t>Actual: X = 6 or X = 7 (update lost).</a:t>
            </a:r>
          </a:p>
          <a:p>
            <a:endParaRPr lang="en-US" sz="1800" dirty="0"/>
          </a:p>
          <a:p>
            <a:pPr marL="0" indent="0">
              <a:buNone/>
            </a:pPr>
            <a:endParaRPr lang="en-US" sz="1800" dirty="0"/>
          </a:p>
          <a:p>
            <a:endParaRPr lang="en-US" sz="1800" dirty="0"/>
          </a:p>
          <a:p>
            <a:endParaRPr lang="en-US" sz="1800" dirty="0"/>
          </a:p>
          <a:p>
            <a:endParaRPr lang="en-US" sz="1800" dirty="0"/>
          </a:p>
          <a:p>
            <a:endParaRPr lang="en-US" sz="1800" dirty="0"/>
          </a:p>
          <a:p>
            <a:endParaRPr lang="en-US" sz="1800" dirty="0"/>
          </a:p>
          <a:p>
            <a:endParaRPr lang="en-US" sz="1800" dirty="0"/>
          </a:p>
          <a:p>
            <a:endParaRPr lang="en-US" sz="1800" dirty="0"/>
          </a:p>
          <a:p>
            <a:endParaRPr lang="en-IN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F852643-877D-0A19-6A91-F7D60D8F524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Atul Garg           BCSE0303            Unit- III</a:t>
            </a:r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3DAE6A9-7A8C-8BAF-6170-73A99410CE2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t>27</a:t>
            </a:fld>
            <a:endParaRPr lang="en-US"/>
          </a:p>
        </p:txBody>
      </p:sp>
      <p:pic>
        <p:nvPicPr>
          <p:cNvPr id="7" name="Picture 6" descr="A black and red logo&#10;&#10;Description automatically generated">
            <a:extLst>
              <a:ext uri="{FF2B5EF4-FFF2-40B4-BE49-F238E27FC236}">
                <a16:creationId xmlns:a16="http://schemas.microsoft.com/office/drawing/2014/main" id="{F5F640A6-3F91-200D-9A77-D4BCF1091B80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8129" y="71808"/>
            <a:ext cx="1850741" cy="1034863"/>
          </a:xfrm>
          <a:prstGeom prst="rect">
            <a:avLst/>
          </a:prstGeom>
        </p:spPr>
      </p:pic>
      <p:sp>
        <p:nvSpPr>
          <p:cNvPr id="8" name="Title 1">
            <a:extLst>
              <a:ext uri="{FF2B5EF4-FFF2-40B4-BE49-F238E27FC236}">
                <a16:creationId xmlns:a16="http://schemas.microsoft.com/office/drawing/2014/main" id="{841C59FE-B46C-9EB9-FFBF-FD23F2110D08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1929666" y="71808"/>
            <a:ext cx="7214334" cy="1034863"/>
          </a:xfrm>
          <a:prstGeom prst="rect">
            <a:avLst/>
          </a:prstGeom>
          <a:gradFill flip="none" rotWithShape="1">
            <a:gsLst>
              <a:gs pos="0">
                <a:srgbClr val="FF0000">
                  <a:tint val="66000"/>
                  <a:satMod val="160000"/>
                </a:srgbClr>
              </a:gs>
              <a:gs pos="50000">
                <a:srgbClr val="FF0000">
                  <a:tint val="44500"/>
                  <a:satMod val="160000"/>
                </a:srgbClr>
              </a:gs>
              <a:gs pos="100000">
                <a:srgbClr val="FF0000">
                  <a:tint val="23500"/>
                  <a:satMod val="160000"/>
                </a:srgbClr>
              </a:gs>
            </a:gsLst>
            <a:lin ang="0" scaled="1"/>
            <a:tileRect/>
          </a:gradFill>
        </p:spPr>
        <p:style>
          <a:lnRef idx="1">
            <a:schemeClr val="accent5"/>
          </a:lnRef>
          <a:fillRef idx="2">
            <a:schemeClr val="accent5"/>
          </a:fillRef>
          <a:effectRef idx="1">
            <a:schemeClr val="accent5"/>
          </a:effectRef>
          <a:fontRef idx="minor">
            <a:schemeClr val="dk1"/>
          </a:fontRef>
        </p:style>
        <p:txBody>
          <a:bodyPr vert="horz" lIns="68580" tIns="34290" rIns="68580" bIns="34290" rtlCol="0" anchor="ctr">
            <a:noAutofit/>
          </a:bodyPr>
          <a:lstStyle>
            <a:defPPr>
              <a:defRPr lang="en-US"/>
            </a:defPPr>
            <a:lvl1pPr algn="ctr">
              <a:spcBef>
                <a:spcPct val="0"/>
              </a:spcBef>
              <a:buNone/>
              <a:defRPr sz="2800"/>
            </a:lvl1pPr>
          </a:lstStyle>
          <a:p>
            <a:pPr>
              <a:defRPr/>
            </a:pPr>
            <a:r>
              <a:rPr lang="en-IN" b="1" spc="-5" dirty="0"/>
              <a:t>Race</a:t>
            </a:r>
            <a:r>
              <a:rPr lang="en-IN" b="1" spc="-85" dirty="0"/>
              <a:t> </a:t>
            </a:r>
            <a:r>
              <a:rPr lang="en-IN" b="1" spc="-5" dirty="0"/>
              <a:t>Condition</a:t>
            </a:r>
            <a:endParaRPr lang="en-US" sz="2400" dirty="0"/>
          </a:p>
        </p:txBody>
      </p:sp>
      <p:sp>
        <p:nvSpPr>
          <p:cNvPr id="12" name="Date Placeholder 3">
            <a:extLst>
              <a:ext uri="{FF2B5EF4-FFF2-40B4-BE49-F238E27FC236}">
                <a16:creationId xmlns:a16="http://schemas.microsoft.com/office/drawing/2014/main" id="{F2942B07-0EB3-565A-1C77-630A9591D703}"/>
              </a:ext>
            </a:extLst>
          </p:cNvPr>
          <p:cNvSpPr txBox="1">
            <a:spLocks/>
          </p:cNvSpPr>
          <p:nvPr/>
        </p:nvSpPr>
        <p:spPr>
          <a:xfrm>
            <a:off x="612616" y="6532987"/>
            <a:ext cx="1772339" cy="188492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l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defRPr/>
            </a:pPr>
            <a:fld id="{6821EDDE-00E4-4776-ACA5-EF5F8AEC90D6}" type="datetime1">
              <a:rPr lang="en-US" smtClean="0"/>
              <a:pPr>
                <a:defRPr/>
              </a:pPr>
              <a:t>9/1/2025</a:t>
            </a:fld>
            <a:endParaRPr lang="en-US"/>
          </a:p>
        </p:txBody>
      </p:sp>
      <p:sp>
        <p:nvSpPr>
          <p:cNvPr id="14" name="Slide Number Placeholder 5">
            <a:extLst>
              <a:ext uri="{FF2B5EF4-FFF2-40B4-BE49-F238E27FC236}">
                <a16:creationId xmlns:a16="http://schemas.microsoft.com/office/drawing/2014/main" id="{6E5B541E-F831-BE6F-97F4-517C2E9357D8}"/>
              </a:ext>
            </a:extLst>
          </p:cNvPr>
          <p:cNvSpPr txBox="1">
            <a:spLocks/>
          </p:cNvSpPr>
          <p:nvPr/>
        </p:nvSpPr>
        <p:spPr>
          <a:xfrm>
            <a:off x="8780834" y="6532987"/>
            <a:ext cx="1772339" cy="188492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r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defRPr/>
            </a:pPr>
            <a:fld id="{6D589479-0575-4FC7-AC91-76154F19B013}" type="slidenum">
              <a:rPr lang="en-US" smtClean="0"/>
              <a:pPr>
                <a:defRPr/>
              </a:pPr>
              <a:t>27</a:t>
            </a:fld>
            <a:endParaRPr lang="en-US"/>
          </a:p>
        </p:txBody>
      </p:sp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9749B518-1A9F-F954-9A2A-B97C2584000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E557FFF-8E79-414D-BA5E-6220036C69F8}" type="datetime3">
              <a:rPr lang="en-US" smtClean="0"/>
              <a:t>1 September 2025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690632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D329BC8-C31E-F65E-43D5-BE45E9637E4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0BCF93B-82F7-740A-1A19-8712B71DAF4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>
              <a:buNone/>
            </a:pPr>
            <a:endParaRPr lang="en-US" sz="1800" dirty="0"/>
          </a:p>
          <a:p>
            <a:pPr marL="0" indent="0">
              <a:buNone/>
            </a:pPr>
            <a:r>
              <a:rPr lang="en-US" sz="1800" b="1" dirty="0"/>
              <a:t>Effects</a:t>
            </a:r>
          </a:p>
          <a:p>
            <a:r>
              <a:rPr lang="en-US" sz="1800" dirty="0"/>
              <a:t>Incorrect results (data corruption).</a:t>
            </a:r>
          </a:p>
          <a:p>
            <a:r>
              <a:rPr lang="en-US" sz="1800" dirty="0"/>
              <a:t>Unpredictable system behavior.</a:t>
            </a:r>
          </a:p>
          <a:p>
            <a:r>
              <a:rPr lang="en-US" sz="1800" dirty="0"/>
              <a:t>Hard-to-debug issues (non-deterministic).	</a:t>
            </a:r>
          </a:p>
          <a:p>
            <a:pPr marL="0" indent="0">
              <a:buNone/>
            </a:pPr>
            <a:r>
              <a:rPr lang="en-US" sz="1800" dirty="0"/>
              <a:t>		</a:t>
            </a:r>
          </a:p>
          <a:p>
            <a:pPr marL="0" indent="0">
              <a:buNone/>
            </a:pPr>
            <a:r>
              <a:rPr lang="en-US" sz="1800" b="1" dirty="0"/>
              <a:t>Prevention</a:t>
            </a:r>
            <a:r>
              <a:rPr lang="en-US" sz="1800" dirty="0"/>
              <a:t> </a:t>
            </a:r>
            <a:r>
              <a:rPr lang="en-US" sz="1800" b="1" dirty="0"/>
              <a:t>Methods</a:t>
            </a:r>
          </a:p>
          <a:p>
            <a:pPr marL="0" indent="0">
              <a:buNone/>
            </a:pPr>
            <a:r>
              <a:rPr lang="en-US" sz="1800" dirty="0"/>
              <a:t>Mutual Exclusion (Locks, Mutexes).</a:t>
            </a:r>
          </a:p>
          <a:p>
            <a:pPr marL="0" indent="0">
              <a:buNone/>
            </a:pPr>
            <a:r>
              <a:rPr lang="en-US" sz="1800" dirty="0"/>
              <a:t>Semaphores.</a:t>
            </a:r>
          </a:p>
          <a:p>
            <a:endParaRPr lang="en-US" sz="1800" dirty="0"/>
          </a:p>
          <a:p>
            <a:endParaRPr lang="en-US" sz="1800" dirty="0"/>
          </a:p>
          <a:p>
            <a:endParaRPr lang="en-US" sz="1800" dirty="0"/>
          </a:p>
          <a:p>
            <a:endParaRPr lang="en-US" sz="1800" dirty="0"/>
          </a:p>
          <a:p>
            <a:endParaRPr lang="en-US" sz="1800" dirty="0"/>
          </a:p>
          <a:p>
            <a:endParaRPr lang="en-US" sz="1800" dirty="0"/>
          </a:p>
          <a:p>
            <a:endParaRPr lang="en-IN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5C977EA-5809-183D-7025-AE2DD7D26BB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2AA9BF2-6C6C-48B7-977B-A3D82DD91D58}" type="datetime3">
              <a:rPr lang="en-US" smtClean="0"/>
              <a:t>1 September 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5C039DA-BEB9-8D53-883A-36E0C511D5D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Atul Garg           BCSE0303            Unit- III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D135D2C-887E-6DB0-6CF3-186DF04D4AD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t>28</a:t>
            </a:fld>
            <a:endParaRPr lang="en-US"/>
          </a:p>
        </p:txBody>
      </p:sp>
      <p:pic>
        <p:nvPicPr>
          <p:cNvPr id="7" name="Picture 6" descr="A black and red logo&#10;&#10;Description automatically generated">
            <a:extLst>
              <a:ext uri="{FF2B5EF4-FFF2-40B4-BE49-F238E27FC236}">
                <a16:creationId xmlns:a16="http://schemas.microsoft.com/office/drawing/2014/main" id="{17A57816-E0E4-399F-99B3-16D8A41371A6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8129" y="71808"/>
            <a:ext cx="1850741" cy="1034863"/>
          </a:xfrm>
          <a:prstGeom prst="rect">
            <a:avLst/>
          </a:prstGeom>
        </p:spPr>
      </p:pic>
      <p:sp>
        <p:nvSpPr>
          <p:cNvPr id="8" name="Title 1">
            <a:extLst>
              <a:ext uri="{FF2B5EF4-FFF2-40B4-BE49-F238E27FC236}">
                <a16:creationId xmlns:a16="http://schemas.microsoft.com/office/drawing/2014/main" id="{9B88672C-5138-E75C-6CFB-06E3A6D5DB13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1929666" y="71808"/>
            <a:ext cx="6962813" cy="1034863"/>
          </a:xfrm>
          <a:prstGeom prst="rect">
            <a:avLst/>
          </a:prstGeom>
          <a:gradFill flip="none" rotWithShape="1">
            <a:gsLst>
              <a:gs pos="0">
                <a:srgbClr val="FF0000">
                  <a:tint val="66000"/>
                  <a:satMod val="160000"/>
                </a:srgbClr>
              </a:gs>
              <a:gs pos="50000">
                <a:srgbClr val="FF0000">
                  <a:tint val="44500"/>
                  <a:satMod val="160000"/>
                </a:srgbClr>
              </a:gs>
              <a:gs pos="100000">
                <a:srgbClr val="FF0000">
                  <a:tint val="23500"/>
                  <a:satMod val="160000"/>
                </a:srgbClr>
              </a:gs>
            </a:gsLst>
            <a:lin ang="0" scaled="1"/>
            <a:tileRect/>
          </a:gradFill>
        </p:spPr>
        <p:style>
          <a:lnRef idx="1">
            <a:schemeClr val="accent5"/>
          </a:lnRef>
          <a:fillRef idx="2">
            <a:schemeClr val="accent5"/>
          </a:fillRef>
          <a:effectRef idx="1">
            <a:schemeClr val="accent5"/>
          </a:effectRef>
          <a:fontRef idx="minor">
            <a:schemeClr val="dk1"/>
          </a:fontRef>
        </p:style>
        <p:txBody>
          <a:bodyPr vert="horz" lIns="68580" tIns="34290" rIns="68580" bIns="34290" rtlCol="0" anchor="ctr">
            <a:noAutofit/>
          </a:bodyPr>
          <a:lstStyle>
            <a:defPPr>
              <a:defRPr lang="en-US"/>
            </a:defPPr>
            <a:lvl1pPr algn="ctr">
              <a:spcBef>
                <a:spcPct val="0"/>
              </a:spcBef>
              <a:buNone/>
              <a:defRPr sz="2800"/>
            </a:lvl1pPr>
          </a:lstStyle>
          <a:p>
            <a:pPr>
              <a:defRPr/>
            </a:pPr>
            <a:r>
              <a:rPr lang="en-IN" b="1" spc="-5" dirty="0"/>
              <a:t>Race</a:t>
            </a:r>
            <a:r>
              <a:rPr lang="en-IN" b="1" spc="-85" dirty="0"/>
              <a:t> </a:t>
            </a:r>
            <a:r>
              <a:rPr lang="en-IN" b="1" spc="-5" dirty="0"/>
              <a:t>Condition</a:t>
            </a:r>
            <a:endParaRPr lang="en-US" sz="2400" b="1" dirty="0"/>
          </a:p>
        </p:txBody>
      </p:sp>
      <p:sp>
        <p:nvSpPr>
          <p:cNvPr id="12" name="Date Placeholder 3">
            <a:extLst>
              <a:ext uri="{FF2B5EF4-FFF2-40B4-BE49-F238E27FC236}">
                <a16:creationId xmlns:a16="http://schemas.microsoft.com/office/drawing/2014/main" id="{A146A406-D97B-FE47-F62D-A1A1D3D8715E}"/>
              </a:ext>
            </a:extLst>
          </p:cNvPr>
          <p:cNvSpPr txBox="1">
            <a:spLocks/>
          </p:cNvSpPr>
          <p:nvPr/>
        </p:nvSpPr>
        <p:spPr>
          <a:xfrm>
            <a:off x="612616" y="6532987"/>
            <a:ext cx="1772339" cy="188492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l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defRPr/>
            </a:pPr>
            <a:fld id="{6821EDDE-00E4-4776-ACA5-EF5F8AEC90D6}" type="datetime1">
              <a:rPr lang="en-US" smtClean="0"/>
              <a:pPr>
                <a:defRPr/>
              </a:pPr>
              <a:t>9/1/2025</a:t>
            </a:fld>
            <a:endParaRPr lang="en-US"/>
          </a:p>
        </p:txBody>
      </p:sp>
      <p:sp>
        <p:nvSpPr>
          <p:cNvPr id="14" name="Slide Number Placeholder 5">
            <a:extLst>
              <a:ext uri="{FF2B5EF4-FFF2-40B4-BE49-F238E27FC236}">
                <a16:creationId xmlns:a16="http://schemas.microsoft.com/office/drawing/2014/main" id="{16A178FE-B3DA-186A-10C3-804134B56DEF}"/>
              </a:ext>
            </a:extLst>
          </p:cNvPr>
          <p:cNvSpPr txBox="1">
            <a:spLocks/>
          </p:cNvSpPr>
          <p:nvPr/>
        </p:nvSpPr>
        <p:spPr>
          <a:xfrm>
            <a:off x="8780834" y="6532987"/>
            <a:ext cx="1772339" cy="188492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r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defRPr/>
            </a:pPr>
            <a:fld id="{6D589479-0575-4FC7-AC91-76154F19B013}" type="slidenum">
              <a:rPr lang="en-US" smtClean="0"/>
              <a:pPr>
                <a:defRPr/>
              </a:pPr>
              <a:t>28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32928308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0E7718C-8EFC-BEEB-D153-BB8C8ED51BE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086DD0A-16A2-3552-1AE9-10A8D28F335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4232610-38EB-422B-B8D3-6FDEF78CDFC1}" type="datetime3">
              <a:rPr lang="en-US" smtClean="0"/>
              <a:t>1 September 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54C1808-EBA2-1970-21BE-9A74694C03D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3257550" y="5543551"/>
            <a:ext cx="3543300" cy="273844"/>
          </a:xfrm>
        </p:spPr>
        <p:txBody>
          <a:bodyPr/>
          <a:lstStyle/>
          <a:p>
            <a:r>
              <a:rPr lang="en-US"/>
              <a:t>Atul Garg           BCSE0303            Unit- III</a:t>
            </a:r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8DDEBED-8F46-3035-986C-CCF358188DD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29</a:t>
            </a:fld>
            <a:endParaRPr lang="en-US"/>
          </a:p>
        </p:txBody>
      </p:sp>
      <p:sp>
        <p:nvSpPr>
          <p:cNvPr id="7" name="Title 1">
            <a:extLst>
              <a:ext uri="{FF2B5EF4-FFF2-40B4-BE49-F238E27FC236}">
                <a16:creationId xmlns:a16="http://schemas.microsoft.com/office/drawing/2014/main" id="{0BD16AD8-5032-F49E-D189-5E99AA0A37AB}"/>
              </a:ext>
            </a:extLst>
          </p:cNvPr>
          <p:cNvSpPr txBox="1">
            <a:spLocks/>
          </p:cNvSpPr>
          <p:nvPr/>
        </p:nvSpPr>
        <p:spPr>
          <a:xfrm>
            <a:off x="1619672" y="116632"/>
            <a:ext cx="7524328" cy="648072"/>
          </a:xfrm>
          <a:prstGeom prst="rect">
            <a:avLst/>
          </a:prstGeom>
          <a:gradFill flip="none" rotWithShape="1">
            <a:gsLst>
              <a:gs pos="0">
                <a:srgbClr val="FF0000">
                  <a:tint val="66000"/>
                  <a:satMod val="160000"/>
                </a:srgbClr>
              </a:gs>
              <a:gs pos="50000">
                <a:srgbClr val="FF0000">
                  <a:tint val="44500"/>
                  <a:satMod val="160000"/>
                </a:srgbClr>
              </a:gs>
              <a:gs pos="100000">
                <a:srgbClr val="FF0000">
                  <a:tint val="23500"/>
                  <a:satMod val="160000"/>
                </a:srgbClr>
              </a:gs>
            </a:gsLst>
            <a:lin ang="0" scaled="1"/>
            <a:tileRect/>
          </a:gradFill>
        </p:spPr>
        <p:style>
          <a:lnRef idx="1">
            <a:schemeClr val="accent5"/>
          </a:lnRef>
          <a:fillRef idx="2">
            <a:schemeClr val="accent5"/>
          </a:fillRef>
          <a:effectRef idx="1">
            <a:schemeClr val="accent5"/>
          </a:effectRef>
          <a:fontRef idx="minor">
            <a:schemeClr val="dk1"/>
          </a:fontRef>
        </p:style>
        <p:txBody>
          <a:bodyPr vert="horz" lIns="68580" tIns="34290" rIns="68580" bIns="34290" rtlCol="0" anchor="ctr">
            <a:noAutofit/>
          </a:bodyPr>
          <a:lstStyle>
            <a:defPPr>
              <a:defRPr lang="en-US"/>
            </a:defPPr>
            <a:lvl1pPr algn="ctr">
              <a:spcBef>
                <a:spcPct val="0"/>
              </a:spcBef>
              <a:buNone/>
              <a:defRPr sz="2800"/>
            </a:lvl1pPr>
          </a:lstStyle>
          <a:p>
            <a:pPr>
              <a:defRPr/>
            </a:pPr>
            <a:r>
              <a:rPr lang="en-IN" sz="2400" spc="-5" dirty="0"/>
              <a:t>Race</a:t>
            </a:r>
            <a:r>
              <a:rPr lang="en-IN" sz="2400" spc="-85" dirty="0"/>
              <a:t> </a:t>
            </a:r>
            <a:r>
              <a:rPr lang="en-IN" sz="2400" spc="-5" dirty="0"/>
              <a:t>Condition</a:t>
            </a:r>
            <a:r>
              <a:rPr lang="en-IN" sz="2400" dirty="0"/>
              <a:t>(CO3)</a:t>
            </a:r>
            <a:endParaRPr lang="en-US" sz="2100" dirty="0"/>
          </a:p>
        </p:txBody>
      </p:sp>
      <p:pic>
        <p:nvPicPr>
          <p:cNvPr id="2" name="Picture 1" descr="A black and red logo&#10;&#10;Description automatically generated">
            <a:extLst>
              <a:ext uri="{FF2B5EF4-FFF2-40B4-BE49-F238E27FC236}">
                <a16:creationId xmlns:a16="http://schemas.microsoft.com/office/drawing/2014/main" id="{EACA740E-6DC1-A0AA-8330-A82FF26F75E4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4330" y="44624"/>
            <a:ext cx="1657350" cy="792088"/>
          </a:xfrm>
          <a:prstGeom prst="rect">
            <a:avLst/>
          </a:prstGeom>
        </p:spPr>
      </p:pic>
      <p:sp>
        <p:nvSpPr>
          <p:cNvPr id="3" name="Rectangle 3">
            <a:extLst>
              <a:ext uri="{FF2B5EF4-FFF2-40B4-BE49-F238E27FC236}">
                <a16:creationId xmlns:a16="http://schemas.microsoft.com/office/drawing/2014/main" id="{E1EDD3BD-C04F-A204-BE3D-1CFAAAD3B0F5}"/>
              </a:ext>
            </a:extLst>
          </p:cNvPr>
          <p:cNvSpPr txBox="1">
            <a:spLocks noChangeArrowheads="1"/>
          </p:cNvSpPr>
          <p:nvPr/>
        </p:nvSpPr>
        <p:spPr>
          <a:xfrm>
            <a:off x="899592" y="764704"/>
            <a:ext cx="7992888" cy="5544616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/>
          <a:p>
            <a:pPr marL="353695" indent="-341630">
              <a:lnSpc>
                <a:spcPct val="120000"/>
              </a:lnSpc>
              <a:spcBef>
                <a:spcPts val="100"/>
              </a:spcBef>
              <a:buClr>
                <a:srgbClr val="993300"/>
              </a:buClr>
              <a:buSzPct val="89000"/>
              <a:buFont typeface="Arial" panose="020B0604020202020204" pitchFamily="34" charset="0"/>
              <a:buChar char="•"/>
              <a:tabLst>
                <a:tab pos="353695" algn="l"/>
                <a:tab pos="354330" algn="l"/>
              </a:tabLst>
            </a:pPr>
            <a:r>
              <a:rPr lang="en-IN" sz="2000" b="1" spc="-5" dirty="0">
                <a:cs typeface="Courier New" panose="02070309020205020404"/>
              </a:rPr>
              <a:t> counter++ </a:t>
            </a:r>
            <a:r>
              <a:rPr lang="en-IN" sz="2000" spc="-5" dirty="0">
                <a:cs typeface="Arial" panose="020B0604020202020204"/>
              </a:rPr>
              <a:t>could be implemented</a:t>
            </a:r>
            <a:r>
              <a:rPr lang="en-IN" sz="2000" spc="-65" dirty="0">
                <a:cs typeface="Arial" panose="020B0604020202020204"/>
              </a:rPr>
              <a:t> </a:t>
            </a:r>
            <a:r>
              <a:rPr lang="en-IN" sz="2000" spc="-5" dirty="0">
                <a:cs typeface="Arial" panose="020B0604020202020204"/>
              </a:rPr>
              <a:t>as</a:t>
            </a:r>
            <a:endParaRPr lang="en-IN" sz="2000" dirty="0">
              <a:cs typeface="Arial" panose="020B0604020202020204"/>
            </a:endParaRPr>
          </a:p>
          <a:p>
            <a:pPr marL="962660" marR="6985">
              <a:lnSpc>
                <a:spcPct val="120000"/>
              </a:lnSpc>
            </a:pPr>
            <a:r>
              <a:rPr lang="en-IN" sz="2000" b="1" spc="-5" dirty="0">
                <a:solidFill>
                  <a:srgbClr val="0000FF"/>
                </a:solidFill>
                <a:cs typeface="Courier New" panose="02070309020205020404"/>
              </a:rPr>
              <a:t>register1 = counter  </a:t>
            </a:r>
          </a:p>
          <a:p>
            <a:pPr marL="962660" marR="6985">
              <a:lnSpc>
                <a:spcPct val="120000"/>
              </a:lnSpc>
            </a:pPr>
            <a:r>
              <a:rPr lang="en-IN" sz="2000" b="1" spc="-5" dirty="0">
                <a:solidFill>
                  <a:srgbClr val="0000FF"/>
                </a:solidFill>
                <a:cs typeface="Courier New" panose="02070309020205020404"/>
              </a:rPr>
              <a:t>register1 = register1 + 1  </a:t>
            </a:r>
          </a:p>
          <a:p>
            <a:pPr marL="962660" marR="6985">
              <a:lnSpc>
                <a:spcPct val="120000"/>
              </a:lnSpc>
            </a:pPr>
            <a:r>
              <a:rPr lang="en-IN" sz="2000" b="1" spc="-5" dirty="0">
                <a:solidFill>
                  <a:srgbClr val="0000FF"/>
                </a:solidFill>
                <a:cs typeface="Courier New" panose="02070309020205020404"/>
              </a:rPr>
              <a:t>counter =</a:t>
            </a:r>
            <a:r>
              <a:rPr lang="en-IN" sz="2000" b="1" spc="5" dirty="0">
                <a:solidFill>
                  <a:srgbClr val="0000FF"/>
                </a:solidFill>
                <a:cs typeface="Courier New" panose="02070309020205020404"/>
              </a:rPr>
              <a:t> </a:t>
            </a:r>
            <a:r>
              <a:rPr lang="en-IN" sz="2000" b="1" spc="-5" dirty="0">
                <a:solidFill>
                  <a:srgbClr val="0000FF"/>
                </a:solidFill>
                <a:cs typeface="Courier New" panose="02070309020205020404"/>
              </a:rPr>
              <a:t>register1</a:t>
            </a:r>
            <a:endParaRPr lang="en-IN" sz="2000" dirty="0">
              <a:cs typeface="Courier New" panose="02070309020205020404"/>
            </a:endParaRPr>
          </a:p>
          <a:p>
            <a:pPr marL="353695" indent="-341630">
              <a:lnSpc>
                <a:spcPct val="120000"/>
              </a:lnSpc>
              <a:buClr>
                <a:srgbClr val="993300"/>
              </a:buClr>
              <a:buSzPct val="89000"/>
              <a:buFont typeface="Arial" panose="020B0604020202020204" pitchFamily="34" charset="0"/>
              <a:buChar char="•"/>
              <a:tabLst>
                <a:tab pos="353695" algn="l"/>
                <a:tab pos="354330" algn="l"/>
              </a:tabLst>
            </a:pPr>
            <a:r>
              <a:rPr lang="en-IN" sz="2000" b="1" spc="-5" dirty="0">
                <a:cs typeface="Courier New" panose="02070309020205020404"/>
              </a:rPr>
              <a:t> counter-- </a:t>
            </a:r>
            <a:r>
              <a:rPr lang="en-IN" sz="2000" spc="-5" dirty="0">
                <a:cs typeface="Arial" panose="020B0604020202020204"/>
              </a:rPr>
              <a:t>could be implemented</a:t>
            </a:r>
            <a:r>
              <a:rPr lang="en-IN" sz="2000" spc="-175" dirty="0">
                <a:cs typeface="Arial" panose="020B0604020202020204"/>
              </a:rPr>
              <a:t> </a:t>
            </a:r>
            <a:r>
              <a:rPr lang="en-IN" sz="2000" spc="-5" dirty="0">
                <a:cs typeface="Arial" panose="020B0604020202020204"/>
              </a:rPr>
              <a:t>as</a:t>
            </a:r>
          </a:p>
          <a:p>
            <a:pPr marL="353695" indent="-341630">
              <a:lnSpc>
                <a:spcPct val="120000"/>
              </a:lnSpc>
              <a:buClr>
                <a:srgbClr val="993300"/>
              </a:buClr>
              <a:buSzPct val="89000"/>
              <a:tabLst>
                <a:tab pos="353695" algn="l"/>
                <a:tab pos="354330" algn="l"/>
              </a:tabLst>
            </a:pPr>
            <a:r>
              <a:rPr lang="en-IN" sz="2000" b="1" spc="-5" dirty="0">
                <a:solidFill>
                  <a:srgbClr val="999900"/>
                </a:solidFill>
                <a:cs typeface="Courier New" panose="02070309020205020404"/>
              </a:rPr>
              <a:t>			register2 = counter </a:t>
            </a:r>
          </a:p>
          <a:p>
            <a:pPr marL="353695" indent="-341630">
              <a:lnSpc>
                <a:spcPct val="120000"/>
              </a:lnSpc>
              <a:buClr>
                <a:srgbClr val="993300"/>
              </a:buClr>
              <a:buSzPct val="89000"/>
              <a:tabLst>
                <a:tab pos="353695" algn="l"/>
                <a:tab pos="354330" algn="l"/>
              </a:tabLst>
            </a:pPr>
            <a:r>
              <a:rPr lang="en-IN" sz="2000" b="1" spc="-5" dirty="0">
                <a:solidFill>
                  <a:srgbClr val="999900"/>
                </a:solidFill>
                <a:cs typeface="Courier New" panose="02070309020205020404"/>
              </a:rPr>
              <a:t>			register2 = register2 - 1 </a:t>
            </a:r>
          </a:p>
          <a:p>
            <a:pPr marL="353695" indent="-341630">
              <a:lnSpc>
                <a:spcPct val="120000"/>
              </a:lnSpc>
              <a:buClr>
                <a:srgbClr val="993300"/>
              </a:buClr>
              <a:buSzPct val="89000"/>
              <a:tabLst>
                <a:tab pos="353695" algn="l"/>
                <a:tab pos="354330" algn="l"/>
              </a:tabLst>
            </a:pPr>
            <a:r>
              <a:rPr lang="en-IN" sz="2000" b="1" spc="-5" dirty="0">
                <a:solidFill>
                  <a:srgbClr val="999900"/>
                </a:solidFill>
                <a:cs typeface="Courier New" panose="02070309020205020404"/>
              </a:rPr>
              <a:t>			counter =</a:t>
            </a:r>
            <a:r>
              <a:rPr lang="en-IN" sz="2000" b="1" spc="5" dirty="0">
                <a:solidFill>
                  <a:srgbClr val="999900"/>
                </a:solidFill>
                <a:cs typeface="Courier New" panose="02070309020205020404"/>
              </a:rPr>
              <a:t> </a:t>
            </a:r>
            <a:r>
              <a:rPr lang="en-IN" sz="2000" b="1" spc="-5" dirty="0">
                <a:solidFill>
                  <a:srgbClr val="999900"/>
                </a:solidFill>
                <a:cs typeface="Courier New" panose="02070309020205020404"/>
              </a:rPr>
              <a:t>register2</a:t>
            </a:r>
            <a:endParaRPr lang="en-IN" sz="2000" dirty="0">
              <a:cs typeface="Courier New" panose="02070309020205020404"/>
            </a:endParaRPr>
          </a:p>
          <a:p>
            <a:pPr marL="353695" marR="92710" indent="-353695">
              <a:lnSpc>
                <a:spcPct val="120000"/>
              </a:lnSpc>
              <a:spcBef>
                <a:spcPts val="100"/>
              </a:spcBef>
              <a:buClr>
                <a:srgbClr val="993300"/>
              </a:buClr>
              <a:buSzPct val="91000"/>
              <a:buFont typeface="Arial" panose="020B0604020202020204" pitchFamily="34" charset="0"/>
              <a:buChar char="•"/>
              <a:tabLst>
                <a:tab pos="353695" algn="l"/>
                <a:tab pos="354330" algn="l"/>
              </a:tabLst>
            </a:pPr>
            <a:r>
              <a:rPr lang="en-IN" sz="2000" spc="-5" dirty="0">
                <a:cs typeface="Arial" panose="020B0604020202020204"/>
              </a:rPr>
              <a:t>  Consider this execution interleaving with </a:t>
            </a:r>
            <a:r>
              <a:rPr lang="en-IN" sz="2000" spc="-135" dirty="0">
                <a:cs typeface="AoyagiKouzanFontT"/>
              </a:rPr>
              <a:t>“</a:t>
            </a:r>
            <a:r>
              <a:rPr lang="en-IN" sz="2000" spc="-135" dirty="0">
                <a:cs typeface="Arial" panose="020B0604020202020204"/>
              </a:rPr>
              <a:t>count </a:t>
            </a:r>
            <a:r>
              <a:rPr lang="en-IN" sz="2000" spc="-5" dirty="0">
                <a:cs typeface="Arial" panose="020B0604020202020204"/>
              </a:rPr>
              <a:t>= </a:t>
            </a:r>
            <a:r>
              <a:rPr lang="en-IN" sz="2000" spc="-405" dirty="0">
                <a:cs typeface="Arial" panose="020B0604020202020204"/>
              </a:rPr>
              <a:t>5</a:t>
            </a:r>
            <a:r>
              <a:rPr lang="en-IN" sz="2000" spc="-405" dirty="0">
                <a:cs typeface="AoyagiKouzanFontT"/>
              </a:rPr>
              <a:t>” </a:t>
            </a:r>
            <a:r>
              <a:rPr lang="en-IN" sz="2000" spc="-5" dirty="0">
                <a:cs typeface="Arial" panose="020B0604020202020204"/>
              </a:rPr>
              <a:t>initially: </a:t>
            </a:r>
          </a:p>
          <a:p>
            <a:pPr marL="353695" marR="92710" indent="-353695">
              <a:lnSpc>
                <a:spcPct val="120000"/>
              </a:lnSpc>
              <a:spcBef>
                <a:spcPts val="100"/>
              </a:spcBef>
              <a:buClr>
                <a:srgbClr val="993300"/>
              </a:buClr>
              <a:buSzPct val="91000"/>
              <a:tabLst>
                <a:tab pos="353695" algn="l"/>
                <a:tab pos="354330" algn="l"/>
              </a:tabLst>
            </a:pPr>
            <a:r>
              <a:rPr lang="en-IN" sz="2000" spc="-5" dirty="0">
                <a:cs typeface="Arial" panose="020B0604020202020204"/>
              </a:rPr>
              <a:t>             S0: producer execute </a:t>
            </a:r>
            <a:r>
              <a:rPr lang="en-IN" sz="2000" b="1" spc="-5" dirty="0">
                <a:solidFill>
                  <a:srgbClr val="0000FF"/>
                </a:solidFill>
                <a:cs typeface="Courier New" panose="02070309020205020404"/>
              </a:rPr>
              <a:t>register1 =</a:t>
            </a:r>
            <a:r>
              <a:rPr lang="en-IN" sz="2000" b="1" spc="60" dirty="0">
                <a:solidFill>
                  <a:srgbClr val="0000FF"/>
                </a:solidFill>
                <a:cs typeface="Courier New" panose="02070309020205020404"/>
              </a:rPr>
              <a:t> </a:t>
            </a:r>
            <a:r>
              <a:rPr lang="en-IN" sz="2000" b="1" spc="-5" dirty="0">
                <a:solidFill>
                  <a:srgbClr val="0000FF"/>
                </a:solidFill>
                <a:cs typeface="Courier New" panose="02070309020205020404"/>
              </a:rPr>
              <a:t>counter 	</a:t>
            </a:r>
            <a:r>
              <a:rPr lang="en-IN" sz="2000" spc="-5" dirty="0">
                <a:latin typeface="Arial" panose="020B0604020202020204"/>
                <a:cs typeface="Arial" panose="020B0604020202020204"/>
              </a:rPr>
              <a:t>{register1 =</a:t>
            </a:r>
            <a:r>
              <a:rPr lang="en-IN" sz="2000" spc="-30" dirty="0">
                <a:latin typeface="Arial" panose="020B0604020202020204"/>
                <a:cs typeface="Arial" panose="020B0604020202020204"/>
              </a:rPr>
              <a:t> </a:t>
            </a:r>
            <a:r>
              <a:rPr lang="en-IN" sz="2000" spc="-5" dirty="0">
                <a:latin typeface="Arial" panose="020B0604020202020204"/>
                <a:cs typeface="Arial" panose="020B0604020202020204"/>
              </a:rPr>
              <a:t>5}</a:t>
            </a:r>
            <a:endParaRPr lang="en-IN" sz="2000" dirty="0">
              <a:cs typeface="Courier New" panose="02070309020205020404"/>
            </a:endParaRPr>
          </a:p>
          <a:p>
            <a:pPr marL="754380">
              <a:lnSpc>
                <a:spcPct val="120000"/>
              </a:lnSpc>
            </a:pPr>
            <a:r>
              <a:rPr lang="en-IN" sz="2000" spc="-5" dirty="0">
                <a:cs typeface="Arial" panose="020B0604020202020204"/>
              </a:rPr>
              <a:t>S1: producer execute </a:t>
            </a:r>
            <a:r>
              <a:rPr lang="en-IN" sz="2000" b="1" spc="-5" dirty="0">
                <a:solidFill>
                  <a:srgbClr val="0000FF"/>
                </a:solidFill>
                <a:cs typeface="Courier New" panose="02070309020205020404"/>
              </a:rPr>
              <a:t>register1 = register1 +</a:t>
            </a:r>
            <a:r>
              <a:rPr lang="en-IN" sz="2000" b="1" spc="90" dirty="0">
                <a:solidFill>
                  <a:srgbClr val="0000FF"/>
                </a:solidFill>
                <a:cs typeface="Courier New" panose="02070309020205020404"/>
              </a:rPr>
              <a:t> </a:t>
            </a:r>
            <a:r>
              <a:rPr lang="en-IN" sz="2000" b="1" spc="-5" dirty="0">
                <a:solidFill>
                  <a:srgbClr val="0000FF"/>
                </a:solidFill>
                <a:cs typeface="Courier New" panose="02070309020205020404"/>
              </a:rPr>
              <a:t>1	</a:t>
            </a:r>
            <a:r>
              <a:rPr lang="en-IN" sz="2000" spc="-5" dirty="0">
                <a:latin typeface="Arial" panose="020B0604020202020204"/>
                <a:cs typeface="Arial" panose="020B0604020202020204"/>
              </a:rPr>
              <a:t>{register1 =</a:t>
            </a:r>
            <a:r>
              <a:rPr lang="en-IN" sz="2000" spc="-30" dirty="0">
                <a:latin typeface="Arial" panose="020B0604020202020204"/>
                <a:cs typeface="Arial" panose="020B0604020202020204"/>
              </a:rPr>
              <a:t> 6</a:t>
            </a:r>
            <a:r>
              <a:rPr lang="en-IN" sz="2000" spc="-5" dirty="0">
                <a:latin typeface="Arial" panose="020B0604020202020204"/>
                <a:cs typeface="Arial" panose="020B0604020202020204"/>
              </a:rPr>
              <a:t>}</a:t>
            </a:r>
            <a:endParaRPr lang="en-IN" sz="2000" dirty="0">
              <a:cs typeface="Courier New" panose="02070309020205020404"/>
            </a:endParaRPr>
          </a:p>
          <a:p>
            <a:pPr marL="754380">
              <a:lnSpc>
                <a:spcPct val="120000"/>
              </a:lnSpc>
            </a:pPr>
            <a:r>
              <a:rPr lang="en-IN" sz="2000" spc="-5" dirty="0">
                <a:cs typeface="Arial" panose="020B0604020202020204"/>
              </a:rPr>
              <a:t>S2: consumer execute </a:t>
            </a:r>
            <a:r>
              <a:rPr lang="en-IN" sz="2000" b="1" spc="-5" dirty="0">
                <a:solidFill>
                  <a:srgbClr val="999900"/>
                </a:solidFill>
                <a:cs typeface="Courier New" panose="02070309020205020404"/>
              </a:rPr>
              <a:t>register2 =</a:t>
            </a:r>
            <a:r>
              <a:rPr lang="en-IN" sz="2000" b="1" spc="50" dirty="0">
                <a:solidFill>
                  <a:srgbClr val="999900"/>
                </a:solidFill>
                <a:cs typeface="Courier New" panose="02070309020205020404"/>
              </a:rPr>
              <a:t> </a:t>
            </a:r>
            <a:r>
              <a:rPr lang="en-IN" sz="2000" b="1" spc="-5" dirty="0">
                <a:solidFill>
                  <a:srgbClr val="999900"/>
                </a:solidFill>
                <a:cs typeface="Courier New" panose="02070309020205020404"/>
              </a:rPr>
              <a:t>counter	</a:t>
            </a:r>
            <a:r>
              <a:rPr lang="en-IN" sz="2000" spc="-5" dirty="0">
                <a:latin typeface="Arial" panose="020B0604020202020204"/>
                <a:cs typeface="Arial" panose="020B0604020202020204"/>
              </a:rPr>
              <a:t>{register2=</a:t>
            </a:r>
            <a:r>
              <a:rPr lang="en-IN" sz="2000" spc="-30" dirty="0">
                <a:latin typeface="Arial" panose="020B0604020202020204"/>
                <a:cs typeface="Arial" panose="020B0604020202020204"/>
              </a:rPr>
              <a:t> </a:t>
            </a:r>
            <a:r>
              <a:rPr lang="en-IN" sz="2000" spc="-5" dirty="0">
                <a:latin typeface="Arial" panose="020B0604020202020204"/>
                <a:cs typeface="Arial" panose="020B0604020202020204"/>
              </a:rPr>
              <a:t>5}</a:t>
            </a:r>
            <a:endParaRPr lang="en-IN" sz="2000" dirty="0">
              <a:latin typeface="Arial" panose="020B0604020202020204"/>
              <a:cs typeface="Arial" panose="020B0604020202020204"/>
            </a:endParaRPr>
          </a:p>
          <a:p>
            <a:pPr marL="754380">
              <a:lnSpc>
                <a:spcPct val="120000"/>
              </a:lnSpc>
            </a:pPr>
            <a:r>
              <a:rPr lang="en-IN" sz="2000" spc="-5" dirty="0">
                <a:cs typeface="Arial" panose="020B0604020202020204"/>
              </a:rPr>
              <a:t>S3: consumer execute </a:t>
            </a:r>
            <a:r>
              <a:rPr lang="en-IN" sz="2000" b="1" spc="-5" dirty="0">
                <a:solidFill>
                  <a:srgbClr val="999900"/>
                </a:solidFill>
                <a:cs typeface="Courier New" panose="02070309020205020404"/>
              </a:rPr>
              <a:t>register2 = register2 –</a:t>
            </a:r>
            <a:r>
              <a:rPr lang="en-IN" sz="2000" b="1" spc="120" dirty="0">
                <a:solidFill>
                  <a:srgbClr val="999900"/>
                </a:solidFill>
                <a:cs typeface="Courier New" panose="02070309020205020404"/>
              </a:rPr>
              <a:t> </a:t>
            </a:r>
            <a:r>
              <a:rPr lang="en-IN" sz="2000" b="1" spc="-5" dirty="0">
                <a:solidFill>
                  <a:srgbClr val="999900"/>
                </a:solidFill>
                <a:cs typeface="Courier New" panose="02070309020205020404"/>
              </a:rPr>
              <a:t>1</a:t>
            </a:r>
            <a:r>
              <a:rPr lang="en-IN" sz="2000" spc="-5" dirty="0">
                <a:latin typeface="Arial" panose="020B0604020202020204"/>
                <a:cs typeface="Arial" panose="020B0604020202020204"/>
              </a:rPr>
              <a:t>{register2 =</a:t>
            </a:r>
            <a:r>
              <a:rPr lang="en-IN" sz="2000" spc="-30" dirty="0">
                <a:latin typeface="Arial" panose="020B0604020202020204"/>
                <a:cs typeface="Arial" panose="020B0604020202020204"/>
              </a:rPr>
              <a:t> </a:t>
            </a:r>
            <a:r>
              <a:rPr lang="en-IN" sz="2000" spc="-5" dirty="0">
                <a:latin typeface="Arial" panose="020B0604020202020204"/>
                <a:cs typeface="Arial" panose="020B0604020202020204"/>
              </a:rPr>
              <a:t>4}</a:t>
            </a:r>
            <a:endParaRPr lang="en-IN" sz="2000" dirty="0">
              <a:latin typeface="Arial" panose="020B0604020202020204"/>
              <a:cs typeface="Arial" panose="020B0604020202020204"/>
            </a:endParaRPr>
          </a:p>
          <a:p>
            <a:pPr marL="754380">
              <a:lnSpc>
                <a:spcPct val="120000"/>
              </a:lnSpc>
            </a:pPr>
            <a:r>
              <a:rPr lang="en-IN" sz="2000" spc="-5" dirty="0">
                <a:cs typeface="Arial" panose="020B0604020202020204"/>
              </a:rPr>
              <a:t>S4: producer execute </a:t>
            </a:r>
            <a:r>
              <a:rPr lang="en-IN" sz="2000" b="1" spc="-5" dirty="0">
                <a:solidFill>
                  <a:srgbClr val="0000FF"/>
                </a:solidFill>
                <a:cs typeface="Courier New" panose="02070309020205020404"/>
              </a:rPr>
              <a:t>counter =</a:t>
            </a:r>
            <a:r>
              <a:rPr lang="en-IN" sz="2000" b="1" spc="50" dirty="0">
                <a:solidFill>
                  <a:srgbClr val="0000FF"/>
                </a:solidFill>
                <a:cs typeface="Courier New" panose="02070309020205020404"/>
              </a:rPr>
              <a:t> </a:t>
            </a:r>
            <a:r>
              <a:rPr lang="en-IN" sz="2000" b="1" spc="-5" dirty="0">
                <a:solidFill>
                  <a:srgbClr val="0000FF"/>
                </a:solidFill>
                <a:cs typeface="Courier New" panose="02070309020205020404"/>
              </a:rPr>
              <a:t>register1</a:t>
            </a:r>
            <a:r>
              <a:rPr lang="en-IN" sz="2000" spc="-5" dirty="0">
                <a:latin typeface="Arial" panose="020B0604020202020204"/>
                <a:cs typeface="Arial" panose="020B0604020202020204"/>
              </a:rPr>
              <a:t> 	{counter = 6}</a:t>
            </a:r>
            <a:endParaRPr lang="en-IN" sz="2000" dirty="0">
              <a:cs typeface="Courier New" panose="02070309020205020404"/>
            </a:endParaRPr>
          </a:p>
          <a:p>
            <a:pPr marL="754380">
              <a:lnSpc>
                <a:spcPct val="120000"/>
              </a:lnSpc>
            </a:pPr>
            <a:r>
              <a:rPr lang="en-IN" sz="2000" spc="-5" dirty="0">
                <a:cs typeface="Arial" panose="020B0604020202020204"/>
              </a:rPr>
              <a:t>S5: consumer execute </a:t>
            </a:r>
            <a:r>
              <a:rPr lang="en-IN" sz="2000" b="1" spc="-5" dirty="0">
                <a:solidFill>
                  <a:srgbClr val="999900"/>
                </a:solidFill>
                <a:cs typeface="Courier New" panose="02070309020205020404"/>
              </a:rPr>
              <a:t>counter =</a:t>
            </a:r>
            <a:r>
              <a:rPr lang="en-IN" sz="2000" b="1" spc="50" dirty="0">
                <a:solidFill>
                  <a:srgbClr val="999900"/>
                </a:solidFill>
                <a:cs typeface="Courier New" panose="02070309020205020404"/>
              </a:rPr>
              <a:t> </a:t>
            </a:r>
            <a:r>
              <a:rPr lang="en-IN" sz="2000" b="1" spc="-5" dirty="0">
                <a:solidFill>
                  <a:srgbClr val="999900"/>
                </a:solidFill>
                <a:cs typeface="Courier New" panose="02070309020205020404"/>
              </a:rPr>
              <a:t>register2	</a:t>
            </a:r>
            <a:r>
              <a:rPr lang="en-IN" sz="2000" spc="-5" dirty="0">
                <a:latin typeface="Arial" panose="020B0604020202020204"/>
                <a:cs typeface="Arial" panose="020B0604020202020204"/>
              </a:rPr>
              <a:t> {counter = 4}</a:t>
            </a:r>
            <a:endParaRPr kumimoji="0" lang="en-US" sz="2000" b="0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ea typeface="+mn-ea"/>
              <a:cs typeface="+mn-cs"/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BD0CCBC3-AA0C-3613-659C-816E57A43D9E}"/>
              </a:ext>
            </a:extLst>
          </p:cNvPr>
          <p:cNvSpPr txBox="1"/>
          <p:nvPr/>
        </p:nvSpPr>
        <p:spPr>
          <a:xfrm>
            <a:off x="5508104" y="764704"/>
            <a:ext cx="3178696" cy="230832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en-IN" dirty="0"/>
              <a:t>A situation, where several processes access and manipulate the same data concurrently and the outcome of the execution depends on the particular order in which the access takes place, is called a race condition. </a:t>
            </a:r>
          </a:p>
        </p:txBody>
      </p:sp>
    </p:spTree>
    <p:extLst>
      <p:ext uri="{BB962C8B-B14F-4D97-AF65-F5344CB8AC3E}">
        <p14:creationId xmlns:p14="http://schemas.microsoft.com/office/powerpoint/2010/main" val="1456880826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458AF7E-9791-F8C6-9B4D-DF6D3679FBE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D96EFF8-353E-7D0A-E8FE-EF14C5C83A6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BAB6DE7-2CDD-4EA0-BDD8-7409C9EC6822}" type="datetime3">
              <a:rPr lang="en-US" smtClean="0"/>
              <a:t>1 September 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57D1C67-342E-BA76-817B-CCBD5AF9245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3257550" y="5543551"/>
            <a:ext cx="3543300" cy="273844"/>
          </a:xfrm>
        </p:spPr>
        <p:txBody>
          <a:bodyPr/>
          <a:lstStyle/>
          <a:p>
            <a:r>
              <a:rPr lang="en-US"/>
              <a:t>Atul Garg           BCSE0303            Unit- III</a:t>
            </a:r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981B468-13BF-ADFF-C9AD-B36FF1AB143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30</a:t>
            </a:fld>
            <a:endParaRPr lang="en-US"/>
          </a:p>
        </p:txBody>
      </p:sp>
      <p:sp>
        <p:nvSpPr>
          <p:cNvPr id="7" name="Title 1">
            <a:extLst>
              <a:ext uri="{FF2B5EF4-FFF2-40B4-BE49-F238E27FC236}">
                <a16:creationId xmlns:a16="http://schemas.microsoft.com/office/drawing/2014/main" id="{422C3762-D33C-1531-3104-4E3DA647094C}"/>
              </a:ext>
            </a:extLst>
          </p:cNvPr>
          <p:cNvSpPr txBox="1">
            <a:spLocks/>
          </p:cNvSpPr>
          <p:nvPr/>
        </p:nvSpPr>
        <p:spPr>
          <a:xfrm>
            <a:off x="1691680" y="116632"/>
            <a:ext cx="7452320" cy="648072"/>
          </a:xfrm>
          <a:prstGeom prst="rect">
            <a:avLst/>
          </a:prstGeom>
          <a:gradFill flip="none" rotWithShape="1">
            <a:gsLst>
              <a:gs pos="0">
                <a:srgbClr val="FF0000">
                  <a:tint val="66000"/>
                  <a:satMod val="160000"/>
                </a:srgbClr>
              </a:gs>
              <a:gs pos="50000">
                <a:srgbClr val="FF0000">
                  <a:tint val="44500"/>
                  <a:satMod val="160000"/>
                </a:srgbClr>
              </a:gs>
              <a:gs pos="100000">
                <a:srgbClr val="FF0000">
                  <a:tint val="23500"/>
                  <a:satMod val="160000"/>
                </a:srgbClr>
              </a:gs>
            </a:gsLst>
            <a:lin ang="0" scaled="1"/>
            <a:tileRect/>
          </a:gradFill>
        </p:spPr>
        <p:style>
          <a:lnRef idx="1">
            <a:schemeClr val="accent5"/>
          </a:lnRef>
          <a:fillRef idx="2">
            <a:schemeClr val="accent5"/>
          </a:fillRef>
          <a:effectRef idx="1">
            <a:schemeClr val="accent5"/>
          </a:effectRef>
          <a:fontRef idx="minor">
            <a:schemeClr val="dk1"/>
          </a:fontRef>
        </p:style>
        <p:txBody>
          <a:bodyPr vert="horz" lIns="68580" tIns="34290" rIns="68580" bIns="34290" rtlCol="0" anchor="ctr">
            <a:noAutofit/>
          </a:bodyPr>
          <a:lstStyle>
            <a:defPPr>
              <a:defRPr lang="en-US"/>
            </a:defPPr>
            <a:lvl1pPr algn="ctr">
              <a:spcBef>
                <a:spcPct val="0"/>
              </a:spcBef>
              <a:buNone/>
              <a:defRPr sz="2800"/>
            </a:lvl1pPr>
          </a:lstStyle>
          <a:p>
            <a:pPr>
              <a:defRPr/>
            </a:pPr>
            <a:endParaRPr lang="en-IN" sz="2400" spc="-5" dirty="0"/>
          </a:p>
          <a:p>
            <a:pPr>
              <a:defRPr/>
            </a:pPr>
            <a:r>
              <a:rPr lang="en-IN" sz="2400" spc="-5" dirty="0"/>
              <a:t>Critical Section</a:t>
            </a:r>
            <a:r>
              <a:rPr lang="en-IN" sz="2400" spc="-75" dirty="0"/>
              <a:t> </a:t>
            </a:r>
            <a:r>
              <a:rPr lang="en-IN" sz="2400" spc="-5" dirty="0"/>
              <a:t>Problem</a:t>
            </a:r>
            <a:r>
              <a:rPr lang="en-IN" sz="2400" dirty="0"/>
              <a:t>(CO3)</a:t>
            </a:r>
            <a:endParaRPr kumimoji="0" lang="en-US" sz="2400" b="0" i="0" u="none" strike="noStrike" kern="1200" cap="none" spc="0" normalizeH="0" baseline="0" noProof="0" dirty="0">
              <a:ln>
                <a:noFill/>
              </a:ln>
              <a:solidFill>
                <a:schemeClr val="dk1"/>
              </a:solidFill>
              <a:effectLst/>
              <a:uLnTx/>
              <a:uFillTx/>
              <a:ea typeface="+mn-ea"/>
              <a:cs typeface="+mn-cs"/>
            </a:endParaRPr>
          </a:p>
          <a:p>
            <a:pPr>
              <a:defRPr/>
            </a:pPr>
            <a:endParaRPr lang="en-US" sz="2100" dirty="0"/>
          </a:p>
        </p:txBody>
      </p:sp>
      <p:pic>
        <p:nvPicPr>
          <p:cNvPr id="2" name="Picture 1" descr="A black and red logo&#10;&#10;Description automatically generated">
            <a:extLst>
              <a:ext uri="{FF2B5EF4-FFF2-40B4-BE49-F238E27FC236}">
                <a16:creationId xmlns:a16="http://schemas.microsoft.com/office/drawing/2014/main" id="{D90E3323-5334-2162-A631-C9E37E830575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4330" y="44624"/>
            <a:ext cx="1657350" cy="792088"/>
          </a:xfrm>
          <a:prstGeom prst="rect">
            <a:avLst/>
          </a:prstGeom>
        </p:spPr>
      </p:pic>
      <p:sp>
        <p:nvSpPr>
          <p:cNvPr id="3" name="object 3">
            <a:extLst>
              <a:ext uri="{FF2B5EF4-FFF2-40B4-BE49-F238E27FC236}">
                <a16:creationId xmlns:a16="http://schemas.microsoft.com/office/drawing/2014/main" id="{0C44501D-7CD7-4B61-8DF7-E54E92BE4017}"/>
              </a:ext>
            </a:extLst>
          </p:cNvPr>
          <p:cNvSpPr txBox="1"/>
          <p:nvPr/>
        </p:nvSpPr>
        <p:spPr>
          <a:xfrm>
            <a:off x="961384" y="764704"/>
            <a:ext cx="7859088" cy="5648469"/>
          </a:xfrm>
          <a:prstGeom prst="rect">
            <a:avLst/>
          </a:prstGeom>
        </p:spPr>
        <p:txBody>
          <a:bodyPr vert="horz" wrap="square" lIns="0" tIns="108585" rIns="0" bIns="0" rtlCol="0">
            <a:spAutoFit/>
          </a:bodyPr>
          <a:lstStyle/>
          <a:p>
            <a:pPr marL="379095" indent="-341630">
              <a:lnSpc>
                <a:spcPct val="150000"/>
              </a:lnSpc>
              <a:spcBef>
                <a:spcPts val="855"/>
              </a:spcBef>
              <a:buClr>
                <a:srgbClr val="993300"/>
              </a:buClr>
              <a:buSzPct val="89000"/>
              <a:buFont typeface="Arial" panose="020B0604020202020204" pitchFamily="34" charset="0"/>
              <a:buChar char="•"/>
              <a:tabLst>
                <a:tab pos="379095" algn="l"/>
                <a:tab pos="379730" algn="l"/>
              </a:tabLst>
            </a:pPr>
            <a:r>
              <a:rPr sz="2200" spc="-10" dirty="0">
                <a:cs typeface="Arial" panose="020B0604020202020204"/>
              </a:rPr>
              <a:t>Consider system </a:t>
            </a:r>
            <a:r>
              <a:rPr sz="2200" spc="-5" dirty="0">
                <a:cs typeface="Arial" panose="020B0604020202020204"/>
              </a:rPr>
              <a:t>of </a:t>
            </a:r>
            <a:r>
              <a:rPr sz="2200" b="1" dirty="0">
                <a:cs typeface="Arial" panose="020B0604020202020204"/>
              </a:rPr>
              <a:t>n </a:t>
            </a:r>
            <a:r>
              <a:rPr sz="2200" spc="-5" dirty="0">
                <a:cs typeface="Arial" panose="020B0604020202020204"/>
              </a:rPr>
              <a:t>processes </a:t>
            </a:r>
            <a:r>
              <a:rPr sz="2200" dirty="0">
                <a:cs typeface="Arial" panose="020B0604020202020204"/>
              </a:rPr>
              <a:t>{</a:t>
            </a:r>
            <a:r>
              <a:rPr sz="2200" b="1" dirty="0">
                <a:cs typeface="Arial" panose="020B0604020202020204"/>
              </a:rPr>
              <a:t>p</a:t>
            </a:r>
            <a:r>
              <a:rPr sz="2200" b="1" baseline="-21000" dirty="0">
                <a:cs typeface="Arial" panose="020B0604020202020204"/>
              </a:rPr>
              <a:t>0</a:t>
            </a:r>
            <a:r>
              <a:rPr sz="2200" b="1" dirty="0">
                <a:cs typeface="Arial" panose="020B0604020202020204"/>
              </a:rPr>
              <a:t>, p</a:t>
            </a:r>
            <a:r>
              <a:rPr sz="2200" b="1" baseline="-21000" dirty="0">
                <a:cs typeface="Arial" panose="020B0604020202020204"/>
              </a:rPr>
              <a:t>1</a:t>
            </a:r>
            <a:r>
              <a:rPr sz="2200" b="1" dirty="0">
                <a:cs typeface="Arial" panose="020B0604020202020204"/>
              </a:rPr>
              <a:t>, …</a:t>
            </a:r>
            <a:r>
              <a:rPr sz="2200" b="1" spc="25" dirty="0">
                <a:cs typeface="Arial" panose="020B0604020202020204"/>
              </a:rPr>
              <a:t> </a:t>
            </a:r>
            <a:r>
              <a:rPr sz="2200" b="1" spc="-5" dirty="0">
                <a:cs typeface="Arial" panose="020B0604020202020204"/>
              </a:rPr>
              <a:t>p</a:t>
            </a:r>
            <a:r>
              <a:rPr sz="2200" b="1" spc="-7" baseline="-21000" dirty="0">
                <a:cs typeface="Arial" panose="020B0604020202020204"/>
              </a:rPr>
              <a:t>n-1</a:t>
            </a:r>
            <a:r>
              <a:rPr sz="2200" spc="-5" dirty="0">
                <a:cs typeface="Arial" panose="020B0604020202020204"/>
              </a:rPr>
              <a:t>}</a:t>
            </a:r>
            <a:endParaRPr sz="2200" dirty="0">
              <a:cs typeface="Arial" panose="020B0604020202020204"/>
            </a:endParaRPr>
          </a:p>
          <a:p>
            <a:pPr marL="379095" indent="-341630">
              <a:lnSpc>
                <a:spcPct val="150000"/>
              </a:lnSpc>
              <a:spcBef>
                <a:spcPts val="755"/>
              </a:spcBef>
              <a:buClr>
                <a:srgbClr val="993300"/>
              </a:buClr>
              <a:buSzPct val="89000"/>
              <a:buFont typeface="Arial" panose="020B0604020202020204" pitchFamily="34" charset="0"/>
              <a:buChar char="•"/>
              <a:tabLst>
                <a:tab pos="379095" algn="l"/>
                <a:tab pos="379730" algn="l"/>
              </a:tabLst>
            </a:pPr>
            <a:r>
              <a:rPr sz="2200" spc="-5" dirty="0">
                <a:cs typeface="Arial" panose="020B0604020202020204"/>
              </a:rPr>
              <a:t>Each process </a:t>
            </a:r>
            <a:r>
              <a:rPr sz="2200" spc="-10" dirty="0">
                <a:cs typeface="Arial" panose="020B0604020202020204"/>
              </a:rPr>
              <a:t>has </a:t>
            </a:r>
            <a:r>
              <a:rPr sz="2200" b="1" spc="-5" dirty="0">
                <a:cs typeface="Arial" panose="020B0604020202020204"/>
              </a:rPr>
              <a:t>critical section </a:t>
            </a:r>
            <a:r>
              <a:rPr sz="2200" spc="-10" dirty="0">
                <a:cs typeface="Arial" panose="020B0604020202020204"/>
              </a:rPr>
              <a:t>segment </a:t>
            </a:r>
            <a:r>
              <a:rPr sz="2200" spc="-5" dirty="0">
                <a:cs typeface="Arial" panose="020B0604020202020204"/>
              </a:rPr>
              <a:t>of</a:t>
            </a:r>
            <a:r>
              <a:rPr sz="2200" spc="55" dirty="0">
                <a:cs typeface="Arial" panose="020B0604020202020204"/>
              </a:rPr>
              <a:t> </a:t>
            </a:r>
            <a:r>
              <a:rPr sz="2200" spc="-10" dirty="0">
                <a:cs typeface="Arial" panose="020B0604020202020204"/>
              </a:rPr>
              <a:t>code</a:t>
            </a:r>
            <a:endParaRPr sz="2200" dirty="0">
              <a:cs typeface="Arial" panose="020B0604020202020204"/>
            </a:endParaRPr>
          </a:p>
          <a:p>
            <a:pPr marL="779780" marR="439420" lvl="1" indent="-285115">
              <a:lnSpc>
                <a:spcPct val="150000"/>
              </a:lnSpc>
              <a:spcBef>
                <a:spcPts val="755"/>
              </a:spcBef>
              <a:buClr>
                <a:srgbClr val="CC6600"/>
              </a:buClr>
              <a:buSzPct val="81000"/>
              <a:tabLst>
                <a:tab pos="779780" algn="l"/>
                <a:tab pos="780415" algn="l"/>
              </a:tabLst>
            </a:pPr>
            <a:r>
              <a:rPr sz="2200" spc="-5" dirty="0">
                <a:cs typeface="Arial" panose="020B0604020202020204"/>
              </a:rPr>
              <a:t>Process may </a:t>
            </a:r>
            <a:r>
              <a:rPr sz="2200" spc="-10" dirty="0">
                <a:cs typeface="Arial" panose="020B0604020202020204"/>
              </a:rPr>
              <a:t>be changing </a:t>
            </a:r>
            <a:r>
              <a:rPr sz="2200" spc="-5" dirty="0">
                <a:cs typeface="Arial" panose="020B0604020202020204"/>
              </a:rPr>
              <a:t>common </a:t>
            </a:r>
            <a:r>
              <a:rPr sz="2200" spc="-10" dirty="0">
                <a:cs typeface="Arial" panose="020B0604020202020204"/>
              </a:rPr>
              <a:t>variables, updating  table, writing </a:t>
            </a:r>
            <a:r>
              <a:rPr sz="2200" spc="-5" dirty="0">
                <a:cs typeface="Arial" panose="020B0604020202020204"/>
              </a:rPr>
              <a:t>file,</a:t>
            </a:r>
            <a:r>
              <a:rPr sz="2200" spc="40" dirty="0">
                <a:cs typeface="Arial" panose="020B0604020202020204"/>
              </a:rPr>
              <a:t> </a:t>
            </a:r>
            <a:r>
              <a:rPr sz="2200" spc="-5" dirty="0">
                <a:cs typeface="Arial" panose="020B0604020202020204"/>
              </a:rPr>
              <a:t>etc</a:t>
            </a:r>
            <a:endParaRPr sz="2200" dirty="0">
              <a:cs typeface="Arial" panose="020B0604020202020204"/>
            </a:endParaRPr>
          </a:p>
          <a:p>
            <a:pPr marL="779780" marR="30480" lvl="1" indent="-285115">
              <a:lnSpc>
                <a:spcPct val="150000"/>
              </a:lnSpc>
              <a:spcBef>
                <a:spcPts val="760"/>
              </a:spcBef>
              <a:buClr>
                <a:srgbClr val="CC6600"/>
              </a:buClr>
              <a:buSzPct val="81000"/>
              <a:tabLst>
                <a:tab pos="779780" algn="l"/>
                <a:tab pos="780415" algn="l"/>
              </a:tabLst>
            </a:pPr>
            <a:r>
              <a:rPr sz="2200" spc="-5" dirty="0">
                <a:cs typeface="Arial" panose="020B0604020202020204"/>
              </a:rPr>
              <a:t>When </a:t>
            </a:r>
            <a:r>
              <a:rPr sz="2200" spc="-10" dirty="0">
                <a:cs typeface="Arial" panose="020B0604020202020204"/>
              </a:rPr>
              <a:t>one </a:t>
            </a:r>
            <a:r>
              <a:rPr sz="2200" spc="-5" dirty="0">
                <a:cs typeface="Arial" panose="020B0604020202020204"/>
              </a:rPr>
              <a:t>process </a:t>
            </a:r>
            <a:r>
              <a:rPr lang="en-IN" sz="2200" spc="-5" dirty="0">
                <a:cs typeface="Arial" panose="020B0604020202020204"/>
              </a:rPr>
              <a:t>is </a:t>
            </a:r>
            <a:r>
              <a:rPr sz="2200" spc="-5" dirty="0">
                <a:cs typeface="Arial" panose="020B0604020202020204"/>
              </a:rPr>
              <a:t>in critical section, </a:t>
            </a:r>
            <a:r>
              <a:rPr sz="2200" spc="-10" dirty="0">
                <a:cs typeface="Arial" panose="020B0604020202020204"/>
              </a:rPr>
              <a:t>no other </a:t>
            </a:r>
            <a:r>
              <a:rPr sz="2200" spc="-5" dirty="0">
                <a:cs typeface="Arial" panose="020B0604020202020204"/>
              </a:rPr>
              <a:t>may </a:t>
            </a:r>
            <a:r>
              <a:rPr sz="2200" spc="-10" dirty="0">
                <a:cs typeface="Arial" panose="020B0604020202020204"/>
              </a:rPr>
              <a:t>be </a:t>
            </a:r>
            <a:r>
              <a:rPr sz="2200" spc="-5" dirty="0">
                <a:cs typeface="Arial" panose="020B0604020202020204"/>
              </a:rPr>
              <a:t>in its  critical section</a:t>
            </a:r>
            <a:endParaRPr sz="2200" dirty="0">
              <a:cs typeface="Arial" panose="020B0604020202020204"/>
            </a:endParaRPr>
          </a:p>
          <a:p>
            <a:pPr marL="379095" indent="-341630">
              <a:lnSpc>
                <a:spcPct val="150000"/>
              </a:lnSpc>
              <a:spcBef>
                <a:spcPts val="755"/>
              </a:spcBef>
              <a:buClr>
                <a:srgbClr val="993300"/>
              </a:buClr>
              <a:buSzPct val="89000"/>
              <a:buFont typeface="Arial" panose="020B0604020202020204" pitchFamily="34" charset="0"/>
              <a:buChar char="•"/>
              <a:tabLst>
                <a:tab pos="379095" algn="l"/>
                <a:tab pos="379730" algn="l"/>
              </a:tabLst>
            </a:pPr>
            <a:r>
              <a:rPr sz="2200" b="1" spc="-5" dirty="0">
                <a:cs typeface="Arial" panose="020B0604020202020204"/>
              </a:rPr>
              <a:t>Critical section problem </a:t>
            </a:r>
            <a:r>
              <a:rPr sz="2200" spc="-5" dirty="0">
                <a:cs typeface="Arial" panose="020B0604020202020204"/>
              </a:rPr>
              <a:t>is </a:t>
            </a:r>
            <a:r>
              <a:rPr sz="2200" dirty="0">
                <a:cs typeface="Arial" panose="020B0604020202020204"/>
              </a:rPr>
              <a:t>to </a:t>
            </a:r>
            <a:r>
              <a:rPr sz="2200" spc="-10" dirty="0">
                <a:cs typeface="Arial" panose="020B0604020202020204"/>
              </a:rPr>
              <a:t>design protocol </a:t>
            </a:r>
            <a:r>
              <a:rPr sz="2200" dirty="0">
                <a:cs typeface="Arial" panose="020B0604020202020204"/>
              </a:rPr>
              <a:t>to </a:t>
            </a:r>
            <a:r>
              <a:rPr sz="2200" spc="-5" dirty="0">
                <a:cs typeface="Arial" panose="020B0604020202020204"/>
              </a:rPr>
              <a:t>solve</a:t>
            </a:r>
            <a:r>
              <a:rPr sz="2200" spc="35" dirty="0">
                <a:cs typeface="Arial" panose="020B0604020202020204"/>
              </a:rPr>
              <a:t> </a:t>
            </a:r>
            <a:r>
              <a:rPr sz="2200" spc="-5" dirty="0">
                <a:cs typeface="Arial" panose="020B0604020202020204"/>
              </a:rPr>
              <a:t>this</a:t>
            </a:r>
            <a:r>
              <a:rPr lang="en-IN" sz="2200" spc="-5" dirty="0">
                <a:cs typeface="Arial" panose="020B0604020202020204"/>
              </a:rPr>
              <a:t> issue.</a:t>
            </a:r>
            <a:endParaRPr sz="2200" dirty="0">
              <a:cs typeface="Arial" panose="020B0604020202020204"/>
            </a:endParaRPr>
          </a:p>
          <a:p>
            <a:pPr marL="379095" marR="278765" indent="-341630">
              <a:lnSpc>
                <a:spcPct val="150000"/>
              </a:lnSpc>
              <a:spcBef>
                <a:spcPts val="755"/>
              </a:spcBef>
              <a:buClr>
                <a:srgbClr val="993300"/>
              </a:buClr>
              <a:buSzPct val="89000"/>
              <a:buFont typeface="Arial" panose="020B0604020202020204" pitchFamily="34" charset="0"/>
              <a:buChar char="•"/>
              <a:tabLst>
                <a:tab pos="379095" algn="l"/>
                <a:tab pos="379730" algn="l"/>
              </a:tabLst>
            </a:pPr>
            <a:r>
              <a:rPr sz="2200" spc="-5" dirty="0">
                <a:cs typeface="Arial" panose="020B0604020202020204"/>
              </a:rPr>
              <a:t>Each process must ask permission </a:t>
            </a:r>
            <a:r>
              <a:rPr sz="2200" dirty="0">
                <a:cs typeface="Arial" panose="020B0604020202020204"/>
              </a:rPr>
              <a:t>to </a:t>
            </a:r>
            <a:r>
              <a:rPr sz="2200" spc="-10" dirty="0">
                <a:cs typeface="Arial" panose="020B0604020202020204"/>
              </a:rPr>
              <a:t>enter </a:t>
            </a:r>
            <a:r>
              <a:rPr sz="2200" spc="-5" dirty="0">
                <a:cs typeface="Arial" panose="020B0604020202020204"/>
              </a:rPr>
              <a:t>critical section in  </a:t>
            </a:r>
            <a:r>
              <a:rPr sz="2200" b="1" spc="-5" dirty="0">
                <a:cs typeface="Arial" panose="020B0604020202020204"/>
              </a:rPr>
              <a:t>entry section</a:t>
            </a:r>
            <a:r>
              <a:rPr sz="2200" spc="-5" dirty="0">
                <a:cs typeface="Arial" panose="020B0604020202020204"/>
              </a:rPr>
              <a:t>, may </a:t>
            </a:r>
            <a:r>
              <a:rPr sz="2200" spc="-10" dirty="0">
                <a:cs typeface="Arial" panose="020B0604020202020204"/>
              </a:rPr>
              <a:t>follow </a:t>
            </a:r>
            <a:r>
              <a:rPr sz="2200" spc="-5" dirty="0">
                <a:cs typeface="Arial" panose="020B0604020202020204"/>
              </a:rPr>
              <a:t>critical section </a:t>
            </a:r>
            <a:r>
              <a:rPr sz="2200" spc="-15" dirty="0">
                <a:cs typeface="Arial" panose="020B0604020202020204"/>
              </a:rPr>
              <a:t>with </a:t>
            </a:r>
            <a:r>
              <a:rPr sz="2200" b="1" spc="-5" dirty="0">
                <a:cs typeface="Arial" panose="020B0604020202020204"/>
              </a:rPr>
              <a:t>exit section</a:t>
            </a:r>
            <a:r>
              <a:rPr sz="2200" spc="-5" dirty="0">
                <a:cs typeface="Arial" panose="020B0604020202020204"/>
              </a:rPr>
              <a:t>,  </a:t>
            </a:r>
            <a:r>
              <a:rPr sz="2200" spc="-10" dirty="0">
                <a:cs typeface="Arial" panose="020B0604020202020204"/>
              </a:rPr>
              <a:t>then </a:t>
            </a:r>
            <a:r>
              <a:rPr sz="2200" b="1" spc="-5" dirty="0">
                <a:cs typeface="Arial" panose="020B0604020202020204"/>
              </a:rPr>
              <a:t>remainder</a:t>
            </a:r>
            <a:r>
              <a:rPr sz="2200" b="1" dirty="0">
                <a:cs typeface="Arial" panose="020B0604020202020204"/>
              </a:rPr>
              <a:t> </a:t>
            </a:r>
            <a:r>
              <a:rPr sz="2200" b="1" spc="-5" dirty="0">
                <a:cs typeface="Arial" panose="020B0604020202020204"/>
              </a:rPr>
              <a:t>section</a:t>
            </a:r>
            <a:endParaRPr sz="2200" dirty="0">
              <a:cs typeface="Arial" panose="020B0604020202020204"/>
            </a:endParaRPr>
          </a:p>
        </p:txBody>
      </p:sp>
    </p:spTree>
    <p:extLst>
      <p:ext uri="{BB962C8B-B14F-4D97-AF65-F5344CB8AC3E}">
        <p14:creationId xmlns:p14="http://schemas.microsoft.com/office/powerpoint/2010/main" val="3100003793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BE2AF0B-662C-1C6A-32AE-9A2D0C80A21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3309CB6-868C-20EE-138E-0B02695BBB9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3DF32E8-8914-46C3-A906-D266F4BD7E35}" type="datetime3">
              <a:rPr lang="en-US" smtClean="0"/>
              <a:t>1 September 2025</a:t>
            </a:fld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06BC35B-AA4B-770F-3DCA-E26A7B99410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31</a:t>
            </a:fld>
            <a:endParaRPr lang="en-US"/>
          </a:p>
        </p:txBody>
      </p:sp>
      <p:sp>
        <p:nvSpPr>
          <p:cNvPr id="7" name="Title 1">
            <a:extLst>
              <a:ext uri="{FF2B5EF4-FFF2-40B4-BE49-F238E27FC236}">
                <a16:creationId xmlns:a16="http://schemas.microsoft.com/office/drawing/2014/main" id="{89ADCD54-FDB6-781E-B2FB-75BE4C4D81FA}"/>
              </a:ext>
            </a:extLst>
          </p:cNvPr>
          <p:cNvSpPr txBox="1">
            <a:spLocks/>
          </p:cNvSpPr>
          <p:nvPr/>
        </p:nvSpPr>
        <p:spPr>
          <a:xfrm>
            <a:off x="1547664" y="116632"/>
            <a:ext cx="7562006" cy="710451"/>
          </a:xfrm>
          <a:prstGeom prst="rect">
            <a:avLst/>
          </a:prstGeom>
          <a:gradFill flip="none" rotWithShape="1">
            <a:gsLst>
              <a:gs pos="0">
                <a:srgbClr val="FF0000">
                  <a:tint val="66000"/>
                  <a:satMod val="160000"/>
                </a:srgbClr>
              </a:gs>
              <a:gs pos="50000">
                <a:srgbClr val="FF0000">
                  <a:tint val="44500"/>
                  <a:satMod val="160000"/>
                </a:srgbClr>
              </a:gs>
              <a:gs pos="100000">
                <a:srgbClr val="FF0000">
                  <a:tint val="23500"/>
                  <a:satMod val="160000"/>
                </a:srgbClr>
              </a:gs>
            </a:gsLst>
            <a:lin ang="0" scaled="1"/>
            <a:tileRect/>
          </a:gradFill>
        </p:spPr>
        <p:style>
          <a:lnRef idx="1">
            <a:schemeClr val="accent5"/>
          </a:lnRef>
          <a:fillRef idx="2">
            <a:schemeClr val="accent5"/>
          </a:fillRef>
          <a:effectRef idx="1">
            <a:schemeClr val="accent5"/>
          </a:effectRef>
          <a:fontRef idx="minor">
            <a:schemeClr val="dk1"/>
          </a:fontRef>
        </p:style>
        <p:txBody>
          <a:bodyPr vert="horz" lIns="68580" tIns="34290" rIns="68580" bIns="34290" rtlCol="0" anchor="ctr">
            <a:noAutofit/>
          </a:bodyPr>
          <a:lstStyle>
            <a:defPPr>
              <a:defRPr lang="en-US"/>
            </a:defPPr>
            <a:lvl1pPr algn="ctr">
              <a:spcBef>
                <a:spcPct val="0"/>
              </a:spcBef>
              <a:buNone/>
              <a:defRPr sz="2800"/>
            </a:lvl1pPr>
          </a:lstStyle>
          <a:p>
            <a:pPr>
              <a:defRPr/>
            </a:pPr>
            <a:r>
              <a:rPr lang="en-IN" sz="2400" spc="-5" dirty="0"/>
              <a:t>Critical</a:t>
            </a:r>
            <a:r>
              <a:rPr lang="en-IN" sz="2400" spc="-80" dirty="0"/>
              <a:t> </a:t>
            </a:r>
            <a:r>
              <a:rPr lang="en-IN" sz="2400" spc="-5" dirty="0"/>
              <a:t>Section</a:t>
            </a:r>
            <a:r>
              <a:rPr lang="en-IN" sz="2400" dirty="0"/>
              <a:t>(CO3)</a:t>
            </a:r>
            <a:endParaRPr lang="en-US" sz="2100" dirty="0"/>
          </a:p>
        </p:txBody>
      </p:sp>
      <p:pic>
        <p:nvPicPr>
          <p:cNvPr id="2" name="Picture 1" descr="A black and red logo&#10;&#10;Description automatically generated">
            <a:extLst>
              <a:ext uri="{FF2B5EF4-FFF2-40B4-BE49-F238E27FC236}">
                <a16:creationId xmlns:a16="http://schemas.microsoft.com/office/drawing/2014/main" id="{072B2791-2552-D224-21B7-BF2C80A61D97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4330" y="44624"/>
            <a:ext cx="1657350" cy="710451"/>
          </a:xfrm>
          <a:prstGeom prst="rect">
            <a:avLst/>
          </a:prstGeom>
        </p:spPr>
      </p:pic>
      <p:sp>
        <p:nvSpPr>
          <p:cNvPr id="3" name="object 4">
            <a:extLst>
              <a:ext uri="{FF2B5EF4-FFF2-40B4-BE49-F238E27FC236}">
                <a16:creationId xmlns:a16="http://schemas.microsoft.com/office/drawing/2014/main" id="{21631103-CD21-0B78-EC70-BC8561D96AED}"/>
              </a:ext>
            </a:extLst>
          </p:cNvPr>
          <p:cNvSpPr/>
          <p:nvPr/>
        </p:nvSpPr>
        <p:spPr>
          <a:xfrm>
            <a:off x="3059832" y="1556792"/>
            <a:ext cx="3312368" cy="3528392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9DF7A7F8-F283-AAF8-0440-18A9960A70AA}"/>
              </a:ext>
            </a:extLst>
          </p:cNvPr>
          <p:cNvSpPr txBox="1"/>
          <p:nvPr/>
        </p:nvSpPr>
        <p:spPr>
          <a:xfrm>
            <a:off x="1187624" y="971436"/>
            <a:ext cx="4572000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2400" dirty="0"/>
              <a:t>General structure of process </a:t>
            </a:r>
            <a:r>
              <a:rPr lang="en-IN" sz="2400" b="1" i="1" dirty="0"/>
              <a:t>P</a:t>
            </a:r>
            <a:r>
              <a:rPr lang="en-IN" sz="2400" b="1" i="1" baseline="-25000" dirty="0"/>
              <a:t>i 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EBE23FC-EE7E-22FB-5F40-61C427FB912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Atul Garg           BCSE0303            Unit- III</a:t>
            </a:r>
          </a:p>
        </p:txBody>
      </p:sp>
    </p:spTree>
    <p:extLst>
      <p:ext uri="{BB962C8B-B14F-4D97-AF65-F5344CB8AC3E}">
        <p14:creationId xmlns:p14="http://schemas.microsoft.com/office/powerpoint/2010/main" val="4143026305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442B146-1278-31DF-B3EA-FB75D7F44AF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1842526-F3BA-5C20-7A7F-3914FC75A6F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19F74D0-5007-4DC3-95DD-798E4B5D7183}" type="datetime3">
              <a:rPr lang="en-US" smtClean="0"/>
              <a:t>1 September 2025</a:t>
            </a:fld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D3CD046-06A8-EDFB-FB07-BE81365301C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32</a:t>
            </a:fld>
            <a:endParaRPr lang="en-US"/>
          </a:p>
        </p:txBody>
      </p:sp>
      <p:sp>
        <p:nvSpPr>
          <p:cNvPr id="7" name="Title 1">
            <a:extLst>
              <a:ext uri="{FF2B5EF4-FFF2-40B4-BE49-F238E27FC236}">
                <a16:creationId xmlns:a16="http://schemas.microsoft.com/office/drawing/2014/main" id="{E2B43BC2-9E53-AE25-E4A4-D56CCDAD7F42}"/>
              </a:ext>
            </a:extLst>
          </p:cNvPr>
          <p:cNvSpPr txBox="1">
            <a:spLocks/>
          </p:cNvSpPr>
          <p:nvPr/>
        </p:nvSpPr>
        <p:spPr>
          <a:xfrm>
            <a:off x="1691680" y="136524"/>
            <a:ext cx="6912768" cy="844203"/>
          </a:xfrm>
          <a:prstGeom prst="rect">
            <a:avLst/>
          </a:prstGeom>
          <a:gradFill flip="none" rotWithShape="1">
            <a:gsLst>
              <a:gs pos="0">
                <a:srgbClr val="FF0000">
                  <a:tint val="66000"/>
                  <a:satMod val="160000"/>
                </a:srgbClr>
              </a:gs>
              <a:gs pos="50000">
                <a:srgbClr val="FF0000">
                  <a:tint val="44500"/>
                  <a:satMod val="160000"/>
                </a:srgbClr>
              </a:gs>
              <a:gs pos="100000">
                <a:srgbClr val="FF0000">
                  <a:tint val="23500"/>
                  <a:satMod val="160000"/>
                </a:srgbClr>
              </a:gs>
            </a:gsLst>
            <a:lin ang="0" scaled="1"/>
            <a:tileRect/>
          </a:gradFill>
        </p:spPr>
        <p:style>
          <a:lnRef idx="1">
            <a:schemeClr val="accent5"/>
          </a:lnRef>
          <a:fillRef idx="2">
            <a:schemeClr val="accent5"/>
          </a:fillRef>
          <a:effectRef idx="1">
            <a:schemeClr val="accent5"/>
          </a:effectRef>
          <a:fontRef idx="minor">
            <a:schemeClr val="dk1"/>
          </a:fontRef>
        </p:style>
        <p:txBody>
          <a:bodyPr vert="horz" lIns="68580" tIns="34290" rIns="68580" bIns="34290" rtlCol="0" anchor="ctr">
            <a:noAutofit/>
          </a:bodyPr>
          <a:lstStyle>
            <a:defPPr>
              <a:defRPr lang="en-US"/>
            </a:defPPr>
            <a:lvl1pPr algn="ctr">
              <a:spcBef>
                <a:spcPct val="0"/>
              </a:spcBef>
              <a:buNone/>
              <a:defRPr sz="2800"/>
            </a:lvl1pPr>
          </a:lstStyle>
          <a:p>
            <a:pPr>
              <a:defRPr/>
            </a:pPr>
            <a:r>
              <a:rPr lang="en-IN" sz="2400" spc="-5" dirty="0"/>
              <a:t>Algorithm </a:t>
            </a:r>
            <a:r>
              <a:rPr lang="en-IN" sz="2400" dirty="0"/>
              <a:t>for </a:t>
            </a:r>
            <a:r>
              <a:rPr lang="en-IN" sz="2400" spc="-5" dirty="0"/>
              <a:t>Process</a:t>
            </a:r>
            <a:r>
              <a:rPr lang="en-IN" sz="2400" spc="-95" dirty="0"/>
              <a:t> </a:t>
            </a:r>
            <a:r>
              <a:rPr lang="en-IN" sz="2400" spc="10" dirty="0"/>
              <a:t>P</a:t>
            </a:r>
            <a:r>
              <a:rPr lang="en-IN" sz="2400" spc="15" baseline="-21000" dirty="0">
                <a:solidFill>
                  <a:srgbClr val="0000FF"/>
                </a:solidFill>
              </a:rPr>
              <a:t>i</a:t>
            </a:r>
            <a:r>
              <a:rPr lang="en-IN" sz="2400" dirty="0"/>
              <a:t>(CO3)</a:t>
            </a:r>
            <a:endParaRPr lang="en-US" sz="2100" dirty="0"/>
          </a:p>
        </p:txBody>
      </p:sp>
      <p:pic>
        <p:nvPicPr>
          <p:cNvPr id="2" name="Picture 1" descr="A black and red logo&#10;&#10;Description automatically generated">
            <a:extLst>
              <a:ext uri="{FF2B5EF4-FFF2-40B4-BE49-F238E27FC236}">
                <a16:creationId xmlns:a16="http://schemas.microsoft.com/office/drawing/2014/main" id="{8C5E0F28-F12E-E8FC-6A9B-22C3D81F1909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4330" y="44624"/>
            <a:ext cx="1657350" cy="936104"/>
          </a:xfrm>
          <a:prstGeom prst="rect">
            <a:avLst/>
          </a:prstGeom>
        </p:spPr>
      </p:pic>
      <p:sp>
        <p:nvSpPr>
          <p:cNvPr id="3" name="Rectangle 2">
            <a:extLst>
              <a:ext uri="{FF2B5EF4-FFF2-40B4-BE49-F238E27FC236}">
                <a16:creationId xmlns:a16="http://schemas.microsoft.com/office/drawing/2014/main" id="{1F3B61D1-0E5E-CE0B-8335-187CDEBED47C}"/>
              </a:ext>
            </a:extLst>
          </p:cNvPr>
          <p:cNvSpPr/>
          <p:nvPr/>
        </p:nvSpPr>
        <p:spPr>
          <a:xfrm>
            <a:off x="1331640" y="1236816"/>
            <a:ext cx="6264696" cy="341632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en-IN" sz="2400" b="1" dirty="0"/>
              <a:t>do { </a:t>
            </a:r>
          </a:p>
          <a:p>
            <a:pPr>
              <a:lnSpc>
                <a:spcPct val="150000"/>
              </a:lnSpc>
            </a:pPr>
            <a:r>
              <a:rPr lang="en-IN" sz="2400" b="1" dirty="0"/>
              <a:t>while (turn == j); </a:t>
            </a:r>
          </a:p>
          <a:p>
            <a:pPr>
              <a:lnSpc>
                <a:spcPct val="150000"/>
              </a:lnSpc>
            </a:pPr>
            <a:r>
              <a:rPr lang="en-IN" sz="2400" b="1" dirty="0"/>
              <a:t>critical section</a:t>
            </a:r>
          </a:p>
          <a:p>
            <a:pPr>
              <a:lnSpc>
                <a:spcPct val="150000"/>
              </a:lnSpc>
            </a:pPr>
            <a:r>
              <a:rPr lang="en-IN" sz="2400" b="1" dirty="0"/>
              <a:t> turn = j; </a:t>
            </a:r>
            <a:endParaRPr lang="en-IN" sz="2400" dirty="0"/>
          </a:p>
          <a:p>
            <a:pPr>
              <a:lnSpc>
                <a:spcPct val="150000"/>
              </a:lnSpc>
            </a:pPr>
            <a:r>
              <a:rPr lang="en-IN" sz="2400" b="1" dirty="0"/>
              <a:t>remainder section</a:t>
            </a:r>
          </a:p>
          <a:p>
            <a:pPr>
              <a:lnSpc>
                <a:spcPct val="150000"/>
              </a:lnSpc>
            </a:pPr>
            <a:r>
              <a:rPr lang="en-IN" sz="2400" b="1" dirty="0"/>
              <a:t> } while (true); </a:t>
            </a:r>
            <a:endParaRPr lang="en-IN" sz="2400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0C04525-99EE-A4A8-A505-CE63DC122DA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Atul Garg           BCSE0303            Unit- III</a:t>
            </a:r>
          </a:p>
        </p:txBody>
      </p:sp>
    </p:spTree>
    <p:extLst>
      <p:ext uri="{BB962C8B-B14F-4D97-AF65-F5344CB8AC3E}">
        <p14:creationId xmlns:p14="http://schemas.microsoft.com/office/powerpoint/2010/main" val="290267706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4EB8EFF-8A3F-4210-ADD2-2896A50B18DA}" type="datetime3">
              <a:rPr lang="en-US" smtClean="0"/>
              <a:t>1 September 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2514600" y="6356350"/>
            <a:ext cx="5181600" cy="365125"/>
          </a:xfrm>
        </p:spPr>
        <p:txBody>
          <a:bodyPr/>
          <a:lstStyle/>
          <a:p>
            <a:r>
              <a:rPr lang="en-US"/>
              <a:t>Atul Garg           BCSE0303            Unit- III</a:t>
            </a:r>
            <a:endParaRPr lang="en-US" dirty="0"/>
          </a:p>
        </p:txBody>
      </p:sp>
      <p:sp>
        <p:nvSpPr>
          <p:cNvPr id="10" name="object 3"/>
          <p:cNvSpPr txBox="1"/>
          <p:nvPr/>
        </p:nvSpPr>
        <p:spPr>
          <a:xfrm>
            <a:off x="899592" y="692696"/>
            <a:ext cx="7704856" cy="5751703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91795" marR="492760" indent="-341630" algn="just">
              <a:lnSpc>
                <a:spcPct val="150000"/>
              </a:lnSpc>
              <a:spcBef>
                <a:spcPts val="100"/>
              </a:spcBef>
              <a:buFont typeface="Arial" panose="020B0604020202020204"/>
              <a:buAutoNum type="arabicPeriod"/>
              <a:tabLst>
                <a:tab pos="430530" algn="l"/>
              </a:tabLst>
            </a:pPr>
            <a:r>
              <a:rPr sz="2200" dirty="0"/>
              <a:t>	</a:t>
            </a:r>
            <a:r>
              <a:rPr sz="2200" b="1" spc="-5" dirty="0">
                <a:cs typeface="Arial" panose="020B0604020202020204"/>
              </a:rPr>
              <a:t>Mutual Exclusion </a:t>
            </a:r>
            <a:r>
              <a:rPr sz="2200" dirty="0">
                <a:cs typeface="Arial" panose="020B0604020202020204"/>
              </a:rPr>
              <a:t>- If </a:t>
            </a:r>
            <a:r>
              <a:rPr sz="2200" spc="-5" dirty="0">
                <a:cs typeface="Arial" panose="020B0604020202020204"/>
              </a:rPr>
              <a:t>process </a:t>
            </a:r>
            <a:r>
              <a:rPr sz="2200" b="1" i="1" spc="-5" dirty="0">
                <a:cs typeface="Arial" panose="020B0604020202020204"/>
              </a:rPr>
              <a:t>P</a:t>
            </a:r>
            <a:r>
              <a:rPr sz="2200" b="1" i="1" spc="-7" baseline="-21000" dirty="0">
                <a:cs typeface="Arial" panose="020B0604020202020204"/>
              </a:rPr>
              <a:t>i </a:t>
            </a:r>
            <a:r>
              <a:rPr sz="2200" spc="-5" dirty="0">
                <a:cs typeface="Arial" panose="020B0604020202020204"/>
              </a:rPr>
              <a:t>is </a:t>
            </a:r>
            <a:r>
              <a:rPr sz="2200" spc="-10" dirty="0">
                <a:cs typeface="Arial" panose="020B0604020202020204"/>
              </a:rPr>
              <a:t>executing </a:t>
            </a:r>
            <a:r>
              <a:rPr sz="2200" spc="-5" dirty="0">
                <a:cs typeface="Arial" panose="020B0604020202020204"/>
              </a:rPr>
              <a:t>in its critical  section, </a:t>
            </a:r>
            <a:r>
              <a:rPr sz="2200" spc="-10" dirty="0">
                <a:cs typeface="Arial" panose="020B0604020202020204"/>
              </a:rPr>
              <a:t>then no other </a:t>
            </a:r>
            <a:r>
              <a:rPr sz="2200" spc="-5" dirty="0">
                <a:cs typeface="Arial" panose="020B0604020202020204"/>
              </a:rPr>
              <a:t>processes can </a:t>
            </a:r>
            <a:r>
              <a:rPr sz="2200" spc="-10" dirty="0">
                <a:cs typeface="Arial" panose="020B0604020202020204"/>
              </a:rPr>
              <a:t>be executing </a:t>
            </a:r>
            <a:r>
              <a:rPr sz="2200" spc="-5" dirty="0">
                <a:cs typeface="Arial" panose="020B0604020202020204"/>
              </a:rPr>
              <a:t>in </a:t>
            </a:r>
            <a:r>
              <a:rPr sz="2200" spc="-10" dirty="0">
                <a:cs typeface="Arial" panose="020B0604020202020204"/>
              </a:rPr>
              <a:t>their  </a:t>
            </a:r>
            <a:r>
              <a:rPr sz="2200" spc="-5" dirty="0">
                <a:cs typeface="Arial" panose="020B0604020202020204"/>
              </a:rPr>
              <a:t>critical sections</a:t>
            </a:r>
            <a:endParaRPr sz="2200" dirty="0">
              <a:cs typeface="Arial" panose="020B0604020202020204"/>
            </a:endParaRPr>
          </a:p>
          <a:p>
            <a:pPr marL="391795" marR="90805" indent="-341630" algn="just">
              <a:lnSpc>
                <a:spcPct val="150000"/>
              </a:lnSpc>
              <a:spcBef>
                <a:spcPts val="755"/>
              </a:spcBef>
              <a:buFont typeface="Arial" panose="020B0604020202020204"/>
              <a:buAutoNum type="arabicPeriod"/>
              <a:tabLst>
                <a:tab pos="429895" algn="l"/>
                <a:tab pos="430530" algn="l"/>
              </a:tabLst>
            </a:pPr>
            <a:r>
              <a:rPr sz="2200" dirty="0"/>
              <a:t>	</a:t>
            </a:r>
            <a:r>
              <a:rPr sz="2200" b="1" spc="-5" dirty="0">
                <a:cs typeface="Arial" panose="020B0604020202020204"/>
              </a:rPr>
              <a:t>Progress </a:t>
            </a:r>
            <a:r>
              <a:rPr sz="2200" dirty="0">
                <a:cs typeface="Arial" panose="020B0604020202020204"/>
              </a:rPr>
              <a:t>- If </a:t>
            </a:r>
            <a:r>
              <a:rPr sz="2200" spc="-10" dirty="0">
                <a:cs typeface="Arial" panose="020B0604020202020204"/>
              </a:rPr>
              <a:t>no </a:t>
            </a:r>
            <a:r>
              <a:rPr sz="2200" spc="-5" dirty="0">
                <a:cs typeface="Arial" panose="020B0604020202020204"/>
              </a:rPr>
              <a:t>process is </a:t>
            </a:r>
            <a:r>
              <a:rPr sz="2200" spc="-10" dirty="0">
                <a:cs typeface="Arial" panose="020B0604020202020204"/>
              </a:rPr>
              <a:t>executing </a:t>
            </a:r>
            <a:r>
              <a:rPr sz="2200" spc="-5" dirty="0">
                <a:cs typeface="Arial" panose="020B0604020202020204"/>
              </a:rPr>
              <a:t>in its critical section </a:t>
            </a:r>
            <a:r>
              <a:rPr sz="2200" spc="-15" dirty="0">
                <a:cs typeface="Arial" panose="020B0604020202020204"/>
              </a:rPr>
              <a:t>and  </a:t>
            </a:r>
            <a:r>
              <a:rPr sz="2200" spc="-5" dirty="0">
                <a:cs typeface="Arial" panose="020B0604020202020204"/>
              </a:rPr>
              <a:t>there </a:t>
            </a:r>
            <a:r>
              <a:rPr sz="2200" spc="-10" dirty="0">
                <a:cs typeface="Arial" panose="020B0604020202020204"/>
              </a:rPr>
              <a:t>exist </a:t>
            </a:r>
            <a:r>
              <a:rPr sz="2200" spc="-5" dirty="0">
                <a:cs typeface="Arial" panose="020B0604020202020204"/>
              </a:rPr>
              <a:t>some processes that </a:t>
            </a:r>
            <a:r>
              <a:rPr sz="2200" spc="-15" dirty="0">
                <a:cs typeface="Arial" panose="020B0604020202020204"/>
              </a:rPr>
              <a:t>wish </a:t>
            </a:r>
            <a:r>
              <a:rPr sz="2200" dirty="0">
                <a:cs typeface="Arial" panose="020B0604020202020204"/>
              </a:rPr>
              <a:t>to </a:t>
            </a:r>
            <a:r>
              <a:rPr sz="2200" spc="-10" dirty="0">
                <a:cs typeface="Arial" panose="020B0604020202020204"/>
              </a:rPr>
              <a:t>enter their </a:t>
            </a:r>
            <a:r>
              <a:rPr sz="2200" spc="-5" dirty="0">
                <a:cs typeface="Arial" panose="020B0604020202020204"/>
              </a:rPr>
              <a:t>critical  section, </a:t>
            </a:r>
            <a:r>
              <a:rPr sz="2200" spc="-10" dirty="0">
                <a:cs typeface="Arial" panose="020B0604020202020204"/>
              </a:rPr>
              <a:t>then </a:t>
            </a:r>
            <a:r>
              <a:rPr sz="2200" spc="-5" dirty="0">
                <a:cs typeface="Arial" panose="020B0604020202020204"/>
              </a:rPr>
              <a:t>the selection of the processes that </a:t>
            </a:r>
            <a:r>
              <a:rPr sz="2200" spc="-15" dirty="0">
                <a:cs typeface="Arial" panose="020B0604020202020204"/>
              </a:rPr>
              <a:t>will </a:t>
            </a:r>
            <a:r>
              <a:rPr sz="2200" spc="-10" dirty="0">
                <a:cs typeface="Arial" panose="020B0604020202020204"/>
              </a:rPr>
              <a:t>enter the  </a:t>
            </a:r>
            <a:r>
              <a:rPr sz="2200" spc="-5" dirty="0">
                <a:cs typeface="Arial" panose="020B0604020202020204"/>
              </a:rPr>
              <a:t>critical section </a:t>
            </a:r>
            <a:r>
              <a:rPr sz="2200" spc="-10" dirty="0">
                <a:cs typeface="Arial" panose="020B0604020202020204"/>
              </a:rPr>
              <a:t>next cannot be postponed</a:t>
            </a:r>
            <a:r>
              <a:rPr sz="2200" spc="100" dirty="0">
                <a:cs typeface="Arial" panose="020B0604020202020204"/>
              </a:rPr>
              <a:t> </a:t>
            </a:r>
            <a:r>
              <a:rPr sz="2200" spc="-10" dirty="0">
                <a:cs typeface="Arial" panose="020B0604020202020204"/>
              </a:rPr>
              <a:t>indefinitely</a:t>
            </a:r>
            <a:endParaRPr sz="2200" dirty="0">
              <a:cs typeface="Arial" panose="020B0604020202020204"/>
            </a:endParaRPr>
          </a:p>
          <a:p>
            <a:pPr marL="391795" marR="43180" indent="-341630">
              <a:lnSpc>
                <a:spcPct val="150000"/>
              </a:lnSpc>
              <a:spcBef>
                <a:spcPts val="755"/>
              </a:spcBef>
              <a:buClr>
                <a:srgbClr val="000000"/>
              </a:buClr>
              <a:buFont typeface="Arial" panose="020B0604020202020204"/>
              <a:buAutoNum type="arabicPeriod"/>
              <a:tabLst>
                <a:tab pos="367665" algn="l"/>
                <a:tab pos="368300" algn="l"/>
                <a:tab pos="2512695" algn="l"/>
              </a:tabLst>
            </a:pPr>
            <a:r>
              <a:rPr sz="2200" b="1" spc="-5" dirty="0">
                <a:cs typeface="Arial" panose="020B0604020202020204"/>
              </a:rPr>
              <a:t>Bounded</a:t>
            </a:r>
            <a:r>
              <a:rPr sz="2200" b="1" spc="-10" dirty="0">
                <a:cs typeface="Arial" panose="020B0604020202020204"/>
              </a:rPr>
              <a:t> </a:t>
            </a:r>
            <a:r>
              <a:rPr sz="2200" b="1" spc="-5" dirty="0">
                <a:cs typeface="Arial" panose="020B0604020202020204"/>
              </a:rPr>
              <a:t>Waiting </a:t>
            </a:r>
            <a:r>
              <a:rPr sz="2200" dirty="0">
                <a:cs typeface="Arial" panose="020B0604020202020204"/>
              </a:rPr>
              <a:t>-A </a:t>
            </a:r>
            <a:r>
              <a:rPr sz="2200" spc="-10" dirty="0">
                <a:cs typeface="Arial" panose="020B0604020202020204"/>
              </a:rPr>
              <a:t>bound </a:t>
            </a:r>
            <a:r>
              <a:rPr sz="2200" spc="-5" dirty="0">
                <a:cs typeface="Arial" panose="020B0604020202020204"/>
              </a:rPr>
              <a:t>must </a:t>
            </a:r>
            <a:r>
              <a:rPr sz="2200" spc="-10" dirty="0">
                <a:cs typeface="Arial" panose="020B0604020202020204"/>
              </a:rPr>
              <a:t>exist on </a:t>
            </a:r>
            <a:r>
              <a:rPr sz="2200" spc="-5" dirty="0">
                <a:cs typeface="Arial" panose="020B0604020202020204"/>
              </a:rPr>
              <a:t>the </a:t>
            </a:r>
            <a:r>
              <a:rPr sz="2200" spc="-10" dirty="0">
                <a:cs typeface="Arial" panose="020B0604020202020204"/>
              </a:rPr>
              <a:t>number of  </a:t>
            </a:r>
            <a:r>
              <a:rPr sz="2200" spc="-5" dirty="0">
                <a:cs typeface="Arial" panose="020B0604020202020204"/>
              </a:rPr>
              <a:t>times that </a:t>
            </a:r>
            <a:r>
              <a:rPr sz="2200" spc="-10" dirty="0">
                <a:cs typeface="Arial" panose="020B0604020202020204"/>
              </a:rPr>
              <a:t>other </a:t>
            </a:r>
            <a:r>
              <a:rPr sz="2200" spc="-5" dirty="0">
                <a:cs typeface="Arial" panose="020B0604020202020204"/>
              </a:rPr>
              <a:t>processes are </a:t>
            </a:r>
            <a:r>
              <a:rPr sz="2200" spc="-10" dirty="0">
                <a:cs typeface="Arial" panose="020B0604020202020204"/>
              </a:rPr>
              <a:t>allowed </a:t>
            </a:r>
            <a:r>
              <a:rPr sz="2200" dirty="0">
                <a:cs typeface="Arial" panose="020B0604020202020204"/>
              </a:rPr>
              <a:t>to </a:t>
            </a:r>
            <a:r>
              <a:rPr sz="2200" spc="-10" dirty="0">
                <a:cs typeface="Arial" panose="020B0604020202020204"/>
              </a:rPr>
              <a:t>enter their </a:t>
            </a:r>
            <a:r>
              <a:rPr sz="2200" spc="-5" dirty="0">
                <a:cs typeface="Arial" panose="020B0604020202020204"/>
              </a:rPr>
              <a:t>critical  sections after a process </a:t>
            </a:r>
            <a:r>
              <a:rPr sz="2200" spc="-10" dirty="0">
                <a:cs typeface="Arial" panose="020B0604020202020204"/>
              </a:rPr>
              <a:t>has made </a:t>
            </a:r>
            <a:r>
              <a:rPr sz="2200" spc="-5" dirty="0">
                <a:cs typeface="Arial" panose="020B0604020202020204"/>
              </a:rPr>
              <a:t>a </a:t>
            </a:r>
            <a:r>
              <a:rPr sz="2200" spc="-10" dirty="0">
                <a:cs typeface="Arial" panose="020B0604020202020204"/>
              </a:rPr>
              <a:t>request </a:t>
            </a:r>
            <a:r>
              <a:rPr sz="2200" dirty="0">
                <a:cs typeface="Arial" panose="020B0604020202020204"/>
              </a:rPr>
              <a:t>to </a:t>
            </a:r>
            <a:r>
              <a:rPr sz="2200" spc="-10" dirty="0">
                <a:cs typeface="Arial" panose="020B0604020202020204"/>
              </a:rPr>
              <a:t>enter </a:t>
            </a:r>
            <a:r>
              <a:rPr sz="2200" spc="-5" dirty="0">
                <a:cs typeface="Arial" panose="020B0604020202020204"/>
              </a:rPr>
              <a:t>its critical  section </a:t>
            </a:r>
            <a:r>
              <a:rPr sz="2200" spc="-10" dirty="0">
                <a:cs typeface="Arial" panose="020B0604020202020204"/>
              </a:rPr>
              <a:t>and before </a:t>
            </a:r>
            <a:r>
              <a:rPr sz="2200" spc="-5" dirty="0">
                <a:cs typeface="Arial" panose="020B0604020202020204"/>
              </a:rPr>
              <a:t>that </a:t>
            </a:r>
            <a:r>
              <a:rPr sz="2200" spc="-10" dirty="0">
                <a:cs typeface="Arial" panose="020B0604020202020204"/>
              </a:rPr>
              <a:t>request </a:t>
            </a:r>
            <a:r>
              <a:rPr sz="2200" spc="-5" dirty="0">
                <a:cs typeface="Arial" panose="020B0604020202020204"/>
              </a:rPr>
              <a:t>is</a:t>
            </a:r>
            <a:r>
              <a:rPr sz="2200" spc="50" dirty="0">
                <a:cs typeface="Arial" panose="020B0604020202020204"/>
              </a:rPr>
              <a:t> </a:t>
            </a:r>
            <a:r>
              <a:rPr sz="2200" spc="-10" dirty="0">
                <a:cs typeface="Arial" panose="020B0604020202020204"/>
              </a:rPr>
              <a:t>granted</a:t>
            </a:r>
            <a:endParaRPr lang="en-IN" sz="2200" spc="-10" dirty="0">
              <a:cs typeface="Arial" panose="020B0604020202020204"/>
            </a:endParaRPr>
          </a:p>
        </p:txBody>
      </p:sp>
      <p:sp>
        <p:nvSpPr>
          <p:cNvPr id="8" name="Slide Number Placeholder 7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t>33</a:t>
            </a:fld>
            <a:endParaRPr lang="en-US"/>
          </a:p>
        </p:txBody>
      </p:sp>
      <p:pic>
        <p:nvPicPr>
          <p:cNvPr id="2" name="Picture 1" descr="A black and red logo&#10;&#10;Description automatically generated">
            <a:extLst>
              <a:ext uri="{FF2B5EF4-FFF2-40B4-BE49-F238E27FC236}">
                <a16:creationId xmlns:a16="http://schemas.microsoft.com/office/drawing/2014/main" id="{ACE096BE-9040-E066-C759-806E8700F48D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-27384"/>
            <a:ext cx="1657350" cy="936104"/>
          </a:xfrm>
          <a:prstGeom prst="rect">
            <a:avLst/>
          </a:prstGeom>
        </p:spPr>
      </p:pic>
      <p:sp>
        <p:nvSpPr>
          <p:cNvPr id="6" name="Title 1">
            <a:extLst>
              <a:ext uri="{FF2B5EF4-FFF2-40B4-BE49-F238E27FC236}">
                <a16:creationId xmlns:a16="http://schemas.microsoft.com/office/drawing/2014/main" id="{3BDCE00A-CE14-16DE-078F-03C3B3824670}"/>
              </a:ext>
            </a:extLst>
          </p:cNvPr>
          <p:cNvSpPr txBox="1">
            <a:spLocks/>
          </p:cNvSpPr>
          <p:nvPr/>
        </p:nvSpPr>
        <p:spPr>
          <a:xfrm>
            <a:off x="1657350" y="126624"/>
            <a:ext cx="7389490" cy="710451"/>
          </a:xfrm>
          <a:prstGeom prst="rect">
            <a:avLst/>
          </a:prstGeom>
          <a:gradFill flip="none" rotWithShape="1">
            <a:gsLst>
              <a:gs pos="0">
                <a:srgbClr val="FF0000">
                  <a:tint val="66000"/>
                  <a:satMod val="160000"/>
                </a:srgbClr>
              </a:gs>
              <a:gs pos="50000">
                <a:srgbClr val="FF0000">
                  <a:tint val="44500"/>
                  <a:satMod val="160000"/>
                </a:srgbClr>
              </a:gs>
              <a:gs pos="100000">
                <a:srgbClr val="FF0000">
                  <a:tint val="23500"/>
                  <a:satMod val="160000"/>
                </a:srgbClr>
              </a:gs>
            </a:gsLst>
            <a:lin ang="0" scaled="1"/>
            <a:tileRect/>
          </a:gradFill>
        </p:spPr>
        <p:style>
          <a:lnRef idx="1">
            <a:schemeClr val="accent5"/>
          </a:lnRef>
          <a:fillRef idx="2">
            <a:schemeClr val="accent5"/>
          </a:fillRef>
          <a:effectRef idx="1">
            <a:schemeClr val="accent5"/>
          </a:effectRef>
          <a:fontRef idx="minor">
            <a:schemeClr val="dk1"/>
          </a:fontRef>
        </p:style>
        <p:txBody>
          <a:bodyPr vert="horz" lIns="68580" tIns="34290" rIns="68580" bIns="34290" rtlCol="0" anchor="ctr">
            <a:noAutofit/>
          </a:bodyPr>
          <a:lstStyle>
            <a:defPPr>
              <a:defRPr lang="en-US"/>
            </a:defPPr>
            <a:lvl1pPr algn="ctr">
              <a:spcBef>
                <a:spcPct val="0"/>
              </a:spcBef>
              <a:buNone/>
              <a:defRPr sz="2800"/>
            </a:lvl1pPr>
          </a:lstStyle>
          <a:p>
            <a:pPr>
              <a:defRPr/>
            </a:pPr>
            <a:r>
              <a:rPr lang="en-US" sz="2100" dirty="0"/>
              <a:t>Solution to critical section problem</a:t>
            </a:r>
          </a:p>
        </p:txBody>
      </p:sp>
    </p:spTree>
    <p:extLst>
      <p:ext uri="{BB962C8B-B14F-4D97-AF65-F5344CB8AC3E}">
        <p14:creationId xmlns:p14="http://schemas.microsoft.com/office/powerpoint/2010/main" val="3991053909"/>
      </p:ext>
    </p:extLst>
  </p:cSld>
  <p:clrMapOvr>
    <a:masterClrMapping/>
  </p:clrMapOvr>
  <p:transition>
    <p:wipe dir="u"/>
  </p:transition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1814192-54A5-C731-AF6D-B1C08EB03B9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A7BB7D6-A8C7-ECCE-FDE3-BFC92E523A6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B9F5581-EE9C-499F-B9C3-78D5040B9457}" type="datetime3">
              <a:rPr lang="en-US" smtClean="0"/>
              <a:t>1 September 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E0863A8-BC75-6945-EAF0-BE911D8B2F8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2514600" y="6356350"/>
            <a:ext cx="5181600" cy="365125"/>
          </a:xfrm>
        </p:spPr>
        <p:txBody>
          <a:bodyPr/>
          <a:lstStyle/>
          <a:p>
            <a:r>
              <a:rPr lang="en-US"/>
              <a:t>Atul Garg           BCSE0303            Unit- III</a:t>
            </a:r>
            <a:endParaRPr lang="en-US" dirty="0"/>
          </a:p>
        </p:txBody>
      </p:sp>
      <p:sp>
        <p:nvSpPr>
          <p:cNvPr id="10" name="object 3">
            <a:extLst>
              <a:ext uri="{FF2B5EF4-FFF2-40B4-BE49-F238E27FC236}">
                <a16:creationId xmlns:a16="http://schemas.microsoft.com/office/drawing/2014/main" id="{5F607921-6E72-2937-6B5F-CD657B16E9C8}"/>
              </a:ext>
            </a:extLst>
          </p:cNvPr>
          <p:cNvSpPr txBox="1"/>
          <p:nvPr/>
        </p:nvSpPr>
        <p:spPr>
          <a:xfrm>
            <a:off x="899592" y="692696"/>
            <a:ext cx="7704856" cy="5751703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91795" marR="492760" indent="-341630" algn="just">
              <a:lnSpc>
                <a:spcPct val="150000"/>
              </a:lnSpc>
              <a:spcBef>
                <a:spcPts val="100"/>
              </a:spcBef>
              <a:buFont typeface="Arial" panose="020B0604020202020204"/>
              <a:buAutoNum type="arabicPeriod"/>
              <a:tabLst>
                <a:tab pos="430530" algn="l"/>
              </a:tabLst>
            </a:pPr>
            <a:r>
              <a:rPr lang="en-US" sz="2200" dirty="0"/>
              <a:t>	</a:t>
            </a:r>
            <a:r>
              <a:rPr lang="en-US" sz="2200" b="1" spc="-5" dirty="0">
                <a:cs typeface="Arial" panose="020B0604020202020204"/>
              </a:rPr>
              <a:t>Mutual Exclusion </a:t>
            </a:r>
            <a:r>
              <a:rPr lang="en-US" sz="2200" dirty="0">
                <a:cs typeface="Arial" panose="020B0604020202020204"/>
              </a:rPr>
              <a:t>- If </a:t>
            </a:r>
            <a:r>
              <a:rPr lang="en-US" sz="2200" spc="-5" dirty="0">
                <a:cs typeface="Arial" panose="020B0604020202020204"/>
              </a:rPr>
              <a:t>process </a:t>
            </a:r>
            <a:r>
              <a:rPr lang="en-US" sz="2200" b="1" i="1" spc="-5" dirty="0">
                <a:cs typeface="Arial" panose="020B0604020202020204"/>
              </a:rPr>
              <a:t>P</a:t>
            </a:r>
            <a:r>
              <a:rPr lang="en-US" sz="2200" b="1" i="1" spc="-7" baseline="-21000" dirty="0">
                <a:cs typeface="Arial" panose="020B0604020202020204"/>
              </a:rPr>
              <a:t>i </a:t>
            </a:r>
            <a:r>
              <a:rPr lang="en-US" sz="2200" spc="-5" dirty="0">
                <a:cs typeface="Arial" panose="020B0604020202020204"/>
              </a:rPr>
              <a:t>is </a:t>
            </a:r>
            <a:r>
              <a:rPr lang="en-US" sz="2200" spc="-10" dirty="0">
                <a:cs typeface="Arial" panose="020B0604020202020204"/>
              </a:rPr>
              <a:t>executing </a:t>
            </a:r>
            <a:r>
              <a:rPr lang="en-US" sz="2200" spc="-5" dirty="0">
                <a:cs typeface="Arial" panose="020B0604020202020204"/>
              </a:rPr>
              <a:t>in its critical  section, </a:t>
            </a:r>
            <a:r>
              <a:rPr lang="en-US" sz="2200" spc="-10" dirty="0">
                <a:cs typeface="Arial" panose="020B0604020202020204"/>
              </a:rPr>
              <a:t>then no other </a:t>
            </a:r>
            <a:r>
              <a:rPr lang="en-US" sz="2200" spc="-5" dirty="0">
                <a:cs typeface="Arial" panose="020B0604020202020204"/>
              </a:rPr>
              <a:t>processes can </a:t>
            </a:r>
            <a:r>
              <a:rPr lang="en-US" sz="2200" spc="-10" dirty="0">
                <a:cs typeface="Arial" panose="020B0604020202020204"/>
              </a:rPr>
              <a:t>be executing </a:t>
            </a:r>
            <a:r>
              <a:rPr lang="en-US" sz="2200" spc="-5" dirty="0">
                <a:cs typeface="Arial" panose="020B0604020202020204"/>
              </a:rPr>
              <a:t>in </a:t>
            </a:r>
            <a:r>
              <a:rPr lang="en-US" sz="2200" spc="-10" dirty="0">
                <a:cs typeface="Arial" panose="020B0604020202020204"/>
              </a:rPr>
              <a:t>their  </a:t>
            </a:r>
            <a:r>
              <a:rPr lang="en-US" sz="2200" spc="-5" dirty="0">
                <a:cs typeface="Arial" panose="020B0604020202020204"/>
              </a:rPr>
              <a:t>critical sections</a:t>
            </a:r>
            <a:endParaRPr lang="en-US" sz="2200" dirty="0">
              <a:cs typeface="Arial" panose="020B0604020202020204"/>
            </a:endParaRPr>
          </a:p>
          <a:p>
            <a:pPr marL="391795" marR="90805" indent="-341630" algn="just">
              <a:lnSpc>
                <a:spcPct val="150000"/>
              </a:lnSpc>
              <a:spcBef>
                <a:spcPts val="755"/>
              </a:spcBef>
              <a:buFont typeface="Arial" panose="020B0604020202020204"/>
              <a:buAutoNum type="arabicPeriod"/>
              <a:tabLst>
                <a:tab pos="429895" algn="l"/>
                <a:tab pos="430530" algn="l"/>
              </a:tabLst>
            </a:pPr>
            <a:r>
              <a:rPr lang="en-US" sz="2200" dirty="0"/>
              <a:t>	</a:t>
            </a:r>
            <a:r>
              <a:rPr lang="en-US" sz="2200" b="1" spc="-5" dirty="0">
                <a:cs typeface="Arial" panose="020B0604020202020204"/>
              </a:rPr>
              <a:t>Progress</a:t>
            </a:r>
            <a:r>
              <a:rPr lang="en-US" sz="2200" dirty="0">
                <a:cs typeface="Arial" panose="020B0604020202020204"/>
              </a:rPr>
              <a:t>- If </a:t>
            </a:r>
            <a:r>
              <a:rPr lang="en-US" sz="2200" spc="-10" dirty="0">
                <a:cs typeface="Arial" panose="020B0604020202020204"/>
              </a:rPr>
              <a:t>no </a:t>
            </a:r>
            <a:r>
              <a:rPr lang="en-US" sz="2200" spc="-5" dirty="0">
                <a:cs typeface="Arial" panose="020B0604020202020204"/>
              </a:rPr>
              <a:t>process is </a:t>
            </a:r>
            <a:r>
              <a:rPr lang="en-US" sz="2200" spc="-10" dirty="0">
                <a:cs typeface="Arial" panose="020B0604020202020204"/>
              </a:rPr>
              <a:t>executing </a:t>
            </a:r>
            <a:r>
              <a:rPr lang="en-US" sz="2200" spc="-5" dirty="0">
                <a:cs typeface="Arial" panose="020B0604020202020204"/>
              </a:rPr>
              <a:t>in its critical section </a:t>
            </a:r>
            <a:r>
              <a:rPr lang="en-US" sz="2200" spc="-15" dirty="0">
                <a:cs typeface="Arial" panose="020B0604020202020204"/>
              </a:rPr>
              <a:t>and  </a:t>
            </a:r>
            <a:r>
              <a:rPr lang="en-US" sz="2200" spc="-5" dirty="0">
                <a:cs typeface="Arial" panose="020B0604020202020204"/>
              </a:rPr>
              <a:t>there </a:t>
            </a:r>
            <a:r>
              <a:rPr lang="en-US" sz="2200" spc="-10" dirty="0">
                <a:cs typeface="Arial" panose="020B0604020202020204"/>
              </a:rPr>
              <a:t>exist </a:t>
            </a:r>
            <a:r>
              <a:rPr lang="en-US" sz="2200" spc="-5" dirty="0">
                <a:cs typeface="Arial" panose="020B0604020202020204"/>
              </a:rPr>
              <a:t>some processes that </a:t>
            </a:r>
            <a:r>
              <a:rPr lang="en-US" sz="2200" spc="-15" dirty="0">
                <a:cs typeface="Arial" panose="020B0604020202020204"/>
              </a:rPr>
              <a:t>wish </a:t>
            </a:r>
            <a:r>
              <a:rPr lang="en-US" sz="2200" dirty="0">
                <a:cs typeface="Arial" panose="020B0604020202020204"/>
              </a:rPr>
              <a:t>to </a:t>
            </a:r>
            <a:r>
              <a:rPr lang="en-US" sz="2200" spc="-10" dirty="0">
                <a:cs typeface="Arial" panose="020B0604020202020204"/>
              </a:rPr>
              <a:t>enter their </a:t>
            </a:r>
            <a:r>
              <a:rPr lang="en-US" sz="2200" spc="-5" dirty="0">
                <a:cs typeface="Arial" panose="020B0604020202020204"/>
              </a:rPr>
              <a:t>critical  section, </a:t>
            </a:r>
            <a:r>
              <a:rPr lang="en-US" sz="2200" spc="-10" dirty="0">
                <a:cs typeface="Arial" panose="020B0604020202020204"/>
              </a:rPr>
              <a:t>then </a:t>
            </a:r>
            <a:r>
              <a:rPr lang="en-US" sz="2200" spc="-5" dirty="0">
                <a:cs typeface="Arial" panose="020B0604020202020204"/>
              </a:rPr>
              <a:t>the selection of the processes that </a:t>
            </a:r>
            <a:r>
              <a:rPr lang="en-US" sz="2200" spc="-15" dirty="0">
                <a:cs typeface="Arial" panose="020B0604020202020204"/>
              </a:rPr>
              <a:t>will </a:t>
            </a:r>
            <a:r>
              <a:rPr lang="en-US" sz="2200" spc="-10" dirty="0">
                <a:cs typeface="Arial" panose="020B0604020202020204"/>
              </a:rPr>
              <a:t>enter the  </a:t>
            </a:r>
            <a:r>
              <a:rPr lang="en-US" sz="2200" spc="-5" dirty="0">
                <a:cs typeface="Arial" panose="020B0604020202020204"/>
              </a:rPr>
              <a:t>critical section </a:t>
            </a:r>
            <a:r>
              <a:rPr lang="en-US" sz="2200" spc="-10" dirty="0">
                <a:cs typeface="Arial" panose="020B0604020202020204"/>
              </a:rPr>
              <a:t>next cannot be postponed</a:t>
            </a:r>
            <a:r>
              <a:rPr lang="en-US" sz="2200" spc="100" dirty="0">
                <a:cs typeface="Arial" panose="020B0604020202020204"/>
              </a:rPr>
              <a:t> </a:t>
            </a:r>
            <a:r>
              <a:rPr lang="en-US" sz="2200" spc="-10" dirty="0">
                <a:cs typeface="Arial" panose="020B0604020202020204"/>
              </a:rPr>
              <a:t>indefinitely</a:t>
            </a:r>
            <a:endParaRPr lang="en-US" sz="2200" dirty="0">
              <a:cs typeface="Arial" panose="020B0604020202020204"/>
            </a:endParaRPr>
          </a:p>
          <a:p>
            <a:pPr marL="391795" marR="43180" indent="-341630">
              <a:lnSpc>
                <a:spcPct val="150000"/>
              </a:lnSpc>
              <a:spcBef>
                <a:spcPts val="755"/>
              </a:spcBef>
              <a:buClr>
                <a:srgbClr val="000000"/>
              </a:buClr>
              <a:buFont typeface="Arial" panose="020B0604020202020204"/>
              <a:buAutoNum type="arabicPeriod"/>
              <a:tabLst>
                <a:tab pos="367665" algn="l"/>
                <a:tab pos="368300" algn="l"/>
                <a:tab pos="2512695" algn="l"/>
              </a:tabLst>
            </a:pPr>
            <a:r>
              <a:rPr lang="en-US" sz="2200" b="1" spc="-5" dirty="0">
                <a:cs typeface="Arial" panose="020B0604020202020204"/>
              </a:rPr>
              <a:t>Bounded</a:t>
            </a:r>
            <a:r>
              <a:rPr lang="en-US" sz="2200" b="1" spc="-10" dirty="0">
                <a:cs typeface="Arial" panose="020B0604020202020204"/>
              </a:rPr>
              <a:t> </a:t>
            </a:r>
            <a:r>
              <a:rPr lang="en-US" sz="2200" b="1" spc="-5" dirty="0">
                <a:cs typeface="Arial" panose="020B0604020202020204"/>
              </a:rPr>
              <a:t>Waiting </a:t>
            </a:r>
            <a:r>
              <a:rPr lang="en-US" sz="2200" dirty="0">
                <a:cs typeface="Arial" panose="020B0604020202020204"/>
              </a:rPr>
              <a:t>-A </a:t>
            </a:r>
            <a:r>
              <a:rPr lang="en-US" sz="2200" spc="-10" dirty="0">
                <a:cs typeface="Arial" panose="020B0604020202020204"/>
              </a:rPr>
              <a:t>bound </a:t>
            </a:r>
            <a:r>
              <a:rPr lang="en-US" sz="2200" spc="-5" dirty="0">
                <a:cs typeface="Arial" panose="020B0604020202020204"/>
              </a:rPr>
              <a:t>must </a:t>
            </a:r>
            <a:r>
              <a:rPr lang="en-US" sz="2200" spc="-10" dirty="0">
                <a:cs typeface="Arial" panose="020B0604020202020204"/>
              </a:rPr>
              <a:t>exist on </a:t>
            </a:r>
            <a:r>
              <a:rPr lang="en-US" sz="2200" spc="-5" dirty="0">
                <a:cs typeface="Arial" panose="020B0604020202020204"/>
              </a:rPr>
              <a:t>the </a:t>
            </a:r>
            <a:r>
              <a:rPr lang="en-US" sz="2200" spc="-10" dirty="0">
                <a:cs typeface="Arial" panose="020B0604020202020204"/>
              </a:rPr>
              <a:t>number of  </a:t>
            </a:r>
            <a:r>
              <a:rPr lang="en-US" sz="2200" spc="-5" dirty="0">
                <a:cs typeface="Arial" panose="020B0604020202020204"/>
              </a:rPr>
              <a:t>times that </a:t>
            </a:r>
            <a:r>
              <a:rPr lang="en-US" sz="2200" spc="-10" dirty="0">
                <a:cs typeface="Arial" panose="020B0604020202020204"/>
              </a:rPr>
              <a:t>other </a:t>
            </a:r>
            <a:r>
              <a:rPr lang="en-US" sz="2200" spc="-5" dirty="0">
                <a:cs typeface="Arial" panose="020B0604020202020204"/>
              </a:rPr>
              <a:t>processes are </a:t>
            </a:r>
            <a:r>
              <a:rPr lang="en-US" sz="2200" spc="-10" dirty="0">
                <a:cs typeface="Arial" panose="020B0604020202020204"/>
              </a:rPr>
              <a:t>allowed </a:t>
            </a:r>
            <a:r>
              <a:rPr lang="en-US" sz="2200" dirty="0">
                <a:cs typeface="Arial" panose="020B0604020202020204"/>
              </a:rPr>
              <a:t>to </a:t>
            </a:r>
            <a:r>
              <a:rPr lang="en-US" sz="2200" spc="-10" dirty="0">
                <a:cs typeface="Arial" panose="020B0604020202020204"/>
              </a:rPr>
              <a:t>enter their </a:t>
            </a:r>
            <a:r>
              <a:rPr lang="en-US" sz="2200" spc="-5" dirty="0">
                <a:cs typeface="Arial" panose="020B0604020202020204"/>
              </a:rPr>
              <a:t>critical  sections after a process </a:t>
            </a:r>
            <a:r>
              <a:rPr lang="en-US" sz="2200" spc="-10" dirty="0">
                <a:cs typeface="Arial" panose="020B0604020202020204"/>
              </a:rPr>
              <a:t>has made </a:t>
            </a:r>
            <a:r>
              <a:rPr lang="en-US" sz="2200" spc="-5" dirty="0">
                <a:cs typeface="Arial" panose="020B0604020202020204"/>
              </a:rPr>
              <a:t>a </a:t>
            </a:r>
            <a:r>
              <a:rPr lang="en-US" sz="2200" spc="-10" dirty="0">
                <a:cs typeface="Arial" panose="020B0604020202020204"/>
              </a:rPr>
              <a:t>request </a:t>
            </a:r>
            <a:r>
              <a:rPr lang="en-US" sz="2200" dirty="0">
                <a:cs typeface="Arial" panose="020B0604020202020204"/>
              </a:rPr>
              <a:t>to </a:t>
            </a:r>
            <a:r>
              <a:rPr lang="en-US" sz="2200" spc="-10" dirty="0">
                <a:cs typeface="Arial" panose="020B0604020202020204"/>
              </a:rPr>
              <a:t>enter </a:t>
            </a:r>
            <a:r>
              <a:rPr lang="en-US" sz="2200" spc="-5" dirty="0">
                <a:cs typeface="Arial" panose="020B0604020202020204"/>
              </a:rPr>
              <a:t>its critical  section </a:t>
            </a:r>
            <a:r>
              <a:rPr lang="en-US" sz="2200" spc="-10" dirty="0">
                <a:cs typeface="Arial" panose="020B0604020202020204"/>
              </a:rPr>
              <a:t>and before </a:t>
            </a:r>
            <a:r>
              <a:rPr lang="en-US" sz="2200" spc="-5" dirty="0">
                <a:cs typeface="Arial" panose="020B0604020202020204"/>
              </a:rPr>
              <a:t>that </a:t>
            </a:r>
            <a:r>
              <a:rPr lang="en-US" sz="2200" spc="-10" dirty="0">
                <a:cs typeface="Arial" panose="020B0604020202020204"/>
              </a:rPr>
              <a:t>request </a:t>
            </a:r>
            <a:r>
              <a:rPr lang="en-US" sz="2200" spc="-5" dirty="0">
                <a:cs typeface="Arial" panose="020B0604020202020204"/>
              </a:rPr>
              <a:t>is</a:t>
            </a:r>
            <a:r>
              <a:rPr lang="en-US" sz="2200" spc="50" dirty="0">
                <a:cs typeface="Arial" panose="020B0604020202020204"/>
              </a:rPr>
              <a:t> </a:t>
            </a:r>
            <a:r>
              <a:rPr lang="en-US" sz="2200" spc="-10" dirty="0">
                <a:cs typeface="Arial" panose="020B0604020202020204"/>
              </a:rPr>
              <a:t>granted</a:t>
            </a:r>
          </a:p>
        </p:txBody>
      </p:sp>
      <p:sp>
        <p:nvSpPr>
          <p:cNvPr id="8" name="Slide Number Placeholder 7">
            <a:extLst>
              <a:ext uri="{FF2B5EF4-FFF2-40B4-BE49-F238E27FC236}">
                <a16:creationId xmlns:a16="http://schemas.microsoft.com/office/drawing/2014/main" id="{78F52822-C510-BBAC-9AF4-A46F5BE7A79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t>34</a:t>
            </a:fld>
            <a:endParaRPr lang="en-US"/>
          </a:p>
        </p:txBody>
      </p:sp>
      <p:pic>
        <p:nvPicPr>
          <p:cNvPr id="2" name="Picture 1" descr="A black and red logo&#10;&#10;Description automatically generated">
            <a:extLst>
              <a:ext uri="{FF2B5EF4-FFF2-40B4-BE49-F238E27FC236}">
                <a16:creationId xmlns:a16="http://schemas.microsoft.com/office/drawing/2014/main" id="{5D05A5CF-184C-1A37-1797-90440C06C0FC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-27384"/>
            <a:ext cx="1657350" cy="864096"/>
          </a:xfrm>
          <a:prstGeom prst="rect">
            <a:avLst/>
          </a:prstGeom>
        </p:spPr>
      </p:pic>
      <p:sp>
        <p:nvSpPr>
          <p:cNvPr id="6" name="Title 1">
            <a:extLst>
              <a:ext uri="{FF2B5EF4-FFF2-40B4-BE49-F238E27FC236}">
                <a16:creationId xmlns:a16="http://schemas.microsoft.com/office/drawing/2014/main" id="{B267341A-0328-3792-3B62-9F98772D2E22}"/>
              </a:ext>
            </a:extLst>
          </p:cNvPr>
          <p:cNvSpPr txBox="1">
            <a:spLocks/>
          </p:cNvSpPr>
          <p:nvPr/>
        </p:nvSpPr>
        <p:spPr>
          <a:xfrm>
            <a:off x="1657350" y="116632"/>
            <a:ext cx="7389490" cy="720080"/>
          </a:xfrm>
          <a:prstGeom prst="rect">
            <a:avLst/>
          </a:prstGeom>
          <a:gradFill flip="none" rotWithShape="1">
            <a:gsLst>
              <a:gs pos="0">
                <a:srgbClr val="FF0000">
                  <a:tint val="66000"/>
                  <a:satMod val="160000"/>
                </a:srgbClr>
              </a:gs>
              <a:gs pos="50000">
                <a:srgbClr val="FF0000">
                  <a:tint val="44500"/>
                  <a:satMod val="160000"/>
                </a:srgbClr>
              </a:gs>
              <a:gs pos="100000">
                <a:srgbClr val="FF0000">
                  <a:tint val="23500"/>
                  <a:satMod val="160000"/>
                </a:srgbClr>
              </a:gs>
            </a:gsLst>
            <a:lin ang="0" scaled="1"/>
            <a:tileRect/>
          </a:gradFill>
        </p:spPr>
        <p:style>
          <a:lnRef idx="1">
            <a:schemeClr val="accent5"/>
          </a:lnRef>
          <a:fillRef idx="2">
            <a:schemeClr val="accent5"/>
          </a:fillRef>
          <a:effectRef idx="1">
            <a:schemeClr val="accent5"/>
          </a:effectRef>
          <a:fontRef idx="minor">
            <a:schemeClr val="dk1"/>
          </a:fontRef>
        </p:style>
        <p:txBody>
          <a:bodyPr vert="horz" lIns="68580" tIns="34290" rIns="68580" bIns="34290" rtlCol="0" anchor="ctr">
            <a:noAutofit/>
          </a:bodyPr>
          <a:lstStyle>
            <a:defPPr>
              <a:defRPr lang="en-US"/>
            </a:defPPr>
            <a:lvl1pPr algn="ctr">
              <a:spcBef>
                <a:spcPct val="0"/>
              </a:spcBef>
              <a:buNone/>
              <a:defRPr sz="2800"/>
            </a:lvl1pPr>
          </a:lstStyle>
          <a:p>
            <a:pPr>
              <a:defRPr/>
            </a:pPr>
            <a:r>
              <a:rPr lang="en-US" sz="2100" dirty="0"/>
              <a:t>Solution to critical section problem</a:t>
            </a:r>
          </a:p>
        </p:txBody>
      </p:sp>
    </p:spTree>
    <p:extLst>
      <p:ext uri="{BB962C8B-B14F-4D97-AF65-F5344CB8AC3E}">
        <p14:creationId xmlns:p14="http://schemas.microsoft.com/office/powerpoint/2010/main" val="527089262"/>
      </p:ext>
    </p:extLst>
  </p:cSld>
  <p:clrMapOvr>
    <a:masterClrMapping/>
  </p:clrMapOvr>
  <p:transition>
    <p:wipe dir="u"/>
  </p:transition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2C676AD-4747-9D5F-5369-21E61249393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40A897B-02B7-7591-4969-B6A0885CCAF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F378928-7D17-42B5-BA66-4BFF0F14FFF8}" type="datetime3">
              <a:rPr lang="en-US" smtClean="0"/>
              <a:t>1 September 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DA7FCB4-31F3-6E76-CAD7-4088F7D0D4D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2514600" y="6356350"/>
            <a:ext cx="5181600" cy="365125"/>
          </a:xfrm>
        </p:spPr>
        <p:txBody>
          <a:bodyPr/>
          <a:lstStyle/>
          <a:p>
            <a:r>
              <a:rPr lang="en-US"/>
              <a:t>Atul Garg           BCSE0303            Unit- III</a:t>
            </a:r>
            <a:endParaRPr lang="en-US" dirty="0"/>
          </a:p>
        </p:txBody>
      </p:sp>
      <p:sp>
        <p:nvSpPr>
          <p:cNvPr id="8" name="Slide Number Placeholder 7">
            <a:extLst>
              <a:ext uri="{FF2B5EF4-FFF2-40B4-BE49-F238E27FC236}">
                <a16:creationId xmlns:a16="http://schemas.microsoft.com/office/drawing/2014/main" id="{FF887C6E-44F2-2C79-9388-4C8029F5B2F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t>35</a:t>
            </a:fld>
            <a:endParaRPr lang="en-US"/>
          </a:p>
        </p:txBody>
      </p:sp>
      <p:pic>
        <p:nvPicPr>
          <p:cNvPr id="2" name="Picture 1" descr="A black and red logo&#10;&#10;Description automatically generated">
            <a:extLst>
              <a:ext uri="{FF2B5EF4-FFF2-40B4-BE49-F238E27FC236}">
                <a16:creationId xmlns:a16="http://schemas.microsoft.com/office/drawing/2014/main" id="{AF13514A-16FD-0FFA-E173-6DF0FD82A3C6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136525"/>
            <a:ext cx="1657350" cy="726740"/>
          </a:xfrm>
          <a:prstGeom prst="rect">
            <a:avLst/>
          </a:prstGeom>
        </p:spPr>
      </p:pic>
      <p:sp>
        <p:nvSpPr>
          <p:cNvPr id="6" name="Title 1">
            <a:extLst>
              <a:ext uri="{FF2B5EF4-FFF2-40B4-BE49-F238E27FC236}">
                <a16:creationId xmlns:a16="http://schemas.microsoft.com/office/drawing/2014/main" id="{3C3B2E21-7363-D6E3-AAB0-64AEE787C997}"/>
              </a:ext>
            </a:extLst>
          </p:cNvPr>
          <p:cNvSpPr txBox="1">
            <a:spLocks/>
          </p:cNvSpPr>
          <p:nvPr/>
        </p:nvSpPr>
        <p:spPr>
          <a:xfrm>
            <a:off x="1657350" y="136525"/>
            <a:ext cx="7379146" cy="628180"/>
          </a:xfrm>
          <a:prstGeom prst="rect">
            <a:avLst/>
          </a:prstGeom>
          <a:gradFill flip="none" rotWithShape="1">
            <a:gsLst>
              <a:gs pos="0">
                <a:srgbClr val="FF0000">
                  <a:tint val="66000"/>
                  <a:satMod val="160000"/>
                </a:srgbClr>
              </a:gs>
              <a:gs pos="50000">
                <a:srgbClr val="FF0000">
                  <a:tint val="44500"/>
                  <a:satMod val="160000"/>
                </a:srgbClr>
              </a:gs>
              <a:gs pos="100000">
                <a:srgbClr val="FF0000">
                  <a:tint val="23500"/>
                  <a:satMod val="160000"/>
                </a:srgbClr>
              </a:gs>
            </a:gsLst>
            <a:lin ang="0" scaled="1"/>
            <a:tileRect/>
          </a:gradFill>
        </p:spPr>
        <p:style>
          <a:lnRef idx="1">
            <a:schemeClr val="accent5"/>
          </a:lnRef>
          <a:fillRef idx="2">
            <a:schemeClr val="accent5"/>
          </a:fillRef>
          <a:effectRef idx="1">
            <a:schemeClr val="accent5"/>
          </a:effectRef>
          <a:fontRef idx="minor">
            <a:schemeClr val="dk1"/>
          </a:fontRef>
        </p:style>
        <p:txBody>
          <a:bodyPr vert="horz" lIns="68580" tIns="34290" rIns="68580" bIns="34290" rtlCol="0" anchor="ctr">
            <a:noAutofit/>
          </a:bodyPr>
          <a:lstStyle>
            <a:defPPr>
              <a:defRPr lang="en-US"/>
            </a:defPPr>
            <a:lvl1pPr algn="ctr">
              <a:spcBef>
                <a:spcPct val="0"/>
              </a:spcBef>
              <a:buNone/>
              <a:defRPr sz="2800"/>
            </a:lvl1pPr>
          </a:lstStyle>
          <a:p>
            <a:pPr>
              <a:defRPr/>
            </a:pPr>
            <a:r>
              <a:rPr lang="en-US" sz="2100" dirty="0"/>
              <a:t>Daily Quiz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4AF77E1F-FB00-0831-2669-81B68472054B}"/>
              </a:ext>
            </a:extLst>
          </p:cNvPr>
          <p:cNvSpPr txBox="1"/>
          <p:nvPr/>
        </p:nvSpPr>
        <p:spPr>
          <a:xfrm>
            <a:off x="1403648" y="764705"/>
            <a:ext cx="7128792" cy="507831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US" dirty="0"/>
              <a:t>Q1. What is the primary purpose of a critical section in concurrent programming?</a:t>
            </a:r>
          </a:p>
          <a:p>
            <a:pPr marL="342900" indent="20638">
              <a:buAutoNum type="alphaLcParenBoth"/>
            </a:pPr>
            <a:r>
              <a:rPr lang="en-US" dirty="0"/>
              <a:t>To execute I/O operations</a:t>
            </a:r>
            <a:br>
              <a:rPr lang="en-US" dirty="0"/>
            </a:br>
            <a:r>
              <a:rPr lang="en-US" dirty="0"/>
              <a:t>(b) To prevent deadlock</a:t>
            </a:r>
            <a:br>
              <a:rPr lang="en-US" dirty="0"/>
            </a:br>
            <a:r>
              <a:rPr lang="en-US" b="1" dirty="0"/>
              <a:t>(c) To ensure mutual exclusion while accessing shared resources</a:t>
            </a:r>
            <a:br>
              <a:rPr lang="en-US" dirty="0"/>
            </a:br>
            <a:r>
              <a:rPr lang="en-US" dirty="0"/>
              <a:t>(d) To speed up the execution of processes</a:t>
            </a:r>
          </a:p>
          <a:p>
            <a:pPr marL="342900"/>
            <a:endParaRPr lang="en-US" dirty="0"/>
          </a:p>
          <a:p>
            <a:pPr marL="342900" indent="-342900">
              <a:buAutoNum type="alphaLcParenBoth"/>
            </a:pPr>
            <a:endParaRPr lang="en-US" dirty="0"/>
          </a:p>
          <a:p>
            <a:pPr>
              <a:buNone/>
            </a:pPr>
            <a:r>
              <a:rPr lang="en-US" dirty="0"/>
              <a:t>Q2.Which of the following is NOT a requirement for a solution to the Critical Section Problem?</a:t>
            </a:r>
          </a:p>
          <a:p>
            <a:pPr marL="269875"/>
            <a:r>
              <a:rPr lang="en-US" dirty="0"/>
              <a:t>(a) Mutual Exclusion</a:t>
            </a:r>
            <a:br>
              <a:rPr lang="en-US" dirty="0"/>
            </a:br>
            <a:r>
              <a:rPr lang="en-US" dirty="0"/>
              <a:t>(b) Progress</a:t>
            </a:r>
            <a:br>
              <a:rPr lang="en-US" dirty="0"/>
            </a:br>
            <a:r>
              <a:rPr lang="en-US" dirty="0"/>
              <a:t>(c) Bounded Waiting</a:t>
            </a:r>
            <a:br>
              <a:rPr lang="en-US" dirty="0"/>
            </a:br>
            <a:r>
              <a:rPr lang="en-US" dirty="0"/>
              <a:t>(</a:t>
            </a:r>
            <a:r>
              <a:rPr lang="en-US" b="1" dirty="0"/>
              <a:t>d) Deadlock Prevention</a:t>
            </a:r>
          </a:p>
          <a:p>
            <a:pPr marL="342900" indent="-342900">
              <a:buAutoNum type="alphaLcParenBoth"/>
            </a:pPr>
            <a:endParaRPr lang="en-US" dirty="0"/>
          </a:p>
          <a:p>
            <a:pPr marL="342900" indent="-342900">
              <a:buAutoNum type="alphaLcParenBoth"/>
            </a:pPr>
            <a:endParaRPr lang="en-US" dirty="0"/>
          </a:p>
          <a:p>
            <a:pPr marL="342900" indent="-342900">
              <a:buAutoNum type="alphaLcParenBoth"/>
            </a:pPr>
            <a:endParaRPr lang="en-US" dirty="0"/>
          </a:p>
          <a:p>
            <a:pPr marL="342900" indent="-342900">
              <a:buAutoNum type="alphaLcParenBoth"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672899390"/>
      </p:ext>
    </p:extLst>
  </p:cSld>
  <p:clrMapOvr>
    <a:masterClrMapping/>
  </p:clrMapOvr>
  <p:transition>
    <p:wipe dir="u"/>
  </p:transition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EA6C703-0D3A-E75C-4FED-5064F35EC23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4B2E27A-4DE5-BDA6-715F-F27B5D9A855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C25992A-84A3-4E7E-AD0A-885A39F0A966}" type="datetime3">
              <a:rPr lang="en-US" smtClean="0"/>
              <a:t>1 September 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41D811C-0BAC-68FA-9B64-9C5AE665FF6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2514600" y="6356350"/>
            <a:ext cx="5181600" cy="365125"/>
          </a:xfrm>
        </p:spPr>
        <p:txBody>
          <a:bodyPr/>
          <a:lstStyle/>
          <a:p>
            <a:r>
              <a:rPr lang="en-US"/>
              <a:t>Atul Garg           BCSE0303            Unit- III</a:t>
            </a:r>
            <a:endParaRPr lang="en-US" dirty="0"/>
          </a:p>
        </p:txBody>
      </p:sp>
      <p:sp>
        <p:nvSpPr>
          <p:cNvPr id="8" name="Slide Number Placeholder 7">
            <a:extLst>
              <a:ext uri="{FF2B5EF4-FFF2-40B4-BE49-F238E27FC236}">
                <a16:creationId xmlns:a16="http://schemas.microsoft.com/office/drawing/2014/main" id="{B1686C01-D621-D8CD-1FD4-9B0354B6F7C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t>36</a:t>
            </a:fld>
            <a:endParaRPr lang="en-US"/>
          </a:p>
        </p:txBody>
      </p:sp>
      <p:pic>
        <p:nvPicPr>
          <p:cNvPr id="2" name="Picture 1" descr="A black and red logo&#10;&#10;Description automatically generated">
            <a:extLst>
              <a:ext uri="{FF2B5EF4-FFF2-40B4-BE49-F238E27FC236}">
                <a16:creationId xmlns:a16="http://schemas.microsoft.com/office/drawing/2014/main" id="{AF4BBBC4-86BE-63F3-95B4-FD4A3DD55113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-27384"/>
            <a:ext cx="1657350" cy="710452"/>
          </a:xfrm>
          <a:prstGeom prst="rect">
            <a:avLst/>
          </a:prstGeom>
        </p:spPr>
      </p:pic>
      <p:sp>
        <p:nvSpPr>
          <p:cNvPr id="6" name="Title 1">
            <a:extLst>
              <a:ext uri="{FF2B5EF4-FFF2-40B4-BE49-F238E27FC236}">
                <a16:creationId xmlns:a16="http://schemas.microsoft.com/office/drawing/2014/main" id="{EC81DD55-3AB8-75D1-BD91-EDB9B48F1BFE}"/>
              </a:ext>
            </a:extLst>
          </p:cNvPr>
          <p:cNvSpPr txBox="1">
            <a:spLocks/>
          </p:cNvSpPr>
          <p:nvPr/>
        </p:nvSpPr>
        <p:spPr>
          <a:xfrm>
            <a:off x="1763688" y="116632"/>
            <a:ext cx="7380312" cy="514349"/>
          </a:xfrm>
          <a:prstGeom prst="rect">
            <a:avLst/>
          </a:prstGeom>
          <a:gradFill flip="none" rotWithShape="1">
            <a:gsLst>
              <a:gs pos="0">
                <a:srgbClr val="FF0000">
                  <a:tint val="66000"/>
                  <a:satMod val="160000"/>
                </a:srgbClr>
              </a:gs>
              <a:gs pos="50000">
                <a:srgbClr val="FF0000">
                  <a:tint val="44500"/>
                  <a:satMod val="160000"/>
                </a:srgbClr>
              </a:gs>
              <a:gs pos="100000">
                <a:srgbClr val="FF0000">
                  <a:tint val="23500"/>
                  <a:satMod val="160000"/>
                </a:srgbClr>
              </a:gs>
            </a:gsLst>
            <a:lin ang="0" scaled="1"/>
            <a:tileRect/>
          </a:gradFill>
        </p:spPr>
        <p:style>
          <a:lnRef idx="1">
            <a:schemeClr val="accent5"/>
          </a:lnRef>
          <a:fillRef idx="2">
            <a:schemeClr val="accent5"/>
          </a:fillRef>
          <a:effectRef idx="1">
            <a:schemeClr val="accent5"/>
          </a:effectRef>
          <a:fontRef idx="minor">
            <a:schemeClr val="dk1"/>
          </a:fontRef>
        </p:style>
        <p:txBody>
          <a:bodyPr vert="horz" lIns="68580" tIns="34290" rIns="68580" bIns="34290" rtlCol="0" anchor="ctr">
            <a:noAutofit/>
          </a:bodyPr>
          <a:lstStyle>
            <a:defPPr>
              <a:defRPr lang="en-US"/>
            </a:defPPr>
            <a:lvl1pPr algn="ctr">
              <a:spcBef>
                <a:spcPct val="0"/>
              </a:spcBef>
              <a:buNone/>
              <a:defRPr sz="2800"/>
            </a:lvl1pPr>
          </a:lstStyle>
          <a:p>
            <a:pPr>
              <a:defRPr/>
            </a:pPr>
            <a:r>
              <a:rPr lang="en-US" sz="2100" dirty="0"/>
              <a:t>Daily Quiz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3E95AE5A-1358-7A93-51BE-79A9234FECF8}"/>
              </a:ext>
            </a:extLst>
          </p:cNvPr>
          <p:cNvSpPr txBox="1"/>
          <p:nvPr/>
        </p:nvSpPr>
        <p:spPr>
          <a:xfrm>
            <a:off x="1043608" y="764705"/>
            <a:ext cx="7488832" cy="59093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IN" dirty="0"/>
              <a:t>Q3. Which of the following algorithms does not guarantee mutual exclusion?</a:t>
            </a:r>
          </a:p>
          <a:p>
            <a:pPr marL="342900" indent="20638">
              <a:buAutoNum type="alphaLcParenBoth"/>
            </a:pPr>
            <a:r>
              <a:rPr lang="en-IN" dirty="0"/>
              <a:t>Dekker’s Algorithm</a:t>
            </a:r>
            <a:br>
              <a:rPr lang="en-IN" dirty="0"/>
            </a:br>
            <a:r>
              <a:rPr lang="en-IN" dirty="0"/>
              <a:t>(b) Peterson’s Algorithm</a:t>
            </a:r>
            <a:br>
              <a:rPr lang="en-IN" dirty="0"/>
            </a:br>
            <a:r>
              <a:rPr lang="en-IN" dirty="0"/>
              <a:t>(c) Bakery Algorithm</a:t>
            </a:r>
            <a:br>
              <a:rPr lang="en-IN" dirty="0"/>
            </a:br>
            <a:r>
              <a:rPr lang="en-IN" b="1" dirty="0"/>
              <a:t>(d) Round Robin Scheduling</a:t>
            </a:r>
          </a:p>
          <a:p>
            <a:endParaRPr lang="en-IN" b="1" dirty="0"/>
          </a:p>
          <a:p>
            <a:pPr>
              <a:buNone/>
            </a:pPr>
            <a:r>
              <a:rPr lang="en-US" dirty="0"/>
              <a:t>Q4. In which scenario is a race condition likely to occur?</a:t>
            </a:r>
          </a:p>
          <a:p>
            <a:pPr marL="363538">
              <a:buAutoNum type="alphaLcParenBoth"/>
            </a:pPr>
            <a:r>
              <a:rPr lang="en-US" dirty="0"/>
              <a:t>When two threads run independently</a:t>
            </a:r>
            <a:br>
              <a:rPr lang="en-US" dirty="0"/>
            </a:br>
            <a:r>
              <a:rPr lang="en-US" dirty="0"/>
              <a:t>(b) When no thread accesses shared resources</a:t>
            </a:r>
            <a:br>
              <a:rPr lang="en-US" dirty="0"/>
            </a:br>
            <a:r>
              <a:rPr lang="en-US" b="1" dirty="0"/>
              <a:t>(c) When multiple threads access shared data without synchronization</a:t>
            </a:r>
            <a:br>
              <a:rPr lang="en-US" dirty="0"/>
            </a:br>
            <a:r>
              <a:rPr lang="en-US" dirty="0"/>
              <a:t>(d) When a single thread accesses shared data</a:t>
            </a:r>
          </a:p>
          <a:p>
            <a:pPr marL="363538"/>
            <a:endParaRPr lang="en-US" dirty="0"/>
          </a:p>
          <a:p>
            <a:pPr>
              <a:buNone/>
            </a:pPr>
            <a:r>
              <a:rPr lang="en-US"/>
              <a:t>Q5. </a:t>
            </a:r>
            <a:r>
              <a:rPr lang="en-US" dirty="0"/>
              <a:t>Which of the following is used to implement critical section handling?</a:t>
            </a:r>
          </a:p>
          <a:p>
            <a:pPr marL="363538" indent="-363538"/>
            <a:r>
              <a:rPr lang="en-US" dirty="0"/>
              <a:t>       (a) Compiler</a:t>
            </a:r>
            <a:br>
              <a:rPr lang="en-US" dirty="0"/>
            </a:br>
            <a:r>
              <a:rPr lang="en-US" dirty="0"/>
              <a:t>(b) Scheduler</a:t>
            </a:r>
            <a:br>
              <a:rPr lang="en-US" dirty="0"/>
            </a:br>
            <a:r>
              <a:rPr lang="en-US" dirty="0"/>
              <a:t>(</a:t>
            </a:r>
            <a:r>
              <a:rPr lang="en-US" b="1" dirty="0"/>
              <a:t>c) Synchronization mechanisms like mutexes and semaphores</a:t>
            </a:r>
            <a:br>
              <a:rPr lang="en-US" dirty="0"/>
            </a:br>
            <a:r>
              <a:rPr lang="en-US" dirty="0"/>
              <a:t>(d) Disk Scheduling Algorithms</a:t>
            </a:r>
          </a:p>
          <a:p>
            <a:pPr marL="363538" indent="-363538"/>
            <a:endParaRPr lang="en-IN" dirty="0"/>
          </a:p>
          <a:p>
            <a:pPr marL="342900" indent="-342900">
              <a:buAutoNum type="alphaLcParenBoth"/>
            </a:pPr>
            <a:endParaRPr lang="en-US" dirty="0"/>
          </a:p>
          <a:p>
            <a:pPr marL="342900" indent="-342900">
              <a:buAutoNum type="alphaLcParenBoth"/>
            </a:pPr>
            <a:endParaRPr lang="en-US" dirty="0"/>
          </a:p>
          <a:p>
            <a:pPr marL="342900" indent="-342900">
              <a:buAutoNum type="alphaLcParenBoth"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312175382"/>
      </p:ext>
    </p:extLst>
  </p:cSld>
  <p:clrMapOvr>
    <a:masterClrMapping/>
  </p:clrMapOvr>
  <p:transition>
    <p:wipe dir="u"/>
  </p:transition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9671A67-D005-4B6F-9AF0-A9146DAB5C2D}" type="datetime3">
              <a:rPr lang="en-US" smtClean="0"/>
              <a:t>1 September 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2514600" y="6356350"/>
            <a:ext cx="5181600" cy="365125"/>
          </a:xfrm>
        </p:spPr>
        <p:txBody>
          <a:bodyPr/>
          <a:lstStyle/>
          <a:p>
            <a:r>
              <a:rPr lang="en-US"/>
              <a:t>Atul Garg           BCSE0303            Unit- III</a:t>
            </a:r>
            <a:endParaRPr lang="en-US" dirty="0"/>
          </a:p>
        </p:txBody>
      </p:sp>
      <p:sp>
        <p:nvSpPr>
          <p:cNvPr id="12" name="object 3"/>
          <p:cNvSpPr txBox="1"/>
          <p:nvPr/>
        </p:nvSpPr>
        <p:spPr>
          <a:xfrm>
            <a:off x="827585" y="1124744"/>
            <a:ext cx="7560840" cy="4351832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 marR="5080" algn="just">
              <a:lnSpc>
                <a:spcPct val="100000"/>
              </a:lnSpc>
              <a:spcBef>
                <a:spcPts val="95"/>
              </a:spcBef>
            </a:pPr>
            <a:r>
              <a:rPr sz="2200" spc="-5" dirty="0">
                <a:cs typeface="Arial" panose="020B0604020202020204"/>
              </a:rPr>
              <a:t>Cooperating processes need </a:t>
            </a:r>
            <a:r>
              <a:rPr sz="2200" b="1" spc="-5" dirty="0">
                <a:cs typeface="Arial" panose="020B0604020202020204"/>
              </a:rPr>
              <a:t>interprocess communication  </a:t>
            </a:r>
            <a:r>
              <a:rPr sz="2200" spc="-5" dirty="0">
                <a:cs typeface="Arial" panose="020B0604020202020204"/>
              </a:rPr>
              <a:t>(IPC) mechanism that will allow them to exchange data and  information</a:t>
            </a:r>
            <a:endParaRPr sz="2200" dirty="0">
              <a:cs typeface="Arial" panose="020B0604020202020204"/>
            </a:endParaRPr>
          </a:p>
          <a:p>
            <a:pPr marL="12700" algn="just">
              <a:lnSpc>
                <a:spcPct val="100000"/>
              </a:lnSpc>
              <a:spcBef>
                <a:spcPts val="840"/>
              </a:spcBef>
            </a:pPr>
            <a:r>
              <a:rPr sz="2200" spc="-5" dirty="0">
                <a:cs typeface="Arial" panose="020B0604020202020204"/>
              </a:rPr>
              <a:t>Two </a:t>
            </a:r>
            <a:r>
              <a:rPr sz="2200" spc="-10" dirty="0">
                <a:cs typeface="Arial" panose="020B0604020202020204"/>
              </a:rPr>
              <a:t>models </a:t>
            </a:r>
            <a:r>
              <a:rPr sz="2200" spc="-5" dirty="0">
                <a:cs typeface="Arial" panose="020B0604020202020204"/>
              </a:rPr>
              <a:t>of</a:t>
            </a:r>
            <a:r>
              <a:rPr sz="2200" spc="15" dirty="0">
                <a:cs typeface="Arial" panose="020B0604020202020204"/>
              </a:rPr>
              <a:t> </a:t>
            </a:r>
            <a:r>
              <a:rPr sz="2200" spc="-5" dirty="0">
                <a:cs typeface="Arial" panose="020B0604020202020204"/>
              </a:rPr>
              <a:t>IPC</a:t>
            </a:r>
            <a:endParaRPr sz="2200" dirty="0">
              <a:cs typeface="Arial" panose="020B0604020202020204"/>
            </a:endParaRPr>
          </a:p>
          <a:p>
            <a:pPr marL="412750" algn="just">
              <a:lnSpc>
                <a:spcPct val="100000"/>
              </a:lnSpc>
              <a:spcBef>
                <a:spcPts val="840"/>
              </a:spcBef>
            </a:pPr>
            <a:r>
              <a:rPr sz="2200" b="1" dirty="0">
                <a:cs typeface="Arial" panose="020B0604020202020204"/>
              </a:rPr>
              <a:t>Shared</a:t>
            </a:r>
            <a:r>
              <a:rPr sz="2200" b="1" spc="-10" dirty="0">
                <a:cs typeface="Arial" panose="020B0604020202020204"/>
              </a:rPr>
              <a:t> </a:t>
            </a:r>
            <a:r>
              <a:rPr sz="2200" b="1" spc="-5" dirty="0">
                <a:cs typeface="Arial" panose="020B0604020202020204"/>
              </a:rPr>
              <a:t>memory</a:t>
            </a:r>
            <a:r>
              <a:rPr sz="2200" spc="-5" dirty="0">
                <a:cs typeface="Arial" panose="020B0604020202020204"/>
              </a:rPr>
              <a:t>:</a:t>
            </a:r>
            <a:endParaRPr sz="2200" dirty="0">
              <a:cs typeface="Arial" panose="020B0604020202020204"/>
            </a:endParaRPr>
          </a:p>
          <a:p>
            <a:pPr marL="755650" marR="6985" indent="-228600" algn="just">
              <a:lnSpc>
                <a:spcPct val="100000"/>
              </a:lnSpc>
              <a:spcBef>
                <a:spcPts val="840"/>
              </a:spcBef>
              <a:buClr>
                <a:srgbClr val="009A00"/>
              </a:buClr>
              <a:buSzPct val="75000"/>
              <a:buFont typeface="Arial" panose="020B0604020202020204" pitchFamily="34" charset="0"/>
              <a:buChar char="•"/>
              <a:tabLst>
                <a:tab pos="755650" algn="l"/>
              </a:tabLst>
            </a:pPr>
            <a:r>
              <a:rPr sz="2200" spc="-5" dirty="0">
                <a:cs typeface="Arial" panose="020B0604020202020204"/>
              </a:rPr>
              <a:t>a region of </a:t>
            </a:r>
            <a:r>
              <a:rPr sz="2200" spc="-10" dirty="0">
                <a:cs typeface="Arial" panose="020B0604020202020204"/>
              </a:rPr>
              <a:t>memory </a:t>
            </a:r>
            <a:r>
              <a:rPr sz="2200" spc="-5" dirty="0">
                <a:cs typeface="Arial" panose="020B0604020202020204"/>
              </a:rPr>
              <a:t>that is </a:t>
            </a:r>
            <a:r>
              <a:rPr sz="2200" spc="-10" dirty="0">
                <a:cs typeface="Arial" panose="020B0604020202020204"/>
              </a:rPr>
              <a:t>shared </a:t>
            </a:r>
            <a:r>
              <a:rPr sz="2200" spc="-5" dirty="0">
                <a:cs typeface="Arial" panose="020B0604020202020204"/>
              </a:rPr>
              <a:t>by </a:t>
            </a:r>
            <a:r>
              <a:rPr sz="2200" spc="-140" dirty="0">
                <a:cs typeface="Arial" panose="020B0604020202020204"/>
              </a:rPr>
              <a:t>cooperating  </a:t>
            </a:r>
            <a:r>
              <a:rPr sz="2200" spc="-5" dirty="0">
                <a:cs typeface="Arial" panose="020B0604020202020204"/>
              </a:rPr>
              <a:t>processes is established</a:t>
            </a:r>
            <a:endParaRPr sz="2200" dirty="0">
              <a:cs typeface="Arial" panose="020B0604020202020204"/>
            </a:endParaRPr>
          </a:p>
          <a:p>
            <a:pPr marL="755650" marR="7620" indent="-228600" algn="just">
              <a:lnSpc>
                <a:spcPct val="100000"/>
              </a:lnSpc>
              <a:spcBef>
                <a:spcPts val="840"/>
              </a:spcBef>
              <a:buClr>
                <a:srgbClr val="009A00"/>
              </a:buClr>
              <a:buSzPct val="75000"/>
              <a:buFont typeface="Arial" panose="020B0604020202020204" pitchFamily="34" charset="0"/>
              <a:buChar char="•"/>
              <a:tabLst>
                <a:tab pos="755650" algn="l"/>
              </a:tabLst>
            </a:pPr>
            <a:r>
              <a:rPr sz="2200" spc="-10" dirty="0">
                <a:cs typeface="Arial" panose="020B0604020202020204"/>
              </a:rPr>
              <a:t>processes </a:t>
            </a:r>
            <a:r>
              <a:rPr sz="2200" spc="-5" dirty="0">
                <a:cs typeface="Arial" panose="020B0604020202020204"/>
              </a:rPr>
              <a:t>can </a:t>
            </a:r>
            <a:r>
              <a:rPr sz="2200" spc="-10" dirty="0">
                <a:cs typeface="Arial" panose="020B0604020202020204"/>
              </a:rPr>
              <a:t>exchange information </a:t>
            </a:r>
            <a:r>
              <a:rPr sz="2200" spc="-5" dirty="0">
                <a:cs typeface="Arial" panose="020B0604020202020204"/>
              </a:rPr>
              <a:t>by </a:t>
            </a:r>
            <a:r>
              <a:rPr sz="2200" spc="-10" dirty="0">
                <a:cs typeface="Arial" panose="020B0604020202020204"/>
              </a:rPr>
              <a:t>reading </a:t>
            </a:r>
            <a:r>
              <a:rPr sz="2200" spc="-465" dirty="0">
                <a:cs typeface="Arial" panose="020B0604020202020204"/>
              </a:rPr>
              <a:t>and  </a:t>
            </a:r>
            <a:r>
              <a:rPr sz="2200" spc="-10" dirty="0">
                <a:cs typeface="Arial" panose="020B0604020202020204"/>
              </a:rPr>
              <a:t>writing </a:t>
            </a:r>
            <a:r>
              <a:rPr sz="2200" spc="-5" dirty="0">
                <a:cs typeface="Arial" panose="020B0604020202020204"/>
              </a:rPr>
              <a:t>data to the </a:t>
            </a:r>
            <a:r>
              <a:rPr sz="2200" spc="-10" dirty="0">
                <a:cs typeface="Arial" panose="020B0604020202020204"/>
              </a:rPr>
              <a:t>shared</a:t>
            </a:r>
            <a:r>
              <a:rPr sz="2200" spc="-15" dirty="0">
                <a:cs typeface="Arial" panose="020B0604020202020204"/>
              </a:rPr>
              <a:t> </a:t>
            </a:r>
            <a:r>
              <a:rPr sz="2200" spc="-10" dirty="0">
                <a:cs typeface="Arial" panose="020B0604020202020204"/>
              </a:rPr>
              <a:t>region</a:t>
            </a:r>
            <a:endParaRPr sz="2200" dirty="0">
              <a:cs typeface="Arial" panose="020B0604020202020204"/>
            </a:endParaRPr>
          </a:p>
          <a:p>
            <a:pPr marL="412750" algn="just">
              <a:lnSpc>
                <a:spcPct val="100000"/>
              </a:lnSpc>
              <a:spcBef>
                <a:spcPts val="840"/>
              </a:spcBef>
            </a:pPr>
            <a:r>
              <a:rPr sz="2200" b="1" dirty="0">
                <a:cs typeface="Arial" panose="020B0604020202020204"/>
              </a:rPr>
              <a:t>Message passing:</a:t>
            </a:r>
          </a:p>
          <a:p>
            <a:pPr marL="755650" marR="6350" indent="-228600" algn="just">
              <a:lnSpc>
                <a:spcPct val="100000"/>
              </a:lnSpc>
              <a:spcBef>
                <a:spcPts val="840"/>
              </a:spcBef>
              <a:buClr>
                <a:srgbClr val="009A00"/>
              </a:buClr>
              <a:buSzPct val="75000"/>
              <a:buFont typeface="Arial" panose="020B0604020202020204" pitchFamily="34" charset="0"/>
              <a:buChar char="•"/>
              <a:tabLst>
                <a:tab pos="755650" algn="l"/>
              </a:tabLst>
            </a:pPr>
            <a:r>
              <a:rPr sz="2200" spc="-10" dirty="0">
                <a:cs typeface="Arial" panose="020B0604020202020204"/>
              </a:rPr>
              <a:t>communication </a:t>
            </a:r>
            <a:r>
              <a:rPr sz="2200" spc="-5" dirty="0">
                <a:cs typeface="Arial" panose="020B0604020202020204"/>
              </a:rPr>
              <a:t>takes </a:t>
            </a:r>
            <a:r>
              <a:rPr sz="2200" spc="-10" dirty="0">
                <a:cs typeface="Arial" panose="020B0604020202020204"/>
              </a:rPr>
              <a:t>place </a:t>
            </a:r>
            <a:r>
              <a:rPr sz="2200" spc="-5" dirty="0">
                <a:cs typeface="Arial" panose="020B0604020202020204"/>
              </a:rPr>
              <a:t>by </a:t>
            </a:r>
            <a:r>
              <a:rPr sz="2200" spc="-10" dirty="0">
                <a:cs typeface="Arial" panose="020B0604020202020204"/>
              </a:rPr>
              <a:t>means </a:t>
            </a:r>
            <a:r>
              <a:rPr sz="2200" spc="-5" dirty="0">
                <a:cs typeface="Arial" panose="020B0604020202020204"/>
              </a:rPr>
              <a:t>of </a:t>
            </a:r>
            <a:r>
              <a:rPr sz="2200" spc="-180" dirty="0">
                <a:cs typeface="Arial" panose="020B0604020202020204"/>
              </a:rPr>
              <a:t>messages  </a:t>
            </a:r>
            <a:r>
              <a:rPr sz="2200" spc="-5" dirty="0">
                <a:cs typeface="Arial" panose="020B0604020202020204"/>
              </a:rPr>
              <a:t>exchanged between the cooperating</a:t>
            </a:r>
            <a:r>
              <a:rPr sz="2200" spc="25" dirty="0">
                <a:cs typeface="Arial" panose="020B0604020202020204"/>
              </a:rPr>
              <a:t> </a:t>
            </a:r>
            <a:r>
              <a:rPr sz="2200" spc="-5" dirty="0">
                <a:cs typeface="Arial" panose="020B0604020202020204"/>
              </a:rPr>
              <a:t>processes.</a:t>
            </a:r>
            <a:endParaRPr sz="2200" dirty="0">
              <a:cs typeface="Arial" panose="020B0604020202020204"/>
            </a:endParaRPr>
          </a:p>
        </p:txBody>
      </p:sp>
      <p:sp>
        <p:nvSpPr>
          <p:cNvPr id="8" name="Slide Number Placeholder 7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t>37</a:t>
            </a:fld>
            <a:endParaRPr lang="en-US"/>
          </a:p>
        </p:txBody>
      </p:sp>
      <p:pic>
        <p:nvPicPr>
          <p:cNvPr id="2" name="Picture 1" descr="A black and red logo&#10;&#10;Description automatically generated">
            <a:extLst>
              <a:ext uri="{FF2B5EF4-FFF2-40B4-BE49-F238E27FC236}">
                <a16:creationId xmlns:a16="http://schemas.microsoft.com/office/drawing/2014/main" id="{6092D57D-BAD8-2D23-8D08-3DFD7BF80479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-27384"/>
            <a:ext cx="1657350" cy="710452"/>
          </a:xfrm>
          <a:prstGeom prst="rect">
            <a:avLst/>
          </a:prstGeom>
        </p:spPr>
      </p:pic>
      <p:sp>
        <p:nvSpPr>
          <p:cNvPr id="3" name="Title 1">
            <a:extLst>
              <a:ext uri="{FF2B5EF4-FFF2-40B4-BE49-F238E27FC236}">
                <a16:creationId xmlns:a16="http://schemas.microsoft.com/office/drawing/2014/main" id="{7BC72378-6393-1705-972D-6DB7A25923A9}"/>
              </a:ext>
            </a:extLst>
          </p:cNvPr>
          <p:cNvSpPr txBox="1">
            <a:spLocks/>
          </p:cNvSpPr>
          <p:nvPr/>
        </p:nvSpPr>
        <p:spPr>
          <a:xfrm>
            <a:off x="1657349" y="116632"/>
            <a:ext cx="7486651" cy="514349"/>
          </a:xfrm>
          <a:prstGeom prst="rect">
            <a:avLst/>
          </a:prstGeom>
          <a:gradFill flip="none" rotWithShape="1">
            <a:gsLst>
              <a:gs pos="0">
                <a:srgbClr val="FF0000">
                  <a:tint val="66000"/>
                  <a:satMod val="160000"/>
                </a:srgbClr>
              </a:gs>
              <a:gs pos="50000">
                <a:srgbClr val="FF0000">
                  <a:tint val="44500"/>
                  <a:satMod val="160000"/>
                </a:srgbClr>
              </a:gs>
              <a:gs pos="100000">
                <a:srgbClr val="FF0000">
                  <a:tint val="23500"/>
                  <a:satMod val="160000"/>
                </a:srgbClr>
              </a:gs>
            </a:gsLst>
            <a:lin ang="0" scaled="1"/>
            <a:tileRect/>
          </a:gradFill>
        </p:spPr>
        <p:style>
          <a:lnRef idx="1">
            <a:schemeClr val="accent5"/>
          </a:lnRef>
          <a:fillRef idx="2">
            <a:schemeClr val="accent5"/>
          </a:fillRef>
          <a:effectRef idx="1">
            <a:schemeClr val="accent5"/>
          </a:effectRef>
          <a:fontRef idx="minor">
            <a:schemeClr val="dk1"/>
          </a:fontRef>
        </p:style>
        <p:txBody>
          <a:bodyPr vert="horz" lIns="68580" tIns="34290" rIns="68580" bIns="34290" rtlCol="0" anchor="ctr">
            <a:noAutofit/>
          </a:bodyPr>
          <a:lstStyle>
            <a:defPPr>
              <a:defRPr lang="en-US"/>
            </a:defPPr>
            <a:lvl1pPr algn="ctr">
              <a:spcBef>
                <a:spcPct val="0"/>
              </a:spcBef>
              <a:buNone/>
              <a:defRPr sz="2800"/>
            </a:lvl1pPr>
          </a:lstStyle>
          <a:p>
            <a:pPr>
              <a:defRPr/>
            </a:pPr>
            <a:r>
              <a:rPr lang="en-IN" sz="2400" dirty="0"/>
              <a:t>Inter-process Communication(CO3)</a:t>
            </a:r>
            <a:endParaRPr lang="en-US" sz="2100" dirty="0"/>
          </a:p>
        </p:txBody>
      </p:sp>
    </p:spTree>
    <p:extLst>
      <p:ext uri="{BB962C8B-B14F-4D97-AF65-F5344CB8AC3E}">
        <p14:creationId xmlns:p14="http://schemas.microsoft.com/office/powerpoint/2010/main" val="453778670"/>
      </p:ext>
    </p:extLst>
  </p:cSld>
  <p:clrMapOvr>
    <a:masterClrMapping/>
  </p:clrMapOvr>
  <p:transition>
    <p:dissolve/>
  </p:transition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F8179C6-31FA-48A3-AB39-222B099C15F5}" type="datetime3">
              <a:rPr lang="en-US" smtClean="0"/>
              <a:t>1 September 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2514600" y="6356350"/>
            <a:ext cx="5181600" cy="365125"/>
          </a:xfrm>
        </p:spPr>
        <p:txBody>
          <a:bodyPr/>
          <a:lstStyle/>
          <a:p>
            <a:r>
              <a:rPr lang="en-US"/>
              <a:t>Atul Garg           BCSE0303            Unit- III</a:t>
            </a:r>
            <a:endParaRPr lang="en-US" dirty="0"/>
          </a:p>
        </p:txBody>
      </p:sp>
      <p:sp>
        <p:nvSpPr>
          <p:cNvPr id="10" name="Rectangle 3"/>
          <p:cNvSpPr txBox="1">
            <a:spLocks noChangeArrowheads="1"/>
          </p:cNvSpPr>
          <p:nvPr/>
        </p:nvSpPr>
        <p:spPr>
          <a:xfrm>
            <a:off x="1047750" y="836712"/>
            <a:ext cx="7484690" cy="4176464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/>
          <a:p>
            <a:pPr marL="342900" marR="0" lvl="0" indent="-342900" algn="l" defTabSz="914400" rtl="0" eaLnBrk="1" fontAlgn="auto" latinLnBrk="0" hangingPunct="1">
              <a:lnSpc>
                <a:spcPct val="15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defRPr/>
            </a:pPr>
            <a:endParaRPr kumimoji="0" lang="en-US" sz="2200" b="0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11" name="object 3"/>
          <p:cNvSpPr/>
          <p:nvPr/>
        </p:nvSpPr>
        <p:spPr>
          <a:xfrm>
            <a:off x="1403648" y="1340768"/>
            <a:ext cx="6711557" cy="4691242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3" name="Slide Number Placeholder 1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t>38</a:t>
            </a:fld>
            <a:endParaRPr lang="en-US"/>
          </a:p>
        </p:txBody>
      </p:sp>
      <p:pic>
        <p:nvPicPr>
          <p:cNvPr id="2" name="Picture 1" descr="A black and red logo&#10;&#10;Description automatically generated">
            <a:extLst>
              <a:ext uri="{FF2B5EF4-FFF2-40B4-BE49-F238E27FC236}">
                <a16:creationId xmlns:a16="http://schemas.microsoft.com/office/drawing/2014/main" id="{2B12F83B-4A9C-D907-2E5D-5F2E64F0B626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-27384"/>
            <a:ext cx="1657350" cy="710452"/>
          </a:xfrm>
          <a:prstGeom prst="rect">
            <a:avLst/>
          </a:prstGeom>
        </p:spPr>
      </p:pic>
      <p:sp>
        <p:nvSpPr>
          <p:cNvPr id="3" name="Title 1">
            <a:extLst>
              <a:ext uri="{FF2B5EF4-FFF2-40B4-BE49-F238E27FC236}">
                <a16:creationId xmlns:a16="http://schemas.microsoft.com/office/drawing/2014/main" id="{7EDC559E-E269-47BA-2001-F906DB697E0A}"/>
              </a:ext>
            </a:extLst>
          </p:cNvPr>
          <p:cNvSpPr txBox="1">
            <a:spLocks/>
          </p:cNvSpPr>
          <p:nvPr/>
        </p:nvSpPr>
        <p:spPr>
          <a:xfrm>
            <a:off x="1657350" y="116632"/>
            <a:ext cx="7486650" cy="514349"/>
          </a:xfrm>
          <a:prstGeom prst="rect">
            <a:avLst/>
          </a:prstGeom>
          <a:gradFill flip="none" rotWithShape="1">
            <a:gsLst>
              <a:gs pos="0">
                <a:srgbClr val="FF0000">
                  <a:tint val="66000"/>
                  <a:satMod val="160000"/>
                </a:srgbClr>
              </a:gs>
              <a:gs pos="50000">
                <a:srgbClr val="FF0000">
                  <a:tint val="44500"/>
                  <a:satMod val="160000"/>
                </a:srgbClr>
              </a:gs>
              <a:gs pos="100000">
                <a:srgbClr val="FF0000">
                  <a:tint val="23500"/>
                  <a:satMod val="160000"/>
                </a:srgbClr>
              </a:gs>
            </a:gsLst>
            <a:lin ang="0" scaled="1"/>
            <a:tileRect/>
          </a:gradFill>
        </p:spPr>
        <p:style>
          <a:lnRef idx="1">
            <a:schemeClr val="accent5"/>
          </a:lnRef>
          <a:fillRef idx="2">
            <a:schemeClr val="accent5"/>
          </a:fillRef>
          <a:effectRef idx="1">
            <a:schemeClr val="accent5"/>
          </a:effectRef>
          <a:fontRef idx="minor">
            <a:schemeClr val="dk1"/>
          </a:fontRef>
        </p:style>
        <p:txBody>
          <a:bodyPr vert="horz" lIns="68580" tIns="34290" rIns="68580" bIns="34290" rtlCol="0" anchor="ctr">
            <a:noAutofit/>
          </a:bodyPr>
          <a:lstStyle>
            <a:defPPr>
              <a:defRPr lang="en-US"/>
            </a:defPPr>
            <a:lvl1pPr algn="ctr">
              <a:spcBef>
                <a:spcPct val="0"/>
              </a:spcBef>
              <a:buNone/>
              <a:defRPr sz="2800"/>
            </a:lvl1pPr>
          </a:lstStyle>
          <a:p>
            <a:pPr>
              <a:defRPr/>
            </a:pPr>
            <a:r>
              <a:rPr lang="en-IN" sz="2400" spc="-5" dirty="0"/>
              <a:t>Communications</a:t>
            </a:r>
            <a:r>
              <a:rPr lang="en-IN" sz="2400" spc="-40" dirty="0"/>
              <a:t> </a:t>
            </a:r>
            <a:r>
              <a:rPr lang="en-IN" sz="2400" spc="-5" dirty="0"/>
              <a:t>Models</a:t>
            </a:r>
            <a:r>
              <a:rPr lang="en-IN" sz="2400" dirty="0"/>
              <a:t>(CO3)</a:t>
            </a:r>
            <a:endParaRPr lang="en-US" sz="2100" dirty="0"/>
          </a:p>
        </p:txBody>
      </p:sp>
    </p:spTree>
    <p:extLst>
      <p:ext uri="{BB962C8B-B14F-4D97-AF65-F5344CB8AC3E}">
        <p14:creationId xmlns:p14="http://schemas.microsoft.com/office/powerpoint/2010/main" val="3834106922"/>
      </p:ext>
    </p:extLst>
  </p:cSld>
  <p:clrMapOvr>
    <a:masterClrMapping/>
  </p:clrMapOvr>
  <p:transition>
    <p:dissolve/>
  </p:transition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5A9702F-E80F-4A6A-A865-96B5323472E2}" type="datetime3">
              <a:rPr lang="en-US" smtClean="0"/>
              <a:t>1 September 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2514600" y="6356350"/>
            <a:ext cx="5181600" cy="365125"/>
          </a:xfrm>
        </p:spPr>
        <p:txBody>
          <a:bodyPr/>
          <a:lstStyle/>
          <a:p>
            <a:r>
              <a:rPr lang="en-US"/>
              <a:t>Atul Garg           BCSE0303            Unit- III</a:t>
            </a:r>
            <a:endParaRPr lang="en-US" dirty="0"/>
          </a:p>
        </p:txBody>
      </p:sp>
      <p:sp>
        <p:nvSpPr>
          <p:cNvPr id="12" name="object 3"/>
          <p:cNvSpPr txBox="1"/>
          <p:nvPr/>
        </p:nvSpPr>
        <p:spPr>
          <a:xfrm>
            <a:off x="683568" y="845439"/>
            <a:ext cx="8129143" cy="4599785"/>
          </a:xfrm>
          <a:prstGeom prst="rect">
            <a:avLst/>
          </a:prstGeom>
        </p:spPr>
        <p:txBody>
          <a:bodyPr vert="horz" wrap="square" lIns="0" tIns="108585" rIns="0" bIns="0" rtlCol="0">
            <a:spAutoFit/>
          </a:bodyPr>
          <a:lstStyle/>
          <a:p>
            <a:pPr marL="12700" algn="just">
              <a:lnSpc>
                <a:spcPct val="150000"/>
              </a:lnSpc>
              <a:spcBef>
                <a:spcPts val="855"/>
              </a:spcBef>
              <a:buFont typeface="Arial" panose="020B0604020202020204" pitchFamily="34" charset="0"/>
              <a:buChar char="•"/>
            </a:pPr>
            <a:r>
              <a:rPr sz="2400" b="1" spc="-5" dirty="0">
                <a:cs typeface="Arial" panose="020B0604020202020204"/>
              </a:rPr>
              <a:t>Message Passing</a:t>
            </a:r>
            <a:r>
              <a:rPr sz="2400" b="1" spc="-20" dirty="0">
                <a:cs typeface="Arial" panose="020B0604020202020204"/>
              </a:rPr>
              <a:t> </a:t>
            </a:r>
            <a:r>
              <a:rPr sz="2400" b="1" spc="-5" dirty="0">
                <a:cs typeface="Arial" panose="020B0604020202020204"/>
              </a:rPr>
              <a:t>is</a:t>
            </a:r>
            <a:r>
              <a:rPr lang="en-IN" sz="2400" b="1" spc="-5" dirty="0">
                <a:cs typeface="Arial" panose="020B0604020202020204"/>
              </a:rPr>
              <a:t> </a:t>
            </a:r>
            <a:r>
              <a:rPr sz="2400" spc="-5" dirty="0">
                <a:cs typeface="Arial" panose="020B0604020202020204"/>
              </a:rPr>
              <a:t>useful </a:t>
            </a:r>
            <a:r>
              <a:rPr sz="2400" dirty="0">
                <a:cs typeface="Arial" panose="020B0604020202020204"/>
              </a:rPr>
              <a:t>for </a:t>
            </a:r>
            <a:r>
              <a:rPr sz="2400" spc="-5" dirty="0">
                <a:cs typeface="Arial" panose="020B0604020202020204"/>
              </a:rPr>
              <a:t>exchanging smaller amounts </a:t>
            </a:r>
            <a:r>
              <a:rPr sz="2400" dirty="0">
                <a:cs typeface="Arial" panose="020B0604020202020204"/>
              </a:rPr>
              <a:t>of</a:t>
            </a:r>
            <a:r>
              <a:rPr sz="2400" spc="-15" dirty="0">
                <a:cs typeface="Arial" panose="020B0604020202020204"/>
              </a:rPr>
              <a:t> </a:t>
            </a:r>
            <a:r>
              <a:rPr sz="2400" spc="-5" dirty="0">
                <a:cs typeface="Arial" panose="020B0604020202020204"/>
              </a:rPr>
              <a:t>data</a:t>
            </a:r>
            <a:r>
              <a:rPr lang="en-IN" sz="2400" dirty="0">
                <a:cs typeface="Arial" panose="020B0604020202020204"/>
              </a:rPr>
              <a:t> </a:t>
            </a:r>
            <a:r>
              <a:rPr sz="2400" spc="-5" dirty="0">
                <a:cs typeface="Arial" panose="020B0604020202020204"/>
              </a:rPr>
              <a:t>easier </a:t>
            </a:r>
            <a:r>
              <a:rPr sz="2400" dirty="0">
                <a:cs typeface="Arial" panose="020B0604020202020204"/>
              </a:rPr>
              <a:t>to </a:t>
            </a:r>
            <a:r>
              <a:rPr sz="2400" spc="-5" dirty="0">
                <a:cs typeface="Arial" panose="020B0604020202020204"/>
              </a:rPr>
              <a:t>implement </a:t>
            </a:r>
            <a:r>
              <a:rPr sz="2400" dirty="0">
                <a:cs typeface="Arial" panose="020B0604020202020204"/>
              </a:rPr>
              <a:t>for </a:t>
            </a:r>
            <a:r>
              <a:rPr sz="2400" spc="-5" dirty="0">
                <a:cs typeface="Arial" panose="020B0604020202020204"/>
              </a:rPr>
              <a:t>inter</a:t>
            </a:r>
            <a:r>
              <a:rPr lang="en-IN" sz="2400" spc="-5" dirty="0">
                <a:cs typeface="Arial" panose="020B0604020202020204"/>
              </a:rPr>
              <a:t>-</a:t>
            </a:r>
            <a:r>
              <a:rPr sz="2400" spc="-5" dirty="0">
                <a:cs typeface="Arial" panose="020B0604020202020204"/>
              </a:rPr>
              <a:t>computer </a:t>
            </a:r>
            <a:r>
              <a:rPr lang="en-IN" sz="2400" spc="-5" dirty="0">
                <a:cs typeface="Arial" panose="020B0604020202020204"/>
              </a:rPr>
              <a:t>communication</a:t>
            </a:r>
          </a:p>
          <a:p>
            <a:pPr marL="12700" algn="just">
              <a:lnSpc>
                <a:spcPct val="150000"/>
              </a:lnSpc>
              <a:spcBef>
                <a:spcPts val="855"/>
              </a:spcBef>
              <a:buFont typeface="Arial" panose="020B0604020202020204" pitchFamily="34" charset="0"/>
              <a:buChar char="•"/>
            </a:pPr>
            <a:r>
              <a:rPr sz="2400" b="1" spc="-5" dirty="0">
                <a:cs typeface="Arial" panose="020B0604020202020204"/>
              </a:rPr>
              <a:t>Shared memory is </a:t>
            </a:r>
            <a:r>
              <a:rPr sz="2400" spc="-5" dirty="0">
                <a:cs typeface="Arial" panose="020B0604020202020204"/>
              </a:rPr>
              <a:t>faster as</a:t>
            </a:r>
            <a:r>
              <a:rPr sz="2400" spc="-15" dirty="0">
                <a:cs typeface="Arial" panose="020B0604020202020204"/>
              </a:rPr>
              <a:t> </a:t>
            </a:r>
            <a:r>
              <a:rPr sz="2400" spc="-5" dirty="0">
                <a:cs typeface="Arial" panose="020B0604020202020204"/>
              </a:rPr>
              <a:t>message passing </a:t>
            </a:r>
            <a:r>
              <a:rPr sz="2400" dirty="0">
                <a:cs typeface="Arial" panose="020B0604020202020204"/>
              </a:rPr>
              <a:t>systems </a:t>
            </a:r>
            <a:r>
              <a:rPr sz="2400" spc="-5" dirty="0">
                <a:cs typeface="Arial" panose="020B0604020202020204"/>
              </a:rPr>
              <a:t>are typically implemented using </a:t>
            </a:r>
            <a:r>
              <a:rPr sz="2400" dirty="0">
                <a:cs typeface="Arial" panose="020B0604020202020204"/>
              </a:rPr>
              <a:t>system </a:t>
            </a:r>
            <a:r>
              <a:rPr sz="2400" spc="-5" dirty="0">
                <a:cs typeface="Arial" panose="020B0604020202020204"/>
              </a:rPr>
              <a:t>calls  and </a:t>
            </a:r>
            <a:r>
              <a:rPr sz="2400" dirty="0">
                <a:cs typeface="Arial" panose="020B0604020202020204"/>
              </a:rPr>
              <a:t>thus </a:t>
            </a:r>
            <a:r>
              <a:rPr sz="2400" spc="-5" dirty="0">
                <a:cs typeface="Arial" panose="020B0604020202020204"/>
              </a:rPr>
              <a:t>require </a:t>
            </a:r>
            <a:r>
              <a:rPr sz="2400" dirty="0">
                <a:cs typeface="Arial" panose="020B0604020202020204"/>
              </a:rPr>
              <a:t>the </a:t>
            </a:r>
            <a:r>
              <a:rPr sz="2400" spc="-5" dirty="0">
                <a:cs typeface="Arial" panose="020B0604020202020204"/>
              </a:rPr>
              <a:t>kernel</a:t>
            </a:r>
            <a:r>
              <a:rPr sz="2400" spc="-40" dirty="0">
                <a:cs typeface="Arial" panose="020B0604020202020204"/>
              </a:rPr>
              <a:t> </a:t>
            </a:r>
            <a:r>
              <a:rPr sz="2400" spc="-5" dirty="0">
                <a:cs typeface="Arial" panose="020B0604020202020204"/>
              </a:rPr>
              <a:t>intervention</a:t>
            </a:r>
            <a:r>
              <a:rPr lang="en-IN" sz="2400" spc="-5" dirty="0">
                <a:cs typeface="Arial" panose="020B0604020202020204"/>
              </a:rPr>
              <a:t> </a:t>
            </a:r>
            <a:r>
              <a:rPr sz="2400" spc="-5" dirty="0">
                <a:cs typeface="Arial" panose="020B0604020202020204"/>
              </a:rPr>
              <a:t>in shared-memory </a:t>
            </a:r>
            <a:r>
              <a:rPr sz="2400" dirty="0">
                <a:cs typeface="Arial" panose="020B0604020202020204"/>
              </a:rPr>
              <a:t>systems, systems </a:t>
            </a:r>
            <a:r>
              <a:rPr sz="2400" spc="-5" dirty="0">
                <a:cs typeface="Arial" panose="020B0604020202020204"/>
              </a:rPr>
              <a:t>calls are required only </a:t>
            </a:r>
            <a:r>
              <a:rPr sz="2400" dirty="0">
                <a:cs typeface="Arial" panose="020B0604020202020204"/>
              </a:rPr>
              <a:t>to </a:t>
            </a:r>
            <a:r>
              <a:rPr sz="2400" spc="-5" dirty="0">
                <a:cs typeface="Arial" panose="020B0604020202020204"/>
              </a:rPr>
              <a:t>establish  shared-memory regions and all accesses are </a:t>
            </a:r>
            <a:r>
              <a:rPr sz="2400" dirty="0">
                <a:cs typeface="Arial" panose="020B0604020202020204"/>
              </a:rPr>
              <a:t>treated </a:t>
            </a:r>
            <a:r>
              <a:rPr sz="2400" spc="-5" dirty="0">
                <a:cs typeface="Arial" panose="020B0604020202020204"/>
              </a:rPr>
              <a:t>as classical  memory accesses and no assistance </a:t>
            </a:r>
            <a:r>
              <a:rPr sz="2400" dirty="0">
                <a:cs typeface="Arial" panose="020B0604020202020204"/>
              </a:rPr>
              <a:t>from the </a:t>
            </a:r>
            <a:r>
              <a:rPr sz="2400" spc="-5" dirty="0">
                <a:cs typeface="Arial" panose="020B0604020202020204"/>
              </a:rPr>
              <a:t>kernel is</a:t>
            </a:r>
            <a:r>
              <a:rPr sz="2400" spc="35" dirty="0">
                <a:cs typeface="Arial" panose="020B0604020202020204"/>
              </a:rPr>
              <a:t> </a:t>
            </a:r>
            <a:r>
              <a:rPr sz="2400" spc="-5" dirty="0">
                <a:cs typeface="Arial" panose="020B0604020202020204"/>
              </a:rPr>
              <a:t>required.</a:t>
            </a:r>
            <a:endParaRPr sz="2400" dirty="0">
              <a:cs typeface="Arial" panose="020B0604020202020204"/>
            </a:endParaRPr>
          </a:p>
        </p:txBody>
      </p:sp>
      <p:sp>
        <p:nvSpPr>
          <p:cNvPr id="8" name="Slide Number Placeholder 7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t>39</a:t>
            </a:fld>
            <a:endParaRPr lang="en-US"/>
          </a:p>
        </p:txBody>
      </p:sp>
      <p:pic>
        <p:nvPicPr>
          <p:cNvPr id="2" name="Picture 1" descr="A black and red logo&#10;&#10;Description automatically generated">
            <a:extLst>
              <a:ext uri="{FF2B5EF4-FFF2-40B4-BE49-F238E27FC236}">
                <a16:creationId xmlns:a16="http://schemas.microsoft.com/office/drawing/2014/main" id="{25B75A84-022D-5048-BB0B-B9B4CA36D9DF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-27384"/>
            <a:ext cx="1657350" cy="710452"/>
          </a:xfrm>
          <a:prstGeom prst="rect">
            <a:avLst/>
          </a:prstGeom>
        </p:spPr>
      </p:pic>
      <p:sp>
        <p:nvSpPr>
          <p:cNvPr id="3" name="Title 1">
            <a:extLst>
              <a:ext uri="{FF2B5EF4-FFF2-40B4-BE49-F238E27FC236}">
                <a16:creationId xmlns:a16="http://schemas.microsoft.com/office/drawing/2014/main" id="{EAEA067B-781E-577C-24DF-BF13F80B40D5}"/>
              </a:ext>
            </a:extLst>
          </p:cNvPr>
          <p:cNvSpPr txBox="1">
            <a:spLocks/>
          </p:cNvSpPr>
          <p:nvPr/>
        </p:nvSpPr>
        <p:spPr>
          <a:xfrm>
            <a:off x="1657350" y="116632"/>
            <a:ext cx="7486650" cy="514349"/>
          </a:xfrm>
          <a:prstGeom prst="rect">
            <a:avLst/>
          </a:prstGeom>
          <a:gradFill flip="none" rotWithShape="1">
            <a:gsLst>
              <a:gs pos="0">
                <a:srgbClr val="FF0000">
                  <a:tint val="66000"/>
                  <a:satMod val="160000"/>
                </a:srgbClr>
              </a:gs>
              <a:gs pos="50000">
                <a:srgbClr val="FF0000">
                  <a:tint val="44500"/>
                  <a:satMod val="160000"/>
                </a:srgbClr>
              </a:gs>
              <a:gs pos="100000">
                <a:srgbClr val="FF0000">
                  <a:tint val="23500"/>
                  <a:satMod val="160000"/>
                </a:srgbClr>
              </a:gs>
            </a:gsLst>
            <a:lin ang="0" scaled="1"/>
            <a:tileRect/>
          </a:gradFill>
        </p:spPr>
        <p:style>
          <a:lnRef idx="1">
            <a:schemeClr val="accent5"/>
          </a:lnRef>
          <a:fillRef idx="2">
            <a:schemeClr val="accent5"/>
          </a:fillRef>
          <a:effectRef idx="1">
            <a:schemeClr val="accent5"/>
          </a:effectRef>
          <a:fontRef idx="minor">
            <a:schemeClr val="dk1"/>
          </a:fontRef>
        </p:style>
        <p:txBody>
          <a:bodyPr vert="horz" lIns="68580" tIns="34290" rIns="68580" bIns="34290" rtlCol="0" anchor="ctr">
            <a:noAutofit/>
          </a:bodyPr>
          <a:lstStyle>
            <a:defPPr>
              <a:defRPr lang="en-US"/>
            </a:defPPr>
            <a:lvl1pPr algn="ctr">
              <a:spcBef>
                <a:spcPct val="0"/>
              </a:spcBef>
              <a:buNone/>
              <a:defRPr sz="2800"/>
            </a:lvl1pPr>
          </a:lstStyle>
          <a:p>
            <a:pPr>
              <a:defRPr/>
            </a:pPr>
            <a:endParaRPr lang="en-IN" sz="2400" spc="-10" dirty="0"/>
          </a:p>
          <a:p>
            <a:pPr>
              <a:defRPr/>
            </a:pPr>
            <a:r>
              <a:rPr lang="en-IN" sz="2400" spc="-10" dirty="0"/>
              <a:t>Shared memory </a:t>
            </a:r>
            <a:r>
              <a:rPr lang="en-IN" sz="2400" spc="-5" dirty="0"/>
              <a:t>vs. </a:t>
            </a:r>
            <a:r>
              <a:rPr lang="en-IN" sz="2400" spc="-10" dirty="0"/>
              <a:t>Message</a:t>
            </a:r>
            <a:r>
              <a:rPr lang="en-IN" sz="2400" spc="15" dirty="0"/>
              <a:t> </a:t>
            </a:r>
            <a:r>
              <a:rPr lang="en-IN" sz="2400" spc="-10" dirty="0"/>
              <a:t>Passing</a:t>
            </a:r>
            <a:r>
              <a:rPr lang="en-IN" sz="2400" dirty="0"/>
              <a:t>(CO3)</a:t>
            </a:r>
            <a:endParaRPr kumimoji="0" lang="en-US" sz="2400" b="0" i="0" u="none" strike="noStrike" kern="1200" cap="none" spc="0" normalizeH="0" baseline="0" noProof="0" dirty="0">
              <a:ln>
                <a:noFill/>
              </a:ln>
              <a:solidFill>
                <a:schemeClr val="dk1"/>
              </a:solidFill>
              <a:effectLst/>
              <a:uLnTx/>
              <a:uFillTx/>
              <a:ea typeface="+mn-ea"/>
              <a:cs typeface="+mn-cs"/>
            </a:endParaRPr>
          </a:p>
          <a:p>
            <a:pPr>
              <a:defRPr/>
            </a:pPr>
            <a:endParaRPr lang="en-US" sz="2100" dirty="0"/>
          </a:p>
        </p:txBody>
      </p:sp>
    </p:spTree>
    <p:extLst>
      <p:ext uri="{BB962C8B-B14F-4D97-AF65-F5344CB8AC3E}">
        <p14:creationId xmlns:p14="http://schemas.microsoft.com/office/powerpoint/2010/main" val="1029220084"/>
      </p:ext>
    </p:extLst>
  </p:cSld>
  <p:clrMapOvr>
    <a:masterClrMapping/>
  </p:clrMapOvr>
  <p:transition>
    <p:dissolve/>
  </p:transition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85CC1EE-97E0-4C54-B759-A5144CD1A0FF}" type="datetime3">
              <a:rPr lang="en-US" smtClean="0"/>
              <a:t>1 September 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2514600" y="6356350"/>
            <a:ext cx="5181600" cy="365125"/>
          </a:xfrm>
        </p:spPr>
        <p:txBody>
          <a:bodyPr/>
          <a:lstStyle/>
          <a:p>
            <a:r>
              <a:rPr lang="en-US"/>
              <a:t>Atul Garg           BCSE0303            Unit- III</a:t>
            </a:r>
            <a:endParaRPr lang="en-US" dirty="0"/>
          </a:p>
        </p:txBody>
      </p:sp>
      <p:sp>
        <p:nvSpPr>
          <p:cNvPr id="10" name="Rectangle 3"/>
          <p:cNvSpPr txBox="1">
            <a:spLocks noChangeArrowheads="1"/>
          </p:cNvSpPr>
          <p:nvPr/>
        </p:nvSpPr>
        <p:spPr>
          <a:xfrm>
            <a:off x="971600" y="908720"/>
            <a:ext cx="7848872" cy="5400600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/>
          <a:p>
            <a:pPr marL="350520" marR="103505" indent="-338455" algn="just">
              <a:lnSpc>
                <a:spcPct val="100000"/>
              </a:lnSpc>
              <a:spcBef>
                <a:spcPts val="95"/>
              </a:spcBef>
              <a:buFont typeface="Arial" panose="020B0604020202020204" pitchFamily="34" charset="0"/>
              <a:buChar char="•"/>
              <a:tabLst>
                <a:tab pos="350520" algn="l"/>
                <a:tab pos="351155" algn="l"/>
              </a:tabLst>
            </a:pPr>
            <a:r>
              <a:rPr lang="en-IN" sz="2200" spc="-10" dirty="0">
                <a:cs typeface="Arial" panose="020B0604020202020204"/>
              </a:rPr>
              <a:t>Shared memory allows multiple processes </a:t>
            </a:r>
            <a:r>
              <a:rPr lang="en-IN" sz="2200" spc="-5" dirty="0">
                <a:cs typeface="Arial" panose="020B0604020202020204"/>
              </a:rPr>
              <a:t>to </a:t>
            </a:r>
            <a:r>
              <a:rPr lang="en-IN" sz="2200" spc="-10" dirty="0">
                <a:cs typeface="Arial" panose="020B0604020202020204"/>
              </a:rPr>
              <a:t>share virtual memory  </a:t>
            </a:r>
            <a:r>
              <a:rPr lang="en-IN" sz="2200" spc="-5" dirty="0">
                <a:cs typeface="Arial" panose="020B0604020202020204"/>
              </a:rPr>
              <a:t>space</a:t>
            </a:r>
            <a:endParaRPr lang="en-IN" sz="2200" dirty="0">
              <a:cs typeface="Arial" panose="020B0604020202020204"/>
            </a:endParaRPr>
          </a:p>
          <a:p>
            <a:pPr marL="350520" marR="5080" indent="-338455" algn="just">
              <a:lnSpc>
                <a:spcPct val="100000"/>
              </a:lnSpc>
              <a:spcBef>
                <a:spcPts val="480"/>
              </a:spcBef>
              <a:buFont typeface="Arial" panose="020B0604020202020204" pitchFamily="34" charset="0"/>
              <a:buChar char="•"/>
              <a:tabLst>
                <a:tab pos="350520" algn="l"/>
                <a:tab pos="351155" algn="l"/>
              </a:tabLst>
            </a:pPr>
            <a:r>
              <a:rPr lang="en-IN" sz="2200" spc="-5" dirty="0">
                <a:cs typeface="Arial" panose="020B0604020202020204"/>
              </a:rPr>
              <a:t>This is the fastest but not necessarily the easiest way for processes  to </a:t>
            </a:r>
            <a:r>
              <a:rPr lang="en-IN" sz="2200" spc="-10" dirty="0">
                <a:cs typeface="Arial" panose="020B0604020202020204"/>
              </a:rPr>
              <a:t>communicate </a:t>
            </a:r>
            <a:r>
              <a:rPr lang="en-IN" sz="2200" spc="-5" dirty="0">
                <a:cs typeface="Arial" panose="020B0604020202020204"/>
              </a:rPr>
              <a:t>with one</a:t>
            </a:r>
            <a:r>
              <a:rPr lang="en-IN" sz="2200" spc="5" dirty="0">
                <a:cs typeface="Arial" panose="020B0604020202020204"/>
              </a:rPr>
              <a:t> </a:t>
            </a:r>
            <a:r>
              <a:rPr lang="en-IN" sz="2200" spc="-10" dirty="0">
                <a:cs typeface="Arial" panose="020B0604020202020204"/>
              </a:rPr>
              <a:t>another</a:t>
            </a:r>
            <a:endParaRPr lang="en-IN" sz="2200" dirty="0">
              <a:cs typeface="Arial" panose="020B0604020202020204"/>
            </a:endParaRPr>
          </a:p>
          <a:p>
            <a:pPr marL="350520" marR="400050" indent="-338455" algn="just">
              <a:lnSpc>
                <a:spcPct val="100000"/>
              </a:lnSpc>
              <a:spcBef>
                <a:spcPts val="480"/>
              </a:spcBef>
              <a:buFont typeface="Arial" panose="020B0604020202020204" pitchFamily="34" charset="0"/>
              <a:buChar char="•"/>
              <a:tabLst>
                <a:tab pos="350520" algn="l"/>
                <a:tab pos="351155" algn="l"/>
              </a:tabLst>
            </a:pPr>
            <a:r>
              <a:rPr lang="en-IN" sz="2200" spc="-5" dirty="0">
                <a:cs typeface="Arial" panose="020B0604020202020204"/>
              </a:rPr>
              <a:t>In general, one process </a:t>
            </a:r>
            <a:r>
              <a:rPr lang="en-IN" sz="2200" spc="-5" dirty="0">
                <a:uFill>
                  <a:solidFill>
                    <a:srgbClr val="000000"/>
                  </a:solidFill>
                </a:uFill>
                <a:cs typeface="Arial" panose="020B0604020202020204"/>
              </a:rPr>
              <a:t>creates</a:t>
            </a:r>
            <a:r>
              <a:rPr lang="en-IN" sz="2200" spc="-5" dirty="0">
                <a:cs typeface="Arial" panose="020B0604020202020204"/>
              </a:rPr>
              <a:t> or allocates the </a:t>
            </a:r>
            <a:r>
              <a:rPr lang="en-IN" sz="2200" spc="-10" dirty="0">
                <a:cs typeface="Arial" panose="020B0604020202020204"/>
              </a:rPr>
              <a:t>shared memory  segment</a:t>
            </a:r>
            <a:endParaRPr lang="en-IN" sz="2200" dirty="0">
              <a:cs typeface="Arial" panose="020B0604020202020204"/>
            </a:endParaRPr>
          </a:p>
          <a:p>
            <a:pPr marL="350520" marR="34290" indent="-338455" algn="just">
              <a:lnSpc>
                <a:spcPct val="100000"/>
              </a:lnSpc>
              <a:spcBef>
                <a:spcPts val="480"/>
              </a:spcBef>
              <a:buFont typeface="Arial" panose="020B0604020202020204" pitchFamily="34" charset="0"/>
              <a:buChar char="•"/>
              <a:tabLst>
                <a:tab pos="350520" algn="l"/>
                <a:tab pos="351155" algn="l"/>
              </a:tabLst>
            </a:pPr>
            <a:r>
              <a:rPr lang="en-IN" sz="2200" spc="-5" dirty="0">
                <a:cs typeface="Arial" panose="020B0604020202020204"/>
              </a:rPr>
              <a:t>The size and access permissions for the segment are set when it is  created</a:t>
            </a:r>
            <a:endParaRPr lang="en-IN" sz="2200" dirty="0">
              <a:cs typeface="Arial" panose="020B0604020202020204"/>
            </a:endParaRPr>
          </a:p>
          <a:p>
            <a:pPr marL="350520" marR="430530" indent="-338455" algn="just">
              <a:lnSpc>
                <a:spcPct val="100000"/>
              </a:lnSpc>
              <a:spcBef>
                <a:spcPts val="480"/>
              </a:spcBef>
              <a:buFont typeface="Arial" panose="020B0604020202020204" pitchFamily="34" charset="0"/>
              <a:buChar char="•"/>
              <a:tabLst>
                <a:tab pos="350520" algn="l"/>
                <a:tab pos="351155" algn="l"/>
              </a:tabLst>
            </a:pPr>
            <a:r>
              <a:rPr lang="en-IN" sz="2200" spc="-5" dirty="0">
                <a:cs typeface="Arial" panose="020B0604020202020204"/>
              </a:rPr>
              <a:t>The process then </a:t>
            </a:r>
            <a:r>
              <a:rPr lang="en-IN" sz="2200" spc="-5" dirty="0">
                <a:uFill>
                  <a:solidFill>
                    <a:srgbClr val="000000"/>
                  </a:solidFill>
                </a:uFill>
                <a:cs typeface="Arial" panose="020B0604020202020204"/>
              </a:rPr>
              <a:t>attaches</a:t>
            </a:r>
            <a:r>
              <a:rPr lang="en-IN" sz="2200" spc="-5" dirty="0">
                <a:cs typeface="Arial" panose="020B0604020202020204"/>
              </a:rPr>
              <a:t> the shared </a:t>
            </a:r>
            <a:r>
              <a:rPr lang="en-IN" sz="2200" spc="-10" dirty="0">
                <a:cs typeface="Arial" panose="020B0604020202020204"/>
              </a:rPr>
              <a:t>segment, causing </a:t>
            </a:r>
            <a:r>
              <a:rPr lang="en-IN" sz="2200" spc="-5" dirty="0">
                <a:cs typeface="Arial" panose="020B0604020202020204"/>
              </a:rPr>
              <a:t>it to </a:t>
            </a:r>
            <a:r>
              <a:rPr lang="en-IN" sz="2200" spc="-10" dirty="0">
                <a:cs typeface="Arial" panose="020B0604020202020204"/>
              </a:rPr>
              <a:t>be  </a:t>
            </a:r>
            <a:r>
              <a:rPr lang="en-IN" sz="2200" spc="-5" dirty="0">
                <a:cs typeface="Arial" panose="020B0604020202020204"/>
              </a:rPr>
              <a:t>mapped into its current data</a:t>
            </a:r>
            <a:r>
              <a:rPr lang="en-IN" sz="2200" spc="-25" dirty="0">
                <a:cs typeface="Arial" panose="020B0604020202020204"/>
              </a:rPr>
              <a:t> </a:t>
            </a:r>
            <a:r>
              <a:rPr lang="en-IN" sz="2200" spc="-5" dirty="0">
                <a:cs typeface="Arial" panose="020B0604020202020204"/>
              </a:rPr>
              <a:t>space</a:t>
            </a:r>
            <a:endParaRPr lang="en-IN" sz="2200" dirty="0">
              <a:cs typeface="Arial" panose="020B0604020202020204"/>
            </a:endParaRPr>
          </a:p>
          <a:p>
            <a:pPr marL="350520" indent="-338455" algn="just">
              <a:lnSpc>
                <a:spcPct val="100000"/>
              </a:lnSpc>
              <a:spcBef>
                <a:spcPts val="480"/>
              </a:spcBef>
              <a:buFont typeface="Arial" panose="020B0604020202020204" pitchFamily="34" charset="0"/>
              <a:buChar char="•"/>
              <a:tabLst>
                <a:tab pos="350520" algn="l"/>
                <a:tab pos="351155" algn="l"/>
              </a:tabLst>
            </a:pPr>
            <a:r>
              <a:rPr lang="en-IN" sz="2200" spc="-5" dirty="0">
                <a:cs typeface="Arial" panose="020B0604020202020204"/>
              </a:rPr>
              <a:t>If needed, the creating process then </a:t>
            </a:r>
            <a:r>
              <a:rPr lang="en-IN" sz="2200" spc="-5" dirty="0">
                <a:uFill>
                  <a:solidFill>
                    <a:srgbClr val="000000"/>
                  </a:solidFill>
                </a:uFill>
                <a:cs typeface="Arial" panose="020B0604020202020204"/>
              </a:rPr>
              <a:t>initializes</a:t>
            </a:r>
            <a:r>
              <a:rPr lang="en-IN" sz="2200" spc="-5" dirty="0">
                <a:cs typeface="Arial" panose="020B0604020202020204"/>
              </a:rPr>
              <a:t> the shared</a:t>
            </a:r>
            <a:r>
              <a:rPr lang="en-IN" sz="2200" spc="90" dirty="0">
                <a:cs typeface="Arial" panose="020B0604020202020204"/>
              </a:rPr>
              <a:t> </a:t>
            </a:r>
            <a:r>
              <a:rPr lang="en-IN" sz="2200" spc="-5" dirty="0">
                <a:cs typeface="Arial" panose="020B0604020202020204"/>
              </a:rPr>
              <a:t>memory</a:t>
            </a:r>
            <a:endParaRPr kumimoji="0" lang="en-US" sz="2200" b="0" i="0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ea typeface="+mn-ea"/>
              <a:cs typeface="+mn-cs"/>
            </a:endParaRPr>
          </a:p>
        </p:txBody>
      </p:sp>
      <p:sp>
        <p:nvSpPr>
          <p:cNvPr id="8" name="Slide Number Placeholder 7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t>40</a:t>
            </a:fld>
            <a:endParaRPr lang="en-US"/>
          </a:p>
        </p:txBody>
      </p:sp>
      <p:pic>
        <p:nvPicPr>
          <p:cNvPr id="2" name="Picture 1" descr="A black and red logo&#10;&#10;Description automatically generated">
            <a:extLst>
              <a:ext uri="{FF2B5EF4-FFF2-40B4-BE49-F238E27FC236}">
                <a16:creationId xmlns:a16="http://schemas.microsoft.com/office/drawing/2014/main" id="{884EDE76-B43A-D069-15AB-441DB7969B77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-27384"/>
            <a:ext cx="1657350" cy="710452"/>
          </a:xfrm>
          <a:prstGeom prst="rect">
            <a:avLst/>
          </a:prstGeom>
        </p:spPr>
      </p:pic>
      <p:sp>
        <p:nvSpPr>
          <p:cNvPr id="3" name="Title 1">
            <a:extLst>
              <a:ext uri="{FF2B5EF4-FFF2-40B4-BE49-F238E27FC236}">
                <a16:creationId xmlns:a16="http://schemas.microsoft.com/office/drawing/2014/main" id="{ECE9AD4F-ADEE-1689-2ECB-5D5D86BE76C1}"/>
              </a:ext>
            </a:extLst>
          </p:cNvPr>
          <p:cNvSpPr txBox="1">
            <a:spLocks/>
          </p:cNvSpPr>
          <p:nvPr/>
        </p:nvSpPr>
        <p:spPr>
          <a:xfrm>
            <a:off x="1657350" y="16312"/>
            <a:ext cx="7380312" cy="514349"/>
          </a:xfrm>
          <a:prstGeom prst="rect">
            <a:avLst/>
          </a:prstGeom>
          <a:gradFill flip="none" rotWithShape="1">
            <a:gsLst>
              <a:gs pos="0">
                <a:srgbClr val="FF0000">
                  <a:tint val="66000"/>
                  <a:satMod val="160000"/>
                </a:srgbClr>
              </a:gs>
              <a:gs pos="50000">
                <a:srgbClr val="FF0000">
                  <a:tint val="44500"/>
                  <a:satMod val="160000"/>
                </a:srgbClr>
              </a:gs>
              <a:gs pos="100000">
                <a:srgbClr val="FF0000">
                  <a:tint val="23500"/>
                  <a:satMod val="160000"/>
                </a:srgbClr>
              </a:gs>
            </a:gsLst>
            <a:lin ang="0" scaled="1"/>
            <a:tileRect/>
          </a:gradFill>
        </p:spPr>
        <p:style>
          <a:lnRef idx="1">
            <a:schemeClr val="accent5"/>
          </a:lnRef>
          <a:fillRef idx="2">
            <a:schemeClr val="accent5"/>
          </a:fillRef>
          <a:effectRef idx="1">
            <a:schemeClr val="accent5"/>
          </a:effectRef>
          <a:fontRef idx="minor">
            <a:schemeClr val="dk1"/>
          </a:fontRef>
        </p:style>
        <p:txBody>
          <a:bodyPr vert="horz" lIns="68580" tIns="34290" rIns="68580" bIns="34290" rtlCol="0" anchor="ctr">
            <a:noAutofit/>
          </a:bodyPr>
          <a:lstStyle>
            <a:defPPr>
              <a:defRPr lang="en-US"/>
            </a:defPPr>
            <a:lvl1pPr algn="ctr">
              <a:spcBef>
                <a:spcPct val="0"/>
              </a:spcBef>
              <a:buNone/>
              <a:defRPr sz="2800"/>
            </a:lvl1pPr>
          </a:lstStyle>
          <a:p>
            <a:pPr>
              <a:defRPr/>
            </a:pPr>
            <a:endParaRPr lang="en-IN" sz="2400" spc="-10" dirty="0"/>
          </a:p>
          <a:p>
            <a:pPr>
              <a:defRPr/>
            </a:pPr>
            <a:r>
              <a:rPr lang="en-IN" sz="2400" spc="-10" dirty="0"/>
              <a:t>Shared</a:t>
            </a:r>
            <a:r>
              <a:rPr lang="en-IN" sz="2400" spc="-55" dirty="0"/>
              <a:t> </a:t>
            </a:r>
            <a:r>
              <a:rPr lang="en-IN" sz="2400" spc="-10" dirty="0"/>
              <a:t>Memory</a:t>
            </a:r>
            <a:r>
              <a:rPr lang="en-IN" sz="2400" dirty="0"/>
              <a:t> (CO3)</a:t>
            </a:r>
            <a:endParaRPr lang="en-US" sz="2400" dirty="0"/>
          </a:p>
          <a:p>
            <a:pPr>
              <a:defRPr/>
            </a:pPr>
            <a:endParaRPr lang="en-US" sz="2100" dirty="0"/>
          </a:p>
        </p:txBody>
      </p:sp>
    </p:spTree>
    <p:extLst>
      <p:ext uri="{BB962C8B-B14F-4D97-AF65-F5344CB8AC3E}">
        <p14:creationId xmlns:p14="http://schemas.microsoft.com/office/powerpoint/2010/main" val="3549443645"/>
      </p:ext>
    </p:extLst>
  </p:cSld>
  <p:clrMapOvr>
    <a:masterClrMapping/>
  </p:clrMapOvr>
  <p:transition>
    <p:dissolve/>
  </p:transition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2C3215E-E2C2-4588-9316-3E5B8A7014A1}" type="datetime3">
              <a:rPr lang="en-US" smtClean="0"/>
              <a:t>1 September 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2514600" y="6356350"/>
            <a:ext cx="5181600" cy="365125"/>
          </a:xfrm>
        </p:spPr>
        <p:txBody>
          <a:bodyPr/>
          <a:lstStyle/>
          <a:p>
            <a:r>
              <a:rPr lang="en-US"/>
              <a:t>Atul Garg           BCSE0303            Unit- III</a:t>
            </a:r>
            <a:endParaRPr lang="en-US" dirty="0"/>
          </a:p>
        </p:txBody>
      </p:sp>
      <p:sp>
        <p:nvSpPr>
          <p:cNvPr id="12" name="Rectangle 3"/>
          <p:cNvSpPr txBox="1">
            <a:spLocks noChangeArrowheads="1"/>
          </p:cNvSpPr>
          <p:nvPr/>
        </p:nvSpPr>
        <p:spPr>
          <a:xfrm>
            <a:off x="1047750" y="908720"/>
            <a:ext cx="7340674" cy="5184576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/>
          <a:p>
            <a:pPr marL="350520" marR="70485" indent="-338455" algn="just">
              <a:lnSpc>
                <a:spcPct val="100000"/>
              </a:lnSpc>
              <a:spcBef>
                <a:spcPts val="100"/>
              </a:spcBef>
              <a:buFont typeface="Wingdings" panose="05000000000000000000"/>
              <a:buChar char=""/>
              <a:tabLst>
                <a:tab pos="350520" algn="l"/>
                <a:tab pos="351155" algn="l"/>
              </a:tabLst>
            </a:pPr>
            <a:r>
              <a:rPr lang="en-IN" sz="2200" dirty="0">
                <a:cs typeface="Arial" panose="020B0604020202020204"/>
              </a:rPr>
              <a:t>Once created, </a:t>
            </a:r>
            <a:r>
              <a:rPr lang="en-IN" sz="2200" spc="-5" dirty="0">
                <a:cs typeface="Arial" panose="020B0604020202020204"/>
              </a:rPr>
              <a:t>and </a:t>
            </a:r>
            <a:r>
              <a:rPr lang="en-IN" sz="2200" dirty="0">
                <a:cs typeface="Arial" panose="020B0604020202020204"/>
              </a:rPr>
              <a:t>if </a:t>
            </a:r>
            <a:r>
              <a:rPr lang="en-IN" sz="2200" spc="-5" dirty="0">
                <a:cs typeface="Arial" panose="020B0604020202020204"/>
              </a:rPr>
              <a:t>permissions </a:t>
            </a:r>
            <a:r>
              <a:rPr lang="en-IN" sz="2200" dirty="0">
                <a:cs typeface="Arial" panose="020B0604020202020204"/>
              </a:rPr>
              <a:t>permit, </a:t>
            </a:r>
            <a:r>
              <a:rPr lang="en-IN" sz="2200" spc="-5" dirty="0">
                <a:cs typeface="Arial" panose="020B0604020202020204"/>
              </a:rPr>
              <a:t>other processes can gain </a:t>
            </a:r>
            <a:r>
              <a:rPr lang="en-IN" sz="2200" dirty="0">
                <a:cs typeface="Arial" panose="020B0604020202020204"/>
              </a:rPr>
              <a:t>access  to the </a:t>
            </a:r>
            <a:r>
              <a:rPr lang="en-IN" sz="2200" spc="-5" dirty="0">
                <a:cs typeface="Arial" panose="020B0604020202020204"/>
              </a:rPr>
              <a:t>shared </a:t>
            </a:r>
            <a:r>
              <a:rPr lang="en-IN" sz="2200" dirty="0">
                <a:cs typeface="Arial" panose="020B0604020202020204"/>
              </a:rPr>
              <a:t>memory </a:t>
            </a:r>
            <a:r>
              <a:rPr lang="en-IN" sz="2200" spc="-5" dirty="0">
                <a:cs typeface="Arial" panose="020B0604020202020204"/>
              </a:rPr>
              <a:t>segment and map </a:t>
            </a:r>
            <a:r>
              <a:rPr lang="en-IN" sz="2200" dirty="0">
                <a:cs typeface="Arial" panose="020B0604020202020204"/>
              </a:rPr>
              <a:t>it </a:t>
            </a:r>
            <a:r>
              <a:rPr lang="en-IN" sz="2200" spc="-5" dirty="0">
                <a:cs typeface="Arial" panose="020B0604020202020204"/>
              </a:rPr>
              <a:t>into their data</a:t>
            </a:r>
            <a:r>
              <a:rPr lang="en-IN" sz="2200" spc="5" dirty="0">
                <a:cs typeface="Arial" panose="020B0604020202020204"/>
              </a:rPr>
              <a:t> </a:t>
            </a:r>
            <a:r>
              <a:rPr lang="en-IN" sz="2200" spc="-5" dirty="0">
                <a:cs typeface="Arial" panose="020B0604020202020204"/>
              </a:rPr>
              <a:t>space</a:t>
            </a:r>
            <a:endParaRPr lang="en-IN" sz="2200" dirty="0">
              <a:cs typeface="Arial" panose="020B0604020202020204"/>
            </a:endParaRPr>
          </a:p>
          <a:p>
            <a:pPr marL="350520" marR="589915" indent="-338455" algn="just">
              <a:lnSpc>
                <a:spcPct val="100000"/>
              </a:lnSpc>
              <a:spcBef>
                <a:spcPts val="430"/>
              </a:spcBef>
              <a:buFont typeface="Wingdings" panose="05000000000000000000"/>
              <a:buChar char=""/>
              <a:tabLst>
                <a:tab pos="350520" algn="l"/>
                <a:tab pos="351155" algn="l"/>
              </a:tabLst>
            </a:pPr>
            <a:r>
              <a:rPr lang="en-IN" sz="2200" spc="-5" dirty="0">
                <a:cs typeface="Arial" panose="020B0604020202020204"/>
              </a:rPr>
              <a:t>Each process accesses </a:t>
            </a:r>
            <a:r>
              <a:rPr lang="en-IN" sz="2200" dirty="0">
                <a:cs typeface="Arial" panose="020B0604020202020204"/>
              </a:rPr>
              <a:t>the </a:t>
            </a:r>
            <a:r>
              <a:rPr lang="en-IN" sz="2200" spc="-5" dirty="0">
                <a:cs typeface="Arial" panose="020B0604020202020204"/>
              </a:rPr>
              <a:t>shared </a:t>
            </a:r>
            <a:r>
              <a:rPr lang="en-IN" sz="2200" dirty="0">
                <a:cs typeface="Arial" panose="020B0604020202020204"/>
              </a:rPr>
              <a:t>memory </a:t>
            </a:r>
            <a:r>
              <a:rPr lang="en-IN" sz="2200" spc="-5" dirty="0">
                <a:cs typeface="Arial" panose="020B0604020202020204"/>
              </a:rPr>
              <a:t>relative </a:t>
            </a:r>
            <a:r>
              <a:rPr lang="en-IN" sz="2200" dirty="0">
                <a:cs typeface="Arial" panose="020B0604020202020204"/>
              </a:rPr>
              <a:t>to its attachment  </a:t>
            </a:r>
            <a:r>
              <a:rPr lang="en-IN" sz="2200" spc="-5" dirty="0">
                <a:cs typeface="Arial" panose="020B0604020202020204"/>
              </a:rPr>
              <a:t>address</a:t>
            </a:r>
            <a:endParaRPr lang="en-IN" sz="2200" dirty="0">
              <a:cs typeface="Arial" panose="020B0604020202020204"/>
            </a:endParaRPr>
          </a:p>
          <a:p>
            <a:pPr marL="350520" marR="297815" indent="-338455" algn="just">
              <a:lnSpc>
                <a:spcPct val="100000"/>
              </a:lnSpc>
              <a:spcBef>
                <a:spcPts val="435"/>
              </a:spcBef>
              <a:buFont typeface="Wingdings" panose="05000000000000000000"/>
              <a:buChar char=""/>
              <a:tabLst>
                <a:tab pos="350520" algn="l"/>
                <a:tab pos="351155" algn="l"/>
              </a:tabLst>
            </a:pPr>
            <a:r>
              <a:rPr lang="en-IN" sz="2200" spc="-5" dirty="0">
                <a:cs typeface="Arial" panose="020B0604020202020204"/>
              </a:rPr>
              <a:t>While </a:t>
            </a:r>
            <a:r>
              <a:rPr lang="en-IN" sz="2200" dirty="0">
                <a:cs typeface="Arial" panose="020B0604020202020204"/>
              </a:rPr>
              <a:t>the </a:t>
            </a:r>
            <a:r>
              <a:rPr lang="en-IN" sz="2200" spc="-5" dirty="0">
                <a:cs typeface="Arial" panose="020B0604020202020204"/>
              </a:rPr>
              <a:t>data </a:t>
            </a:r>
            <a:r>
              <a:rPr lang="en-IN" sz="2200" dirty="0">
                <a:cs typeface="Arial" panose="020B0604020202020204"/>
              </a:rPr>
              <a:t>that </a:t>
            </a:r>
            <a:r>
              <a:rPr lang="en-IN" sz="2200" spc="-5" dirty="0">
                <a:cs typeface="Arial" panose="020B0604020202020204"/>
              </a:rPr>
              <a:t>these processes are referencing is in </a:t>
            </a:r>
            <a:r>
              <a:rPr lang="en-IN" sz="2200" dirty="0">
                <a:cs typeface="Arial" panose="020B0604020202020204"/>
              </a:rPr>
              <a:t>common, </a:t>
            </a:r>
            <a:r>
              <a:rPr lang="en-IN" sz="2200" spc="-5" dirty="0">
                <a:cs typeface="Arial" panose="020B0604020202020204"/>
              </a:rPr>
              <a:t>each  process uses </a:t>
            </a:r>
            <a:r>
              <a:rPr lang="en-IN" sz="2200" dirty="0">
                <a:cs typeface="Arial" panose="020B0604020202020204"/>
              </a:rPr>
              <a:t>different attachment </a:t>
            </a:r>
            <a:r>
              <a:rPr lang="en-IN" sz="2200" spc="-5" dirty="0">
                <a:cs typeface="Arial" panose="020B0604020202020204"/>
              </a:rPr>
              <a:t>address</a:t>
            </a:r>
            <a:r>
              <a:rPr lang="en-IN" sz="2200" spc="-40" dirty="0">
                <a:cs typeface="Arial" panose="020B0604020202020204"/>
              </a:rPr>
              <a:t> </a:t>
            </a:r>
            <a:r>
              <a:rPr lang="en-IN" sz="2200" spc="-5" dirty="0">
                <a:cs typeface="Arial" panose="020B0604020202020204"/>
              </a:rPr>
              <a:t>values</a:t>
            </a:r>
            <a:endParaRPr lang="en-IN" sz="2200" dirty="0">
              <a:cs typeface="Arial" panose="020B0604020202020204"/>
            </a:endParaRPr>
          </a:p>
          <a:p>
            <a:pPr marL="350520" marR="5080" indent="-338455" algn="just">
              <a:lnSpc>
                <a:spcPct val="100000"/>
              </a:lnSpc>
              <a:spcBef>
                <a:spcPts val="430"/>
              </a:spcBef>
              <a:buFont typeface="Wingdings" panose="05000000000000000000"/>
              <a:buChar char=""/>
              <a:tabLst>
                <a:tab pos="350520" algn="l"/>
                <a:tab pos="351155" algn="l"/>
              </a:tabLst>
            </a:pPr>
            <a:r>
              <a:rPr lang="en-IN" sz="2200" dirty="0">
                <a:cs typeface="Arial" panose="020B0604020202020204"/>
              </a:rPr>
              <a:t>For </a:t>
            </a:r>
            <a:r>
              <a:rPr lang="en-IN" sz="2200" spc="-5" dirty="0">
                <a:cs typeface="Arial" panose="020B0604020202020204"/>
              </a:rPr>
              <a:t>each process involved, </a:t>
            </a:r>
            <a:r>
              <a:rPr lang="en-IN" sz="2200" dirty="0">
                <a:cs typeface="Arial" panose="020B0604020202020204"/>
              </a:rPr>
              <a:t>the </a:t>
            </a:r>
            <a:r>
              <a:rPr lang="en-IN" sz="2200" spc="-5" dirty="0">
                <a:cs typeface="Arial" panose="020B0604020202020204"/>
              </a:rPr>
              <a:t>mapped </a:t>
            </a:r>
            <a:r>
              <a:rPr lang="en-IN" sz="2200" dirty="0">
                <a:cs typeface="Arial" panose="020B0604020202020204"/>
              </a:rPr>
              <a:t>memory </a:t>
            </a:r>
            <a:r>
              <a:rPr lang="en-IN" sz="2200" spc="-5" dirty="0">
                <a:cs typeface="Arial" panose="020B0604020202020204"/>
              </a:rPr>
              <a:t>appears </a:t>
            </a:r>
            <a:r>
              <a:rPr lang="en-IN" sz="2200" dirty="0">
                <a:cs typeface="Arial" panose="020B0604020202020204"/>
              </a:rPr>
              <a:t>to </a:t>
            </a:r>
            <a:r>
              <a:rPr lang="en-IN" sz="2200" spc="-5" dirty="0">
                <a:cs typeface="Arial" panose="020B0604020202020204"/>
              </a:rPr>
              <a:t>be no </a:t>
            </a:r>
            <a:r>
              <a:rPr lang="en-IN" sz="2200" dirty="0">
                <a:cs typeface="Arial" panose="020B0604020202020204"/>
              </a:rPr>
              <a:t>different  from </a:t>
            </a:r>
            <a:r>
              <a:rPr lang="en-IN" sz="2200" spc="-5" dirty="0">
                <a:cs typeface="Arial" panose="020B0604020202020204"/>
              </a:rPr>
              <a:t>any other </a:t>
            </a:r>
            <a:r>
              <a:rPr lang="en-IN" sz="2200" dirty="0">
                <a:cs typeface="Arial" panose="020B0604020202020204"/>
              </a:rPr>
              <a:t>of its memory</a:t>
            </a:r>
            <a:r>
              <a:rPr lang="en-IN" sz="2200" spc="-25" dirty="0">
                <a:cs typeface="Arial" panose="020B0604020202020204"/>
              </a:rPr>
              <a:t> </a:t>
            </a:r>
            <a:r>
              <a:rPr lang="en-IN" sz="2200" spc="-5" dirty="0">
                <a:cs typeface="Arial" panose="020B0604020202020204"/>
              </a:rPr>
              <a:t>addresses.</a:t>
            </a:r>
            <a:endParaRPr lang="en-IN" sz="2200" dirty="0">
              <a:cs typeface="Arial" panose="020B0604020202020204"/>
            </a:endParaRPr>
          </a:p>
          <a:p>
            <a:pPr marL="342900" marR="0" lvl="0" indent="-342900" algn="l" defTabSz="914400" rtl="0" eaLnBrk="1" fontAlgn="auto" latinLnBrk="0" hangingPunct="1">
              <a:lnSpc>
                <a:spcPct val="15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defRPr/>
            </a:pPr>
            <a:endParaRPr lang="en-IN" sz="2200" dirty="0"/>
          </a:p>
          <a:p>
            <a:pPr>
              <a:lnSpc>
                <a:spcPct val="150000"/>
              </a:lnSpc>
            </a:pPr>
            <a:br>
              <a:rPr lang="en-IN" sz="2200" dirty="0"/>
            </a:br>
            <a:r>
              <a:rPr lang="en-IN" sz="2200" dirty="0"/>
              <a:t> </a:t>
            </a:r>
            <a:endParaRPr kumimoji="0" lang="en-US" sz="2200" b="0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ea typeface="+mn-ea"/>
              <a:cs typeface="+mn-cs"/>
            </a:endParaRPr>
          </a:p>
        </p:txBody>
      </p:sp>
      <p:sp>
        <p:nvSpPr>
          <p:cNvPr id="8" name="Slide Number Placeholder 7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t>41</a:t>
            </a:fld>
            <a:endParaRPr lang="en-US"/>
          </a:p>
        </p:txBody>
      </p:sp>
      <p:pic>
        <p:nvPicPr>
          <p:cNvPr id="2" name="Picture 1" descr="A black and red logo&#10;&#10;Description automatically generated">
            <a:extLst>
              <a:ext uri="{FF2B5EF4-FFF2-40B4-BE49-F238E27FC236}">
                <a16:creationId xmlns:a16="http://schemas.microsoft.com/office/drawing/2014/main" id="{5290C717-091D-866C-8674-DC57C23D17F9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-27384"/>
            <a:ext cx="1657350" cy="710452"/>
          </a:xfrm>
          <a:prstGeom prst="rect">
            <a:avLst/>
          </a:prstGeom>
        </p:spPr>
      </p:pic>
      <p:sp>
        <p:nvSpPr>
          <p:cNvPr id="3" name="Title 1">
            <a:extLst>
              <a:ext uri="{FF2B5EF4-FFF2-40B4-BE49-F238E27FC236}">
                <a16:creationId xmlns:a16="http://schemas.microsoft.com/office/drawing/2014/main" id="{5B81747E-2E43-D3D1-F853-F2AA24C1AEC6}"/>
              </a:ext>
            </a:extLst>
          </p:cNvPr>
          <p:cNvSpPr txBox="1">
            <a:spLocks/>
          </p:cNvSpPr>
          <p:nvPr/>
        </p:nvSpPr>
        <p:spPr>
          <a:xfrm>
            <a:off x="1657350" y="-25356"/>
            <a:ext cx="7486650" cy="514349"/>
          </a:xfrm>
          <a:prstGeom prst="rect">
            <a:avLst/>
          </a:prstGeom>
          <a:gradFill flip="none" rotWithShape="1">
            <a:gsLst>
              <a:gs pos="0">
                <a:srgbClr val="FF0000">
                  <a:tint val="66000"/>
                  <a:satMod val="160000"/>
                </a:srgbClr>
              </a:gs>
              <a:gs pos="50000">
                <a:srgbClr val="FF0000">
                  <a:tint val="44500"/>
                  <a:satMod val="160000"/>
                </a:srgbClr>
              </a:gs>
              <a:gs pos="100000">
                <a:srgbClr val="FF0000">
                  <a:tint val="23500"/>
                  <a:satMod val="160000"/>
                </a:srgbClr>
              </a:gs>
            </a:gsLst>
            <a:lin ang="0" scaled="1"/>
            <a:tileRect/>
          </a:gradFill>
        </p:spPr>
        <p:style>
          <a:lnRef idx="1">
            <a:schemeClr val="accent5"/>
          </a:lnRef>
          <a:fillRef idx="2">
            <a:schemeClr val="accent5"/>
          </a:fillRef>
          <a:effectRef idx="1">
            <a:schemeClr val="accent5"/>
          </a:effectRef>
          <a:fontRef idx="minor">
            <a:schemeClr val="dk1"/>
          </a:fontRef>
        </p:style>
        <p:txBody>
          <a:bodyPr vert="horz" lIns="68580" tIns="34290" rIns="68580" bIns="34290" rtlCol="0" anchor="ctr">
            <a:noAutofit/>
          </a:bodyPr>
          <a:lstStyle>
            <a:defPPr>
              <a:defRPr lang="en-US"/>
            </a:defPPr>
            <a:lvl1pPr algn="ctr">
              <a:spcBef>
                <a:spcPct val="0"/>
              </a:spcBef>
              <a:buNone/>
              <a:defRPr sz="2800"/>
            </a:lvl1pPr>
          </a:lstStyle>
          <a:p>
            <a:pPr>
              <a:defRPr/>
            </a:pPr>
            <a:endParaRPr lang="en-IN" sz="2400" spc="-10" dirty="0"/>
          </a:p>
          <a:p>
            <a:pPr>
              <a:defRPr/>
            </a:pPr>
            <a:r>
              <a:rPr lang="en-IN" sz="2400" spc="-10" dirty="0"/>
              <a:t>Shared</a:t>
            </a:r>
            <a:r>
              <a:rPr lang="en-IN" sz="2400" spc="-55" dirty="0"/>
              <a:t> </a:t>
            </a:r>
            <a:r>
              <a:rPr lang="en-IN" sz="2400" spc="-10" dirty="0"/>
              <a:t>Memory (cont.)</a:t>
            </a:r>
            <a:r>
              <a:rPr lang="en-IN" sz="2400" dirty="0"/>
              <a:t> (CO3)</a:t>
            </a:r>
            <a:endParaRPr lang="en-US" sz="2400" dirty="0"/>
          </a:p>
          <a:p>
            <a:pPr>
              <a:defRPr/>
            </a:pPr>
            <a:endParaRPr lang="en-US" sz="2100" dirty="0"/>
          </a:p>
        </p:txBody>
      </p:sp>
    </p:spTree>
    <p:extLst>
      <p:ext uri="{BB962C8B-B14F-4D97-AF65-F5344CB8AC3E}">
        <p14:creationId xmlns:p14="http://schemas.microsoft.com/office/powerpoint/2010/main" val="484246499"/>
      </p:ext>
    </p:extLst>
  </p:cSld>
  <p:clrMapOvr>
    <a:masterClrMapping/>
  </p:clrMapOvr>
  <p:transition>
    <p:dissolve/>
  </p:transition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0A1DE88-0540-442C-993D-1A4BF1AB2D99}" type="datetime3">
              <a:rPr lang="en-US" smtClean="0"/>
              <a:t>1 September 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2514600" y="6356350"/>
            <a:ext cx="5181600" cy="365125"/>
          </a:xfrm>
        </p:spPr>
        <p:txBody>
          <a:bodyPr/>
          <a:lstStyle/>
          <a:p>
            <a:r>
              <a:rPr lang="en-US"/>
              <a:t>Atul Garg           BCSE0303            Unit- III</a:t>
            </a:r>
            <a:endParaRPr lang="en-US" dirty="0"/>
          </a:p>
        </p:txBody>
      </p:sp>
      <p:sp>
        <p:nvSpPr>
          <p:cNvPr id="41986" name="AutoShape 2" descr="KERNEL के लिए इमेज परिणाम"/>
          <p:cNvSpPr>
            <a:spLocks noChangeAspect="1" noChangeArrowheads="1"/>
          </p:cNvSpPr>
          <p:nvPr/>
        </p:nvSpPr>
        <p:spPr bwMode="auto">
          <a:xfrm>
            <a:off x="155575" y="-144463"/>
            <a:ext cx="304800" cy="304801"/>
          </a:xfrm>
          <a:prstGeom prst="rect">
            <a:avLst/>
          </a:prstGeom>
          <a:noFill/>
        </p:spPr>
        <p:txBody>
          <a:bodyPr vert="horz" wrap="square" lIns="91440" tIns="45720" rIns="91440" bIns="45720" numCol="1" anchor="t" anchorCtr="0" compatLnSpc="1"/>
          <a:lstStyle/>
          <a:p>
            <a:endParaRPr lang="en-IN"/>
          </a:p>
        </p:txBody>
      </p:sp>
      <p:sp>
        <p:nvSpPr>
          <p:cNvPr id="41988" name="AutoShape 4" descr="Kernel (operating system) - Wikipedia"/>
          <p:cNvSpPr>
            <a:spLocks noChangeAspect="1" noChangeArrowheads="1"/>
          </p:cNvSpPr>
          <p:nvPr/>
        </p:nvSpPr>
        <p:spPr bwMode="auto">
          <a:xfrm>
            <a:off x="155575" y="-144463"/>
            <a:ext cx="304800" cy="304801"/>
          </a:xfrm>
          <a:prstGeom prst="rect">
            <a:avLst/>
          </a:prstGeom>
          <a:noFill/>
        </p:spPr>
        <p:txBody>
          <a:bodyPr vert="horz" wrap="square" lIns="91440" tIns="45720" rIns="91440" bIns="45720" numCol="1" anchor="t" anchorCtr="0" compatLnSpc="1"/>
          <a:lstStyle/>
          <a:p>
            <a:endParaRPr lang="en-IN"/>
          </a:p>
        </p:txBody>
      </p:sp>
      <p:sp>
        <p:nvSpPr>
          <p:cNvPr id="41990" name="AutoShape 6" descr="Kernel (operating system) - Wikipedia"/>
          <p:cNvSpPr>
            <a:spLocks noChangeAspect="1" noChangeArrowheads="1"/>
          </p:cNvSpPr>
          <p:nvPr/>
        </p:nvSpPr>
        <p:spPr bwMode="auto">
          <a:xfrm>
            <a:off x="155575" y="-144463"/>
            <a:ext cx="304800" cy="304801"/>
          </a:xfrm>
          <a:prstGeom prst="rect">
            <a:avLst/>
          </a:prstGeom>
          <a:noFill/>
        </p:spPr>
        <p:txBody>
          <a:bodyPr vert="horz" wrap="square" lIns="91440" tIns="45720" rIns="91440" bIns="45720" numCol="1" anchor="t" anchorCtr="0" compatLnSpc="1"/>
          <a:lstStyle/>
          <a:p>
            <a:endParaRPr lang="en-IN"/>
          </a:p>
        </p:txBody>
      </p:sp>
      <p:sp>
        <p:nvSpPr>
          <p:cNvPr id="12" name="object 3"/>
          <p:cNvSpPr txBox="1"/>
          <p:nvPr/>
        </p:nvSpPr>
        <p:spPr>
          <a:xfrm>
            <a:off x="755576" y="836712"/>
            <a:ext cx="7966829" cy="4437240"/>
          </a:xfrm>
          <a:prstGeom prst="rect">
            <a:avLst/>
          </a:prstGeom>
        </p:spPr>
        <p:txBody>
          <a:bodyPr vert="horz" wrap="square" lIns="0" tIns="43815" rIns="0" bIns="0" rtlCol="0">
            <a:spAutoFit/>
          </a:bodyPr>
          <a:lstStyle/>
          <a:p>
            <a:pPr marL="12700" marR="5080">
              <a:lnSpc>
                <a:spcPct val="150000"/>
              </a:lnSpc>
              <a:spcBef>
                <a:spcPts val="345"/>
              </a:spcBef>
            </a:pPr>
            <a:r>
              <a:rPr sz="2200" spc="-5" dirty="0">
                <a:cs typeface="Arial" panose="020B0604020202020204"/>
              </a:rPr>
              <a:t>Message Passing provides a mechanism </a:t>
            </a:r>
            <a:r>
              <a:rPr sz="2200" dirty="0">
                <a:cs typeface="Arial" panose="020B0604020202020204"/>
              </a:rPr>
              <a:t>for </a:t>
            </a:r>
            <a:r>
              <a:rPr sz="2200" spc="-5" dirty="0">
                <a:cs typeface="Arial" panose="020B0604020202020204"/>
              </a:rPr>
              <a:t>processes </a:t>
            </a:r>
            <a:r>
              <a:rPr sz="2200" dirty="0">
                <a:cs typeface="Arial" panose="020B0604020202020204"/>
              </a:rPr>
              <a:t>to </a:t>
            </a:r>
            <a:r>
              <a:rPr sz="2200" spc="-5" dirty="0">
                <a:cs typeface="Arial" panose="020B0604020202020204"/>
              </a:rPr>
              <a:t>communicate  and </a:t>
            </a:r>
            <a:r>
              <a:rPr sz="2200" dirty="0">
                <a:cs typeface="Arial" panose="020B0604020202020204"/>
              </a:rPr>
              <a:t>to </a:t>
            </a:r>
            <a:r>
              <a:rPr sz="2200" spc="-5" dirty="0">
                <a:cs typeface="Arial" panose="020B0604020202020204"/>
              </a:rPr>
              <a:t>synchronize their actions without sharing </a:t>
            </a:r>
            <a:r>
              <a:rPr sz="2200" dirty="0">
                <a:cs typeface="Arial" panose="020B0604020202020204"/>
              </a:rPr>
              <a:t>the </a:t>
            </a:r>
            <a:r>
              <a:rPr sz="2200" spc="-5" dirty="0">
                <a:cs typeface="Arial" panose="020B0604020202020204"/>
              </a:rPr>
              <a:t>same address</a:t>
            </a:r>
            <a:r>
              <a:rPr sz="2200" spc="110" dirty="0">
                <a:cs typeface="Arial" panose="020B0604020202020204"/>
              </a:rPr>
              <a:t> </a:t>
            </a:r>
            <a:r>
              <a:rPr sz="2200" spc="-5" dirty="0">
                <a:cs typeface="Arial" panose="020B0604020202020204"/>
              </a:rPr>
              <a:t>space</a:t>
            </a:r>
            <a:r>
              <a:rPr lang="en-IN" sz="2200" spc="-5" dirty="0">
                <a:cs typeface="Arial" panose="020B0604020202020204"/>
              </a:rPr>
              <a:t>.</a:t>
            </a:r>
            <a:endParaRPr sz="2200" dirty="0">
              <a:cs typeface="Arial" panose="020B0604020202020204"/>
            </a:endParaRPr>
          </a:p>
          <a:p>
            <a:pPr marL="12700">
              <a:lnSpc>
                <a:spcPct val="100000"/>
              </a:lnSpc>
              <a:spcBef>
                <a:spcPts val="520"/>
              </a:spcBef>
            </a:pPr>
            <a:r>
              <a:rPr sz="2200" dirty="0">
                <a:cs typeface="Arial" panose="020B0604020202020204"/>
              </a:rPr>
              <a:t>IPC</a:t>
            </a:r>
            <a:r>
              <a:rPr lang="en-IN" sz="2200" dirty="0">
                <a:cs typeface="Arial" panose="020B0604020202020204"/>
              </a:rPr>
              <a:t> </a:t>
            </a:r>
            <a:r>
              <a:rPr sz="2200" dirty="0">
                <a:cs typeface="Arial" panose="020B0604020202020204"/>
              </a:rPr>
              <a:t> </a:t>
            </a:r>
            <a:r>
              <a:rPr sz="2200" spc="-5" dirty="0">
                <a:cs typeface="Arial" panose="020B0604020202020204"/>
              </a:rPr>
              <a:t>facility provides </a:t>
            </a:r>
            <a:r>
              <a:rPr sz="2200" dirty="0">
                <a:cs typeface="Arial" panose="020B0604020202020204"/>
              </a:rPr>
              <a:t>two</a:t>
            </a:r>
            <a:r>
              <a:rPr sz="2200" spc="-10" dirty="0">
                <a:cs typeface="Arial" panose="020B0604020202020204"/>
              </a:rPr>
              <a:t> </a:t>
            </a:r>
            <a:r>
              <a:rPr sz="2200" spc="-5" dirty="0">
                <a:cs typeface="Arial" panose="020B0604020202020204"/>
              </a:rPr>
              <a:t>operations:</a:t>
            </a:r>
            <a:endParaRPr sz="2200" dirty="0">
              <a:cs typeface="Arial" panose="020B0604020202020204"/>
            </a:endParaRPr>
          </a:p>
          <a:p>
            <a:pPr marL="412750">
              <a:lnSpc>
                <a:spcPct val="100000"/>
              </a:lnSpc>
              <a:spcBef>
                <a:spcPts val="540"/>
              </a:spcBef>
            </a:pPr>
            <a:r>
              <a:rPr sz="2200" b="1" spc="-5" dirty="0">
                <a:cs typeface="Arial" panose="020B0604020202020204"/>
              </a:rPr>
              <a:t>send</a:t>
            </a:r>
            <a:r>
              <a:rPr sz="2200" b="1" spc="-10" dirty="0">
                <a:cs typeface="Arial" panose="020B0604020202020204"/>
              </a:rPr>
              <a:t> </a:t>
            </a:r>
            <a:r>
              <a:rPr sz="2200" spc="-5" dirty="0">
                <a:cs typeface="Arial" panose="020B0604020202020204"/>
              </a:rPr>
              <a:t>(message)</a:t>
            </a:r>
            <a:endParaRPr sz="2200" dirty="0">
              <a:cs typeface="Arial" panose="020B0604020202020204"/>
            </a:endParaRPr>
          </a:p>
          <a:p>
            <a:pPr marL="412750">
              <a:lnSpc>
                <a:spcPct val="100000"/>
              </a:lnSpc>
              <a:spcBef>
                <a:spcPts val="540"/>
              </a:spcBef>
            </a:pPr>
            <a:r>
              <a:rPr sz="2200" b="1" spc="-5" dirty="0">
                <a:cs typeface="Arial" panose="020B0604020202020204"/>
              </a:rPr>
              <a:t>receive</a:t>
            </a:r>
            <a:r>
              <a:rPr sz="2200" b="1" spc="-15" dirty="0">
                <a:cs typeface="Arial" panose="020B0604020202020204"/>
              </a:rPr>
              <a:t> </a:t>
            </a:r>
            <a:r>
              <a:rPr sz="2200" spc="-5" dirty="0">
                <a:cs typeface="Arial" panose="020B0604020202020204"/>
              </a:rPr>
              <a:t>(message)</a:t>
            </a:r>
            <a:endParaRPr sz="2200" dirty="0">
              <a:cs typeface="Arial" panose="020B0604020202020204"/>
            </a:endParaRPr>
          </a:p>
          <a:p>
            <a:pPr marL="412750" marR="2371725" indent="-400050">
              <a:lnSpc>
                <a:spcPct val="125000"/>
              </a:lnSpc>
            </a:pPr>
            <a:r>
              <a:rPr sz="2200" spc="-5" dirty="0">
                <a:cs typeface="Arial" panose="020B0604020202020204"/>
              </a:rPr>
              <a:t>If </a:t>
            </a:r>
            <a:r>
              <a:rPr sz="2200" dirty="0">
                <a:cs typeface="Arial" panose="020B0604020202020204"/>
              </a:rPr>
              <a:t>P </a:t>
            </a:r>
            <a:r>
              <a:rPr sz="2200" spc="-5" dirty="0">
                <a:cs typeface="Arial" panose="020B0604020202020204"/>
              </a:rPr>
              <a:t>and </a:t>
            </a:r>
            <a:r>
              <a:rPr sz="2200" dirty="0">
                <a:cs typeface="Arial" panose="020B0604020202020204"/>
              </a:rPr>
              <a:t>Q </a:t>
            </a:r>
            <a:r>
              <a:rPr sz="2200" spc="-5" dirty="0">
                <a:cs typeface="Arial" panose="020B0604020202020204"/>
              </a:rPr>
              <a:t>wish </a:t>
            </a:r>
            <a:r>
              <a:rPr sz="2200" dirty="0">
                <a:cs typeface="Arial" panose="020B0604020202020204"/>
              </a:rPr>
              <a:t>to communicate, they</a:t>
            </a:r>
            <a:r>
              <a:rPr lang="en-IN" sz="2200" dirty="0">
                <a:cs typeface="Arial" panose="020B0604020202020204"/>
              </a:rPr>
              <a:t> </a:t>
            </a:r>
            <a:r>
              <a:rPr sz="2200" spc="-5" dirty="0">
                <a:cs typeface="Arial" panose="020B0604020202020204"/>
              </a:rPr>
              <a:t>need </a:t>
            </a:r>
            <a:r>
              <a:rPr sz="2200" dirty="0">
                <a:cs typeface="Arial" panose="020B0604020202020204"/>
              </a:rPr>
              <a:t>to: </a:t>
            </a:r>
            <a:endParaRPr lang="en-IN" sz="2200" dirty="0">
              <a:cs typeface="Arial" panose="020B0604020202020204"/>
            </a:endParaRPr>
          </a:p>
          <a:p>
            <a:pPr marL="412750" marR="2371725" indent="-400050" algn="just">
              <a:lnSpc>
                <a:spcPct val="125000"/>
              </a:lnSpc>
              <a:buFont typeface="Arial" panose="020B0604020202020204" pitchFamily="34" charset="0"/>
              <a:buChar char="•"/>
            </a:pPr>
            <a:r>
              <a:rPr lang="en-IN" sz="2200" dirty="0">
                <a:cs typeface="Arial" panose="020B0604020202020204"/>
              </a:rPr>
              <a:t>    </a:t>
            </a:r>
            <a:r>
              <a:rPr sz="2200" dirty="0">
                <a:cs typeface="Arial" panose="020B0604020202020204"/>
              </a:rPr>
              <a:t> </a:t>
            </a:r>
            <a:r>
              <a:rPr sz="2200" spc="-5" dirty="0">
                <a:cs typeface="Arial" panose="020B0604020202020204"/>
              </a:rPr>
              <a:t>establish a communication link</a:t>
            </a:r>
            <a:r>
              <a:rPr lang="en-IN" sz="2200" spc="-5" dirty="0">
                <a:cs typeface="Arial" panose="020B0604020202020204"/>
              </a:rPr>
              <a:t> </a:t>
            </a:r>
            <a:r>
              <a:rPr sz="2200" spc="-5" dirty="0">
                <a:cs typeface="Arial" panose="020B0604020202020204"/>
              </a:rPr>
              <a:t>between</a:t>
            </a:r>
            <a:r>
              <a:rPr lang="en-IN" sz="2200" spc="-5" dirty="0">
                <a:cs typeface="Arial" panose="020B0604020202020204"/>
              </a:rPr>
              <a:t> </a:t>
            </a:r>
            <a:r>
              <a:rPr sz="2200" dirty="0">
                <a:cs typeface="Arial" panose="020B0604020202020204"/>
              </a:rPr>
              <a:t>them  </a:t>
            </a:r>
            <a:endParaRPr lang="en-IN" sz="2200" dirty="0">
              <a:cs typeface="Arial" panose="020B0604020202020204"/>
            </a:endParaRPr>
          </a:p>
          <a:p>
            <a:pPr marL="412750" marR="2371725" indent="-400050" algn="just">
              <a:lnSpc>
                <a:spcPct val="125000"/>
              </a:lnSpc>
              <a:buFont typeface="Arial" panose="020B0604020202020204" pitchFamily="34" charset="0"/>
              <a:buChar char="•"/>
            </a:pPr>
            <a:r>
              <a:rPr lang="en-IN" sz="2200" spc="-5" dirty="0">
                <a:cs typeface="Arial" panose="020B0604020202020204"/>
              </a:rPr>
              <a:t>     </a:t>
            </a:r>
            <a:r>
              <a:rPr sz="2200" spc="-5" dirty="0">
                <a:cs typeface="Arial" panose="020B0604020202020204"/>
              </a:rPr>
              <a:t>exchange messages via</a:t>
            </a:r>
            <a:r>
              <a:rPr sz="2200" spc="-20" dirty="0">
                <a:cs typeface="Arial" panose="020B0604020202020204"/>
              </a:rPr>
              <a:t> </a:t>
            </a:r>
            <a:r>
              <a:rPr lang="en-IN" sz="2200" spc="-20" dirty="0">
                <a:cs typeface="Arial" panose="020B0604020202020204"/>
              </a:rPr>
              <a:t>	</a:t>
            </a:r>
            <a:r>
              <a:rPr sz="2200" spc="-5" dirty="0">
                <a:cs typeface="Arial" panose="020B0604020202020204"/>
              </a:rPr>
              <a:t>send/receive</a:t>
            </a:r>
            <a:endParaRPr sz="2200" dirty="0">
              <a:cs typeface="Arial" panose="020B0604020202020204"/>
            </a:endParaRPr>
          </a:p>
        </p:txBody>
      </p:sp>
      <p:sp>
        <p:nvSpPr>
          <p:cNvPr id="13" name="Slide Number Placeholder 1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t>42</a:t>
            </a:fld>
            <a:endParaRPr lang="en-US"/>
          </a:p>
        </p:txBody>
      </p:sp>
      <p:pic>
        <p:nvPicPr>
          <p:cNvPr id="2" name="Picture 1" descr="A black and red logo&#10;&#10;Description automatically generated">
            <a:extLst>
              <a:ext uri="{FF2B5EF4-FFF2-40B4-BE49-F238E27FC236}">
                <a16:creationId xmlns:a16="http://schemas.microsoft.com/office/drawing/2014/main" id="{C9A635CA-D502-EC37-20FE-F834392C304F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-27384"/>
            <a:ext cx="1657350" cy="710452"/>
          </a:xfrm>
          <a:prstGeom prst="rect">
            <a:avLst/>
          </a:prstGeom>
        </p:spPr>
      </p:pic>
      <p:sp>
        <p:nvSpPr>
          <p:cNvPr id="3" name="Title 1">
            <a:extLst>
              <a:ext uri="{FF2B5EF4-FFF2-40B4-BE49-F238E27FC236}">
                <a16:creationId xmlns:a16="http://schemas.microsoft.com/office/drawing/2014/main" id="{9BDE713A-E3BA-966B-6353-DA84E9648069}"/>
              </a:ext>
            </a:extLst>
          </p:cNvPr>
          <p:cNvSpPr txBox="1">
            <a:spLocks/>
          </p:cNvSpPr>
          <p:nvPr/>
        </p:nvSpPr>
        <p:spPr>
          <a:xfrm>
            <a:off x="1657350" y="63595"/>
            <a:ext cx="7486650" cy="514349"/>
          </a:xfrm>
          <a:prstGeom prst="rect">
            <a:avLst/>
          </a:prstGeom>
          <a:gradFill flip="none" rotWithShape="1">
            <a:gsLst>
              <a:gs pos="0">
                <a:srgbClr val="FF0000">
                  <a:tint val="66000"/>
                  <a:satMod val="160000"/>
                </a:srgbClr>
              </a:gs>
              <a:gs pos="50000">
                <a:srgbClr val="FF0000">
                  <a:tint val="44500"/>
                  <a:satMod val="160000"/>
                </a:srgbClr>
              </a:gs>
              <a:gs pos="100000">
                <a:srgbClr val="FF0000">
                  <a:tint val="23500"/>
                  <a:satMod val="160000"/>
                </a:srgbClr>
              </a:gs>
            </a:gsLst>
            <a:lin ang="0" scaled="1"/>
            <a:tileRect/>
          </a:gradFill>
        </p:spPr>
        <p:style>
          <a:lnRef idx="1">
            <a:schemeClr val="accent5"/>
          </a:lnRef>
          <a:fillRef idx="2">
            <a:schemeClr val="accent5"/>
          </a:fillRef>
          <a:effectRef idx="1">
            <a:schemeClr val="accent5"/>
          </a:effectRef>
          <a:fontRef idx="minor">
            <a:schemeClr val="dk1"/>
          </a:fontRef>
        </p:style>
        <p:txBody>
          <a:bodyPr vert="horz" lIns="68580" tIns="34290" rIns="68580" bIns="34290" rtlCol="0" anchor="ctr">
            <a:noAutofit/>
          </a:bodyPr>
          <a:lstStyle>
            <a:defPPr>
              <a:defRPr lang="en-US"/>
            </a:defPPr>
            <a:lvl1pPr algn="ctr">
              <a:spcBef>
                <a:spcPct val="0"/>
              </a:spcBef>
              <a:buNone/>
              <a:defRPr sz="2800"/>
            </a:lvl1pPr>
          </a:lstStyle>
          <a:p>
            <a:pPr>
              <a:defRPr/>
            </a:pPr>
            <a:r>
              <a:rPr lang="en-IN" sz="2400" spc="-10" dirty="0"/>
              <a:t>Message</a:t>
            </a:r>
            <a:r>
              <a:rPr lang="en-IN" sz="2400" spc="-55" dirty="0"/>
              <a:t> </a:t>
            </a:r>
            <a:r>
              <a:rPr lang="en-IN" sz="2400" spc="-10" dirty="0"/>
              <a:t>Passing</a:t>
            </a:r>
            <a:r>
              <a:rPr lang="en-IN" sz="2400" dirty="0"/>
              <a:t>(CO3)</a:t>
            </a:r>
            <a:endParaRPr lang="en-US" sz="2100" dirty="0"/>
          </a:p>
        </p:txBody>
      </p:sp>
    </p:spTree>
    <p:extLst>
      <p:ext uri="{BB962C8B-B14F-4D97-AF65-F5344CB8AC3E}">
        <p14:creationId xmlns:p14="http://schemas.microsoft.com/office/powerpoint/2010/main" val="222648608"/>
      </p:ext>
    </p:extLst>
  </p:cSld>
  <p:clrMapOvr>
    <a:masterClrMapping/>
  </p:clrMapOvr>
  <p:transition>
    <p:dissolve/>
  </p:transition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878D337-BEC9-41B4-9D9B-E628E5F5ED33}" type="datetime3">
              <a:rPr lang="en-US" smtClean="0"/>
              <a:t>1 September 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2514600" y="6356350"/>
            <a:ext cx="5181600" cy="365125"/>
          </a:xfrm>
        </p:spPr>
        <p:txBody>
          <a:bodyPr/>
          <a:lstStyle/>
          <a:p>
            <a:r>
              <a:rPr lang="en-US"/>
              <a:t>Atul Garg           BCSE0303            Unit- III</a:t>
            </a:r>
            <a:endParaRPr lang="en-US" dirty="0"/>
          </a:p>
        </p:txBody>
      </p:sp>
      <p:sp>
        <p:nvSpPr>
          <p:cNvPr id="12" name="Rectangle 3"/>
          <p:cNvSpPr txBox="1">
            <a:spLocks noChangeArrowheads="1"/>
          </p:cNvSpPr>
          <p:nvPr/>
        </p:nvSpPr>
        <p:spPr>
          <a:xfrm>
            <a:off x="899592" y="1412776"/>
            <a:ext cx="7704856" cy="4114800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/>
          <a:p>
            <a:pPr marL="342900" marR="0" lvl="0" indent="-342900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defRPr/>
            </a:pPr>
            <a:endParaRPr kumimoji="0" lang="en-US" sz="2200" b="0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58370" name="AutoShape 2" descr="What is a monolithic operating system - IT Release"/>
          <p:cNvSpPr>
            <a:spLocks noChangeAspect="1" noChangeArrowheads="1"/>
          </p:cNvSpPr>
          <p:nvPr/>
        </p:nvSpPr>
        <p:spPr bwMode="auto">
          <a:xfrm>
            <a:off x="155575" y="-144463"/>
            <a:ext cx="304800" cy="304801"/>
          </a:xfrm>
          <a:prstGeom prst="rect">
            <a:avLst/>
          </a:prstGeom>
          <a:noFill/>
        </p:spPr>
        <p:txBody>
          <a:bodyPr vert="horz" wrap="square" lIns="91440" tIns="45720" rIns="91440" bIns="45720" numCol="1" anchor="t" anchorCtr="0" compatLnSpc="1"/>
          <a:lstStyle/>
          <a:p>
            <a:endParaRPr lang="en-IN"/>
          </a:p>
        </p:txBody>
      </p:sp>
      <p:sp>
        <p:nvSpPr>
          <p:cNvPr id="58372" name="AutoShape 4" descr="What is a monolithic operating system - IT Release"/>
          <p:cNvSpPr>
            <a:spLocks noChangeAspect="1" noChangeArrowheads="1"/>
          </p:cNvSpPr>
          <p:nvPr/>
        </p:nvSpPr>
        <p:spPr bwMode="auto">
          <a:xfrm>
            <a:off x="155575" y="-144463"/>
            <a:ext cx="304800" cy="304801"/>
          </a:xfrm>
          <a:prstGeom prst="rect">
            <a:avLst/>
          </a:prstGeom>
          <a:noFill/>
        </p:spPr>
        <p:txBody>
          <a:bodyPr vert="horz" wrap="square" lIns="91440" tIns="45720" rIns="91440" bIns="45720" numCol="1" anchor="t" anchorCtr="0" compatLnSpc="1"/>
          <a:lstStyle/>
          <a:p>
            <a:endParaRPr lang="en-IN"/>
          </a:p>
        </p:txBody>
      </p:sp>
      <p:sp>
        <p:nvSpPr>
          <p:cNvPr id="58374" name="AutoShape 6" descr="What is a monolithic operating system - IT Release"/>
          <p:cNvSpPr>
            <a:spLocks noChangeAspect="1" noChangeArrowheads="1"/>
          </p:cNvSpPr>
          <p:nvPr/>
        </p:nvSpPr>
        <p:spPr bwMode="auto">
          <a:xfrm>
            <a:off x="155575" y="-144463"/>
            <a:ext cx="304800" cy="304801"/>
          </a:xfrm>
          <a:prstGeom prst="rect">
            <a:avLst/>
          </a:prstGeom>
          <a:noFill/>
        </p:spPr>
        <p:txBody>
          <a:bodyPr vert="horz" wrap="square" lIns="91440" tIns="45720" rIns="91440" bIns="45720" numCol="1" anchor="t" anchorCtr="0" compatLnSpc="1"/>
          <a:lstStyle/>
          <a:p>
            <a:endParaRPr lang="en-IN"/>
          </a:p>
        </p:txBody>
      </p:sp>
      <p:sp>
        <p:nvSpPr>
          <p:cNvPr id="58376" name="AutoShape 8" descr="What is a monolithic operating system - IT Release"/>
          <p:cNvSpPr>
            <a:spLocks noChangeAspect="1" noChangeArrowheads="1"/>
          </p:cNvSpPr>
          <p:nvPr/>
        </p:nvSpPr>
        <p:spPr bwMode="auto">
          <a:xfrm>
            <a:off x="155575" y="-144463"/>
            <a:ext cx="304800" cy="304801"/>
          </a:xfrm>
          <a:prstGeom prst="rect">
            <a:avLst/>
          </a:prstGeom>
          <a:noFill/>
        </p:spPr>
        <p:txBody>
          <a:bodyPr vert="horz" wrap="square" lIns="91440" tIns="45720" rIns="91440" bIns="45720" numCol="1" anchor="t" anchorCtr="0" compatLnSpc="1"/>
          <a:lstStyle/>
          <a:p>
            <a:endParaRPr lang="en-IN"/>
          </a:p>
        </p:txBody>
      </p:sp>
      <p:sp>
        <p:nvSpPr>
          <p:cNvPr id="58378" name="AutoShape 10" descr="What is a monolithic operating system - IT Release"/>
          <p:cNvSpPr>
            <a:spLocks noChangeAspect="1" noChangeArrowheads="1"/>
          </p:cNvSpPr>
          <p:nvPr/>
        </p:nvSpPr>
        <p:spPr bwMode="auto">
          <a:xfrm>
            <a:off x="155575" y="-144463"/>
            <a:ext cx="304800" cy="304801"/>
          </a:xfrm>
          <a:prstGeom prst="rect">
            <a:avLst/>
          </a:prstGeom>
          <a:noFill/>
        </p:spPr>
        <p:txBody>
          <a:bodyPr vert="horz" wrap="square" lIns="91440" tIns="45720" rIns="91440" bIns="45720" numCol="1" anchor="t" anchorCtr="0" compatLnSpc="1"/>
          <a:lstStyle/>
          <a:p>
            <a:endParaRPr lang="en-IN"/>
          </a:p>
        </p:txBody>
      </p:sp>
      <p:sp>
        <p:nvSpPr>
          <p:cNvPr id="58380" name="AutoShape 12" descr="What is a monolithic operating system - IT Release"/>
          <p:cNvSpPr>
            <a:spLocks noChangeAspect="1" noChangeArrowheads="1"/>
          </p:cNvSpPr>
          <p:nvPr/>
        </p:nvSpPr>
        <p:spPr bwMode="auto">
          <a:xfrm>
            <a:off x="155575" y="-144463"/>
            <a:ext cx="304800" cy="304801"/>
          </a:xfrm>
          <a:prstGeom prst="rect">
            <a:avLst/>
          </a:prstGeom>
          <a:noFill/>
        </p:spPr>
        <p:txBody>
          <a:bodyPr vert="horz" wrap="square" lIns="91440" tIns="45720" rIns="91440" bIns="45720" numCol="1" anchor="t" anchorCtr="0" compatLnSpc="1"/>
          <a:lstStyle/>
          <a:p>
            <a:endParaRPr lang="en-IN"/>
          </a:p>
        </p:txBody>
      </p:sp>
      <p:sp>
        <p:nvSpPr>
          <p:cNvPr id="58382" name="AutoShape 14" descr="What is a monolithic operating system - IT Release"/>
          <p:cNvSpPr>
            <a:spLocks noChangeAspect="1" noChangeArrowheads="1"/>
          </p:cNvSpPr>
          <p:nvPr/>
        </p:nvSpPr>
        <p:spPr bwMode="auto">
          <a:xfrm>
            <a:off x="155575" y="-144463"/>
            <a:ext cx="304800" cy="304801"/>
          </a:xfrm>
          <a:prstGeom prst="rect">
            <a:avLst/>
          </a:prstGeom>
          <a:noFill/>
        </p:spPr>
        <p:txBody>
          <a:bodyPr vert="horz" wrap="square" lIns="91440" tIns="45720" rIns="91440" bIns="45720" numCol="1" anchor="t" anchorCtr="0" compatLnSpc="1"/>
          <a:lstStyle/>
          <a:p>
            <a:endParaRPr lang="en-IN"/>
          </a:p>
        </p:txBody>
      </p:sp>
      <p:sp>
        <p:nvSpPr>
          <p:cNvPr id="58384" name="AutoShape 16" descr="What is a monolithic operating system - IT Release"/>
          <p:cNvSpPr>
            <a:spLocks noChangeAspect="1" noChangeArrowheads="1"/>
          </p:cNvSpPr>
          <p:nvPr/>
        </p:nvSpPr>
        <p:spPr bwMode="auto">
          <a:xfrm>
            <a:off x="155575" y="-144463"/>
            <a:ext cx="304800" cy="304801"/>
          </a:xfrm>
          <a:prstGeom prst="rect">
            <a:avLst/>
          </a:prstGeom>
          <a:noFill/>
        </p:spPr>
        <p:txBody>
          <a:bodyPr vert="horz" wrap="square" lIns="91440" tIns="45720" rIns="91440" bIns="45720" numCol="1" anchor="t" anchorCtr="0" compatLnSpc="1"/>
          <a:lstStyle/>
          <a:p>
            <a:endParaRPr lang="en-IN"/>
          </a:p>
        </p:txBody>
      </p:sp>
      <p:sp>
        <p:nvSpPr>
          <p:cNvPr id="58386" name="AutoShape 18" descr="What is a monolithic operating system - IT Release"/>
          <p:cNvSpPr>
            <a:spLocks noChangeAspect="1" noChangeArrowheads="1"/>
          </p:cNvSpPr>
          <p:nvPr/>
        </p:nvSpPr>
        <p:spPr bwMode="auto">
          <a:xfrm>
            <a:off x="155575" y="-144463"/>
            <a:ext cx="304800" cy="304801"/>
          </a:xfrm>
          <a:prstGeom prst="rect">
            <a:avLst/>
          </a:prstGeom>
          <a:noFill/>
        </p:spPr>
        <p:txBody>
          <a:bodyPr vert="horz" wrap="square" lIns="91440" tIns="45720" rIns="91440" bIns="45720" numCol="1" anchor="t" anchorCtr="0" compatLnSpc="1"/>
          <a:lstStyle/>
          <a:p>
            <a:endParaRPr lang="en-IN"/>
          </a:p>
        </p:txBody>
      </p:sp>
      <p:sp>
        <p:nvSpPr>
          <p:cNvPr id="18" name="object 3"/>
          <p:cNvSpPr txBox="1"/>
          <p:nvPr/>
        </p:nvSpPr>
        <p:spPr>
          <a:xfrm>
            <a:off x="755576" y="836712"/>
            <a:ext cx="8193523" cy="47360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>
              <a:lnSpc>
                <a:spcPct val="150000"/>
              </a:lnSpc>
              <a:spcBef>
                <a:spcPts val="100"/>
              </a:spcBef>
            </a:pPr>
            <a:r>
              <a:rPr sz="2200" spc="-5" dirty="0">
                <a:cs typeface="Arial" panose="020B0604020202020204"/>
              </a:rPr>
              <a:t>Each process </a:t>
            </a:r>
            <a:r>
              <a:rPr sz="2200" dirty="0">
                <a:cs typeface="Arial" panose="020B0604020202020204"/>
              </a:rPr>
              <a:t>that </a:t>
            </a:r>
            <a:r>
              <a:rPr sz="2200" spc="-5" dirty="0">
                <a:cs typeface="Arial" panose="020B0604020202020204"/>
              </a:rPr>
              <a:t>wants </a:t>
            </a:r>
            <a:r>
              <a:rPr sz="2200" dirty="0">
                <a:cs typeface="Arial" panose="020B0604020202020204"/>
              </a:rPr>
              <a:t>to </a:t>
            </a:r>
            <a:r>
              <a:rPr sz="2200" spc="-5" dirty="0">
                <a:cs typeface="Arial" panose="020B0604020202020204"/>
              </a:rPr>
              <a:t>communicate </a:t>
            </a:r>
            <a:r>
              <a:rPr sz="2200" dirty="0">
                <a:cs typeface="Arial" panose="020B0604020202020204"/>
              </a:rPr>
              <a:t>must </a:t>
            </a:r>
            <a:r>
              <a:rPr sz="2200" spc="-5" dirty="0">
                <a:cs typeface="Arial" panose="020B0604020202020204"/>
              </a:rPr>
              <a:t>explicitly name </a:t>
            </a:r>
            <a:r>
              <a:rPr sz="2200" dirty="0">
                <a:cs typeface="Arial" panose="020B0604020202020204"/>
              </a:rPr>
              <a:t>the </a:t>
            </a:r>
            <a:r>
              <a:rPr sz="2200" spc="-5" dirty="0">
                <a:cs typeface="Arial" panose="020B0604020202020204"/>
              </a:rPr>
              <a:t>recipient  or sender </a:t>
            </a:r>
            <a:r>
              <a:rPr sz="2200" dirty="0">
                <a:cs typeface="Arial" panose="020B0604020202020204"/>
              </a:rPr>
              <a:t>of the</a:t>
            </a:r>
            <a:r>
              <a:rPr sz="2200" spc="-10" dirty="0">
                <a:cs typeface="Arial" panose="020B0604020202020204"/>
              </a:rPr>
              <a:t> </a:t>
            </a:r>
            <a:r>
              <a:rPr sz="2200" spc="-5" dirty="0">
                <a:cs typeface="Arial" panose="020B0604020202020204"/>
              </a:rPr>
              <a:t>communication:</a:t>
            </a:r>
            <a:endParaRPr sz="2200" dirty="0">
              <a:cs typeface="Arial" panose="020B0604020202020204"/>
            </a:endParaRPr>
          </a:p>
          <a:p>
            <a:pPr marL="412750">
              <a:lnSpc>
                <a:spcPct val="150000"/>
              </a:lnSpc>
              <a:spcBef>
                <a:spcPts val="755"/>
              </a:spcBef>
            </a:pPr>
            <a:r>
              <a:rPr sz="2200" b="1" dirty="0">
                <a:cs typeface="Arial" panose="020B0604020202020204"/>
              </a:rPr>
              <a:t>send </a:t>
            </a:r>
            <a:r>
              <a:rPr sz="2200" dirty="0">
                <a:cs typeface="Arial" panose="020B0604020202020204"/>
              </a:rPr>
              <a:t>(</a:t>
            </a:r>
            <a:r>
              <a:rPr sz="2200" i="1" dirty="0">
                <a:cs typeface="Arial" panose="020B0604020202020204"/>
              </a:rPr>
              <a:t>P, </a:t>
            </a:r>
            <a:r>
              <a:rPr sz="2200" i="1" spc="-5" dirty="0">
                <a:cs typeface="Arial" panose="020B0604020202020204"/>
              </a:rPr>
              <a:t>message</a:t>
            </a:r>
            <a:r>
              <a:rPr sz="2200" spc="-5" dirty="0">
                <a:cs typeface="Arial" panose="020B0604020202020204"/>
              </a:rPr>
              <a:t>) – send a message </a:t>
            </a:r>
            <a:r>
              <a:rPr sz="2200" dirty="0">
                <a:cs typeface="Arial" panose="020B0604020202020204"/>
              </a:rPr>
              <a:t>to </a:t>
            </a:r>
            <a:r>
              <a:rPr sz="2200" spc="-5" dirty="0">
                <a:cs typeface="Arial" panose="020B0604020202020204"/>
              </a:rPr>
              <a:t>process</a:t>
            </a:r>
            <a:r>
              <a:rPr sz="2200" spc="-30" dirty="0">
                <a:cs typeface="Arial" panose="020B0604020202020204"/>
              </a:rPr>
              <a:t> </a:t>
            </a:r>
            <a:r>
              <a:rPr sz="2200" dirty="0">
                <a:cs typeface="Arial" panose="020B0604020202020204"/>
              </a:rPr>
              <a:t>P</a:t>
            </a:r>
          </a:p>
          <a:p>
            <a:pPr marL="12700" marR="1228090" indent="400050">
              <a:lnSpc>
                <a:spcPct val="150000"/>
              </a:lnSpc>
            </a:pPr>
            <a:r>
              <a:rPr sz="2200" b="1" spc="-5" dirty="0">
                <a:cs typeface="Arial" panose="020B0604020202020204"/>
              </a:rPr>
              <a:t>receive</a:t>
            </a:r>
            <a:r>
              <a:rPr sz="2200" spc="-5" dirty="0">
                <a:cs typeface="Arial" panose="020B0604020202020204"/>
              </a:rPr>
              <a:t>(</a:t>
            </a:r>
            <a:r>
              <a:rPr sz="2200" i="1" spc="-5" dirty="0">
                <a:cs typeface="Arial" panose="020B0604020202020204"/>
              </a:rPr>
              <a:t>Q, message</a:t>
            </a:r>
            <a:r>
              <a:rPr sz="2200" spc="-5" dirty="0">
                <a:cs typeface="Arial" panose="020B0604020202020204"/>
              </a:rPr>
              <a:t>) – receive a message </a:t>
            </a:r>
            <a:r>
              <a:rPr sz="2200" dirty="0">
                <a:cs typeface="Arial" panose="020B0604020202020204"/>
              </a:rPr>
              <a:t>from</a:t>
            </a:r>
            <a:r>
              <a:rPr lang="en-IN" sz="2200" dirty="0">
                <a:cs typeface="Arial" panose="020B0604020202020204"/>
              </a:rPr>
              <a:t> </a:t>
            </a:r>
            <a:r>
              <a:rPr sz="2200" spc="-5" dirty="0">
                <a:cs typeface="Arial" panose="020B0604020202020204"/>
              </a:rPr>
              <a:t>process </a:t>
            </a:r>
            <a:r>
              <a:rPr lang="en-IN" sz="2200" spc="-5" dirty="0">
                <a:cs typeface="Arial" panose="020B0604020202020204"/>
              </a:rPr>
              <a:t>Q</a:t>
            </a:r>
          </a:p>
          <a:p>
            <a:pPr marL="12700" marR="1228090" indent="400050">
              <a:lnSpc>
                <a:spcPct val="150000"/>
              </a:lnSpc>
            </a:pPr>
            <a:r>
              <a:rPr sz="2200" spc="-5" dirty="0">
                <a:cs typeface="Arial" panose="020B0604020202020204"/>
              </a:rPr>
              <a:t>Properties </a:t>
            </a:r>
            <a:r>
              <a:rPr sz="2200" dirty="0">
                <a:cs typeface="Arial" panose="020B0604020202020204"/>
              </a:rPr>
              <a:t>of </a:t>
            </a:r>
            <a:r>
              <a:rPr sz="2200" spc="-5" dirty="0">
                <a:cs typeface="Arial" panose="020B0604020202020204"/>
              </a:rPr>
              <a:t>communication</a:t>
            </a:r>
            <a:r>
              <a:rPr sz="2200" spc="-25" dirty="0">
                <a:cs typeface="Arial" panose="020B0604020202020204"/>
              </a:rPr>
              <a:t> </a:t>
            </a:r>
            <a:r>
              <a:rPr sz="2200" spc="-5" dirty="0">
                <a:cs typeface="Arial" panose="020B0604020202020204"/>
              </a:rPr>
              <a:t>link</a:t>
            </a:r>
            <a:endParaRPr sz="2200" dirty="0">
              <a:cs typeface="Arial" panose="020B0604020202020204"/>
            </a:endParaRPr>
          </a:p>
          <a:p>
            <a:pPr marL="412750">
              <a:lnSpc>
                <a:spcPct val="150000"/>
              </a:lnSpc>
              <a:spcBef>
                <a:spcPts val="755"/>
              </a:spcBef>
              <a:buFont typeface="Arial" panose="020B0604020202020204" pitchFamily="34" charset="0"/>
              <a:buChar char="•"/>
            </a:pPr>
            <a:r>
              <a:rPr sz="2200" spc="-5" dirty="0">
                <a:cs typeface="Arial" panose="020B0604020202020204"/>
              </a:rPr>
              <a:t>Links are established</a:t>
            </a:r>
            <a:r>
              <a:rPr sz="2200" spc="-20" dirty="0">
                <a:cs typeface="Arial" panose="020B0604020202020204"/>
              </a:rPr>
              <a:t> </a:t>
            </a:r>
            <a:r>
              <a:rPr sz="2200" spc="-5" dirty="0">
                <a:cs typeface="Arial" panose="020B0604020202020204"/>
              </a:rPr>
              <a:t>automatically</a:t>
            </a:r>
            <a:endParaRPr sz="2200" dirty="0">
              <a:cs typeface="Arial" panose="020B0604020202020204"/>
            </a:endParaRPr>
          </a:p>
          <a:p>
            <a:pPr marL="412750" marR="160655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sz="2200" dirty="0">
                <a:cs typeface="Arial" panose="020B0604020202020204"/>
              </a:rPr>
              <a:t>A </a:t>
            </a:r>
            <a:r>
              <a:rPr sz="2200" spc="-5" dirty="0">
                <a:cs typeface="Arial" panose="020B0604020202020204"/>
              </a:rPr>
              <a:t>link is associated with </a:t>
            </a:r>
            <a:r>
              <a:rPr sz="2200" dirty="0">
                <a:cs typeface="Arial" panose="020B0604020202020204"/>
              </a:rPr>
              <a:t>exactly </a:t>
            </a:r>
            <a:r>
              <a:rPr sz="2200" spc="-5" dirty="0">
                <a:cs typeface="Arial" panose="020B0604020202020204"/>
              </a:rPr>
              <a:t>one pair </a:t>
            </a:r>
            <a:r>
              <a:rPr sz="2200" dirty="0">
                <a:cs typeface="Arial" panose="020B0604020202020204"/>
              </a:rPr>
              <a:t>of </a:t>
            </a:r>
            <a:r>
              <a:rPr sz="2200" spc="-5" dirty="0">
                <a:cs typeface="Arial" panose="020B0604020202020204"/>
              </a:rPr>
              <a:t>communicating processes</a:t>
            </a:r>
            <a:endParaRPr lang="en-IN" sz="2200" spc="-5" dirty="0">
              <a:cs typeface="Arial" panose="020B0604020202020204"/>
            </a:endParaRPr>
          </a:p>
          <a:p>
            <a:pPr marL="412750" marR="160655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sz="2200" spc="-5" dirty="0">
                <a:cs typeface="Arial" panose="020B0604020202020204"/>
              </a:rPr>
              <a:t>The link </a:t>
            </a:r>
            <a:r>
              <a:rPr sz="2200" dirty="0">
                <a:cs typeface="Arial" panose="020B0604020202020204"/>
              </a:rPr>
              <a:t>may </a:t>
            </a:r>
            <a:r>
              <a:rPr sz="2200" spc="-5" dirty="0">
                <a:cs typeface="Arial" panose="020B0604020202020204"/>
              </a:rPr>
              <a:t>be unidirectional, </a:t>
            </a:r>
            <a:r>
              <a:rPr sz="2200" dirty="0">
                <a:cs typeface="Arial" panose="020B0604020202020204"/>
              </a:rPr>
              <a:t>but it </a:t>
            </a:r>
            <a:r>
              <a:rPr sz="2200" spc="-5" dirty="0">
                <a:cs typeface="Arial" panose="020B0604020202020204"/>
              </a:rPr>
              <a:t>is usually bi-directional</a:t>
            </a:r>
            <a:endParaRPr sz="2200" dirty="0">
              <a:cs typeface="Arial" panose="020B0604020202020204"/>
            </a:endParaRPr>
          </a:p>
        </p:txBody>
      </p:sp>
      <p:sp>
        <p:nvSpPr>
          <p:cNvPr id="20" name="Slide Number Placeholder 19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t>43</a:t>
            </a:fld>
            <a:endParaRPr lang="en-US"/>
          </a:p>
        </p:txBody>
      </p:sp>
      <p:pic>
        <p:nvPicPr>
          <p:cNvPr id="2" name="Picture 1" descr="A black and red logo&#10;&#10;Description automatically generated">
            <a:extLst>
              <a:ext uri="{FF2B5EF4-FFF2-40B4-BE49-F238E27FC236}">
                <a16:creationId xmlns:a16="http://schemas.microsoft.com/office/drawing/2014/main" id="{6D7C7D08-7A62-5B91-B61F-B64A9E981805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-27384"/>
            <a:ext cx="1657350" cy="763786"/>
          </a:xfrm>
          <a:prstGeom prst="rect">
            <a:avLst/>
          </a:prstGeom>
        </p:spPr>
      </p:pic>
      <p:sp>
        <p:nvSpPr>
          <p:cNvPr id="3" name="Title 1">
            <a:extLst>
              <a:ext uri="{FF2B5EF4-FFF2-40B4-BE49-F238E27FC236}">
                <a16:creationId xmlns:a16="http://schemas.microsoft.com/office/drawing/2014/main" id="{DC977090-3892-17DA-EFFF-C5527076F055}"/>
              </a:ext>
            </a:extLst>
          </p:cNvPr>
          <p:cNvSpPr txBox="1">
            <a:spLocks/>
          </p:cNvSpPr>
          <p:nvPr/>
        </p:nvSpPr>
        <p:spPr>
          <a:xfrm>
            <a:off x="1657350" y="116632"/>
            <a:ext cx="7486650" cy="514349"/>
          </a:xfrm>
          <a:prstGeom prst="rect">
            <a:avLst/>
          </a:prstGeom>
          <a:gradFill flip="none" rotWithShape="1">
            <a:gsLst>
              <a:gs pos="0">
                <a:srgbClr val="FF0000">
                  <a:tint val="66000"/>
                  <a:satMod val="160000"/>
                </a:srgbClr>
              </a:gs>
              <a:gs pos="50000">
                <a:srgbClr val="FF0000">
                  <a:tint val="44500"/>
                  <a:satMod val="160000"/>
                </a:srgbClr>
              </a:gs>
              <a:gs pos="100000">
                <a:srgbClr val="FF0000">
                  <a:tint val="23500"/>
                  <a:satMod val="160000"/>
                </a:srgbClr>
              </a:gs>
            </a:gsLst>
            <a:lin ang="0" scaled="1"/>
            <a:tileRect/>
          </a:gradFill>
        </p:spPr>
        <p:style>
          <a:lnRef idx="1">
            <a:schemeClr val="accent5"/>
          </a:lnRef>
          <a:fillRef idx="2">
            <a:schemeClr val="accent5"/>
          </a:fillRef>
          <a:effectRef idx="1">
            <a:schemeClr val="accent5"/>
          </a:effectRef>
          <a:fontRef idx="minor">
            <a:schemeClr val="dk1"/>
          </a:fontRef>
        </p:style>
        <p:txBody>
          <a:bodyPr vert="horz" lIns="68580" tIns="34290" rIns="68580" bIns="34290" rtlCol="0" anchor="ctr">
            <a:noAutofit/>
          </a:bodyPr>
          <a:lstStyle>
            <a:defPPr>
              <a:defRPr lang="en-US"/>
            </a:defPPr>
            <a:lvl1pPr algn="ctr">
              <a:spcBef>
                <a:spcPct val="0"/>
              </a:spcBef>
              <a:buNone/>
              <a:defRPr sz="2800"/>
            </a:lvl1pPr>
          </a:lstStyle>
          <a:p>
            <a:pPr>
              <a:defRPr/>
            </a:pPr>
            <a:endParaRPr lang="en-IN" sz="2400" spc="-5" dirty="0"/>
          </a:p>
          <a:p>
            <a:pPr>
              <a:defRPr/>
            </a:pPr>
            <a:r>
              <a:rPr lang="en-IN" sz="2400" spc="-5" dirty="0"/>
              <a:t>Direct</a:t>
            </a:r>
            <a:r>
              <a:rPr lang="en-IN" sz="2400" spc="-20" dirty="0"/>
              <a:t> </a:t>
            </a:r>
            <a:r>
              <a:rPr lang="en-IN" sz="2400" spc="-5" dirty="0"/>
              <a:t>Communication</a:t>
            </a:r>
            <a:r>
              <a:rPr lang="en-IN" sz="2400" dirty="0"/>
              <a:t>(CO3)</a:t>
            </a:r>
            <a:endParaRPr kumimoji="0" lang="en-US" sz="2400" b="0" i="0" u="none" strike="noStrike" kern="1200" cap="none" spc="0" normalizeH="0" baseline="0" noProof="0" dirty="0">
              <a:ln>
                <a:noFill/>
              </a:ln>
              <a:solidFill>
                <a:schemeClr val="dk1"/>
              </a:solidFill>
              <a:effectLst/>
              <a:uLnTx/>
              <a:uFillTx/>
              <a:ea typeface="+mn-ea"/>
              <a:cs typeface="+mn-cs"/>
            </a:endParaRPr>
          </a:p>
          <a:p>
            <a:pPr>
              <a:defRPr/>
            </a:pPr>
            <a:endParaRPr lang="en-US" sz="2100" dirty="0"/>
          </a:p>
        </p:txBody>
      </p:sp>
    </p:spTree>
    <p:extLst>
      <p:ext uri="{BB962C8B-B14F-4D97-AF65-F5344CB8AC3E}">
        <p14:creationId xmlns:p14="http://schemas.microsoft.com/office/powerpoint/2010/main" val="1705717199"/>
      </p:ext>
    </p:extLst>
  </p:cSld>
  <p:clrMapOvr>
    <a:masterClrMapping/>
  </p:clrMapOvr>
  <p:transition>
    <p:wipe dir="r"/>
  </p:transition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7D5E4F2-F0F2-4940-8E72-7D3ADBE30A72}" type="datetime3">
              <a:rPr lang="en-US" smtClean="0"/>
              <a:t>1 September 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2514600" y="6356350"/>
            <a:ext cx="5181600" cy="365125"/>
          </a:xfrm>
        </p:spPr>
        <p:txBody>
          <a:bodyPr/>
          <a:lstStyle/>
          <a:p>
            <a:r>
              <a:rPr lang="en-US"/>
              <a:t>Atul Garg           BCSE0303            Unit- III</a:t>
            </a:r>
            <a:endParaRPr lang="en-US" dirty="0"/>
          </a:p>
        </p:txBody>
      </p:sp>
      <p:sp>
        <p:nvSpPr>
          <p:cNvPr id="12" name="Rectangle 3"/>
          <p:cNvSpPr txBox="1">
            <a:spLocks noChangeArrowheads="1"/>
          </p:cNvSpPr>
          <p:nvPr/>
        </p:nvSpPr>
        <p:spPr>
          <a:xfrm>
            <a:off x="899592" y="1412776"/>
            <a:ext cx="7704856" cy="4114800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/>
          <a:p>
            <a:pPr marL="342900" marR="0" lvl="0" indent="-342900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defRPr/>
            </a:pPr>
            <a:endParaRPr kumimoji="0" lang="en-US" sz="2200" b="0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9" name="object 3"/>
          <p:cNvSpPr txBox="1"/>
          <p:nvPr/>
        </p:nvSpPr>
        <p:spPr>
          <a:xfrm>
            <a:off x="827584" y="908720"/>
            <a:ext cx="7781156" cy="5044971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000" spc="-5" dirty="0">
                <a:cs typeface="Arial" panose="020B0604020202020204"/>
              </a:rPr>
              <a:t>Messages are directed and received </a:t>
            </a:r>
            <a:r>
              <a:rPr sz="2000" dirty="0">
                <a:cs typeface="Arial" panose="020B0604020202020204"/>
              </a:rPr>
              <a:t>from </a:t>
            </a:r>
            <a:r>
              <a:rPr sz="2000" b="1" spc="-5" dirty="0">
                <a:cs typeface="Arial" panose="020B0604020202020204"/>
              </a:rPr>
              <a:t>mailboxes </a:t>
            </a:r>
            <a:r>
              <a:rPr sz="2000" spc="-5" dirty="0">
                <a:cs typeface="Arial" panose="020B0604020202020204"/>
              </a:rPr>
              <a:t>(also known</a:t>
            </a:r>
            <a:r>
              <a:rPr sz="2000" spc="30" dirty="0">
                <a:cs typeface="Arial" panose="020B0604020202020204"/>
              </a:rPr>
              <a:t> </a:t>
            </a:r>
            <a:r>
              <a:rPr sz="2000" spc="-5" dirty="0">
                <a:cs typeface="Arial" panose="020B0604020202020204"/>
              </a:rPr>
              <a:t>as</a:t>
            </a:r>
            <a:endParaRPr sz="2000" dirty="0">
              <a:cs typeface="Arial" panose="020B0604020202020204"/>
            </a:endParaRPr>
          </a:p>
          <a:p>
            <a:pPr marL="12700">
              <a:lnSpc>
                <a:spcPct val="100000"/>
              </a:lnSpc>
            </a:pPr>
            <a:r>
              <a:rPr sz="2000" b="1" dirty="0">
                <a:cs typeface="Arial" panose="020B0604020202020204"/>
              </a:rPr>
              <a:t>ports</a:t>
            </a:r>
            <a:r>
              <a:rPr sz="2000" dirty="0">
                <a:cs typeface="Arial" panose="020B0604020202020204"/>
              </a:rPr>
              <a:t>)</a:t>
            </a:r>
          </a:p>
          <a:p>
            <a:pPr marL="12700">
              <a:lnSpc>
                <a:spcPct val="100000"/>
              </a:lnSpc>
              <a:spcBef>
                <a:spcPts val="755"/>
              </a:spcBef>
            </a:pPr>
            <a:r>
              <a:rPr sz="2000" spc="-5" dirty="0">
                <a:cs typeface="Arial" panose="020B0604020202020204"/>
              </a:rPr>
              <a:t>Primitives are defined</a:t>
            </a:r>
            <a:r>
              <a:rPr sz="2000" spc="-25" dirty="0">
                <a:cs typeface="Arial" panose="020B0604020202020204"/>
              </a:rPr>
              <a:t> </a:t>
            </a:r>
            <a:r>
              <a:rPr sz="2000" dirty="0">
                <a:cs typeface="Arial" panose="020B0604020202020204"/>
              </a:rPr>
              <a:t>as:</a:t>
            </a:r>
          </a:p>
          <a:p>
            <a:pPr marL="12700">
              <a:lnSpc>
                <a:spcPct val="100000"/>
              </a:lnSpc>
              <a:spcBef>
                <a:spcPts val="755"/>
              </a:spcBef>
            </a:pPr>
            <a:r>
              <a:rPr sz="2000" b="1" spc="-5" dirty="0">
                <a:cs typeface="Arial" panose="020B0604020202020204"/>
              </a:rPr>
              <a:t>send</a:t>
            </a:r>
            <a:r>
              <a:rPr sz="2000" spc="-5" dirty="0">
                <a:cs typeface="Arial" panose="020B0604020202020204"/>
              </a:rPr>
              <a:t>(</a:t>
            </a:r>
            <a:r>
              <a:rPr sz="2000" i="1" spc="-5" dirty="0">
                <a:cs typeface="Arial" panose="020B0604020202020204"/>
              </a:rPr>
              <a:t>A, message</a:t>
            </a:r>
            <a:r>
              <a:rPr sz="2000" spc="-5" dirty="0">
                <a:cs typeface="Arial" panose="020B0604020202020204"/>
              </a:rPr>
              <a:t>) – send a message </a:t>
            </a:r>
            <a:r>
              <a:rPr sz="2000" dirty="0">
                <a:cs typeface="Arial" panose="020B0604020202020204"/>
              </a:rPr>
              <a:t>to </a:t>
            </a:r>
            <a:r>
              <a:rPr sz="2000" spc="-5" dirty="0">
                <a:cs typeface="Arial" panose="020B0604020202020204"/>
              </a:rPr>
              <a:t>mailbox</a:t>
            </a:r>
            <a:r>
              <a:rPr sz="2000" spc="-25" dirty="0">
                <a:cs typeface="Arial" panose="020B0604020202020204"/>
              </a:rPr>
              <a:t> </a:t>
            </a:r>
            <a:r>
              <a:rPr sz="2000" dirty="0">
                <a:cs typeface="Arial" panose="020B0604020202020204"/>
              </a:rPr>
              <a:t>A</a:t>
            </a:r>
          </a:p>
          <a:p>
            <a:pPr marL="12700">
              <a:lnSpc>
                <a:spcPct val="100000"/>
              </a:lnSpc>
              <a:spcBef>
                <a:spcPts val="755"/>
              </a:spcBef>
            </a:pPr>
            <a:r>
              <a:rPr sz="2000" b="1" spc="-5" dirty="0">
                <a:cs typeface="Arial" panose="020B0604020202020204"/>
              </a:rPr>
              <a:t>receive</a:t>
            </a:r>
            <a:r>
              <a:rPr sz="2000" spc="-5" dirty="0">
                <a:cs typeface="Arial" panose="020B0604020202020204"/>
              </a:rPr>
              <a:t>(</a:t>
            </a:r>
            <a:r>
              <a:rPr sz="2000" i="1" spc="-5" dirty="0">
                <a:cs typeface="Arial" panose="020B0604020202020204"/>
              </a:rPr>
              <a:t>A, message</a:t>
            </a:r>
            <a:r>
              <a:rPr sz="2000" spc="-5" dirty="0">
                <a:cs typeface="Arial" panose="020B0604020202020204"/>
              </a:rPr>
              <a:t>) – receive a message </a:t>
            </a:r>
            <a:r>
              <a:rPr sz="2000" dirty="0">
                <a:cs typeface="Arial" panose="020B0604020202020204"/>
              </a:rPr>
              <a:t>from </a:t>
            </a:r>
            <a:r>
              <a:rPr sz="2000" spc="-5" dirty="0">
                <a:cs typeface="Arial" panose="020B0604020202020204"/>
              </a:rPr>
              <a:t>mailbox</a:t>
            </a:r>
            <a:r>
              <a:rPr sz="2000" spc="-30" dirty="0">
                <a:cs typeface="Arial" panose="020B0604020202020204"/>
              </a:rPr>
              <a:t> </a:t>
            </a:r>
            <a:r>
              <a:rPr sz="2000" dirty="0">
                <a:cs typeface="Arial" panose="020B0604020202020204"/>
              </a:rPr>
              <a:t>A</a:t>
            </a:r>
          </a:p>
          <a:p>
            <a:pPr marL="12700" marR="5080" algn="just">
              <a:lnSpc>
                <a:spcPct val="100000"/>
              </a:lnSpc>
              <a:spcBef>
                <a:spcPts val="755"/>
              </a:spcBef>
            </a:pPr>
            <a:r>
              <a:rPr sz="2000" dirty="0">
                <a:cs typeface="Arial" panose="020B0604020202020204"/>
              </a:rPr>
              <a:t>A </a:t>
            </a:r>
            <a:r>
              <a:rPr sz="2000" spc="-5" dirty="0">
                <a:cs typeface="Arial" panose="020B0604020202020204"/>
              </a:rPr>
              <a:t>mailbox can be viewed </a:t>
            </a:r>
            <a:r>
              <a:rPr sz="2000" dirty="0">
                <a:cs typeface="Arial" panose="020B0604020202020204"/>
              </a:rPr>
              <a:t>abstractly </a:t>
            </a:r>
            <a:r>
              <a:rPr sz="2000" spc="-5" dirty="0">
                <a:cs typeface="Arial" panose="020B0604020202020204"/>
              </a:rPr>
              <a:t>as an object into which messages  can be placed by processes and </a:t>
            </a:r>
            <a:r>
              <a:rPr sz="2000" dirty="0">
                <a:cs typeface="Arial" panose="020B0604020202020204"/>
              </a:rPr>
              <a:t>from </a:t>
            </a:r>
            <a:r>
              <a:rPr sz="2000" spc="-5" dirty="0">
                <a:cs typeface="Arial" panose="020B0604020202020204"/>
              </a:rPr>
              <a:t>which messages can be</a:t>
            </a:r>
            <a:r>
              <a:rPr sz="2000" spc="80" dirty="0">
                <a:cs typeface="Arial" panose="020B0604020202020204"/>
              </a:rPr>
              <a:t> </a:t>
            </a:r>
            <a:r>
              <a:rPr sz="2000" spc="-5" dirty="0">
                <a:cs typeface="Arial" panose="020B0604020202020204"/>
              </a:rPr>
              <a:t>removed</a:t>
            </a:r>
            <a:r>
              <a:rPr lang="en-IN" sz="2000" dirty="0">
                <a:cs typeface="Arial" panose="020B0604020202020204"/>
              </a:rPr>
              <a:t> </a:t>
            </a:r>
          </a:p>
          <a:p>
            <a:pPr marL="12700" marR="5080" algn="just">
              <a:lnSpc>
                <a:spcPct val="100000"/>
              </a:lnSpc>
              <a:spcBef>
                <a:spcPts val="755"/>
              </a:spcBef>
              <a:buFont typeface="Arial" panose="020B0604020202020204" pitchFamily="34" charset="0"/>
              <a:buChar char="•"/>
            </a:pPr>
            <a:r>
              <a:rPr sz="2000" spc="-5" dirty="0">
                <a:cs typeface="Arial" panose="020B0604020202020204"/>
              </a:rPr>
              <a:t>each mailbox has a unique </a:t>
            </a:r>
            <a:r>
              <a:rPr sz="2000" i="1" spc="-5" dirty="0">
                <a:cs typeface="Arial" panose="020B0604020202020204"/>
              </a:rPr>
              <a:t>id</a:t>
            </a:r>
            <a:r>
              <a:rPr lang="en-IN" sz="2000" i="1" spc="-5" dirty="0">
                <a:cs typeface="Arial" panose="020B0604020202020204"/>
              </a:rPr>
              <a:t> </a:t>
            </a:r>
          </a:p>
          <a:p>
            <a:pPr marL="12700" marR="5080" algn="just">
              <a:lnSpc>
                <a:spcPct val="100000"/>
              </a:lnSpc>
              <a:spcBef>
                <a:spcPts val="755"/>
              </a:spcBef>
              <a:buFont typeface="Arial" panose="020B0604020202020204" pitchFamily="34" charset="0"/>
              <a:buChar char="•"/>
            </a:pPr>
            <a:r>
              <a:rPr sz="2000" spc="-5" dirty="0">
                <a:cs typeface="Arial" panose="020B0604020202020204"/>
              </a:rPr>
              <a:t>processes can communicate only </a:t>
            </a:r>
            <a:r>
              <a:rPr sz="2000" dirty="0">
                <a:cs typeface="Arial" panose="020B0604020202020204"/>
              </a:rPr>
              <a:t>if they </a:t>
            </a:r>
            <a:r>
              <a:rPr sz="2000" spc="-5" dirty="0">
                <a:cs typeface="Arial" panose="020B0604020202020204"/>
              </a:rPr>
              <a:t>share a</a:t>
            </a:r>
            <a:r>
              <a:rPr sz="2000" dirty="0">
                <a:cs typeface="Arial" panose="020B0604020202020204"/>
              </a:rPr>
              <a:t> </a:t>
            </a:r>
            <a:r>
              <a:rPr sz="2000" spc="-5" dirty="0">
                <a:cs typeface="Arial" panose="020B0604020202020204"/>
              </a:rPr>
              <a:t>mailbox</a:t>
            </a:r>
            <a:r>
              <a:rPr lang="en-IN" sz="2000" spc="-5" dirty="0">
                <a:cs typeface="Arial" panose="020B0604020202020204"/>
              </a:rPr>
              <a:t> </a:t>
            </a:r>
          </a:p>
          <a:p>
            <a:pPr marL="12700" marR="5080" algn="just">
              <a:lnSpc>
                <a:spcPct val="100000"/>
              </a:lnSpc>
              <a:spcBef>
                <a:spcPts val="755"/>
              </a:spcBef>
              <a:buFont typeface="Arial" panose="020B0604020202020204" pitchFamily="34" charset="0"/>
              <a:buChar char="•"/>
            </a:pPr>
            <a:r>
              <a:rPr sz="2000" spc="-5" dirty="0">
                <a:cs typeface="Arial" panose="020B0604020202020204"/>
              </a:rPr>
              <a:t>a communication link </a:t>
            </a:r>
            <a:r>
              <a:rPr sz="2000" dirty="0">
                <a:cs typeface="Arial" panose="020B0604020202020204"/>
              </a:rPr>
              <a:t>may </a:t>
            </a:r>
            <a:r>
              <a:rPr sz="2000" spc="-5" dirty="0">
                <a:cs typeface="Arial" panose="020B0604020202020204"/>
              </a:rPr>
              <a:t>be associated with many processes  </a:t>
            </a:r>
            <a:endParaRPr lang="en-IN" sz="2000" spc="-5" dirty="0">
              <a:cs typeface="Arial" panose="020B0604020202020204"/>
            </a:endParaRPr>
          </a:p>
          <a:p>
            <a:pPr marL="12700" marR="5080" algn="just">
              <a:lnSpc>
                <a:spcPct val="100000"/>
              </a:lnSpc>
              <a:spcBef>
                <a:spcPts val="755"/>
              </a:spcBef>
              <a:buFont typeface="Arial" panose="020B0604020202020204" pitchFamily="34" charset="0"/>
              <a:buChar char="•"/>
            </a:pPr>
            <a:r>
              <a:rPr sz="2000" spc="-5" dirty="0">
                <a:cs typeface="Arial" panose="020B0604020202020204"/>
              </a:rPr>
              <a:t>each pair </a:t>
            </a:r>
            <a:r>
              <a:rPr sz="2000" dirty="0">
                <a:cs typeface="Arial" panose="020B0604020202020204"/>
              </a:rPr>
              <a:t>of </a:t>
            </a:r>
            <a:r>
              <a:rPr sz="2000" spc="-5" dirty="0">
                <a:cs typeface="Arial" panose="020B0604020202020204"/>
              </a:rPr>
              <a:t>processes </a:t>
            </a:r>
            <a:r>
              <a:rPr sz="2000" dirty="0">
                <a:cs typeface="Arial" panose="020B0604020202020204"/>
              </a:rPr>
              <a:t>may </a:t>
            </a:r>
            <a:r>
              <a:rPr sz="2000" spc="-5" dirty="0">
                <a:cs typeface="Arial" panose="020B0604020202020204"/>
              </a:rPr>
              <a:t>share several communication links  </a:t>
            </a:r>
            <a:endParaRPr lang="en-IN" sz="2000" spc="-5" dirty="0">
              <a:cs typeface="Arial" panose="020B0604020202020204"/>
            </a:endParaRPr>
          </a:p>
          <a:p>
            <a:pPr marL="12700" marR="5080" algn="just">
              <a:lnSpc>
                <a:spcPct val="100000"/>
              </a:lnSpc>
              <a:spcBef>
                <a:spcPts val="755"/>
              </a:spcBef>
              <a:buFont typeface="Arial" panose="020B0604020202020204" pitchFamily="34" charset="0"/>
              <a:buChar char="•"/>
            </a:pPr>
            <a:r>
              <a:rPr sz="2000" spc="-5" dirty="0">
                <a:cs typeface="Arial" panose="020B0604020202020204"/>
              </a:rPr>
              <a:t>link </a:t>
            </a:r>
            <a:r>
              <a:rPr sz="2000" dirty="0">
                <a:cs typeface="Arial" panose="020B0604020202020204"/>
              </a:rPr>
              <a:t>may </a:t>
            </a:r>
            <a:r>
              <a:rPr sz="2000" spc="-5" dirty="0">
                <a:cs typeface="Arial" panose="020B0604020202020204"/>
              </a:rPr>
              <a:t>be unidirectional or</a:t>
            </a:r>
            <a:r>
              <a:rPr sz="2000" spc="-20" dirty="0">
                <a:cs typeface="Arial" panose="020B0604020202020204"/>
              </a:rPr>
              <a:t> </a:t>
            </a:r>
            <a:r>
              <a:rPr sz="2000" spc="-5" dirty="0">
                <a:cs typeface="Arial" panose="020B0604020202020204"/>
              </a:rPr>
              <a:t>bi-directional</a:t>
            </a:r>
            <a:endParaRPr lang="en-IN" sz="2000" spc="-5" dirty="0">
              <a:cs typeface="Arial" panose="020B0604020202020204"/>
            </a:endParaRPr>
          </a:p>
          <a:p>
            <a:pPr marL="412750" marR="506730" algn="just">
              <a:lnSpc>
                <a:spcPct val="135000"/>
              </a:lnSpc>
            </a:pPr>
            <a:endParaRPr sz="2000" dirty="0">
              <a:cs typeface="Arial" panose="020B0604020202020204"/>
            </a:endParaRPr>
          </a:p>
        </p:txBody>
      </p:sp>
      <p:sp>
        <p:nvSpPr>
          <p:cNvPr id="11" name="Slide Number Placeholder 10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t>44</a:t>
            </a:fld>
            <a:endParaRPr lang="en-US"/>
          </a:p>
        </p:txBody>
      </p:sp>
      <p:pic>
        <p:nvPicPr>
          <p:cNvPr id="2" name="Picture 1" descr="A black and red logo&#10;&#10;Description automatically generated">
            <a:extLst>
              <a:ext uri="{FF2B5EF4-FFF2-40B4-BE49-F238E27FC236}">
                <a16:creationId xmlns:a16="http://schemas.microsoft.com/office/drawing/2014/main" id="{1E8163E1-1997-8774-6E48-858F6BA12BF9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-27384"/>
            <a:ext cx="1657350" cy="710452"/>
          </a:xfrm>
          <a:prstGeom prst="rect">
            <a:avLst/>
          </a:prstGeom>
        </p:spPr>
      </p:pic>
      <p:sp>
        <p:nvSpPr>
          <p:cNvPr id="3" name="Title 1">
            <a:extLst>
              <a:ext uri="{FF2B5EF4-FFF2-40B4-BE49-F238E27FC236}">
                <a16:creationId xmlns:a16="http://schemas.microsoft.com/office/drawing/2014/main" id="{63DC6C9F-BE1F-FE78-5F80-3BC6BE3764F4}"/>
              </a:ext>
            </a:extLst>
          </p:cNvPr>
          <p:cNvSpPr txBox="1">
            <a:spLocks/>
          </p:cNvSpPr>
          <p:nvPr/>
        </p:nvSpPr>
        <p:spPr>
          <a:xfrm>
            <a:off x="1657350" y="116632"/>
            <a:ext cx="7486650" cy="566436"/>
          </a:xfrm>
          <a:prstGeom prst="rect">
            <a:avLst/>
          </a:prstGeom>
          <a:gradFill flip="none" rotWithShape="1">
            <a:gsLst>
              <a:gs pos="0">
                <a:srgbClr val="FF0000">
                  <a:tint val="66000"/>
                  <a:satMod val="160000"/>
                </a:srgbClr>
              </a:gs>
              <a:gs pos="50000">
                <a:srgbClr val="FF0000">
                  <a:tint val="44500"/>
                  <a:satMod val="160000"/>
                </a:srgbClr>
              </a:gs>
              <a:gs pos="100000">
                <a:srgbClr val="FF0000">
                  <a:tint val="23500"/>
                  <a:satMod val="160000"/>
                </a:srgbClr>
              </a:gs>
            </a:gsLst>
            <a:lin ang="0" scaled="1"/>
            <a:tileRect/>
          </a:gradFill>
        </p:spPr>
        <p:style>
          <a:lnRef idx="1">
            <a:schemeClr val="accent5"/>
          </a:lnRef>
          <a:fillRef idx="2">
            <a:schemeClr val="accent5"/>
          </a:fillRef>
          <a:effectRef idx="1">
            <a:schemeClr val="accent5"/>
          </a:effectRef>
          <a:fontRef idx="minor">
            <a:schemeClr val="dk1"/>
          </a:fontRef>
        </p:style>
        <p:txBody>
          <a:bodyPr vert="horz" lIns="68580" tIns="34290" rIns="68580" bIns="34290" rtlCol="0" anchor="ctr">
            <a:noAutofit/>
          </a:bodyPr>
          <a:lstStyle>
            <a:defPPr>
              <a:defRPr lang="en-US"/>
            </a:defPPr>
            <a:lvl1pPr algn="ctr">
              <a:spcBef>
                <a:spcPct val="0"/>
              </a:spcBef>
              <a:buNone/>
              <a:defRPr sz="2800"/>
            </a:lvl1pPr>
          </a:lstStyle>
          <a:p>
            <a:pPr>
              <a:defRPr/>
            </a:pPr>
            <a:r>
              <a:rPr lang="en-IN" sz="2400" spc="-10" dirty="0"/>
              <a:t>Indirect</a:t>
            </a:r>
            <a:r>
              <a:rPr lang="en-IN" sz="2400" spc="-20" dirty="0"/>
              <a:t> </a:t>
            </a:r>
            <a:r>
              <a:rPr lang="en-IN" sz="2400" spc="-10" dirty="0"/>
              <a:t>Communication</a:t>
            </a:r>
            <a:r>
              <a:rPr lang="en-IN" sz="2400" dirty="0"/>
              <a:t>(CO3)</a:t>
            </a:r>
            <a:endParaRPr lang="en-US" sz="2100" dirty="0"/>
          </a:p>
        </p:txBody>
      </p:sp>
    </p:spTree>
    <p:extLst>
      <p:ext uri="{BB962C8B-B14F-4D97-AF65-F5344CB8AC3E}">
        <p14:creationId xmlns:p14="http://schemas.microsoft.com/office/powerpoint/2010/main" val="2429277342"/>
      </p:ext>
    </p:extLst>
  </p:cSld>
  <p:clrMapOvr>
    <a:masterClrMapping/>
  </p:clrMapOvr>
  <p:transition>
    <p:wipe dir="r"/>
  </p:transition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DF6243C-9E97-7F6A-E59B-9D1C545B307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4C7055C-413A-4DBB-74D6-1482721DA66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263B0E4-2BE1-423A-8730-1D3F2BC187BA}" type="datetime3">
              <a:rPr lang="en-US" smtClean="0"/>
              <a:t>1 September 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3D9FD08-61FC-BD51-5982-E63ACF533EB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2514600" y="6356350"/>
            <a:ext cx="5181600" cy="365125"/>
          </a:xfrm>
        </p:spPr>
        <p:txBody>
          <a:bodyPr/>
          <a:lstStyle/>
          <a:p>
            <a:r>
              <a:rPr lang="en-US"/>
              <a:t>Atul Garg           BCSE0303            Unit- III</a:t>
            </a:r>
            <a:endParaRPr lang="en-US" dirty="0"/>
          </a:p>
        </p:txBody>
      </p:sp>
      <p:sp>
        <p:nvSpPr>
          <p:cNvPr id="12" name="Rectangle 3">
            <a:extLst>
              <a:ext uri="{FF2B5EF4-FFF2-40B4-BE49-F238E27FC236}">
                <a16:creationId xmlns:a16="http://schemas.microsoft.com/office/drawing/2014/main" id="{C2C31866-E3DF-2995-0CD6-3F11F8F48E88}"/>
              </a:ext>
            </a:extLst>
          </p:cNvPr>
          <p:cNvSpPr txBox="1">
            <a:spLocks noChangeArrowheads="1"/>
          </p:cNvSpPr>
          <p:nvPr/>
        </p:nvSpPr>
        <p:spPr>
          <a:xfrm>
            <a:off x="395536" y="745196"/>
            <a:ext cx="8208912" cy="4782380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/>
          <a:p>
            <a:pPr marL="342900" marR="0" lvl="0" indent="-342900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defRPr/>
            </a:pPr>
            <a:endParaRPr kumimoji="0" lang="en-US" sz="2200" b="0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11" name="Slide Number Placeholder 10">
            <a:extLst>
              <a:ext uri="{FF2B5EF4-FFF2-40B4-BE49-F238E27FC236}">
                <a16:creationId xmlns:a16="http://schemas.microsoft.com/office/drawing/2014/main" id="{AC37D302-543A-B203-941D-28D9F1CC137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t>45</a:t>
            </a:fld>
            <a:endParaRPr lang="en-US"/>
          </a:p>
        </p:txBody>
      </p:sp>
      <p:pic>
        <p:nvPicPr>
          <p:cNvPr id="2" name="Picture 1" descr="A black and red logo&#10;&#10;Description automatically generated">
            <a:extLst>
              <a:ext uri="{FF2B5EF4-FFF2-40B4-BE49-F238E27FC236}">
                <a16:creationId xmlns:a16="http://schemas.microsoft.com/office/drawing/2014/main" id="{726A4A0D-462E-BC33-626C-528ABF54FF5D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-27384"/>
            <a:ext cx="1657350" cy="710452"/>
          </a:xfrm>
          <a:prstGeom prst="rect">
            <a:avLst/>
          </a:prstGeom>
        </p:spPr>
      </p:pic>
      <p:sp>
        <p:nvSpPr>
          <p:cNvPr id="3" name="Title 1">
            <a:extLst>
              <a:ext uri="{FF2B5EF4-FFF2-40B4-BE49-F238E27FC236}">
                <a16:creationId xmlns:a16="http://schemas.microsoft.com/office/drawing/2014/main" id="{53B36C73-0675-25D3-EBDC-2A1E0438F35F}"/>
              </a:ext>
            </a:extLst>
          </p:cNvPr>
          <p:cNvSpPr txBox="1">
            <a:spLocks/>
          </p:cNvSpPr>
          <p:nvPr/>
        </p:nvSpPr>
        <p:spPr>
          <a:xfrm>
            <a:off x="1545316" y="34744"/>
            <a:ext cx="7486650" cy="566436"/>
          </a:xfrm>
          <a:prstGeom prst="rect">
            <a:avLst/>
          </a:prstGeom>
          <a:gradFill flip="none" rotWithShape="1">
            <a:gsLst>
              <a:gs pos="0">
                <a:srgbClr val="FF0000">
                  <a:tint val="66000"/>
                  <a:satMod val="160000"/>
                </a:srgbClr>
              </a:gs>
              <a:gs pos="50000">
                <a:srgbClr val="FF0000">
                  <a:tint val="44500"/>
                  <a:satMod val="160000"/>
                </a:srgbClr>
              </a:gs>
              <a:gs pos="100000">
                <a:srgbClr val="FF0000">
                  <a:tint val="23500"/>
                  <a:satMod val="160000"/>
                </a:srgbClr>
              </a:gs>
            </a:gsLst>
            <a:lin ang="0" scaled="1"/>
            <a:tileRect/>
          </a:gradFill>
        </p:spPr>
        <p:style>
          <a:lnRef idx="1">
            <a:schemeClr val="accent5"/>
          </a:lnRef>
          <a:fillRef idx="2">
            <a:schemeClr val="accent5"/>
          </a:fillRef>
          <a:effectRef idx="1">
            <a:schemeClr val="accent5"/>
          </a:effectRef>
          <a:fontRef idx="minor">
            <a:schemeClr val="dk1"/>
          </a:fontRef>
        </p:style>
        <p:txBody>
          <a:bodyPr vert="horz" lIns="68580" tIns="34290" rIns="68580" bIns="34290" rtlCol="0" anchor="ctr">
            <a:noAutofit/>
          </a:bodyPr>
          <a:lstStyle>
            <a:defPPr>
              <a:defRPr lang="en-US"/>
            </a:defPPr>
            <a:lvl1pPr algn="ctr">
              <a:spcBef>
                <a:spcPct val="0"/>
              </a:spcBef>
              <a:buNone/>
              <a:defRPr sz="2800"/>
            </a:lvl1pPr>
          </a:lstStyle>
          <a:p>
            <a:pPr>
              <a:defRPr/>
            </a:pPr>
            <a:r>
              <a:rPr lang="en-US" sz="2400" dirty="0"/>
              <a:t>Process Synchronization using Lock Variable</a:t>
            </a:r>
            <a:endParaRPr lang="en-US" sz="2100" dirty="0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C18D1158-5566-7309-940A-05A5413797CC}"/>
              </a:ext>
            </a:extLst>
          </p:cNvPr>
          <p:cNvSpPr txBox="1"/>
          <p:nvPr/>
        </p:nvSpPr>
        <p:spPr>
          <a:xfrm>
            <a:off x="1545316" y="827084"/>
            <a:ext cx="7275156" cy="84023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US" b="1" dirty="0"/>
              <a:t>Definition:</a:t>
            </a:r>
            <a:br>
              <a:rPr lang="en-US" dirty="0"/>
            </a:br>
            <a:r>
              <a:rPr lang="en-US" dirty="0"/>
              <a:t>A </a:t>
            </a:r>
            <a:r>
              <a:rPr lang="en-US" b="1" dirty="0"/>
              <a:t>lock variable</a:t>
            </a:r>
            <a:r>
              <a:rPr lang="en-US" dirty="0"/>
              <a:t> is the </a:t>
            </a:r>
            <a:r>
              <a:rPr lang="en-US" b="1" dirty="0"/>
              <a:t>simplest synchronization mechanism</a:t>
            </a:r>
            <a:r>
              <a:rPr lang="en-US" dirty="0"/>
              <a:t> used to control access to a </a:t>
            </a:r>
            <a:r>
              <a:rPr lang="en-US" b="1" dirty="0"/>
              <a:t>critical section</a:t>
            </a:r>
            <a:r>
              <a:rPr lang="en-US" dirty="0"/>
              <a:t> in concurrent processes.</a:t>
            </a:r>
          </a:p>
          <a:p>
            <a:pPr>
              <a:buNone/>
            </a:pPr>
            <a:br>
              <a:rPr lang="en-US" dirty="0"/>
            </a:br>
            <a:r>
              <a:rPr lang="en-US" dirty="0"/>
              <a:t>It ensures that </a:t>
            </a:r>
            <a:r>
              <a:rPr lang="en-US" b="1" dirty="0"/>
              <a:t>only one process</a:t>
            </a:r>
            <a:r>
              <a:rPr lang="en-US" dirty="0"/>
              <a:t> enters the critical section at a time.</a:t>
            </a:r>
          </a:p>
          <a:p>
            <a:pPr>
              <a:buNone/>
            </a:pPr>
            <a:r>
              <a:rPr lang="en-US" dirty="0" err="1"/>
              <a:t>AlgorithmHere’s</a:t>
            </a:r>
            <a:r>
              <a:rPr lang="en-US" dirty="0"/>
              <a:t> how it typically works:</a:t>
            </a:r>
          </a:p>
          <a:p>
            <a:pPr>
              <a:buNone/>
            </a:pPr>
            <a:endParaRPr lang="en-US" dirty="0"/>
          </a:p>
          <a:p>
            <a:pPr marL="342900" indent="-342900">
              <a:buAutoNum type="arabicPeriod"/>
            </a:pPr>
            <a:r>
              <a:rPr lang="en-US" dirty="0" err="1"/>
              <a:t>Initializationlock</a:t>
            </a:r>
            <a:r>
              <a:rPr lang="en-US" dirty="0"/>
              <a:t> = 0;  // critical section is free</a:t>
            </a:r>
          </a:p>
          <a:p>
            <a:endParaRPr lang="en-US" dirty="0"/>
          </a:p>
          <a:p>
            <a:r>
              <a:rPr lang="en-US" dirty="0"/>
              <a:t>2. Entry </a:t>
            </a:r>
            <a:r>
              <a:rPr lang="en-US" dirty="0" err="1"/>
              <a:t>Sectionwhile</a:t>
            </a:r>
            <a:r>
              <a:rPr lang="en-US" dirty="0"/>
              <a:t> (lock == 1) ;   // busy wait until lock is </a:t>
            </a:r>
            <a:r>
              <a:rPr lang="en-US" dirty="0" err="1"/>
              <a:t>freelock</a:t>
            </a:r>
            <a:r>
              <a:rPr lang="en-US" dirty="0"/>
              <a:t> = 1; // acquire lock</a:t>
            </a:r>
          </a:p>
          <a:p>
            <a:endParaRPr lang="en-US" dirty="0"/>
          </a:p>
          <a:p>
            <a:r>
              <a:rPr lang="en-US" dirty="0"/>
              <a:t>3. Critical Section// perform operations in the critical section</a:t>
            </a:r>
          </a:p>
          <a:p>
            <a:endParaRPr lang="en-US" dirty="0"/>
          </a:p>
          <a:p>
            <a:r>
              <a:rPr lang="en-US" dirty="0"/>
              <a:t>4. Exit </a:t>
            </a:r>
            <a:r>
              <a:rPr lang="en-US" dirty="0" err="1"/>
              <a:t>Sectionlock</a:t>
            </a:r>
            <a:r>
              <a:rPr lang="en-US" dirty="0"/>
              <a:t> = 0;   // release lock</a:t>
            </a:r>
          </a:p>
          <a:p>
            <a:pPr>
              <a:buNone/>
            </a:pPr>
            <a:endParaRPr lang="en-US" dirty="0"/>
          </a:p>
          <a:p>
            <a:pPr>
              <a:buNone/>
            </a:pPr>
            <a:endParaRPr lang="en-US" dirty="0"/>
          </a:p>
          <a:p>
            <a:pPr>
              <a:buNone/>
            </a:pPr>
            <a:endParaRPr lang="en-US" dirty="0"/>
          </a:p>
          <a:p>
            <a:pPr>
              <a:buNone/>
            </a:pPr>
            <a:endParaRPr lang="en-US" dirty="0"/>
          </a:p>
          <a:p>
            <a:pPr>
              <a:buNone/>
            </a:pPr>
            <a:endParaRPr lang="en-US" dirty="0"/>
          </a:p>
          <a:p>
            <a:pPr>
              <a:buNone/>
            </a:pPr>
            <a:endParaRPr lang="en-US" dirty="0"/>
          </a:p>
          <a:p>
            <a:pPr>
              <a:buNone/>
            </a:pPr>
            <a:endParaRPr lang="en-US" dirty="0"/>
          </a:p>
          <a:p>
            <a:pPr>
              <a:buNone/>
            </a:pPr>
            <a:endParaRPr lang="en-US" dirty="0"/>
          </a:p>
          <a:p>
            <a:pPr>
              <a:buNone/>
            </a:pPr>
            <a:endParaRPr lang="en-US" dirty="0"/>
          </a:p>
          <a:p>
            <a:pPr>
              <a:buNone/>
            </a:pPr>
            <a:endParaRPr lang="en-US" dirty="0"/>
          </a:p>
          <a:p>
            <a:pPr>
              <a:buNone/>
            </a:pPr>
            <a:endParaRPr lang="en-US" dirty="0"/>
          </a:p>
          <a:p>
            <a:pPr>
              <a:buNone/>
            </a:pPr>
            <a:endParaRPr lang="en-US" dirty="0"/>
          </a:p>
          <a:p>
            <a:pPr>
              <a:buNone/>
            </a:pPr>
            <a:endParaRPr lang="en-US" dirty="0"/>
          </a:p>
          <a:p>
            <a:pPr>
              <a:buNone/>
            </a:pPr>
            <a:endParaRPr lang="en-US" dirty="0"/>
          </a:p>
          <a:p>
            <a:pPr>
              <a:buNone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246468026"/>
      </p:ext>
    </p:extLst>
  </p:cSld>
  <p:clrMapOvr>
    <a:masterClrMapping/>
  </p:clrMapOvr>
  <p:transition>
    <p:wipe dir="r"/>
  </p:transition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F35AF50-5F70-CF8B-E914-8B49F40964A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E919E08-5680-0CAF-9705-8C9EA439E67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AF4D38B-AAA4-49D0-8E13-9B0AD5B3F57A}" type="datetime3">
              <a:rPr lang="en-US" smtClean="0"/>
              <a:t>1 September 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9D2BD80-5EC2-D71E-BF92-0179D0CE775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2514600" y="6356350"/>
            <a:ext cx="5181600" cy="365125"/>
          </a:xfrm>
        </p:spPr>
        <p:txBody>
          <a:bodyPr/>
          <a:lstStyle/>
          <a:p>
            <a:r>
              <a:rPr lang="en-US"/>
              <a:t>Atul Garg           BCSE0303            Unit- III</a:t>
            </a:r>
            <a:endParaRPr lang="en-US" dirty="0"/>
          </a:p>
        </p:txBody>
      </p:sp>
      <p:sp>
        <p:nvSpPr>
          <p:cNvPr id="12" name="Rectangle 3">
            <a:extLst>
              <a:ext uri="{FF2B5EF4-FFF2-40B4-BE49-F238E27FC236}">
                <a16:creationId xmlns:a16="http://schemas.microsoft.com/office/drawing/2014/main" id="{6782429B-0B30-9A82-DF3D-FBF426C5FCC3}"/>
              </a:ext>
            </a:extLst>
          </p:cNvPr>
          <p:cNvSpPr txBox="1">
            <a:spLocks noChangeArrowheads="1"/>
          </p:cNvSpPr>
          <p:nvPr/>
        </p:nvSpPr>
        <p:spPr>
          <a:xfrm>
            <a:off x="395536" y="745196"/>
            <a:ext cx="8208912" cy="4782380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/>
          <a:p>
            <a:pPr marL="342900" marR="0" lvl="0" indent="-342900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defRPr/>
            </a:pPr>
            <a:endParaRPr kumimoji="0" lang="en-US" sz="2200" b="0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11" name="Slide Number Placeholder 10">
            <a:extLst>
              <a:ext uri="{FF2B5EF4-FFF2-40B4-BE49-F238E27FC236}">
                <a16:creationId xmlns:a16="http://schemas.microsoft.com/office/drawing/2014/main" id="{6AC547A8-DFCA-4A2E-DB1B-F2AF491ED49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t>46</a:t>
            </a:fld>
            <a:endParaRPr lang="en-US"/>
          </a:p>
        </p:txBody>
      </p:sp>
      <p:pic>
        <p:nvPicPr>
          <p:cNvPr id="2" name="Picture 1" descr="A black and red logo&#10;&#10;Description automatically generated">
            <a:extLst>
              <a:ext uri="{FF2B5EF4-FFF2-40B4-BE49-F238E27FC236}">
                <a16:creationId xmlns:a16="http://schemas.microsoft.com/office/drawing/2014/main" id="{51D1324E-D76C-0818-AFCF-8214AF42BEE4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-27384"/>
            <a:ext cx="1657350" cy="710452"/>
          </a:xfrm>
          <a:prstGeom prst="rect">
            <a:avLst/>
          </a:prstGeom>
        </p:spPr>
      </p:pic>
      <p:sp>
        <p:nvSpPr>
          <p:cNvPr id="3" name="Title 1">
            <a:extLst>
              <a:ext uri="{FF2B5EF4-FFF2-40B4-BE49-F238E27FC236}">
                <a16:creationId xmlns:a16="http://schemas.microsoft.com/office/drawing/2014/main" id="{B9914CF9-5E7C-59B9-AED7-E0AFD33A8650}"/>
              </a:ext>
            </a:extLst>
          </p:cNvPr>
          <p:cNvSpPr txBox="1">
            <a:spLocks/>
          </p:cNvSpPr>
          <p:nvPr/>
        </p:nvSpPr>
        <p:spPr>
          <a:xfrm>
            <a:off x="1545316" y="34744"/>
            <a:ext cx="7486650" cy="566436"/>
          </a:xfrm>
          <a:prstGeom prst="rect">
            <a:avLst/>
          </a:prstGeom>
          <a:gradFill flip="none" rotWithShape="1">
            <a:gsLst>
              <a:gs pos="0">
                <a:srgbClr val="FF0000">
                  <a:tint val="66000"/>
                  <a:satMod val="160000"/>
                </a:srgbClr>
              </a:gs>
              <a:gs pos="50000">
                <a:srgbClr val="FF0000">
                  <a:tint val="44500"/>
                  <a:satMod val="160000"/>
                </a:srgbClr>
              </a:gs>
              <a:gs pos="100000">
                <a:srgbClr val="FF0000">
                  <a:tint val="23500"/>
                  <a:satMod val="160000"/>
                </a:srgbClr>
              </a:gs>
            </a:gsLst>
            <a:lin ang="0" scaled="1"/>
            <a:tileRect/>
          </a:gradFill>
        </p:spPr>
        <p:style>
          <a:lnRef idx="1">
            <a:schemeClr val="accent5"/>
          </a:lnRef>
          <a:fillRef idx="2">
            <a:schemeClr val="accent5"/>
          </a:fillRef>
          <a:effectRef idx="1">
            <a:schemeClr val="accent5"/>
          </a:effectRef>
          <a:fontRef idx="minor">
            <a:schemeClr val="dk1"/>
          </a:fontRef>
        </p:style>
        <p:txBody>
          <a:bodyPr vert="horz" lIns="68580" tIns="34290" rIns="68580" bIns="34290" rtlCol="0" anchor="ctr">
            <a:noAutofit/>
          </a:bodyPr>
          <a:lstStyle>
            <a:defPPr>
              <a:defRPr lang="en-US"/>
            </a:defPPr>
            <a:lvl1pPr algn="ctr">
              <a:spcBef>
                <a:spcPct val="0"/>
              </a:spcBef>
              <a:buNone/>
              <a:defRPr sz="2800"/>
            </a:lvl1pPr>
          </a:lstStyle>
          <a:p>
            <a:pPr>
              <a:defRPr/>
            </a:pPr>
            <a:r>
              <a:rPr lang="en-US" sz="2400" dirty="0"/>
              <a:t>Process Synchronization using Lock Variable</a:t>
            </a:r>
            <a:endParaRPr lang="en-US" sz="2100" dirty="0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BCDD2EDE-8AB9-6ED1-E2AE-1E3D7582B93C}"/>
              </a:ext>
            </a:extLst>
          </p:cNvPr>
          <p:cNvSpPr txBox="1"/>
          <p:nvPr/>
        </p:nvSpPr>
        <p:spPr>
          <a:xfrm>
            <a:off x="539552" y="827084"/>
            <a:ext cx="8280920" cy="480131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US" b="1" dirty="0"/>
              <a:t>Example :-</a:t>
            </a:r>
          </a:p>
          <a:p>
            <a:pPr>
              <a:buNone/>
            </a:pPr>
            <a:endParaRPr lang="en-US" dirty="0"/>
          </a:p>
          <a:p>
            <a:pPr>
              <a:buNone/>
            </a:pPr>
            <a:r>
              <a:rPr lang="en-US" dirty="0"/>
              <a:t>int lock = 0;  // shared variable</a:t>
            </a:r>
          </a:p>
          <a:p>
            <a:pPr>
              <a:buNone/>
            </a:pPr>
            <a:endParaRPr lang="en-US" dirty="0"/>
          </a:p>
          <a:p>
            <a:pPr>
              <a:buNone/>
            </a:pPr>
            <a:r>
              <a:rPr lang="en-US" dirty="0"/>
              <a:t>void process() {</a:t>
            </a:r>
          </a:p>
          <a:p>
            <a:pPr>
              <a:buNone/>
            </a:pPr>
            <a:r>
              <a:rPr lang="en-US" dirty="0"/>
              <a:t>    while (1) {</a:t>
            </a:r>
          </a:p>
          <a:p>
            <a:pPr>
              <a:buNone/>
            </a:pPr>
            <a:r>
              <a:rPr lang="en-US" dirty="0"/>
              <a:t>        // Entry Section</a:t>
            </a:r>
          </a:p>
          <a:p>
            <a:pPr>
              <a:buNone/>
            </a:pPr>
            <a:r>
              <a:rPr lang="en-US" dirty="0"/>
              <a:t>        while (lock == 1); // wait until lock is free</a:t>
            </a:r>
          </a:p>
          <a:p>
            <a:pPr>
              <a:buNone/>
            </a:pPr>
            <a:r>
              <a:rPr lang="en-US" dirty="0"/>
              <a:t>        lock = 1;          // acquire lock</a:t>
            </a:r>
          </a:p>
          <a:p>
            <a:pPr>
              <a:buNone/>
            </a:pPr>
            <a:endParaRPr lang="en-US" dirty="0"/>
          </a:p>
          <a:p>
            <a:pPr>
              <a:buNone/>
            </a:pPr>
            <a:r>
              <a:rPr lang="en-US" dirty="0"/>
              <a:t>        // Critical Section</a:t>
            </a:r>
          </a:p>
          <a:p>
            <a:pPr>
              <a:buNone/>
            </a:pPr>
            <a:r>
              <a:rPr lang="en-US" dirty="0"/>
              <a:t>        </a:t>
            </a:r>
            <a:r>
              <a:rPr lang="en-US" dirty="0" err="1"/>
              <a:t>printf</a:t>
            </a:r>
            <a:r>
              <a:rPr lang="en-US" dirty="0"/>
              <a:t>("Process in critical section\n");</a:t>
            </a:r>
          </a:p>
          <a:p>
            <a:pPr>
              <a:buNone/>
            </a:pPr>
            <a:endParaRPr lang="en-US" dirty="0"/>
          </a:p>
          <a:p>
            <a:pPr>
              <a:buNone/>
            </a:pPr>
            <a:r>
              <a:rPr lang="en-US" dirty="0"/>
              <a:t>        // Exit Section</a:t>
            </a:r>
          </a:p>
          <a:p>
            <a:pPr>
              <a:buNone/>
            </a:pPr>
            <a:r>
              <a:rPr lang="en-US" dirty="0"/>
              <a:t>        lock = 0;          // release lock</a:t>
            </a:r>
          </a:p>
          <a:p>
            <a:pPr>
              <a:buNone/>
            </a:pPr>
            <a:r>
              <a:rPr lang="en-US" dirty="0"/>
              <a:t>    }</a:t>
            </a:r>
          </a:p>
          <a:p>
            <a:pPr>
              <a:buNone/>
            </a:pPr>
            <a:r>
              <a:rPr lang="en-US" dirty="0"/>
              <a:t>}</a:t>
            </a:r>
          </a:p>
        </p:txBody>
      </p:sp>
    </p:spTree>
    <p:extLst>
      <p:ext uri="{BB962C8B-B14F-4D97-AF65-F5344CB8AC3E}">
        <p14:creationId xmlns:p14="http://schemas.microsoft.com/office/powerpoint/2010/main" val="2136549947"/>
      </p:ext>
    </p:extLst>
  </p:cSld>
  <p:clrMapOvr>
    <a:masterClrMapping/>
  </p:clrMapOvr>
  <p:transition>
    <p:wipe dir="r"/>
  </p:transition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DFCFF87-C8FD-E49C-FBE0-C4AD8E30B34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21CE956-652F-E8D2-0890-BFDB38CA611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EB3315E-DC82-4224-9D48-9C894F5C7CE0}" type="datetime3">
              <a:rPr lang="en-US" smtClean="0"/>
              <a:t>1 September 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826A5C9-1696-3C25-541A-9C6916B674D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2514600" y="6356350"/>
            <a:ext cx="5181600" cy="365125"/>
          </a:xfrm>
        </p:spPr>
        <p:txBody>
          <a:bodyPr/>
          <a:lstStyle/>
          <a:p>
            <a:r>
              <a:rPr lang="en-US"/>
              <a:t>Atul Garg           BCSE0303            Unit- III</a:t>
            </a:r>
            <a:endParaRPr lang="en-US" dirty="0"/>
          </a:p>
        </p:txBody>
      </p:sp>
      <p:sp>
        <p:nvSpPr>
          <p:cNvPr id="12" name="Rectangle 3">
            <a:extLst>
              <a:ext uri="{FF2B5EF4-FFF2-40B4-BE49-F238E27FC236}">
                <a16:creationId xmlns:a16="http://schemas.microsoft.com/office/drawing/2014/main" id="{7DDE66EA-246E-B00D-1517-053D534BA95D}"/>
              </a:ext>
            </a:extLst>
          </p:cNvPr>
          <p:cNvSpPr txBox="1">
            <a:spLocks noChangeArrowheads="1"/>
          </p:cNvSpPr>
          <p:nvPr/>
        </p:nvSpPr>
        <p:spPr>
          <a:xfrm>
            <a:off x="395536" y="745196"/>
            <a:ext cx="8208912" cy="4782380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/>
          <a:p>
            <a:pPr marL="342900" marR="0" lvl="0" indent="-342900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defRPr/>
            </a:pPr>
            <a:endParaRPr kumimoji="0" lang="en-US" sz="2200" b="0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11" name="Slide Number Placeholder 10">
            <a:extLst>
              <a:ext uri="{FF2B5EF4-FFF2-40B4-BE49-F238E27FC236}">
                <a16:creationId xmlns:a16="http://schemas.microsoft.com/office/drawing/2014/main" id="{F36B846E-B188-EA22-F9FA-A89424E8F27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t>47</a:t>
            </a:fld>
            <a:endParaRPr lang="en-US"/>
          </a:p>
        </p:txBody>
      </p:sp>
      <p:pic>
        <p:nvPicPr>
          <p:cNvPr id="2" name="Picture 1" descr="A black and red logo&#10;&#10;Description automatically generated">
            <a:extLst>
              <a:ext uri="{FF2B5EF4-FFF2-40B4-BE49-F238E27FC236}">
                <a16:creationId xmlns:a16="http://schemas.microsoft.com/office/drawing/2014/main" id="{3971EE08-90BE-FDD8-5E7F-3CAFADC643A3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-27384"/>
            <a:ext cx="1657350" cy="710452"/>
          </a:xfrm>
          <a:prstGeom prst="rect">
            <a:avLst/>
          </a:prstGeom>
        </p:spPr>
      </p:pic>
      <p:sp>
        <p:nvSpPr>
          <p:cNvPr id="3" name="Title 1">
            <a:extLst>
              <a:ext uri="{FF2B5EF4-FFF2-40B4-BE49-F238E27FC236}">
                <a16:creationId xmlns:a16="http://schemas.microsoft.com/office/drawing/2014/main" id="{B2B63915-FE57-53AB-F6EC-69FA164EFFC6}"/>
              </a:ext>
            </a:extLst>
          </p:cNvPr>
          <p:cNvSpPr txBox="1">
            <a:spLocks/>
          </p:cNvSpPr>
          <p:nvPr/>
        </p:nvSpPr>
        <p:spPr>
          <a:xfrm>
            <a:off x="1545316" y="34744"/>
            <a:ext cx="7486650" cy="566436"/>
          </a:xfrm>
          <a:prstGeom prst="rect">
            <a:avLst/>
          </a:prstGeom>
          <a:gradFill flip="none" rotWithShape="1">
            <a:gsLst>
              <a:gs pos="0">
                <a:srgbClr val="FF0000">
                  <a:tint val="66000"/>
                  <a:satMod val="160000"/>
                </a:srgbClr>
              </a:gs>
              <a:gs pos="50000">
                <a:srgbClr val="FF0000">
                  <a:tint val="44500"/>
                  <a:satMod val="160000"/>
                </a:srgbClr>
              </a:gs>
              <a:gs pos="100000">
                <a:srgbClr val="FF0000">
                  <a:tint val="23500"/>
                  <a:satMod val="160000"/>
                </a:srgbClr>
              </a:gs>
            </a:gsLst>
            <a:lin ang="0" scaled="1"/>
            <a:tileRect/>
          </a:gradFill>
        </p:spPr>
        <p:style>
          <a:lnRef idx="1">
            <a:schemeClr val="accent5"/>
          </a:lnRef>
          <a:fillRef idx="2">
            <a:schemeClr val="accent5"/>
          </a:fillRef>
          <a:effectRef idx="1">
            <a:schemeClr val="accent5"/>
          </a:effectRef>
          <a:fontRef idx="minor">
            <a:schemeClr val="dk1"/>
          </a:fontRef>
        </p:style>
        <p:txBody>
          <a:bodyPr vert="horz" lIns="68580" tIns="34290" rIns="68580" bIns="34290" rtlCol="0" anchor="ctr">
            <a:noAutofit/>
          </a:bodyPr>
          <a:lstStyle>
            <a:defPPr>
              <a:defRPr lang="en-US"/>
            </a:defPPr>
            <a:lvl1pPr algn="ctr">
              <a:spcBef>
                <a:spcPct val="0"/>
              </a:spcBef>
              <a:buNone/>
              <a:defRPr sz="2800"/>
            </a:lvl1pPr>
          </a:lstStyle>
          <a:p>
            <a:pPr>
              <a:defRPr/>
            </a:pPr>
            <a:r>
              <a:rPr lang="en-US" sz="2400" dirty="0"/>
              <a:t>Process Synchronization using Lock Variable</a:t>
            </a:r>
            <a:endParaRPr lang="en-US" sz="2100" dirty="0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92869450-A56B-3601-194E-920C16351383}"/>
              </a:ext>
            </a:extLst>
          </p:cNvPr>
          <p:cNvSpPr txBox="1"/>
          <p:nvPr/>
        </p:nvSpPr>
        <p:spPr>
          <a:xfrm>
            <a:off x="539552" y="827084"/>
            <a:ext cx="8280920" cy="507831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US" dirty="0"/>
              <a:t>-Works only in theory for single-processor systems.</a:t>
            </a:r>
          </a:p>
          <a:p>
            <a:pPr>
              <a:buNone/>
            </a:pPr>
            <a:endParaRPr lang="en-US" dirty="0"/>
          </a:p>
          <a:p>
            <a:pPr>
              <a:buNone/>
            </a:pPr>
            <a:r>
              <a:rPr lang="en-US" dirty="0"/>
              <a:t>-Modern systems use atomic operations like Test-and-Set, Semaphore, or Mutex instead.</a:t>
            </a:r>
          </a:p>
          <a:p>
            <a:pPr>
              <a:buNone/>
            </a:pPr>
            <a:endParaRPr lang="en-US" dirty="0"/>
          </a:p>
          <a:p>
            <a:r>
              <a:rPr lang="en-US" dirty="0"/>
              <a:t>-A </a:t>
            </a:r>
            <a:r>
              <a:rPr lang="en-US" b="1" dirty="0"/>
              <a:t>lock variable</a:t>
            </a:r>
            <a:r>
              <a:rPr lang="en-US" dirty="0"/>
              <a:t> is a </a:t>
            </a:r>
            <a:r>
              <a:rPr lang="en-US" b="1" dirty="0"/>
              <a:t>basic idea</a:t>
            </a:r>
            <a:r>
              <a:rPr lang="en-US" dirty="0"/>
              <a:t> for process synchronization but </a:t>
            </a:r>
            <a:r>
              <a:rPr lang="en-US" b="1" dirty="0"/>
              <a:t>not reliable</a:t>
            </a:r>
            <a:r>
              <a:rPr lang="en-US" dirty="0"/>
              <a:t> in real-world concurrent systems due to </a:t>
            </a:r>
            <a:r>
              <a:rPr lang="en-US" b="1" dirty="0"/>
              <a:t>race conditions</a:t>
            </a:r>
            <a:r>
              <a:rPr lang="en-US" dirty="0"/>
              <a:t> and </a:t>
            </a:r>
            <a:r>
              <a:rPr lang="en-US" b="1" dirty="0"/>
              <a:t>inefficiency</a:t>
            </a:r>
            <a:r>
              <a:rPr lang="en-US" dirty="0"/>
              <a:t>.</a:t>
            </a:r>
          </a:p>
          <a:p>
            <a:pPr>
              <a:buNone/>
            </a:pPr>
            <a:endParaRPr lang="en-US" dirty="0"/>
          </a:p>
          <a:p>
            <a:pPr>
              <a:buNone/>
            </a:pPr>
            <a:endParaRPr lang="en-US" dirty="0"/>
          </a:p>
          <a:p>
            <a:pPr>
              <a:buNone/>
            </a:pPr>
            <a:endParaRPr lang="en-US" dirty="0"/>
          </a:p>
          <a:p>
            <a:pPr>
              <a:buNone/>
            </a:pPr>
            <a:endParaRPr lang="en-US" dirty="0"/>
          </a:p>
          <a:p>
            <a:pPr>
              <a:buNone/>
            </a:pPr>
            <a:endParaRPr lang="en-US" dirty="0"/>
          </a:p>
          <a:p>
            <a:pPr>
              <a:buNone/>
            </a:pPr>
            <a:endParaRPr lang="en-US" dirty="0"/>
          </a:p>
          <a:p>
            <a:pPr>
              <a:buNone/>
            </a:pPr>
            <a:endParaRPr lang="en-US" dirty="0"/>
          </a:p>
          <a:p>
            <a:pPr>
              <a:buNone/>
            </a:pPr>
            <a:endParaRPr lang="en-US" dirty="0"/>
          </a:p>
          <a:p>
            <a:pPr>
              <a:buNone/>
            </a:pPr>
            <a:endParaRPr lang="en-US" dirty="0"/>
          </a:p>
          <a:p>
            <a:pPr>
              <a:buNone/>
            </a:pPr>
            <a:endParaRPr lang="en-US" dirty="0"/>
          </a:p>
          <a:p>
            <a:pPr>
              <a:buNone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120916891"/>
      </p:ext>
    </p:extLst>
  </p:cSld>
  <p:clrMapOvr>
    <a:masterClrMapping/>
  </p:clrMapOvr>
  <p:transition>
    <p:wipe dir="r"/>
  </p:transition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B7745D1-63B5-4A92-BF95-0EDC23DD38F7}" type="datetime3">
              <a:rPr lang="en-US" smtClean="0"/>
              <a:t>1 September 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2514600" y="6356350"/>
            <a:ext cx="5181600" cy="365125"/>
          </a:xfrm>
        </p:spPr>
        <p:txBody>
          <a:bodyPr/>
          <a:lstStyle/>
          <a:p>
            <a:r>
              <a:rPr lang="en-US"/>
              <a:t>Atul Garg           BCSE0303            Unit- III</a:t>
            </a:r>
            <a:endParaRPr lang="en-US" dirty="0"/>
          </a:p>
        </p:txBody>
      </p:sp>
      <p:sp>
        <p:nvSpPr>
          <p:cNvPr id="10" name="Footer Placeholder 3"/>
          <p:cNvSpPr txBox="1"/>
          <p:nvPr/>
        </p:nvSpPr>
        <p:spPr>
          <a:xfrm>
            <a:off x="0" y="7140773"/>
            <a:ext cx="2895600" cy="320675"/>
          </a:xfrm>
          <a:prstGeom prst="rect">
            <a:avLst/>
          </a:prstGeom>
          <a:noFill/>
        </p:spPr>
        <p:txBody>
          <a:bodyPr vert="horz" lIns="91440" tIns="45720" rIns="91440" bIns="4572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sz="2000" b="0" i="0" u="none" strike="noStrike" kern="1200" cap="none" spc="0" normalizeH="0" baseline="0" noProof="0">
                <a:ln>
                  <a:noFill/>
                </a:ln>
                <a:solidFill>
                  <a:schemeClr val="tx1">
                    <a:tint val="75000"/>
                  </a:scheme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Operating System Concepts</a:t>
            </a:r>
          </a:p>
        </p:txBody>
      </p:sp>
      <p:sp>
        <p:nvSpPr>
          <p:cNvPr id="12" name="object 3"/>
          <p:cNvSpPr txBox="1"/>
          <p:nvPr/>
        </p:nvSpPr>
        <p:spPr>
          <a:xfrm>
            <a:off x="974084" y="764704"/>
            <a:ext cx="7558356" cy="5480988"/>
          </a:xfrm>
          <a:prstGeom prst="rect">
            <a:avLst/>
          </a:prstGeom>
        </p:spPr>
        <p:txBody>
          <a:bodyPr vert="horz" wrap="square" lIns="0" tIns="81280" rIns="0" bIns="0" rtlCol="0">
            <a:spAutoFit/>
          </a:bodyPr>
          <a:lstStyle/>
          <a:p>
            <a:pPr marL="404495" indent="-341630">
              <a:lnSpc>
                <a:spcPct val="150000"/>
              </a:lnSpc>
              <a:spcBef>
                <a:spcPts val="640"/>
              </a:spcBef>
              <a:buClr>
                <a:srgbClr val="993300"/>
              </a:buClr>
              <a:buSzPct val="89000"/>
              <a:buFont typeface="Arial" panose="020B0604020202020204" pitchFamily="34" charset="0"/>
              <a:buChar char="•"/>
              <a:tabLst>
                <a:tab pos="404495" algn="l"/>
                <a:tab pos="405130" algn="l"/>
                <a:tab pos="2256790" algn="l"/>
              </a:tabLst>
            </a:pPr>
            <a:r>
              <a:rPr sz="2200" spc="-10" dirty="0">
                <a:cs typeface="Arial" panose="020B0604020202020204"/>
              </a:rPr>
              <a:t>Good</a:t>
            </a:r>
            <a:r>
              <a:rPr sz="2200" spc="55" dirty="0">
                <a:cs typeface="Arial" panose="020B0604020202020204"/>
              </a:rPr>
              <a:t> </a:t>
            </a:r>
            <a:r>
              <a:rPr sz="2200" spc="-10" dirty="0">
                <a:cs typeface="Arial" panose="020B0604020202020204"/>
              </a:rPr>
              <a:t>algorithmic</a:t>
            </a:r>
            <a:r>
              <a:rPr lang="en-IN" sz="2200" spc="-10">
                <a:cs typeface="Arial" panose="020B0604020202020204"/>
              </a:rPr>
              <a:t> </a:t>
            </a:r>
            <a:r>
              <a:rPr sz="2200" spc="-5">
                <a:cs typeface="Arial" panose="020B0604020202020204"/>
              </a:rPr>
              <a:t>description </a:t>
            </a:r>
            <a:r>
              <a:rPr sz="2200" spc="-5" dirty="0">
                <a:cs typeface="Arial" panose="020B0604020202020204"/>
              </a:rPr>
              <a:t>of solving the</a:t>
            </a:r>
            <a:r>
              <a:rPr sz="2200" spc="20" dirty="0">
                <a:cs typeface="Arial" panose="020B0604020202020204"/>
              </a:rPr>
              <a:t> </a:t>
            </a:r>
            <a:r>
              <a:rPr sz="2200" spc="-10" dirty="0">
                <a:cs typeface="Arial" panose="020B0604020202020204"/>
              </a:rPr>
              <a:t>problem</a:t>
            </a:r>
            <a:endParaRPr sz="2200" dirty="0">
              <a:cs typeface="Arial" panose="020B0604020202020204"/>
            </a:endParaRPr>
          </a:p>
          <a:p>
            <a:pPr marL="404495" indent="-341630">
              <a:lnSpc>
                <a:spcPct val="150000"/>
              </a:lnSpc>
              <a:spcBef>
                <a:spcPts val="540"/>
              </a:spcBef>
              <a:buClr>
                <a:srgbClr val="993300"/>
              </a:buClr>
              <a:buSzPct val="89000"/>
              <a:buFont typeface="Arial" panose="020B0604020202020204" pitchFamily="34" charset="0"/>
              <a:buChar char="•"/>
              <a:tabLst>
                <a:tab pos="404495" algn="l"/>
                <a:tab pos="405130" algn="l"/>
              </a:tabLst>
            </a:pPr>
            <a:r>
              <a:rPr sz="2200" spc="-10" dirty="0">
                <a:cs typeface="Arial" panose="020B0604020202020204"/>
              </a:rPr>
              <a:t>Two </a:t>
            </a:r>
            <a:r>
              <a:rPr sz="2200" spc="-5" dirty="0">
                <a:cs typeface="Arial" panose="020B0604020202020204"/>
              </a:rPr>
              <a:t>process</a:t>
            </a:r>
            <a:r>
              <a:rPr sz="2200" spc="30" dirty="0">
                <a:cs typeface="Arial" panose="020B0604020202020204"/>
              </a:rPr>
              <a:t> </a:t>
            </a:r>
            <a:r>
              <a:rPr sz="2200" spc="-10" dirty="0">
                <a:cs typeface="Arial" panose="020B0604020202020204"/>
              </a:rPr>
              <a:t>solution</a:t>
            </a:r>
            <a:endParaRPr sz="2200" dirty="0">
              <a:cs typeface="Arial" panose="020B0604020202020204"/>
            </a:endParaRPr>
          </a:p>
          <a:p>
            <a:pPr marL="404495" indent="-341630">
              <a:lnSpc>
                <a:spcPct val="150000"/>
              </a:lnSpc>
              <a:spcBef>
                <a:spcPts val="480"/>
              </a:spcBef>
              <a:buClr>
                <a:srgbClr val="993300"/>
              </a:buClr>
              <a:buSzPct val="89000"/>
              <a:buFont typeface="Arial" panose="020B0604020202020204" pitchFamily="34" charset="0"/>
              <a:buChar char="•"/>
              <a:tabLst>
                <a:tab pos="404495" algn="l"/>
                <a:tab pos="405130" algn="l"/>
              </a:tabLst>
            </a:pPr>
            <a:r>
              <a:rPr sz="2200" dirty="0">
                <a:cs typeface="Arial" panose="020B0604020202020204"/>
              </a:rPr>
              <a:t>The </a:t>
            </a:r>
            <a:r>
              <a:rPr sz="2200" spc="-15" dirty="0">
                <a:cs typeface="Arial" panose="020B0604020202020204"/>
              </a:rPr>
              <a:t>two </a:t>
            </a:r>
            <a:r>
              <a:rPr sz="2200" spc="-5" dirty="0">
                <a:cs typeface="Arial" panose="020B0604020202020204"/>
              </a:rPr>
              <a:t>processes share </a:t>
            </a:r>
            <a:r>
              <a:rPr sz="2200" spc="-15" dirty="0">
                <a:cs typeface="Arial" panose="020B0604020202020204"/>
              </a:rPr>
              <a:t>two</a:t>
            </a:r>
            <a:r>
              <a:rPr sz="2200" spc="80" dirty="0">
                <a:cs typeface="Arial" panose="020B0604020202020204"/>
              </a:rPr>
              <a:t> </a:t>
            </a:r>
            <a:r>
              <a:rPr sz="2200" spc="-10" dirty="0">
                <a:cs typeface="Arial" panose="020B0604020202020204"/>
              </a:rPr>
              <a:t>variables:</a:t>
            </a:r>
            <a:endParaRPr sz="2200" dirty="0">
              <a:cs typeface="Arial" panose="020B0604020202020204"/>
            </a:endParaRPr>
          </a:p>
          <a:p>
            <a:pPr marL="805180" lvl="1" indent="-285115">
              <a:lnSpc>
                <a:spcPct val="150000"/>
              </a:lnSpc>
              <a:spcBef>
                <a:spcPts val="390"/>
              </a:spcBef>
              <a:buClr>
                <a:srgbClr val="CC6600"/>
              </a:buClr>
              <a:buSzPct val="78000"/>
              <a:buFont typeface="Arial" panose="020B0604020202020204" pitchFamily="34" charset="0"/>
              <a:buChar char="•"/>
              <a:tabLst>
                <a:tab pos="805180" algn="l"/>
                <a:tab pos="805815" algn="l"/>
              </a:tabLst>
            </a:pPr>
            <a:r>
              <a:rPr sz="2200" b="1" spc="-5" dirty="0">
                <a:cs typeface="Courier New" panose="02070309020205020404"/>
              </a:rPr>
              <a:t>int turn;</a:t>
            </a:r>
            <a:endParaRPr sz="2200" dirty="0">
              <a:cs typeface="Courier New" panose="02070309020205020404"/>
            </a:endParaRPr>
          </a:p>
          <a:p>
            <a:pPr marL="805180" lvl="1" indent="-285115">
              <a:lnSpc>
                <a:spcPct val="150000"/>
              </a:lnSpc>
              <a:spcBef>
                <a:spcPts val="480"/>
              </a:spcBef>
              <a:buClr>
                <a:srgbClr val="CC6600"/>
              </a:buClr>
              <a:buSzPct val="78000"/>
              <a:buFont typeface="Arial" panose="020B0604020202020204" pitchFamily="34" charset="0"/>
              <a:buChar char="•"/>
              <a:tabLst>
                <a:tab pos="805180" algn="l"/>
                <a:tab pos="805815" algn="l"/>
              </a:tabLst>
            </a:pPr>
            <a:r>
              <a:rPr sz="2200" b="1" spc="-5" dirty="0">
                <a:cs typeface="Courier New" panose="02070309020205020404"/>
              </a:rPr>
              <a:t>Boolean</a:t>
            </a:r>
            <a:r>
              <a:rPr sz="2200" b="1" spc="5" dirty="0">
                <a:cs typeface="Courier New" panose="02070309020205020404"/>
              </a:rPr>
              <a:t> </a:t>
            </a:r>
            <a:r>
              <a:rPr sz="2200" b="1" spc="-5" dirty="0">
                <a:cs typeface="Courier New" panose="02070309020205020404"/>
              </a:rPr>
              <a:t>flag[2]</a:t>
            </a:r>
            <a:endParaRPr sz="2200" dirty="0">
              <a:cs typeface="Courier New" panose="02070309020205020404"/>
            </a:endParaRPr>
          </a:p>
          <a:p>
            <a:pPr marL="404495" marR="204470" indent="-341630">
              <a:lnSpc>
                <a:spcPct val="150000"/>
              </a:lnSpc>
              <a:buClr>
                <a:srgbClr val="993300"/>
              </a:buClr>
              <a:buSzPct val="89000"/>
              <a:buFont typeface="Arial" panose="020B0604020202020204" pitchFamily="34" charset="0"/>
              <a:buChar char="•"/>
              <a:tabLst>
                <a:tab pos="404495" algn="l"/>
                <a:tab pos="405130" algn="l"/>
              </a:tabLst>
            </a:pPr>
            <a:r>
              <a:rPr sz="2200" dirty="0">
                <a:cs typeface="Arial" panose="020B0604020202020204"/>
              </a:rPr>
              <a:t>The </a:t>
            </a:r>
            <a:r>
              <a:rPr sz="2200" spc="-10" dirty="0">
                <a:cs typeface="Arial" panose="020B0604020202020204"/>
              </a:rPr>
              <a:t>variable </a:t>
            </a:r>
            <a:r>
              <a:rPr sz="2200" b="1" spc="-5" dirty="0">
                <a:cs typeface="Courier New" panose="02070309020205020404"/>
              </a:rPr>
              <a:t>turn </a:t>
            </a:r>
            <a:r>
              <a:rPr sz="2200" spc="-10" dirty="0">
                <a:cs typeface="Arial" panose="020B0604020202020204"/>
              </a:rPr>
              <a:t>indicates </a:t>
            </a:r>
            <a:r>
              <a:rPr sz="2200" spc="-15" dirty="0">
                <a:cs typeface="Arial" panose="020B0604020202020204"/>
              </a:rPr>
              <a:t>whose </a:t>
            </a:r>
            <a:r>
              <a:rPr sz="2200" spc="-5" dirty="0">
                <a:cs typeface="Arial" panose="020B0604020202020204"/>
              </a:rPr>
              <a:t>turn it is </a:t>
            </a:r>
            <a:r>
              <a:rPr sz="2200" dirty="0">
                <a:cs typeface="Arial" panose="020B0604020202020204"/>
              </a:rPr>
              <a:t>to </a:t>
            </a:r>
            <a:r>
              <a:rPr sz="2200" spc="-10" dirty="0">
                <a:cs typeface="Arial" panose="020B0604020202020204"/>
              </a:rPr>
              <a:t>enter </a:t>
            </a:r>
            <a:r>
              <a:rPr sz="2200" spc="-5" dirty="0">
                <a:cs typeface="Arial" panose="020B0604020202020204"/>
              </a:rPr>
              <a:t>the</a:t>
            </a:r>
            <a:r>
              <a:rPr sz="2200" spc="-290" dirty="0">
                <a:cs typeface="Arial" panose="020B0604020202020204"/>
              </a:rPr>
              <a:t> </a:t>
            </a:r>
            <a:r>
              <a:rPr sz="2200" spc="-5" dirty="0">
                <a:cs typeface="Arial" panose="020B0604020202020204"/>
              </a:rPr>
              <a:t>critical  </a:t>
            </a:r>
            <a:r>
              <a:rPr sz="2200" spc="-10" dirty="0">
                <a:cs typeface="Arial" panose="020B0604020202020204"/>
              </a:rPr>
              <a:t>section</a:t>
            </a:r>
            <a:endParaRPr sz="2200" dirty="0">
              <a:cs typeface="Arial" panose="020B0604020202020204"/>
            </a:endParaRPr>
          </a:p>
          <a:p>
            <a:pPr marL="404495" marR="68580" indent="-341630">
              <a:lnSpc>
                <a:spcPct val="150000"/>
              </a:lnSpc>
              <a:spcBef>
                <a:spcPts val="600"/>
              </a:spcBef>
              <a:buClr>
                <a:srgbClr val="993300"/>
              </a:buClr>
              <a:buSzPct val="89000"/>
              <a:buFont typeface="Arial" panose="020B0604020202020204" pitchFamily="34" charset="0"/>
              <a:buChar char="•"/>
              <a:tabLst>
                <a:tab pos="404495" algn="l"/>
                <a:tab pos="405130" algn="l"/>
              </a:tabLst>
            </a:pPr>
            <a:r>
              <a:rPr sz="2200" dirty="0">
                <a:cs typeface="Arial" panose="020B0604020202020204"/>
              </a:rPr>
              <a:t>The </a:t>
            </a:r>
            <a:r>
              <a:rPr sz="2200" b="1" spc="-5" dirty="0">
                <a:cs typeface="Courier New" panose="02070309020205020404"/>
              </a:rPr>
              <a:t>flag </a:t>
            </a:r>
            <a:r>
              <a:rPr sz="2200" spc="-5" dirty="0">
                <a:cs typeface="Arial" panose="020B0604020202020204"/>
              </a:rPr>
              <a:t>array is </a:t>
            </a:r>
            <a:r>
              <a:rPr sz="2200" spc="-10" dirty="0">
                <a:cs typeface="Arial" panose="020B0604020202020204"/>
              </a:rPr>
              <a:t>used </a:t>
            </a:r>
            <a:r>
              <a:rPr sz="2200" dirty="0">
                <a:cs typeface="Arial" panose="020B0604020202020204"/>
              </a:rPr>
              <a:t>to </a:t>
            </a:r>
            <a:r>
              <a:rPr sz="2200" spc="-10" dirty="0">
                <a:cs typeface="Arial" panose="020B0604020202020204"/>
              </a:rPr>
              <a:t>indicate </a:t>
            </a:r>
            <a:r>
              <a:rPr sz="2200" spc="-5" dirty="0">
                <a:cs typeface="Arial" panose="020B0604020202020204"/>
              </a:rPr>
              <a:t>if a process is </a:t>
            </a:r>
            <a:r>
              <a:rPr sz="2200" spc="-10" dirty="0">
                <a:cs typeface="Arial" panose="020B0604020202020204"/>
              </a:rPr>
              <a:t>ready </a:t>
            </a:r>
            <a:r>
              <a:rPr sz="2200" dirty="0">
                <a:cs typeface="Arial" panose="020B0604020202020204"/>
              </a:rPr>
              <a:t>to </a:t>
            </a:r>
            <a:r>
              <a:rPr sz="2200" spc="-10" dirty="0">
                <a:cs typeface="Arial" panose="020B0604020202020204"/>
              </a:rPr>
              <a:t>enter  </a:t>
            </a:r>
            <a:r>
              <a:rPr sz="2200" spc="-5" dirty="0">
                <a:cs typeface="Arial" panose="020B0604020202020204"/>
              </a:rPr>
              <a:t>the critical section. </a:t>
            </a:r>
            <a:r>
              <a:rPr sz="2200" b="1" spc="-5" dirty="0">
                <a:cs typeface="Courier New" panose="02070309020205020404"/>
              </a:rPr>
              <a:t>flag[i] = </a:t>
            </a:r>
            <a:r>
              <a:rPr sz="2200" b="1" i="1" spc="-5" dirty="0">
                <a:cs typeface="Courier New" panose="02070309020205020404"/>
              </a:rPr>
              <a:t>true </a:t>
            </a:r>
            <a:r>
              <a:rPr sz="2200" spc="-10" dirty="0">
                <a:cs typeface="Arial" panose="020B0604020202020204"/>
              </a:rPr>
              <a:t>implies </a:t>
            </a:r>
            <a:r>
              <a:rPr sz="2200" spc="-5" dirty="0">
                <a:cs typeface="Arial" panose="020B0604020202020204"/>
              </a:rPr>
              <a:t>that process </a:t>
            </a:r>
            <a:r>
              <a:rPr sz="2200" b="1" spc="5" dirty="0">
                <a:cs typeface="Courier New" panose="02070309020205020404"/>
              </a:rPr>
              <a:t>P</a:t>
            </a:r>
            <a:r>
              <a:rPr sz="2200" b="1" spc="7" baseline="-21000" dirty="0">
                <a:cs typeface="Courier New" panose="02070309020205020404"/>
              </a:rPr>
              <a:t>i </a:t>
            </a:r>
            <a:r>
              <a:rPr sz="2200" spc="-10" dirty="0">
                <a:cs typeface="Arial" panose="020B0604020202020204"/>
              </a:rPr>
              <a:t>is  ready!</a:t>
            </a:r>
            <a:endParaRPr sz="2200" dirty="0">
              <a:cs typeface="Arial" panose="020B0604020202020204"/>
            </a:endParaRPr>
          </a:p>
        </p:txBody>
      </p:sp>
      <p:sp>
        <p:nvSpPr>
          <p:cNvPr id="13" name="Slide Number Placeholder 1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t>48</a:t>
            </a:fld>
            <a:endParaRPr lang="en-US"/>
          </a:p>
        </p:txBody>
      </p:sp>
      <p:pic>
        <p:nvPicPr>
          <p:cNvPr id="2" name="Picture 1" descr="A black and red logo&#10;&#10;Description automatically generated">
            <a:extLst>
              <a:ext uri="{FF2B5EF4-FFF2-40B4-BE49-F238E27FC236}">
                <a16:creationId xmlns:a16="http://schemas.microsoft.com/office/drawing/2014/main" id="{52DEC5A2-2E4C-3DBB-12A2-306B6EFDF80E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342036"/>
            <a:ext cx="1657350" cy="710452"/>
          </a:xfrm>
          <a:prstGeom prst="rect">
            <a:avLst/>
          </a:prstGeom>
        </p:spPr>
      </p:pic>
      <p:sp>
        <p:nvSpPr>
          <p:cNvPr id="6" name="Title 1">
            <a:extLst>
              <a:ext uri="{FF2B5EF4-FFF2-40B4-BE49-F238E27FC236}">
                <a16:creationId xmlns:a16="http://schemas.microsoft.com/office/drawing/2014/main" id="{B45E3033-0AED-C35B-4CC9-9A7A3B29C2BD}"/>
              </a:ext>
            </a:extLst>
          </p:cNvPr>
          <p:cNvSpPr txBox="1">
            <a:spLocks/>
          </p:cNvSpPr>
          <p:nvPr/>
        </p:nvSpPr>
        <p:spPr>
          <a:xfrm>
            <a:off x="1763688" y="116632"/>
            <a:ext cx="7272808" cy="710452"/>
          </a:xfrm>
          <a:prstGeom prst="rect">
            <a:avLst/>
          </a:prstGeom>
          <a:gradFill flip="none" rotWithShape="1">
            <a:gsLst>
              <a:gs pos="0">
                <a:srgbClr val="FF0000">
                  <a:tint val="66000"/>
                  <a:satMod val="160000"/>
                </a:srgbClr>
              </a:gs>
              <a:gs pos="50000">
                <a:srgbClr val="FF0000">
                  <a:tint val="44500"/>
                  <a:satMod val="160000"/>
                </a:srgbClr>
              </a:gs>
              <a:gs pos="100000">
                <a:srgbClr val="FF0000">
                  <a:tint val="23500"/>
                  <a:satMod val="160000"/>
                </a:srgbClr>
              </a:gs>
            </a:gsLst>
            <a:lin ang="0" scaled="1"/>
            <a:tileRect/>
          </a:gradFill>
        </p:spPr>
        <p:style>
          <a:lnRef idx="1">
            <a:schemeClr val="accent5"/>
          </a:lnRef>
          <a:fillRef idx="2">
            <a:schemeClr val="accent5"/>
          </a:fillRef>
          <a:effectRef idx="1">
            <a:schemeClr val="accent5"/>
          </a:effectRef>
          <a:fontRef idx="minor">
            <a:schemeClr val="dk1"/>
          </a:fontRef>
        </p:style>
        <p:txBody>
          <a:bodyPr vert="horz" lIns="68580" tIns="34290" rIns="68580" bIns="34290" rtlCol="0" anchor="ctr">
            <a:noAutofit/>
          </a:bodyPr>
          <a:lstStyle>
            <a:defPPr>
              <a:defRPr lang="en-US"/>
            </a:defPPr>
            <a:lvl1pPr algn="ctr">
              <a:spcBef>
                <a:spcPct val="0"/>
              </a:spcBef>
              <a:buNone/>
              <a:defRPr sz="2800"/>
            </a:lvl1pPr>
          </a:lstStyle>
          <a:p>
            <a:pPr>
              <a:defRPr/>
            </a:pPr>
            <a:r>
              <a:rPr lang="en-IN" sz="2400" spc="70" dirty="0"/>
              <a:t>Peterson’s</a:t>
            </a:r>
            <a:r>
              <a:rPr lang="en-IN" sz="2400" spc="-95" dirty="0"/>
              <a:t> </a:t>
            </a:r>
            <a:r>
              <a:rPr lang="en-IN" sz="2400" spc="-5" dirty="0"/>
              <a:t>Solution</a:t>
            </a:r>
            <a:r>
              <a:rPr lang="en-IN" sz="2400" dirty="0"/>
              <a:t>(CO3)</a:t>
            </a:r>
            <a:endParaRPr lang="en-US" sz="2100" dirty="0"/>
          </a:p>
        </p:txBody>
      </p:sp>
    </p:spTree>
    <p:extLst>
      <p:ext uri="{BB962C8B-B14F-4D97-AF65-F5344CB8AC3E}">
        <p14:creationId xmlns:p14="http://schemas.microsoft.com/office/powerpoint/2010/main" val="2167864325"/>
      </p:ext>
    </p:extLst>
  </p:cSld>
  <p:clrMapOvr>
    <a:masterClrMapping/>
  </p:clrMapOvr>
  <p:transition>
    <p:wipe dir="u"/>
  </p:transition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6DAA510-D29F-613E-F455-1D1889D7C94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C7DB3EE-AC02-E205-03C6-AF74F7D22AB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A34B668-406B-464D-86A4-9986EB4AF51F}" type="datetime3">
              <a:rPr lang="en-US" smtClean="0"/>
              <a:t>1 September 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25775D0-F0AB-0B61-659A-D681D3945E5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2514600" y="6356350"/>
            <a:ext cx="5181600" cy="365125"/>
          </a:xfrm>
        </p:spPr>
        <p:txBody>
          <a:bodyPr/>
          <a:lstStyle/>
          <a:p>
            <a:r>
              <a:rPr lang="en-US"/>
              <a:t>Atul Garg           BCSE0303            Unit- III</a:t>
            </a:r>
            <a:endParaRPr lang="en-US" dirty="0"/>
          </a:p>
        </p:txBody>
      </p:sp>
      <p:sp>
        <p:nvSpPr>
          <p:cNvPr id="12" name="Rectangle 3">
            <a:extLst>
              <a:ext uri="{FF2B5EF4-FFF2-40B4-BE49-F238E27FC236}">
                <a16:creationId xmlns:a16="http://schemas.microsoft.com/office/drawing/2014/main" id="{AF31DFB7-AF78-0F4B-D1AC-98B95AB16495}"/>
              </a:ext>
            </a:extLst>
          </p:cNvPr>
          <p:cNvSpPr txBox="1">
            <a:spLocks noChangeArrowheads="1"/>
          </p:cNvSpPr>
          <p:nvPr/>
        </p:nvSpPr>
        <p:spPr>
          <a:xfrm>
            <a:off x="395536" y="745196"/>
            <a:ext cx="8208912" cy="4782380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/>
          <a:p>
            <a:pPr marL="342900" marR="0" lvl="0" indent="-342900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defRPr/>
            </a:pPr>
            <a:endParaRPr kumimoji="0" lang="en-US" sz="2200" b="0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11" name="Slide Number Placeholder 10">
            <a:extLst>
              <a:ext uri="{FF2B5EF4-FFF2-40B4-BE49-F238E27FC236}">
                <a16:creationId xmlns:a16="http://schemas.microsoft.com/office/drawing/2014/main" id="{7D364A17-CB77-8F5A-D5B7-27D3794CB48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t>49</a:t>
            </a:fld>
            <a:endParaRPr lang="en-US"/>
          </a:p>
        </p:txBody>
      </p:sp>
      <p:pic>
        <p:nvPicPr>
          <p:cNvPr id="2" name="Picture 1" descr="A black and red logo&#10;&#10;Description automatically generated">
            <a:extLst>
              <a:ext uri="{FF2B5EF4-FFF2-40B4-BE49-F238E27FC236}">
                <a16:creationId xmlns:a16="http://schemas.microsoft.com/office/drawing/2014/main" id="{62F92031-38B3-EFEF-2180-DE3392BA40CD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-27384"/>
            <a:ext cx="1657350" cy="710452"/>
          </a:xfrm>
          <a:prstGeom prst="rect">
            <a:avLst/>
          </a:prstGeom>
        </p:spPr>
      </p:pic>
      <p:sp>
        <p:nvSpPr>
          <p:cNvPr id="3" name="Title 1">
            <a:extLst>
              <a:ext uri="{FF2B5EF4-FFF2-40B4-BE49-F238E27FC236}">
                <a16:creationId xmlns:a16="http://schemas.microsoft.com/office/drawing/2014/main" id="{EAA48F0E-7D90-5CB5-EBF4-E238114BFDB7}"/>
              </a:ext>
            </a:extLst>
          </p:cNvPr>
          <p:cNvSpPr txBox="1">
            <a:spLocks/>
          </p:cNvSpPr>
          <p:nvPr/>
        </p:nvSpPr>
        <p:spPr>
          <a:xfrm>
            <a:off x="1524000" y="0"/>
            <a:ext cx="7486650" cy="722871"/>
          </a:xfrm>
          <a:prstGeom prst="rect">
            <a:avLst/>
          </a:prstGeom>
          <a:gradFill flip="none" rotWithShape="1">
            <a:gsLst>
              <a:gs pos="0">
                <a:srgbClr val="FF0000">
                  <a:tint val="66000"/>
                  <a:satMod val="160000"/>
                </a:srgbClr>
              </a:gs>
              <a:gs pos="50000">
                <a:srgbClr val="FF0000">
                  <a:tint val="44500"/>
                  <a:satMod val="160000"/>
                </a:srgbClr>
              </a:gs>
              <a:gs pos="100000">
                <a:srgbClr val="FF0000">
                  <a:tint val="23500"/>
                  <a:satMod val="160000"/>
                </a:srgbClr>
              </a:gs>
            </a:gsLst>
            <a:lin ang="0" scaled="1"/>
            <a:tileRect/>
          </a:gradFill>
        </p:spPr>
        <p:style>
          <a:lnRef idx="1">
            <a:schemeClr val="accent5"/>
          </a:lnRef>
          <a:fillRef idx="2">
            <a:schemeClr val="accent5"/>
          </a:fillRef>
          <a:effectRef idx="1">
            <a:schemeClr val="accent5"/>
          </a:effectRef>
          <a:fontRef idx="minor">
            <a:schemeClr val="dk1"/>
          </a:fontRef>
        </p:style>
        <p:txBody>
          <a:bodyPr vert="horz" lIns="68580" tIns="34290" rIns="68580" bIns="34290" rtlCol="0" anchor="ctr">
            <a:noAutofit/>
          </a:bodyPr>
          <a:lstStyle>
            <a:defPPr>
              <a:defRPr lang="en-US"/>
            </a:defPPr>
            <a:lvl1pPr algn="ctr">
              <a:spcBef>
                <a:spcPct val="0"/>
              </a:spcBef>
              <a:buNone/>
              <a:defRPr sz="2800"/>
            </a:lvl1pPr>
          </a:lstStyle>
          <a:p>
            <a:pPr>
              <a:defRPr/>
            </a:pPr>
            <a:r>
              <a:rPr lang="en-IN" sz="2400"/>
              <a:t>Peterson’s Solution</a:t>
            </a:r>
            <a:endParaRPr lang="en-US" sz="2100" dirty="0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C84143C7-B313-AD46-69FC-A979D0064412}"/>
              </a:ext>
            </a:extLst>
          </p:cNvPr>
          <p:cNvSpPr txBox="1"/>
          <p:nvPr/>
        </p:nvSpPr>
        <p:spPr>
          <a:xfrm>
            <a:off x="539552" y="827084"/>
            <a:ext cx="8280920" cy="618630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US" b="1" dirty="0"/>
              <a:t>Definition</a:t>
            </a:r>
            <a:r>
              <a:rPr lang="en-US" dirty="0"/>
              <a:t>:</a:t>
            </a:r>
          </a:p>
          <a:p>
            <a:pPr>
              <a:buNone/>
            </a:pPr>
            <a:r>
              <a:rPr lang="en-US" dirty="0"/>
              <a:t>-Peterson’s solution is a classic software-based algorithm for process synchronization.</a:t>
            </a:r>
          </a:p>
          <a:p>
            <a:pPr>
              <a:buNone/>
            </a:pPr>
            <a:r>
              <a:rPr lang="en-US" dirty="0"/>
              <a:t>-It allows two processes to share a critical section without conflict, ensuring mutual exclusion, progress, and bounded waiting.</a:t>
            </a:r>
          </a:p>
          <a:p>
            <a:pPr>
              <a:buNone/>
            </a:pPr>
            <a:r>
              <a:rPr lang="en-US" dirty="0"/>
              <a:t>-It is mainly used for two processes (say P0 and P1).</a:t>
            </a:r>
          </a:p>
          <a:p>
            <a:pPr>
              <a:buNone/>
            </a:pPr>
            <a:endParaRPr lang="en-US" dirty="0"/>
          </a:p>
          <a:p>
            <a:pPr>
              <a:buNone/>
            </a:pPr>
            <a:r>
              <a:rPr lang="en-US" b="1" dirty="0"/>
              <a:t>Key Shared </a:t>
            </a:r>
            <a:r>
              <a:rPr lang="en-US" b="1" dirty="0" err="1"/>
              <a:t>Variables</a:t>
            </a:r>
            <a:r>
              <a:rPr lang="en-US" dirty="0" err="1"/>
              <a:t>flag</a:t>
            </a:r>
            <a:r>
              <a:rPr lang="en-US" dirty="0"/>
              <a:t>[2]:</a:t>
            </a:r>
          </a:p>
          <a:p>
            <a:pPr>
              <a:buNone/>
            </a:pPr>
            <a:r>
              <a:rPr lang="en-US" dirty="0"/>
              <a:t>flag[0] = true → Process P0 wants to enter critical section</a:t>
            </a:r>
          </a:p>
          <a:p>
            <a:pPr>
              <a:buNone/>
            </a:pPr>
            <a:endParaRPr lang="en-US" dirty="0"/>
          </a:p>
          <a:p>
            <a:pPr>
              <a:buNone/>
            </a:pPr>
            <a:r>
              <a:rPr lang="en-US" dirty="0"/>
              <a:t>flag[1] = true → Process P1 wants to enter critical section</a:t>
            </a:r>
          </a:p>
          <a:p>
            <a:pPr>
              <a:buNone/>
            </a:pPr>
            <a:endParaRPr lang="en-US" dirty="0"/>
          </a:p>
          <a:p>
            <a:pPr>
              <a:buNone/>
            </a:pPr>
            <a:r>
              <a:rPr lang="en-US" dirty="0"/>
              <a:t>turn:</a:t>
            </a:r>
          </a:p>
          <a:p>
            <a:pPr>
              <a:buNone/>
            </a:pPr>
            <a:r>
              <a:rPr lang="en-US" dirty="0"/>
              <a:t>Indicates whose turn it is to enter the critical section.</a:t>
            </a:r>
          </a:p>
          <a:p>
            <a:pPr>
              <a:buNone/>
            </a:pPr>
            <a:endParaRPr lang="en-US" dirty="0"/>
          </a:p>
          <a:p>
            <a:pPr>
              <a:buNone/>
            </a:pPr>
            <a:endParaRPr lang="en-US" dirty="0"/>
          </a:p>
          <a:p>
            <a:pPr>
              <a:buNone/>
            </a:pPr>
            <a:endParaRPr lang="en-US" dirty="0"/>
          </a:p>
          <a:p>
            <a:pPr>
              <a:buNone/>
            </a:pPr>
            <a:endParaRPr lang="en-US" dirty="0"/>
          </a:p>
          <a:p>
            <a:pPr>
              <a:buNone/>
            </a:pPr>
            <a:endParaRPr lang="en-US" dirty="0"/>
          </a:p>
          <a:p>
            <a:pPr>
              <a:buNone/>
            </a:pPr>
            <a:endParaRPr lang="en-US" dirty="0"/>
          </a:p>
          <a:p>
            <a:pPr>
              <a:buNone/>
            </a:pPr>
            <a:endParaRPr lang="en-US" dirty="0"/>
          </a:p>
          <a:p>
            <a:pPr>
              <a:buNone/>
            </a:pPr>
            <a:endParaRPr lang="en-US" dirty="0"/>
          </a:p>
          <a:p>
            <a:pPr>
              <a:buNone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915307864"/>
      </p:ext>
    </p:extLst>
  </p:cSld>
  <p:clrMapOvr>
    <a:masterClrMapping/>
  </p:clrMapOvr>
  <p:transition>
    <p:wipe dir="r"/>
  </p:transition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31FA878-DA57-A871-3789-9161F247775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5D66D81-648C-430F-E9CB-361CF0DBE72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1905CBC-CA03-4B41-8777-2684E992EE28}" type="datetime3">
              <a:rPr lang="en-US" smtClean="0"/>
              <a:t>1 September 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CF092AC-35EF-2796-F78A-991EAF1DC66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2514600" y="6356350"/>
            <a:ext cx="5181600" cy="365125"/>
          </a:xfrm>
        </p:spPr>
        <p:txBody>
          <a:bodyPr/>
          <a:lstStyle/>
          <a:p>
            <a:r>
              <a:rPr lang="en-US"/>
              <a:t>Atul Garg           BCSE0303            Unit- III</a:t>
            </a:r>
            <a:endParaRPr lang="en-US" dirty="0"/>
          </a:p>
        </p:txBody>
      </p:sp>
      <p:sp>
        <p:nvSpPr>
          <p:cNvPr id="12" name="Rectangle 3">
            <a:extLst>
              <a:ext uri="{FF2B5EF4-FFF2-40B4-BE49-F238E27FC236}">
                <a16:creationId xmlns:a16="http://schemas.microsoft.com/office/drawing/2014/main" id="{087124F4-CEEB-EDD9-111F-84EB5BA17751}"/>
              </a:ext>
            </a:extLst>
          </p:cNvPr>
          <p:cNvSpPr txBox="1">
            <a:spLocks noChangeArrowheads="1"/>
          </p:cNvSpPr>
          <p:nvPr/>
        </p:nvSpPr>
        <p:spPr>
          <a:xfrm>
            <a:off x="395536" y="745196"/>
            <a:ext cx="8208912" cy="4782380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/>
          <a:p>
            <a:pPr marL="342900" marR="0" lvl="0" indent="-342900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defRPr/>
            </a:pPr>
            <a:endParaRPr kumimoji="0" lang="en-US" sz="2200" b="0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11" name="Slide Number Placeholder 10">
            <a:extLst>
              <a:ext uri="{FF2B5EF4-FFF2-40B4-BE49-F238E27FC236}">
                <a16:creationId xmlns:a16="http://schemas.microsoft.com/office/drawing/2014/main" id="{33345A93-D2B1-9BD7-363B-9CDB3883330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t>50</a:t>
            </a:fld>
            <a:endParaRPr lang="en-US"/>
          </a:p>
        </p:txBody>
      </p:sp>
      <p:pic>
        <p:nvPicPr>
          <p:cNvPr id="2" name="Picture 1" descr="A black and red logo&#10;&#10;Description automatically generated">
            <a:extLst>
              <a:ext uri="{FF2B5EF4-FFF2-40B4-BE49-F238E27FC236}">
                <a16:creationId xmlns:a16="http://schemas.microsoft.com/office/drawing/2014/main" id="{6EF31E4B-6492-8FF6-4DB9-70BEC4882D14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-27384"/>
            <a:ext cx="1657350" cy="710452"/>
          </a:xfrm>
          <a:prstGeom prst="rect">
            <a:avLst/>
          </a:prstGeom>
        </p:spPr>
      </p:pic>
      <p:sp>
        <p:nvSpPr>
          <p:cNvPr id="3" name="Title 1">
            <a:extLst>
              <a:ext uri="{FF2B5EF4-FFF2-40B4-BE49-F238E27FC236}">
                <a16:creationId xmlns:a16="http://schemas.microsoft.com/office/drawing/2014/main" id="{226E8356-2403-8077-119A-CE9A06D68B44}"/>
              </a:ext>
            </a:extLst>
          </p:cNvPr>
          <p:cNvSpPr txBox="1">
            <a:spLocks/>
          </p:cNvSpPr>
          <p:nvPr/>
        </p:nvSpPr>
        <p:spPr>
          <a:xfrm>
            <a:off x="1524000" y="0"/>
            <a:ext cx="7486650" cy="722871"/>
          </a:xfrm>
          <a:prstGeom prst="rect">
            <a:avLst/>
          </a:prstGeom>
          <a:gradFill flip="none" rotWithShape="1">
            <a:gsLst>
              <a:gs pos="0">
                <a:srgbClr val="FF0000">
                  <a:tint val="66000"/>
                  <a:satMod val="160000"/>
                </a:srgbClr>
              </a:gs>
              <a:gs pos="50000">
                <a:srgbClr val="FF0000">
                  <a:tint val="44500"/>
                  <a:satMod val="160000"/>
                </a:srgbClr>
              </a:gs>
              <a:gs pos="100000">
                <a:srgbClr val="FF0000">
                  <a:tint val="23500"/>
                  <a:satMod val="160000"/>
                </a:srgbClr>
              </a:gs>
            </a:gsLst>
            <a:lin ang="0" scaled="1"/>
            <a:tileRect/>
          </a:gradFill>
        </p:spPr>
        <p:style>
          <a:lnRef idx="1">
            <a:schemeClr val="accent5"/>
          </a:lnRef>
          <a:fillRef idx="2">
            <a:schemeClr val="accent5"/>
          </a:fillRef>
          <a:effectRef idx="1">
            <a:schemeClr val="accent5"/>
          </a:effectRef>
          <a:fontRef idx="minor">
            <a:schemeClr val="dk1"/>
          </a:fontRef>
        </p:style>
        <p:txBody>
          <a:bodyPr vert="horz" lIns="68580" tIns="34290" rIns="68580" bIns="34290" rtlCol="0" anchor="ctr">
            <a:noAutofit/>
          </a:bodyPr>
          <a:lstStyle>
            <a:defPPr>
              <a:defRPr lang="en-US"/>
            </a:defPPr>
            <a:lvl1pPr algn="ctr">
              <a:spcBef>
                <a:spcPct val="0"/>
              </a:spcBef>
              <a:buNone/>
              <a:defRPr sz="2800"/>
            </a:lvl1pPr>
          </a:lstStyle>
          <a:p>
            <a:pPr>
              <a:defRPr/>
            </a:pPr>
            <a:r>
              <a:rPr lang="en-IN" sz="2400"/>
              <a:t>Peterson’s Solution</a:t>
            </a:r>
            <a:endParaRPr lang="en-US" sz="2100" dirty="0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5E1484D6-CC8B-00C5-168A-1A993674B0AF}"/>
              </a:ext>
            </a:extLst>
          </p:cNvPr>
          <p:cNvSpPr txBox="1"/>
          <p:nvPr/>
        </p:nvSpPr>
        <p:spPr>
          <a:xfrm>
            <a:off x="491061" y="1124744"/>
            <a:ext cx="8280920" cy="757130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US" b="1" dirty="0"/>
              <a:t>Algorithm</a:t>
            </a:r>
          </a:p>
          <a:p>
            <a:pPr>
              <a:buNone/>
            </a:pPr>
            <a:r>
              <a:rPr lang="en-US" b="1" dirty="0"/>
              <a:t>1.Initialization</a:t>
            </a:r>
          </a:p>
          <a:p>
            <a:pPr>
              <a:buNone/>
            </a:pPr>
            <a:r>
              <a:rPr lang="en-US" dirty="0" err="1"/>
              <a:t>boolean</a:t>
            </a:r>
            <a:r>
              <a:rPr lang="en-US" dirty="0"/>
              <a:t> flag[2] = {false, false};  </a:t>
            </a:r>
          </a:p>
          <a:p>
            <a:pPr>
              <a:buNone/>
            </a:pPr>
            <a:r>
              <a:rPr lang="en-US" dirty="0"/>
              <a:t>int turn;</a:t>
            </a:r>
          </a:p>
          <a:p>
            <a:pPr>
              <a:buNone/>
            </a:pPr>
            <a:r>
              <a:rPr lang="en-IN" b="1" dirty="0"/>
              <a:t>2. Process P0</a:t>
            </a:r>
          </a:p>
          <a:p>
            <a:pPr>
              <a:buNone/>
            </a:pPr>
            <a:r>
              <a:rPr lang="en-US" dirty="0"/>
              <a:t>while (true) {</a:t>
            </a:r>
          </a:p>
          <a:p>
            <a:pPr>
              <a:buNone/>
            </a:pPr>
            <a:r>
              <a:rPr lang="en-US" dirty="0"/>
              <a:t>    flag[0] = true;       // P0 wants to enter</a:t>
            </a:r>
          </a:p>
          <a:p>
            <a:pPr>
              <a:buNone/>
            </a:pPr>
            <a:r>
              <a:rPr lang="en-US" dirty="0"/>
              <a:t>    turn = 1;             // Give chance to P1</a:t>
            </a:r>
          </a:p>
          <a:p>
            <a:pPr>
              <a:buNone/>
            </a:pPr>
            <a:r>
              <a:rPr lang="en-US" dirty="0"/>
              <a:t>    while (flag[1] &amp;&amp; turn == 1);  // Wait if P1 also wants to enter</a:t>
            </a:r>
          </a:p>
          <a:p>
            <a:pPr>
              <a:buNone/>
            </a:pPr>
            <a:endParaRPr lang="en-US" dirty="0"/>
          </a:p>
          <a:p>
            <a:pPr>
              <a:buNone/>
            </a:pPr>
            <a:r>
              <a:rPr lang="en-US" dirty="0"/>
              <a:t>    // Critical Section</a:t>
            </a:r>
          </a:p>
          <a:p>
            <a:pPr>
              <a:buNone/>
            </a:pPr>
            <a:r>
              <a:rPr lang="en-US" dirty="0"/>
              <a:t>    </a:t>
            </a:r>
            <a:r>
              <a:rPr lang="en-US" dirty="0" err="1"/>
              <a:t>printf</a:t>
            </a:r>
            <a:r>
              <a:rPr lang="en-US" dirty="0"/>
              <a:t>("P0 in Critical Section\n");</a:t>
            </a:r>
          </a:p>
          <a:p>
            <a:pPr>
              <a:buNone/>
            </a:pPr>
            <a:endParaRPr lang="en-US" dirty="0"/>
          </a:p>
          <a:p>
            <a:pPr>
              <a:buNone/>
            </a:pPr>
            <a:r>
              <a:rPr lang="en-US" dirty="0"/>
              <a:t>    flag[0] = false;      // Exit section</a:t>
            </a:r>
          </a:p>
          <a:p>
            <a:pPr>
              <a:buNone/>
            </a:pPr>
            <a:r>
              <a:rPr lang="en-US" dirty="0"/>
              <a:t>    // Remainder Section</a:t>
            </a:r>
          </a:p>
          <a:p>
            <a:pPr>
              <a:buNone/>
            </a:pPr>
            <a:r>
              <a:rPr lang="en-US" dirty="0"/>
              <a:t>}</a:t>
            </a:r>
          </a:p>
          <a:p>
            <a:pPr>
              <a:buNone/>
            </a:pPr>
            <a:endParaRPr lang="en-US" b="1" dirty="0"/>
          </a:p>
          <a:p>
            <a:pPr>
              <a:buNone/>
            </a:pPr>
            <a:endParaRPr lang="en-US" dirty="0"/>
          </a:p>
          <a:p>
            <a:pPr>
              <a:buNone/>
            </a:pPr>
            <a:endParaRPr lang="en-US" dirty="0"/>
          </a:p>
          <a:p>
            <a:pPr>
              <a:buNone/>
            </a:pPr>
            <a:endParaRPr lang="en-US" dirty="0"/>
          </a:p>
          <a:p>
            <a:pPr>
              <a:buNone/>
            </a:pPr>
            <a:endParaRPr lang="en-US" dirty="0"/>
          </a:p>
          <a:p>
            <a:pPr>
              <a:buNone/>
            </a:pPr>
            <a:endParaRPr lang="en-US" dirty="0"/>
          </a:p>
          <a:p>
            <a:pPr>
              <a:buNone/>
            </a:pPr>
            <a:endParaRPr lang="en-US" dirty="0"/>
          </a:p>
          <a:p>
            <a:pPr>
              <a:buNone/>
            </a:pPr>
            <a:endParaRPr lang="en-US" dirty="0"/>
          </a:p>
          <a:p>
            <a:pPr>
              <a:buNone/>
            </a:pPr>
            <a:endParaRPr lang="en-US" dirty="0"/>
          </a:p>
          <a:p>
            <a:pPr>
              <a:buNone/>
            </a:pPr>
            <a:endParaRPr lang="en-US" dirty="0"/>
          </a:p>
        </p:txBody>
      </p:sp>
      <p:sp>
        <p:nvSpPr>
          <p:cNvPr id="6" name="Rectangle 1">
            <a:extLst>
              <a:ext uri="{FF2B5EF4-FFF2-40B4-BE49-F238E27FC236}">
                <a16:creationId xmlns:a16="http://schemas.microsoft.com/office/drawing/2014/main" id="{25A9458F-C0E3-4BB7-A588-65894843265A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0"/>
            <a:ext cx="91440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600" b="1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Process P1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683425711"/>
      </p:ext>
    </p:extLst>
  </p:cSld>
  <p:clrMapOvr>
    <a:masterClrMapping/>
  </p:clrMapOvr>
  <p:transition>
    <p:wipe dir="r"/>
  </p:transition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6089256-8BFE-EDB1-70DB-AFF0335B5CB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4E15B65-A3B4-F65F-D6A6-5B3A6D85645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202C238-3C0E-4A5C-A7A7-D496D9C00F02}" type="datetime3">
              <a:rPr lang="en-US" smtClean="0"/>
              <a:t>1 September 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2BC3D4A-C7FA-7791-6478-EC42FB432A3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2514600" y="6356350"/>
            <a:ext cx="5181600" cy="365125"/>
          </a:xfrm>
        </p:spPr>
        <p:txBody>
          <a:bodyPr/>
          <a:lstStyle/>
          <a:p>
            <a:r>
              <a:rPr lang="en-US"/>
              <a:t>Atul Garg           BCSE0303            Unit- III</a:t>
            </a:r>
            <a:endParaRPr lang="en-US" dirty="0"/>
          </a:p>
        </p:txBody>
      </p:sp>
      <p:sp>
        <p:nvSpPr>
          <p:cNvPr id="12" name="Rectangle 3">
            <a:extLst>
              <a:ext uri="{FF2B5EF4-FFF2-40B4-BE49-F238E27FC236}">
                <a16:creationId xmlns:a16="http://schemas.microsoft.com/office/drawing/2014/main" id="{E3826016-4F82-E368-52D3-AD268D3CD3D7}"/>
              </a:ext>
            </a:extLst>
          </p:cNvPr>
          <p:cNvSpPr txBox="1">
            <a:spLocks noChangeArrowheads="1"/>
          </p:cNvSpPr>
          <p:nvPr/>
        </p:nvSpPr>
        <p:spPr>
          <a:xfrm>
            <a:off x="395536" y="745196"/>
            <a:ext cx="8208912" cy="4782380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/>
          <a:p>
            <a:pPr marL="342900" marR="0" lvl="0" indent="-342900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defRPr/>
            </a:pPr>
            <a:endParaRPr kumimoji="0" lang="en-US" sz="2200" b="0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11" name="Slide Number Placeholder 10">
            <a:extLst>
              <a:ext uri="{FF2B5EF4-FFF2-40B4-BE49-F238E27FC236}">
                <a16:creationId xmlns:a16="http://schemas.microsoft.com/office/drawing/2014/main" id="{B2AA8880-6788-3E1B-0826-D2842D5A37A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t>51</a:t>
            </a:fld>
            <a:endParaRPr lang="en-US"/>
          </a:p>
        </p:txBody>
      </p:sp>
      <p:pic>
        <p:nvPicPr>
          <p:cNvPr id="2" name="Picture 1" descr="A black and red logo&#10;&#10;Description automatically generated">
            <a:extLst>
              <a:ext uri="{FF2B5EF4-FFF2-40B4-BE49-F238E27FC236}">
                <a16:creationId xmlns:a16="http://schemas.microsoft.com/office/drawing/2014/main" id="{3E28CD59-0CDA-106B-2B17-85DA554E8DE1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-27384"/>
            <a:ext cx="1657350" cy="710452"/>
          </a:xfrm>
          <a:prstGeom prst="rect">
            <a:avLst/>
          </a:prstGeom>
        </p:spPr>
      </p:pic>
      <p:sp>
        <p:nvSpPr>
          <p:cNvPr id="3" name="Title 1">
            <a:extLst>
              <a:ext uri="{FF2B5EF4-FFF2-40B4-BE49-F238E27FC236}">
                <a16:creationId xmlns:a16="http://schemas.microsoft.com/office/drawing/2014/main" id="{84E57E51-FE86-F3FD-A700-E76BF2FFF970}"/>
              </a:ext>
            </a:extLst>
          </p:cNvPr>
          <p:cNvSpPr txBox="1">
            <a:spLocks/>
          </p:cNvSpPr>
          <p:nvPr/>
        </p:nvSpPr>
        <p:spPr>
          <a:xfrm>
            <a:off x="1524000" y="0"/>
            <a:ext cx="7486650" cy="722871"/>
          </a:xfrm>
          <a:prstGeom prst="rect">
            <a:avLst/>
          </a:prstGeom>
          <a:gradFill flip="none" rotWithShape="1">
            <a:gsLst>
              <a:gs pos="0">
                <a:srgbClr val="FF0000">
                  <a:tint val="66000"/>
                  <a:satMod val="160000"/>
                </a:srgbClr>
              </a:gs>
              <a:gs pos="50000">
                <a:srgbClr val="FF0000">
                  <a:tint val="44500"/>
                  <a:satMod val="160000"/>
                </a:srgbClr>
              </a:gs>
              <a:gs pos="100000">
                <a:srgbClr val="FF0000">
                  <a:tint val="23500"/>
                  <a:satMod val="160000"/>
                </a:srgbClr>
              </a:gs>
            </a:gsLst>
            <a:lin ang="0" scaled="1"/>
            <a:tileRect/>
          </a:gradFill>
        </p:spPr>
        <p:style>
          <a:lnRef idx="1">
            <a:schemeClr val="accent5"/>
          </a:lnRef>
          <a:fillRef idx="2">
            <a:schemeClr val="accent5"/>
          </a:fillRef>
          <a:effectRef idx="1">
            <a:schemeClr val="accent5"/>
          </a:effectRef>
          <a:fontRef idx="minor">
            <a:schemeClr val="dk1"/>
          </a:fontRef>
        </p:style>
        <p:txBody>
          <a:bodyPr vert="horz" lIns="68580" tIns="34290" rIns="68580" bIns="34290" rtlCol="0" anchor="ctr">
            <a:noAutofit/>
          </a:bodyPr>
          <a:lstStyle>
            <a:defPPr>
              <a:defRPr lang="en-US"/>
            </a:defPPr>
            <a:lvl1pPr algn="ctr">
              <a:spcBef>
                <a:spcPct val="0"/>
              </a:spcBef>
              <a:buNone/>
              <a:defRPr sz="2800"/>
            </a:lvl1pPr>
          </a:lstStyle>
          <a:p>
            <a:pPr>
              <a:defRPr/>
            </a:pPr>
            <a:r>
              <a:rPr lang="en-IN" sz="2400"/>
              <a:t>Peterson’s Solution</a:t>
            </a:r>
            <a:endParaRPr lang="en-US" sz="2100" dirty="0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E4C8F275-A82E-5CB9-AE74-95C5BD124FCE}"/>
              </a:ext>
            </a:extLst>
          </p:cNvPr>
          <p:cNvSpPr txBox="1"/>
          <p:nvPr/>
        </p:nvSpPr>
        <p:spPr>
          <a:xfrm>
            <a:off x="491061" y="1124744"/>
            <a:ext cx="8280920" cy="369331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US" b="1" dirty="0"/>
              <a:t>3. Process P1</a:t>
            </a:r>
          </a:p>
          <a:p>
            <a:pPr>
              <a:buNone/>
            </a:pPr>
            <a:r>
              <a:rPr lang="en-US" dirty="0"/>
              <a:t>while (true) {</a:t>
            </a:r>
          </a:p>
          <a:p>
            <a:pPr>
              <a:buNone/>
            </a:pPr>
            <a:r>
              <a:rPr lang="en-US" dirty="0"/>
              <a:t>    flag[1] = true;       // P1 wants to enter</a:t>
            </a:r>
          </a:p>
          <a:p>
            <a:pPr>
              <a:buNone/>
            </a:pPr>
            <a:r>
              <a:rPr lang="en-US" dirty="0"/>
              <a:t>    turn = 0;             // Give chance to P0</a:t>
            </a:r>
          </a:p>
          <a:p>
            <a:pPr>
              <a:buNone/>
            </a:pPr>
            <a:r>
              <a:rPr lang="en-US" dirty="0"/>
              <a:t>    while (flag[0] &amp;&amp; turn == 0);  // Wait if P0 also wants to enter</a:t>
            </a:r>
          </a:p>
          <a:p>
            <a:pPr>
              <a:buNone/>
            </a:pPr>
            <a:endParaRPr lang="en-US" dirty="0"/>
          </a:p>
          <a:p>
            <a:pPr>
              <a:buNone/>
            </a:pPr>
            <a:r>
              <a:rPr lang="en-US" dirty="0"/>
              <a:t>    // Critical Section</a:t>
            </a:r>
          </a:p>
          <a:p>
            <a:pPr>
              <a:buNone/>
            </a:pPr>
            <a:r>
              <a:rPr lang="en-US" dirty="0"/>
              <a:t>    </a:t>
            </a:r>
            <a:r>
              <a:rPr lang="en-US" dirty="0" err="1"/>
              <a:t>printf</a:t>
            </a:r>
            <a:r>
              <a:rPr lang="en-US" dirty="0"/>
              <a:t>("P1 in Critical Section\n");</a:t>
            </a:r>
          </a:p>
          <a:p>
            <a:pPr>
              <a:buNone/>
            </a:pPr>
            <a:endParaRPr lang="en-US" dirty="0"/>
          </a:p>
          <a:p>
            <a:pPr>
              <a:buNone/>
            </a:pPr>
            <a:r>
              <a:rPr lang="en-US" dirty="0"/>
              <a:t>    flag[1] = false;      // Exit section</a:t>
            </a:r>
          </a:p>
          <a:p>
            <a:pPr>
              <a:buNone/>
            </a:pPr>
            <a:r>
              <a:rPr lang="en-US" dirty="0"/>
              <a:t>    // Remainder Section</a:t>
            </a:r>
          </a:p>
          <a:p>
            <a:pPr>
              <a:buNone/>
            </a:pPr>
            <a:r>
              <a:rPr lang="en-US" dirty="0"/>
              <a:t>}</a:t>
            </a:r>
          </a:p>
          <a:p>
            <a:pPr>
              <a:buNone/>
            </a:pPr>
            <a:endParaRPr lang="en-US" b="1" dirty="0"/>
          </a:p>
        </p:txBody>
      </p:sp>
      <p:sp>
        <p:nvSpPr>
          <p:cNvPr id="6" name="Rectangle 1">
            <a:extLst>
              <a:ext uri="{FF2B5EF4-FFF2-40B4-BE49-F238E27FC236}">
                <a16:creationId xmlns:a16="http://schemas.microsoft.com/office/drawing/2014/main" id="{D6619ACD-67DE-856A-2736-741B0D2D0BB8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0"/>
            <a:ext cx="91440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600" b="1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Process P1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764345583"/>
      </p:ext>
    </p:extLst>
  </p:cSld>
  <p:clrMapOvr>
    <a:masterClrMapping/>
  </p:clrMapOvr>
  <p:transition>
    <p:wipe dir="r"/>
  </p:transition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590AB99-0F6B-D50B-1739-6591E3CA95B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9C1DCF8-CD81-028B-289C-584E8608851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352877-4BE2-4886-AD89-4094F469AD78}" type="datetime3">
              <a:rPr lang="en-US" smtClean="0"/>
              <a:t>1 September 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6248908-53E8-2A5B-A026-8D362E7AFBE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2514600" y="6356350"/>
            <a:ext cx="5181600" cy="365125"/>
          </a:xfrm>
        </p:spPr>
        <p:txBody>
          <a:bodyPr/>
          <a:lstStyle/>
          <a:p>
            <a:r>
              <a:rPr lang="en-US"/>
              <a:t>Atul Garg           BCSE0303            Unit- III</a:t>
            </a:r>
            <a:endParaRPr lang="en-US" dirty="0"/>
          </a:p>
        </p:txBody>
      </p:sp>
      <p:sp>
        <p:nvSpPr>
          <p:cNvPr id="12" name="Rectangle 3">
            <a:extLst>
              <a:ext uri="{FF2B5EF4-FFF2-40B4-BE49-F238E27FC236}">
                <a16:creationId xmlns:a16="http://schemas.microsoft.com/office/drawing/2014/main" id="{E319A82C-2198-D6B8-0CCE-121F6671A66B}"/>
              </a:ext>
            </a:extLst>
          </p:cNvPr>
          <p:cNvSpPr txBox="1">
            <a:spLocks noChangeArrowheads="1"/>
          </p:cNvSpPr>
          <p:nvPr/>
        </p:nvSpPr>
        <p:spPr>
          <a:xfrm>
            <a:off x="395536" y="745196"/>
            <a:ext cx="8208912" cy="4782380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/>
          <a:p>
            <a:pPr marL="342900" marR="0" lvl="0" indent="-342900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defRPr/>
            </a:pPr>
            <a:endParaRPr kumimoji="0" lang="en-US" sz="2200" b="0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11" name="Slide Number Placeholder 10">
            <a:extLst>
              <a:ext uri="{FF2B5EF4-FFF2-40B4-BE49-F238E27FC236}">
                <a16:creationId xmlns:a16="http://schemas.microsoft.com/office/drawing/2014/main" id="{03B9EC92-7E83-C0CB-3F8A-CDAC74A544E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t>52</a:t>
            </a:fld>
            <a:endParaRPr lang="en-US"/>
          </a:p>
        </p:txBody>
      </p:sp>
      <p:pic>
        <p:nvPicPr>
          <p:cNvPr id="2" name="Picture 1" descr="A black and red logo&#10;&#10;Description automatically generated">
            <a:extLst>
              <a:ext uri="{FF2B5EF4-FFF2-40B4-BE49-F238E27FC236}">
                <a16:creationId xmlns:a16="http://schemas.microsoft.com/office/drawing/2014/main" id="{762A9EAA-ED14-A245-4AC1-78947A1AC339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-27384"/>
            <a:ext cx="1657350" cy="710452"/>
          </a:xfrm>
          <a:prstGeom prst="rect">
            <a:avLst/>
          </a:prstGeom>
        </p:spPr>
      </p:pic>
      <p:sp>
        <p:nvSpPr>
          <p:cNvPr id="3" name="Title 1">
            <a:extLst>
              <a:ext uri="{FF2B5EF4-FFF2-40B4-BE49-F238E27FC236}">
                <a16:creationId xmlns:a16="http://schemas.microsoft.com/office/drawing/2014/main" id="{B3CB4A92-51A9-8D81-DE54-3B4515F3EBEF}"/>
              </a:ext>
            </a:extLst>
          </p:cNvPr>
          <p:cNvSpPr txBox="1">
            <a:spLocks/>
          </p:cNvSpPr>
          <p:nvPr/>
        </p:nvSpPr>
        <p:spPr>
          <a:xfrm>
            <a:off x="1524000" y="0"/>
            <a:ext cx="7486650" cy="722871"/>
          </a:xfrm>
          <a:prstGeom prst="rect">
            <a:avLst/>
          </a:prstGeom>
          <a:gradFill flip="none" rotWithShape="1">
            <a:gsLst>
              <a:gs pos="0">
                <a:srgbClr val="FF0000">
                  <a:tint val="66000"/>
                  <a:satMod val="160000"/>
                </a:srgbClr>
              </a:gs>
              <a:gs pos="50000">
                <a:srgbClr val="FF0000">
                  <a:tint val="44500"/>
                  <a:satMod val="160000"/>
                </a:srgbClr>
              </a:gs>
              <a:gs pos="100000">
                <a:srgbClr val="FF0000">
                  <a:tint val="23500"/>
                  <a:satMod val="160000"/>
                </a:srgbClr>
              </a:gs>
            </a:gsLst>
            <a:lin ang="0" scaled="1"/>
            <a:tileRect/>
          </a:gradFill>
        </p:spPr>
        <p:style>
          <a:lnRef idx="1">
            <a:schemeClr val="accent5"/>
          </a:lnRef>
          <a:fillRef idx="2">
            <a:schemeClr val="accent5"/>
          </a:fillRef>
          <a:effectRef idx="1">
            <a:schemeClr val="accent5"/>
          </a:effectRef>
          <a:fontRef idx="minor">
            <a:schemeClr val="dk1"/>
          </a:fontRef>
        </p:style>
        <p:txBody>
          <a:bodyPr vert="horz" lIns="68580" tIns="34290" rIns="68580" bIns="34290" rtlCol="0" anchor="ctr">
            <a:noAutofit/>
          </a:bodyPr>
          <a:lstStyle>
            <a:defPPr>
              <a:defRPr lang="en-US"/>
            </a:defPPr>
            <a:lvl1pPr algn="ctr">
              <a:spcBef>
                <a:spcPct val="0"/>
              </a:spcBef>
              <a:buNone/>
              <a:defRPr sz="2800"/>
            </a:lvl1pPr>
          </a:lstStyle>
          <a:p>
            <a:pPr>
              <a:defRPr/>
            </a:pPr>
            <a:r>
              <a:rPr lang="en-IN" sz="2400"/>
              <a:t>Peterson’s Solution</a:t>
            </a:r>
            <a:endParaRPr lang="en-US" sz="2100" dirty="0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DF28B5CD-16FC-13AF-A3DC-624171A5FF94}"/>
              </a:ext>
            </a:extLst>
          </p:cNvPr>
          <p:cNvSpPr txBox="1"/>
          <p:nvPr/>
        </p:nvSpPr>
        <p:spPr>
          <a:xfrm>
            <a:off x="491061" y="1124744"/>
            <a:ext cx="8280920" cy="563231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b="1" dirty="0"/>
              <a:t>Advantages</a:t>
            </a:r>
          </a:p>
          <a:p>
            <a:r>
              <a:rPr lang="en-US" dirty="0"/>
              <a:t>✅ Simple and easy to implement</a:t>
            </a:r>
            <a:br>
              <a:rPr lang="en-US" dirty="0"/>
            </a:br>
            <a:r>
              <a:rPr lang="en-US" dirty="0"/>
              <a:t>✅ Guarantees </a:t>
            </a:r>
            <a:r>
              <a:rPr lang="en-US" b="1" dirty="0"/>
              <a:t>mutual exclusion, progress, and bounded waiting</a:t>
            </a:r>
            <a:br>
              <a:rPr lang="en-US" dirty="0"/>
            </a:br>
            <a:r>
              <a:rPr lang="en-US" dirty="0"/>
              <a:t>✅ Requires no hardware support</a:t>
            </a:r>
          </a:p>
          <a:p>
            <a:endParaRPr lang="en-US" dirty="0"/>
          </a:p>
          <a:p>
            <a:r>
              <a:rPr lang="en-US" b="1" dirty="0"/>
              <a:t>Disadvantages</a:t>
            </a:r>
          </a:p>
          <a:p>
            <a:r>
              <a:rPr lang="en-US" dirty="0"/>
              <a:t>❌ Works only for </a:t>
            </a:r>
            <a:r>
              <a:rPr lang="en-US" b="1" dirty="0"/>
              <a:t>two processes</a:t>
            </a:r>
            <a:br>
              <a:rPr lang="en-US" dirty="0"/>
            </a:br>
            <a:r>
              <a:rPr lang="en-US" dirty="0"/>
              <a:t>❌ Relies on </a:t>
            </a:r>
            <a:r>
              <a:rPr lang="en-US" b="1" dirty="0"/>
              <a:t>busy waiting</a:t>
            </a:r>
            <a:r>
              <a:rPr lang="en-US" dirty="0"/>
              <a:t> (wastes CPU time)</a:t>
            </a:r>
            <a:br>
              <a:rPr lang="en-US" dirty="0"/>
            </a:br>
            <a:r>
              <a:rPr lang="en-US" dirty="0"/>
              <a:t>❌ May fail on </a:t>
            </a:r>
            <a:r>
              <a:rPr lang="en-US" b="1" dirty="0"/>
              <a:t>modern multi-core systems</a:t>
            </a:r>
            <a:r>
              <a:rPr lang="en-US" dirty="0"/>
              <a:t> due to compiler optimizations or instruction reordering (not strictly atomic).</a:t>
            </a:r>
          </a:p>
          <a:p>
            <a:endParaRPr lang="en-US" dirty="0"/>
          </a:p>
          <a:p>
            <a:r>
              <a:rPr lang="en-IN" b="1" dirty="0"/>
              <a:t>Real-world Usage</a:t>
            </a:r>
          </a:p>
          <a:p>
            <a:endParaRPr lang="en-IN" b="1" dirty="0"/>
          </a:p>
          <a:p>
            <a:r>
              <a:rPr lang="en-IN" dirty="0"/>
              <a:t>Peterson’s algorithm is mainly a </a:t>
            </a:r>
            <a:r>
              <a:rPr lang="en-IN" b="1" dirty="0"/>
              <a:t>theoretical model</a:t>
            </a:r>
            <a:r>
              <a:rPr lang="en-IN" dirty="0"/>
              <a:t> for teaching synchronization.</a:t>
            </a:r>
            <a:br>
              <a:rPr lang="en-IN" dirty="0"/>
            </a:br>
            <a:r>
              <a:rPr lang="en-IN" dirty="0"/>
              <a:t>In practice, modern systems use </a:t>
            </a:r>
            <a:r>
              <a:rPr lang="en-IN" b="1" dirty="0"/>
              <a:t>hardware-supported mechanisms</a:t>
            </a:r>
            <a:r>
              <a:rPr lang="en-IN" dirty="0"/>
              <a:t> like:</a:t>
            </a:r>
          </a:p>
          <a:p>
            <a:r>
              <a:rPr lang="en-IN" b="1" dirty="0"/>
              <a:t>Mutex Locks</a:t>
            </a:r>
            <a:endParaRPr lang="en-IN" dirty="0"/>
          </a:p>
          <a:p>
            <a:r>
              <a:rPr lang="en-IN" b="1" dirty="0"/>
              <a:t>Semaphores</a:t>
            </a:r>
            <a:endParaRPr lang="en-IN" dirty="0"/>
          </a:p>
          <a:p>
            <a:r>
              <a:rPr lang="en-IN" b="1" dirty="0"/>
              <a:t>Monitors</a:t>
            </a:r>
            <a:endParaRPr lang="en-IN" dirty="0"/>
          </a:p>
          <a:p>
            <a:endParaRPr lang="en-US" dirty="0"/>
          </a:p>
          <a:p>
            <a:pPr>
              <a:buNone/>
            </a:pPr>
            <a:endParaRPr lang="en-US" b="1" dirty="0"/>
          </a:p>
        </p:txBody>
      </p:sp>
      <p:sp>
        <p:nvSpPr>
          <p:cNvPr id="6" name="Rectangle 1">
            <a:extLst>
              <a:ext uri="{FF2B5EF4-FFF2-40B4-BE49-F238E27FC236}">
                <a16:creationId xmlns:a16="http://schemas.microsoft.com/office/drawing/2014/main" id="{30DB9D15-8AE7-7112-B2AF-C109CB1815CF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0"/>
            <a:ext cx="91440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600" b="1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Process P1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00133746"/>
      </p:ext>
    </p:extLst>
  </p:cSld>
  <p:clrMapOvr>
    <a:masterClrMapping/>
  </p:clrMapOvr>
  <p:transition>
    <p:wipe dir="r"/>
  </p:transition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471A86B-E9F2-EA19-D977-75019026CDE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D4FC98F-561D-A7EC-EE91-AD178C45EE9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3C83FA4-98B3-44C9-A952-BA76DAF0F3DA}" type="datetime3">
              <a:rPr lang="en-US" smtClean="0"/>
              <a:t>1 September 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056ADC6-B2F1-CFE2-35EF-94B4871132C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2514600" y="6356350"/>
            <a:ext cx="5181600" cy="365125"/>
          </a:xfrm>
        </p:spPr>
        <p:txBody>
          <a:bodyPr/>
          <a:lstStyle/>
          <a:p>
            <a:r>
              <a:rPr lang="en-US"/>
              <a:t>Atul Garg           BCSE0303            Unit- III</a:t>
            </a:r>
            <a:endParaRPr lang="en-US" dirty="0"/>
          </a:p>
        </p:txBody>
      </p:sp>
      <p:sp>
        <p:nvSpPr>
          <p:cNvPr id="12" name="Rectangle 3">
            <a:extLst>
              <a:ext uri="{FF2B5EF4-FFF2-40B4-BE49-F238E27FC236}">
                <a16:creationId xmlns:a16="http://schemas.microsoft.com/office/drawing/2014/main" id="{E19FCEAC-E043-1278-D713-5CFE77C29F28}"/>
              </a:ext>
            </a:extLst>
          </p:cNvPr>
          <p:cNvSpPr txBox="1">
            <a:spLocks noChangeArrowheads="1"/>
          </p:cNvSpPr>
          <p:nvPr/>
        </p:nvSpPr>
        <p:spPr>
          <a:xfrm>
            <a:off x="395536" y="745196"/>
            <a:ext cx="8208912" cy="4782380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/>
          <a:p>
            <a:pPr marL="342900" marR="0" lvl="0" indent="-342900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defRPr/>
            </a:pPr>
            <a:endParaRPr kumimoji="0" lang="en-US" sz="2200" b="0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11" name="Slide Number Placeholder 10">
            <a:extLst>
              <a:ext uri="{FF2B5EF4-FFF2-40B4-BE49-F238E27FC236}">
                <a16:creationId xmlns:a16="http://schemas.microsoft.com/office/drawing/2014/main" id="{F148DF87-E6FA-5E1E-E381-478608051BB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t>53</a:t>
            </a:fld>
            <a:endParaRPr lang="en-US"/>
          </a:p>
        </p:txBody>
      </p:sp>
      <p:pic>
        <p:nvPicPr>
          <p:cNvPr id="2" name="Picture 1" descr="A black and red logo&#10;&#10;Description automatically generated">
            <a:extLst>
              <a:ext uri="{FF2B5EF4-FFF2-40B4-BE49-F238E27FC236}">
                <a16:creationId xmlns:a16="http://schemas.microsoft.com/office/drawing/2014/main" id="{F133E99D-493D-D798-9DDC-50AE149E353A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-27384"/>
            <a:ext cx="1657350" cy="710452"/>
          </a:xfrm>
          <a:prstGeom prst="rect">
            <a:avLst/>
          </a:prstGeom>
        </p:spPr>
      </p:pic>
      <p:sp>
        <p:nvSpPr>
          <p:cNvPr id="3" name="Title 1">
            <a:extLst>
              <a:ext uri="{FF2B5EF4-FFF2-40B4-BE49-F238E27FC236}">
                <a16:creationId xmlns:a16="http://schemas.microsoft.com/office/drawing/2014/main" id="{2C2A4135-1813-3440-92E6-C06FFC518037}"/>
              </a:ext>
            </a:extLst>
          </p:cNvPr>
          <p:cNvSpPr txBox="1">
            <a:spLocks/>
          </p:cNvSpPr>
          <p:nvPr/>
        </p:nvSpPr>
        <p:spPr>
          <a:xfrm>
            <a:off x="1657350" y="0"/>
            <a:ext cx="7353300" cy="722871"/>
          </a:xfrm>
          <a:prstGeom prst="rect">
            <a:avLst/>
          </a:prstGeom>
          <a:gradFill flip="none" rotWithShape="1">
            <a:gsLst>
              <a:gs pos="0">
                <a:srgbClr val="FF0000">
                  <a:tint val="66000"/>
                  <a:satMod val="160000"/>
                </a:srgbClr>
              </a:gs>
              <a:gs pos="50000">
                <a:srgbClr val="FF0000">
                  <a:tint val="44500"/>
                  <a:satMod val="160000"/>
                </a:srgbClr>
              </a:gs>
              <a:gs pos="100000">
                <a:srgbClr val="FF0000">
                  <a:tint val="23500"/>
                  <a:satMod val="160000"/>
                </a:srgbClr>
              </a:gs>
            </a:gsLst>
            <a:lin ang="0" scaled="1"/>
            <a:tileRect/>
          </a:gradFill>
        </p:spPr>
        <p:style>
          <a:lnRef idx="1">
            <a:schemeClr val="accent5"/>
          </a:lnRef>
          <a:fillRef idx="2">
            <a:schemeClr val="accent5"/>
          </a:fillRef>
          <a:effectRef idx="1">
            <a:schemeClr val="accent5"/>
          </a:effectRef>
          <a:fontRef idx="minor">
            <a:schemeClr val="dk1"/>
          </a:fontRef>
        </p:style>
        <p:txBody>
          <a:bodyPr vert="horz" lIns="68580" tIns="34290" rIns="68580" bIns="34290" rtlCol="0" anchor="ctr">
            <a:noAutofit/>
          </a:bodyPr>
          <a:lstStyle>
            <a:defPPr>
              <a:defRPr lang="en-US"/>
            </a:defPPr>
            <a:lvl1pPr algn="ctr">
              <a:spcBef>
                <a:spcPct val="0"/>
              </a:spcBef>
              <a:buNone/>
              <a:defRPr sz="2800"/>
            </a:lvl1pPr>
          </a:lstStyle>
          <a:p>
            <a:pPr>
              <a:defRPr/>
            </a:pPr>
            <a:r>
              <a:rPr lang="en-IN" sz="2400" dirty="0"/>
              <a:t>Strict Alternation</a:t>
            </a:r>
            <a:endParaRPr lang="en-US" sz="2100" dirty="0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B8F3451A-AA8C-406F-BA83-260BA1AE12FC}"/>
              </a:ext>
            </a:extLst>
          </p:cNvPr>
          <p:cNvSpPr txBox="1"/>
          <p:nvPr/>
        </p:nvSpPr>
        <p:spPr>
          <a:xfrm>
            <a:off x="491061" y="1124744"/>
            <a:ext cx="8280920" cy="507831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b="1" dirty="0"/>
              <a:t>Definition:</a:t>
            </a:r>
          </a:p>
          <a:p>
            <a:br>
              <a:rPr lang="en-US" dirty="0"/>
            </a:br>
            <a:r>
              <a:rPr lang="en-US" dirty="0"/>
              <a:t>-Strict Alternation is one of the simplest software-based process synchronization techniques used to enforce mutual exclusion between two processes that share a critical section.</a:t>
            </a:r>
          </a:p>
          <a:p>
            <a:r>
              <a:rPr lang="en-US" dirty="0"/>
              <a:t>-It alternates access to the critical section </a:t>
            </a:r>
            <a:r>
              <a:rPr lang="en-US" b="1" dirty="0"/>
              <a:t>strictly</a:t>
            </a:r>
            <a:r>
              <a:rPr lang="en-US" dirty="0"/>
              <a:t>, meaning that after one process finishes, the other process </a:t>
            </a:r>
            <a:r>
              <a:rPr lang="en-US" b="1" dirty="0"/>
              <a:t>must</a:t>
            </a:r>
            <a:r>
              <a:rPr lang="en-US" dirty="0"/>
              <a:t> execute next, even if it does not need the critical section.</a:t>
            </a:r>
          </a:p>
          <a:p>
            <a:endParaRPr lang="en-US" dirty="0"/>
          </a:p>
          <a:p>
            <a:r>
              <a:rPr lang="en-US" b="1" dirty="0"/>
              <a:t>A shared variable turn is used</a:t>
            </a:r>
            <a:r>
              <a:rPr lang="en-US" dirty="0"/>
              <a:t>:</a:t>
            </a:r>
          </a:p>
          <a:p>
            <a:endParaRPr lang="en-US" dirty="0"/>
          </a:p>
          <a:p>
            <a:r>
              <a:rPr lang="en-US" dirty="0"/>
              <a:t>turn = 0 → It's Process P0's turn.</a:t>
            </a:r>
          </a:p>
          <a:p>
            <a:r>
              <a:rPr lang="en-US" dirty="0"/>
              <a:t>turn = 1 → It's Process P1's turn.</a:t>
            </a:r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pPr>
              <a:buNone/>
            </a:pPr>
            <a:endParaRPr lang="en-US" b="1" dirty="0"/>
          </a:p>
        </p:txBody>
      </p:sp>
      <p:sp>
        <p:nvSpPr>
          <p:cNvPr id="6" name="Rectangle 1">
            <a:extLst>
              <a:ext uri="{FF2B5EF4-FFF2-40B4-BE49-F238E27FC236}">
                <a16:creationId xmlns:a16="http://schemas.microsoft.com/office/drawing/2014/main" id="{D5F6D0A0-FDCA-6406-14DC-55B7199A1FCA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0"/>
            <a:ext cx="91440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600" b="1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Process P1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035868596"/>
      </p:ext>
    </p:extLst>
  </p:cSld>
  <p:clrMapOvr>
    <a:masterClrMapping/>
  </p:clrMapOvr>
  <p:transition>
    <p:wipe dir="r"/>
  </p:transition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6FA192E-9B99-5909-FFAA-FB6BC3933B8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E57962E-B8F9-F8BC-A725-27748CC3EC5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C45EB5F-E91B-4B88-9C4E-7A0B38E5BAFF}" type="datetime3">
              <a:rPr lang="en-US" smtClean="0"/>
              <a:t>1 September 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0DCD3FD-A672-1706-6C7B-325B31B6B60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2514600" y="6356350"/>
            <a:ext cx="5181600" cy="365125"/>
          </a:xfrm>
        </p:spPr>
        <p:txBody>
          <a:bodyPr/>
          <a:lstStyle/>
          <a:p>
            <a:r>
              <a:rPr lang="en-US"/>
              <a:t>Atul Garg           BCSE0303            Unit- III</a:t>
            </a:r>
            <a:endParaRPr lang="en-US" dirty="0"/>
          </a:p>
        </p:txBody>
      </p:sp>
      <p:sp>
        <p:nvSpPr>
          <p:cNvPr id="12" name="Rectangle 3">
            <a:extLst>
              <a:ext uri="{FF2B5EF4-FFF2-40B4-BE49-F238E27FC236}">
                <a16:creationId xmlns:a16="http://schemas.microsoft.com/office/drawing/2014/main" id="{32C7930E-CE0F-31D1-52FD-BBEFD9FDA147}"/>
              </a:ext>
            </a:extLst>
          </p:cNvPr>
          <p:cNvSpPr txBox="1">
            <a:spLocks noChangeArrowheads="1"/>
          </p:cNvSpPr>
          <p:nvPr/>
        </p:nvSpPr>
        <p:spPr>
          <a:xfrm>
            <a:off x="395536" y="745196"/>
            <a:ext cx="8208912" cy="4782380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/>
          <a:p>
            <a:pPr marL="342900" marR="0" lvl="0" indent="-342900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defRPr/>
            </a:pPr>
            <a:endParaRPr kumimoji="0" lang="en-US" sz="2200" b="0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11" name="Slide Number Placeholder 10">
            <a:extLst>
              <a:ext uri="{FF2B5EF4-FFF2-40B4-BE49-F238E27FC236}">
                <a16:creationId xmlns:a16="http://schemas.microsoft.com/office/drawing/2014/main" id="{6CCED068-18BC-ED76-78FE-9D5B2B07D26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t>54</a:t>
            </a:fld>
            <a:endParaRPr lang="en-US"/>
          </a:p>
        </p:txBody>
      </p:sp>
      <p:pic>
        <p:nvPicPr>
          <p:cNvPr id="2" name="Picture 1" descr="A black and red logo&#10;&#10;Description automatically generated">
            <a:extLst>
              <a:ext uri="{FF2B5EF4-FFF2-40B4-BE49-F238E27FC236}">
                <a16:creationId xmlns:a16="http://schemas.microsoft.com/office/drawing/2014/main" id="{C952EE4C-8592-33E1-67E4-A8FC3136198A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-27384"/>
            <a:ext cx="1657350" cy="710452"/>
          </a:xfrm>
          <a:prstGeom prst="rect">
            <a:avLst/>
          </a:prstGeom>
        </p:spPr>
      </p:pic>
      <p:sp>
        <p:nvSpPr>
          <p:cNvPr id="3" name="Title 1">
            <a:extLst>
              <a:ext uri="{FF2B5EF4-FFF2-40B4-BE49-F238E27FC236}">
                <a16:creationId xmlns:a16="http://schemas.microsoft.com/office/drawing/2014/main" id="{E1CBA664-E5F8-3173-92D3-14425A320001}"/>
              </a:ext>
            </a:extLst>
          </p:cNvPr>
          <p:cNvSpPr txBox="1">
            <a:spLocks/>
          </p:cNvSpPr>
          <p:nvPr/>
        </p:nvSpPr>
        <p:spPr>
          <a:xfrm>
            <a:off x="1524000" y="0"/>
            <a:ext cx="7486650" cy="722871"/>
          </a:xfrm>
          <a:prstGeom prst="rect">
            <a:avLst/>
          </a:prstGeom>
          <a:gradFill flip="none" rotWithShape="1">
            <a:gsLst>
              <a:gs pos="0">
                <a:srgbClr val="FF0000">
                  <a:tint val="66000"/>
                  <a:satMod val="160000"/>
                </a:srgbClr>
              </a:gs>
              <a:gs pos="50000">
                <a:srgbClr val="FF0000">
                  <a:tint val="44500"/>
                  <a:satMod val="160000"/>
                </a:srgbClr>
              </a:gs>
              <a:gs pos="100000">
                <a:srgbClr val="FF0000">
                  <a:tint val="23500"/>
                  <a:satMod val="160000"/>
                </a:srgbClr>
              </a:gs>
            </a:gsLst>
            <a:lin ang="0" scaled="1"/>
            <a:tileRect/>
          </a:gradFill>
        </p:spPr>
        <p:style>
          <a:lnRef idx="1">
            <a:schemeClr val="accent5"/>
          </a:lnRef>
          <a:fillRef idx="2">
            <a:schemeClr val="accent5"/>
          </a:fillRef>
          <a:effectRef idx="1">
            <a:schemeClr val="accent5"/>
          </a:effectRef>
          <a:fontRef idx="minor">
            <a:schemeClr val="dk1"/>
          </a:fontRef>
        </p:style>
        <p:txBody>
          <a:bodyPr vert="horz" lIns="68580" tIns="34290" rIns="68580" bIns="34290" rtlCol="0" anchor="ctr">
            <a:noAutofit/>
          </a:bodyPr>
          <a:lstStyle>
            <a:defPPr>
              <a:defRPr lang="en-US"/>
            </a:defPPr>
            <a:lvl1pPr algn="ctr">
              <a:spcBef>
                <a:spcPct val="0"/>
              </a:spcBef>
              <a:buNone/>
              <a:defRPr sz="2800"/>
            </a:lvl1pPr>
          </a:lstStyle>
          <a:p>
            <a:pPr>
              <a:defRPr/>
            </a:pPr>
            <a:r>
              <a:rPr lang="en-IN" sz="2400" dirty="0"/>
              <a:t>Strict Alternation</a:t>
            </a:r>
            <a:endParaRPr lang="en-US" sz="2100" dirty="0"/>
          </a:p>
        </p:txBody>
      </p:sp>
      <p:sp>
        <p:nvSpPr>
          <p:cNvPr id="6" name="Rectangle 1">
            <a:extLst>
              <a:ext uri="{FF2B5EF4-FFF2-40B4-BE49-F238E27FC236}">
                <a16:creationId xmlns:a16="http://schemas.microsoft.com/office/drawing/2014/main" id="{77FFC16D-49AF-9195-608A-33CE1B8E04C5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0"/>
            <a:ext cx="91440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600" b="1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Process P1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53B93EA6-67F0-4DE5-2FFD-ECAA9AB964A3}"/>
              </a:ext>
            </a:extLst>
          </p:cNvPr>
          <p:cNvSpPr txBox="1"/>
          <p:nvPr/>
        </p:nvSpPr>
        <p:spPr>
          <a:xfrm>
            <a:off x="683568" y="1052736"/>
            <a:ext cx="7200800" cy="757130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b="1" dirty="0"/>
              <a:t>A shared variable turn is used:</a:t>
            </a:r>
          </a:p>
          <a:p>
            <a:endParaRPr lang="en-US" dirty="0"/>
          </a:p>
          <a:p>
            <a:r>
              <a:rPr lang="en-US" dirty="0"/>
              <a:t>turn = 0 → It's Process P0's turn.</a:t>
            </a:r>
          </a:p>
          <a:p>
            <a:r>
              <a:rPr lang="en-US" dirty="0"/>
              <a:t>turn = 1 → It's Process P1's turn.</a:t>
            </a:r>
          </a:p>
          <a:p>
            <a:endParaRPr lang="en-US" dirty="0"/>
          </a:p>
          <a:p>
            <a:r>
              <a:rPr lang="en-US" b="1" dirty="0"/>
              <a:t>Algorithm</a:t>
            </a:r>
          </a:p>
          <a:p>
            <a:r>
              <a:rPr lang="en-US" b="1" dirty="0"/>
              <a:t>1.Initialization</a:t>
            </a:r>
          </a:p>
          <a:p>
            <a:r>
              <a:rPr lang="en-US" dirty="0"/>
              <a:t>int turn = 0;  // Start with process P0</a:t>
            </a:r>
          </a:p>
          <a:p>
            <a:endParaRPr lang="en-US" dirty="0"/>
          </a:p>
          <a:p>
            <a:r>
              <a:rPr lang="en-US" b="1" dirty="0"/>
              <a:t>2.</a:t>
            </a:r>
            <a:r>
              <a:rPr lang="en-IN" dirty="0"/>
              <a:t> </a:t>
            </a:r>
            <a:r>
              <a:rPr lang="en-IN" b="1" dirty="0"/>
              <a:t>Process P0</a:t>
            </a:r>
          </a:p>
          <a:p>
            <a:r>
              <a:rPr lang="en-US" dirty="0"/>
              <a:t>while (true) {</a:t>
            </a:r>
          </a:p>
          <a:p>
            <a:r>
              <a:rPr lang="en-US" dirty="0"/>
              <a:t>    while (turn != 0);   // Wait until </a:t>
            </a:r>
            <a:r>
              <a:rPr lang="en-US" dirty="0" err="1"/>
              <a:t>i</a:t>
            </a:r>
            <a:endParaRPr lang="en-US" dirty="0"/>
          </a:p>
          <a:p>
            <a:r>
              <a:rPr lang="en-US" dirty="0"/>
              <a:t>t's P0's turn</a:t>
            </a:r>
          </a:p>
          <a:p>
            <a:endParaRPr lang="en-US" dirty="0"/>
          </a:p>
          <a:p>
            <a:r>
              <a:rPr lang="en-US" dirty="0"/>
              <a:t>    // Critical Section</a:t>
            </a:r>
          </a:p>
          <a:p>
            <a:r>
              <a:rPr lang="en-US" dirty="0"/>
              <a:t>    </a:t>
            </a:r>
            <a:r>
              <a:rPr lang="en-US" dirty="0" err="1"/>
              <a:t>printf</a:t>
            </a:r>
            <a:r>
              <a:rPr lang="en-US" dirty="0"/>
              <a:t>("P0 in Critical Section\n");</a:t>
            </a:r>
          </a:p>
          <a:p>
            <a:endParaRPr lang="en-US" dirty="0"/>
          </a:p>
          <a:p>
            <a:r>
              <a:rPr lang="en-US" dirty="0"/>
              <a:t>    turn = 1;            // Pass turn to P1</a:t>
            </a:r>
          </a:p>
          <a:p>
            <a:endParaRPr lang="en-US" dirty="0"/>
          </a:p>
          <a:p>
            <a:r>
              <a:rPr lang="en-US" dirty="0"/>
              <a:t>    // Remainder Section</a:t>
            </a:r>
          </a:p>
          <a:p>
            <a:r>
              <a:rPr lang="en-US" dirty="0"/>
              <a:t>}</a:t>
            </a:r>
          </a:p>
          <a:p>
            <a:endParaRPr lang="en-US" b="1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503802644"/>
      </p:ext>
    </p:extLst>
  </p:cSld>
  <p:clrMapOvr>
    <a:masterClrMapping/>
  </p:clrMapOvr>
  <p:transition>
    <p:wipe dir="r"/>
  </p:transition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73853A1-5786-92D4-A630-AD27E3CE04D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087F790-B218-D4B5-5223-F761613C262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1624EBF-4B61-4516-8544-6C40D412BF1C}" type="datetime3">
              <a:rPr lang="en-US" smtClean="0"/>
              <a:t>1 September 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A7C07C7-A461-F683-B9C9-DF8E47DB4A8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2514600" y="6356350"/>
            <a:ext cx="5181600" cy="365125"/>
          </a:xfrm>
        </p:spPr>
        <p:txBody>
          <a:bodyPr/>
          <a:lstStyle/>
          <a:p>
            <a:r>
              <a:rPr lang="en-US"/>
              <a:t>Atul Garg           BCSE0303            Unit- III</a:t>
            </a:r>
            <a:endParaRPr lang="en-US" dirty="0"/>
          </a:p>
        </p:txBody>
      </p:sp>
      <p:sp>
        <p:nvSpPr>
          <p:cNvPr id="12" name="Rectangle 3">
            <a:extLst>
              <a:ext uri="{FF2B5EF4-FFF2-40B4-BE49-F238E27FC236}">
                <a16:creationId xmlns:a16="http://schemas.microsoft.com/office/drawing/2014/main" id="{124F503E-B0DF-F15E-8104-202FD71128C8}"/>
              </a:ext>
            </a:extLst>
          </p:cNvPr>
          <p:cNvSpPr txBox="1">
            <a:spLocks noChangeArrowheads="1"/>
          </p:cNvSpPr>
          <p:nvPr/>
        </p:nvSpPr>
        <p:spPr>
          <a:xfrm>
            <a:off x="395536" y="745196"/>
            <a:ext cx="8208912" cy="4782380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/>
          <a:p>
            <a:pPr marL="342900" marR="0" lvl="0" indent="-342900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defRPr/>
            </a:pPr>
            <a:endParaRPr kumimoji="0" lang="en-US" sz="2200" b="0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11" name="Slide Number Placeholder 10">
            <a:extLst>
              <a:ext uri="{FF2B5EF4-FFF2-40B4-BE49-F238E27FC236}">
                <a16:creationId xmlns:a16="http://schemas.microsoft.com/office/drawing/2014/main" id="{D4A5EFE2-B0CA-B8C1-8F7C-85EAFAEAE99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t>55</a:t>
            </a:fld>
            <a:endParaRPr lang="en-US"/>
          </a:p>
        </p:txBody>
      </p:sp>
      <p:pic>
        <p:nvPicPr>
          <p:cNvPr id="2" name="Picture 1" descr="A black and red logo&#10;&#10;Description automatically generated">
            <a:extLst>
              <a:ext uri="{FF2B5EF4-FFF2-40B4-BE49-F238E27FC236}">
                <a16:creationId xmlns:a16="http://schemas.microsoft.com/office/drawing/2014/main" id="{25D895A0-6F1E-ECA6-4629-60788825B395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-27384"/>
            <a:ext cx="1657350" cy="710452"/>
          </a:xfrm>
          <a:prstGeom prst="rect">
            <a:avLst/>
          </a:prstGeom>
        </p:spPr>
      </p:pic>
      <p:sp>
        <p:nvSpPr>
          <p:cNvPr id="3" name="Title 1">
            <a:extLst>
              <a:ext uri="{FF2B5EF4-FFF2-40B4-BE49-F238E27FC236}">
                <a16:creationId xmlns:a16="http://schemas.microsoft.com/office/drawing/2014/main" id="{E62020CE-E87A-3096-DFD6-982D62394F86}"/>
              </a:ext>
            </a:extLst>
          </p:cNvPr>
          <p:cNvSpPr txBox="1">
            <a:spLocks/>
          </p:cNvSpPr>
          <p:nvPr/>
        </p:nvSpPr>
        <p:spPr>
          <a:xfrm>
            <a:off x="1524000" y="0"/>
            <a:ext cx="7486650" cy="722871"/>
          </a:xfrm>
          <a:prstGeom prst="rect">
            <a:avLst/>
          </a:prstGeom>
          <a:gradFill flip="none" rotWithShape="1">
            <a:gsLst>
              <a:gs pos="0">
                <a:srgbClr val="FF0000">
                  <a:tint val="66000"/>
                  <a:satMod val="160000"/>
                </a:srgbClr>
              </a:gs>
              <a:gs pos="50000">
                <a:srgbClr val="FF0000">
                  <a:tint val="44500"/>
                  <a:satMod val="160000"/>
                </a:srgbClr>
              </a:gs>
              <a:gs pos="100000">
                <a:srgbClr val="FF0000">
                  <a:tint val="23500"/>
                  <a:satMod val="160000"/>
                </a:srgbClr>
              </a:gs>
            </a:gsLst>
            <a:lin ang="0" scaled="1"/>
            <a:tileRect/>
          </a:gradFill>
        </p:spPr>
        <p:style>
          <a:lnRef idx="1">
            <a:schemeClr val="accent5"/>
          </a:lnRef>
          <a:fillRef idx="2">
            <a:schemeClr val="accent5"/>
          </a:fillRef>
          <a:effectRef idx="1">
            <a:schemeClr val="accent5"/>
          </a:effectRef>
          <a:fontRef idx="minor">
            <a:schemeClr val="dk1"/>
          </a:fontRef>
        </p:style>
        <p:txBody>
          <a:bodyPr vert="horz" lIns="68580" tIns="34290" rIns="68580" bIns="34290" rtlCol="0" anchor="ctr">
            <a:noAutofit/>
          </a:bodyPr>
          <a:lstStyle>
            <a:defPPr>
              <a:defRPr lang="en-US"/>
            </a:defPPr>
            <a:lvl1pPr algn="ctr">
              <a:spcBef>
                <a:spcPct val="0"/>
              </a:spcBef>
              <a:buNone/>
              <a:defRPr sz="2800"/>
            </a:lvl1pPr>
          </a:lstStyle>
          <a:p>
            <a:pPr>
              <a:defRPr/>
            </a:pPr>
            <a:r>
              <a:rPr lang="en-IN" sz="2400" dirty="0"/>
              <a:t>Strict Alternation</a:t>
            </a:r>
            <a:endParaRPr lang="en-US" sz="2100" dirty="0"/>
          </a:p>
        </p:txBody>
      </p:sp>
      <p:sp>
        <p:nvSpPr>
          <p:cNvPr id="6" name="Rectangle 1">
            <a:extLst>
              <a:ext uri="{FF2B5EF4-FFF2-40B4-BE49-F238E27FC236}">
                <a16:creationId xmlns:a16="http://schemas.microsoft.com/office/drawing/2014/main" id="{74AE144D-1388-5257-5CAE-4E4E0AAF5904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0"/>
            <a:ext cx="91440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600" b="1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Process P1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CB382AD3-8C63-B345-9449-A6458856D860}"/>
              </a:ext>
            </a:extLst>
          </p:cNvPr>
          <p:cNvSpPr txBox="1"/>
          <p:nvPr/>
        </p:nvSpPr>
        <p:spPr>
          <a:xfrm>
            <a:off x="323528" y="980728"/>
            <a:ext cx="8208912" cy="729430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b="1" dirty="0"/>
              <a:t>3. Process P1</a:t>
            </a:r>
          </a:p>
          <a:p>
            <a:endParaRPr lang="en-IN" b="1" dirty="0"/>
          </a:p>
          <a:p>
            <a:r>
              <a:rPr lang="en-US" dirty="0"/>
              <a:t>while (true) {</a:t>
            </a:r>
          </a:p>
          <a:p>
            <a:r>
              <a:rPr lang="en-US" dirty="0"/>
              <a:t>    while (turn != 1);   // Wait until it's P1's turn</a:t>
            </a:r>
          </a:p>
          <a:p>
            <a:endParaRPr lang="en-US" dirty="0"/>
          </a:p>
          <a:p>
            <a:r>
              <a:rPr lang="en-US" dirty="0"/>
              <a:t>    // Critical Section</a:t>
            </a:r>
          </a:p>
          <a:p>
            <a:r>
              <a:rPr lang="en-US" dirty="0"/>
              <a:t>    </a:t>
            </a:r>
            <a:r>
              <a:rPr lang="en-US" dirty="0" err="1"/>
              <a:t>printf</a:t>
            </a:r>
            <a:r>
              <a:rPr lang="en-US" dirty="0"/>
              <a:t>("P1 in Critical Section\n");</a:t>
            </a:r>
          </a:p>
          <a:p>
            <a:endParaRPr lang="en-US" dirty="0"/>
          </a:p>
          <a:p>
            <a:r>
              <a:rPr lang="en-US" dirty="0"/>
              <a:t>    turn = 0;            // Pass turn to P0</a:t>
            </a:r>
          </a:p>
          <a:p>
            <a:endParaRPr lang="en-US" dirty="0"/>
          </a:p>
          <a:p>
            <a:r>
              <a:rPr lang="en-US" dirty="0"/>
              <a:t>    // Remainder Section</a:t>
            </a:r>
          </a:p>
          <a:p>
            <a:r>
              <a:rPr lang="en-US" dirty="0"/>
              <a:t>}</a:t>
            </a:r>
          </a:p>
          <a:p>
            <a:endParaRPr lang="en-US" dirty="0"/>
          </a:p>
          <a:p>
            <a:r>
              <a:rPr lang="en-US" b="1" dirty="0"/>
              <a:t>Problems with Strict Alternation</a:t>
            </a:r>
          </a:p>
          <a:p>
            <a:endParaRPr lang="en-US" b="1" dirty="0"/>
          </a:p>
          <a:p>
            <a:r>
              <a:rPr lang="en-US" b="1" dirty="0"/>
              <a:t>-</a:t>
            </a:r>
            <a:r>
              <a:rPr lang="en-US" dirty="0"/>
              <a:t>Wasted CPU Time: Busy waiting while checking the turn.</a:t>
            </a:r>
          </a:p>
          <a:p>
            <a:r>
              <a:rPr lang="en-US" dirty="0"/>
              <a:t>-No True Progress: If P0 is in the remainder section but turn=0, P1 will keep waiting      unnecessarily.</a:t>
            </a:r>
          </a:p>
          <a:p>
            <a:r>
              <a:rPr lang="en-US" dirty="0"/>
              <a:t>-Not Efficient: Does not adapt to real process needs.</a:t>
            </a:r>
            <a:endParaRPr lang="en-IN" dirty="0"/>
          </a:p>
          <a:p>
            <a:endParaRPr lang="en-IN" dirty="0"/>
          </a:p>
          <a:p>
            <a:endParaRPr lang="en-IN" dirty="0"/>
          </a:p>
          <a:p>
            <a:endParaRPr lang="en-IN" dirty="0"/>
          </a:p>
          <a:p>
            <a:endParaRPr lang="en-IN" dirty="0"/>
          </a:p>
          <a:p>
            <a:endParaRPr lang="en-IN" dirty="0"/>
          </a:p>
          <a:p>
            <a:endParaRPr lang="en-IN" dirty="0"/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685808358"/>
      </p:ext>
    </p:extLst>
  </p:cSld>
  <p:clrMapOvr>
    <a:masterClrMapping/>
  </p:clrMapOvr>
  <p:transition>
    <p:wipe dir="r"/>
  </p:transition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0DA99AE-194F-E307-EFB8-27A1A4A469D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63B343C-6B8B-EB4E-7F0B-510A6629ACF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9A9B34E-4455-4802-839D-5AC1589540CB}" type="datetime3">
              <a:rPr lang="en-US" smtClean="0"/>
              <a:t>1 September 2025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A4ACB1A-06A1-8C6C-A7AB-DB1D61F3307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2514600" y="6356350"/>
            <a:ext cx="5181600" cy="365125"/>
          </a:xfrm>
        </p:spPr>
        <p:txBody>
          <a:bodyPr/>
          <a:lstStyle/>
          <a:p>
            <a:r>
              <a:rPr lang="en-US"/>
              <a:t>Atul Garg           BCSE0303            Unit- III</a:t>
            </a:r>
            <a:endParaRPr lang="en-US" dirty="0"/>
          </a:p>
        </p:txBody>
      </p:sp>
      <p:sp>
        <p:nvSpPr>
          <p:cNvPr id="11" name="object 3">
            <a:extLst>
              <a:ext uri="{FF2B5EF4-FFF2-40B4-BE49-F238E27FC236}">
                <a16:creationId xmlns:a16="http://schemas.microsoft.com/office/drawing/2014/main" id="{F8281F9E-17F3-CEB1-2D6C-DD22ADE23BC4}"/>
              </a:ext>
            </a:extLst>
          </p:cNvPr>
          <p:cNvSpPr txBox="1"/>
          <p:nvPr/>
        </p:nvSpPr>
        <p:spPr>
          <a:xfrm>
            <a:off x="905822" y="908720"/>
            <a:ext cx="7986658" cy="7578998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415925" indent="-403860">
              <a:lnSpc>
                <a:spcPct val="100000"/>
              </a:lnSpc>
              <a:spcBef>
                <a:spcPts val="100"/>
              </a:spcBef>
              <a:buClr>
                <a:srgbClr val="993300"/>
              </a:buClr>
              <a:buSzPct val="89000"/>
              <a:buFont typeface="Arial" panose="020B0604020202020204" pitchFamily="34" charset="0"/>
              <a:buChar char="•"/>
              <a:tabLst>
                <a:tab pos="415925" algn="l"/>
                <a:tab pos="415925" algn="l"/>
              </a:tabLst>
            </a:pPr>
            <a:r>
              <a:rPr lang="en-US" sz="2400" dirty="0"/>
              <a:t>The Sleeping Barber Problem is a classic synchronization problem that illustrates issues of process synchronization and inter-process communication (IPC).</a:t>
            </a:r>
            <a:br>
              <a:rPr lang="en-US" sz="2400" dirty="0"/>
            </a:br>
            <a:r>
              <a:rPr lang="en-US" sz="2400" dirty="0"/>
              <a:t>It was first introduced by Dijkstra and is commonly solved using semaphores.</a:t>
            </a:r>
          </a:p>
          <a:p>
            <a:pPr marL="415925" indent="-403860">
              <a:lnSpc>
                <a:spcPct val="100000"/>
              </a:lnSpc>
              <a:spcBef>
                <a:spcPts val="100"/>
              </a:spcBef>
              <a:buClr>
                <a:srgbClr val="993300"/>
              </a:buClr>
              <a:buSzPct val="89000"/>
              <a:buFont typeface="Arial" panose="020B0604020202020204" pitchFamily="34" charset="0"/>
              <a:buChar char="•"/>
              <a:tabLst>
                <a:tab pos="415925" algn="l"/>
                <a:tab pos="415925" algn="l"/>
              </a:tabLst>
            </a:pPr>
            <a:r>
              <a:rPr lang="en-US" sz="2400" b="1" dirty="0"/>
              <a:t>Problem Description </a:t>
            </a:r>
          </a:p>
          <a:p>
            <a:pPr marL="12065">
              <a:lnSpc>
                <a:spcPct val="100000"/>
              </a:lnSpc>
              <a:spcBef>
                <a:spcPts val="100"/>
              </a:spcBef>
              <a:buClr>
                <a:srgbClr val="993300"/>
              </a:buClr>
              <a:buSzPct val="89000"/>
              <a:tabLst>
                <a:tab pos="415925" algn="l"/>
                <a:tab pos="415925" algn="l"/>
              </a:tabLst>
            </a:pPr>
            <a:r>
              <a:rPr lang="en-US" sz="2400" dirty="0"/>
              <a:t>	A barbershop has:</a:t>
            </a:r>
          </a:p>
          <a:p>
            <a:pPr marL="12065">
              <a:lnSpc>
                <a:spcPct val="100000"/>
              </a:lnSpc>
              <a:spcBef>
                <a:spcPts val="100"/>
              </a:spcBef>
              <a:buClr>
                <a:srgbClr val="993300"/>
              </a:buClr>
              <a:buSzPct val="89000"/>
              <a:tabLst>
                <a:tab pos="415925" algn="l"/>
                <a:tab pos="415925" algn="l"/>
              </a:tabLst>
            </a:pPr>
            <a:r>
              <a:rPr lang="en-US" sz="2400" dirty="0"/>
              <a:t>	-</a:t>
            </a:r>
            <a:r>
              <a:rPr lang="en-US" sz="2400" b="1" dirty="0"/>
              <a:t>One barber</a:t>
            </a:r>
          </a:p>
          <a:p>
            <a:pPr marL="12065">
              <a:lnSpc>
                <a:spcPct val="100000"/>
              </a:lnSpc>
              <a:spcBef>
                <a:spcPts val="100"/>
              </a:spcBef>
              <a:buClr>
                <a:srgbClr val="993300"/>
              </a:buClr>
              <a:buSzPct val="89000"/>
              <a:tabLst>
                <a:tab pos="415925" algn="l"/>
                <a:tab pos="415925" algn="l"/>
              </a:tabLst>
            </a:pPr>
            <a:r>
              <a:rPr lang="en-US" sz="2400" b="1" dirty="0"/>
              <a:t>	-One barber chair (where haircuts happen)</a:t>
            </a:r>
          </a:p>
          <a:p>
            <a:pPr marL="12065">
              <a:lnSpc>
                <a:spcPct val="100000"/>
              </a:lnSpc>
              <a:spcBef>
                <a:spcPts val="100"/>
              </a:spcBef>
              <a:buClr>
                <a:srgbClr val="993300"/>
              </a:buClr>
              <a:buSzPct val="89000"/>
              <a:tabLst>
                <a:tab pos="415925" algn="l"/>
                <a:tab pos="415925" algn="l"/>
              </a:tabLst>
            </a:pPr>
            <a:r>
              <a:rPr lang="en-US" sz="2400" b="1" dirty="0"/>
              <a:t>	-A waiting room with a limited number of chairs 		(say n chairs).</a:t>
            </a:r>
          </a:p>
          <a:p>
            <a:pPr marL="415925" indent="-403860">
              <a:lnSpc>
                <a:spcPct val="100000"/>
              </a:lnSpc>
              <a:spcBef>
                <a:spcPts val="100"/>
              </a:spcBef>
              <a:buClr>
                <a:srgbClr val="993300"/>
              </a:buClr>
              <a:buSzPct val="89000"/>
              <a:buFont typeface="Arial" panose="020B0604020202020204" pitchFamily="34" charset="0"/>
              <a:buChar char="•"/>
              <a:tabLst>
                <a:tab pos="415925" algn="l"/>
                <a:tab pos="415925" algn="l"/>
              </a:tabLst>
            </a:pPr>
            <a:endParaRPr lang="en-US" sz="2400" dirty="0">
              <a:cs typeface="Arial" panose="020B0604020202020204"/>
            </a:endParaRPr>
          </a:p>
          <a:p>
            <a:pPr marL="415925" indent="-403860">
              <a:lnSpc>
                <a:spcPct val="100000"/>
              </a:lnSpc>
              <a:spcBef>
                <a:spcPts val="100"/>
              </a:spcBef>
              <a:buClr>
                <a:srgbClr val="993300"/>
              </a:buClr>
              <a:buSzPct val="89000"/>
              <a:buFont typeface="Arial" panose="020B0604020202020204" pitchFamily="34" charset="0"/>
              <a:buChar char="•"/>
              <a:tabLst>
                <a:tab pos="415925" algn="l"/>
                <a:tab pos="415925" algn="l"/>
              </a:tabLst>
            </a:pPr>
            <a:endParaRPr lang="en-US" sz="2400" dirty="0">
              <a:cs typeface="Arial" panose="020B0604020202020204"/>
            </a:endParaRPr>
          </a:p>
          <a:p>
            <a:pPr marL="415925" indent="-403860">
              <a:lnSpc>
                <a:spcPct val="100000"/>
              </a:lnSpc>
              <a:spcBef>
                <a:spcPts val="100"/>
              </a:spcBef>
              <a:buClr>
                <a:srgbClr val="993300"/>
              </a:buClr>
              <a:buSzPct val="89000"/>
              <a:buFont typeface="Arial" panose="020B0604020202020204" pitchFamily="34" charset="0"/>
              <a:buChar char="•"/>
              <a:tabLst>
                <a:tab pos="415925" algn="l"/>
                <a:tab pos="415925" algn="l"/>
              </a:tabLst>
            </a:pPr>
            <a:endParaRPr lang="en-US" sz="2400" dirty="0">
              <a:cs typeface="Arial" panose="020B0604020202020204"/>
            </a:endParaRPr>
          </a:p>
          <a:p>
            <a:pPr marL="415925" indent="-403860">
              <a:lnSpc>
                <a:spcPct val="100000"/>
              </a:lnSpc>
              <a:spcBef>
                <a:spcPts val="100"/>
              </a:spcBef>
              <a:buClr>
                <a:srgbClr val="993300"/>
              </a:buClr>
              <a:buSzPct val="89000"/>
              <a:buFont typeface="Arial" panose="020B0604020202020204" pitchFamily="34" charset="0"/>
              <a:buChar char="•"/>
              <a:tabLst>
                <a:tab pos="415925" algn="l"/>
                <a:tab pos="415925" algn="l"/>
              </a:tabLst>
            </a:pPr>
            <a:endParaRPr lang="en-US" sz="2400" dirty="0">
              <a:cs typeface="Arial" panose="020B0604020202020204"/>
            </a:endParaRPr>
          </a:p>
          <a:p>
            <a:pPr marL="415925" indent="-403860">
              <a:lnSpc>
                <a:spcPct val="100000"/>
              </a:lnSpc>
              <a:spcBef>
                <a:spcPts val="100"/>
              </a:spcBef>
              <a:buClr>
                <a:srgbClr val="993300"/>
              </a:buClr>
              <a:buSzPct val="89000"/>
              <a:buFont typeface="Arial" panose="020B0604020202020204" pitchFamily="34" charset="0"/>
              <a:buChar char="•"/>
              <a:tabLst>
                <a:tab pos="415925" algn="l"/>
                <a:tab pos="415925" algn="l"/>
              </a:tabLst>
            </a:pPr>
            <a:endParaRPr lang="en-US" sz="2400" dirty="0">
              <a:cs typeface="Arial" panose="020B0604020202020204"/>
            </a:endParaRPr>
          </a:p>
          <a:p>
            <a:pPr marL="415925" indent="-403860">
              <a:lnSpc>
                <a:spcPct val="100000"/>
              </a:lnSpc>
              <a:spcBef>
                <a:spcPts val="100"/>
              </a:spcBef>
              <a:buClr>
                <a:srgbClr val="993300"/>
              </a:buClr>
              <a:buSzPct val="89000"/>
              <a:buFont typeface="Arial" panose="020B0604020202020204" pitchFamily="34" charset="0"/>
              <a:buChar char="•"/>
              <a:tabLst>
                <a:tab pos="415925" algn="l"/>
                <a:tab pos="415925" algn="l"/>
              </a:tabLst>
            </a:pPr>
            <a:endParaRPr lang="en-US" sz="2400" dirty="0">
              <a:cs typeface="Arial" panose="020B0604020202020204"/>
            </a:endParaRPr>
          </a:p>
          <a:p>
            <a:pPr marL="415925" indent="-403860">
              <a:lnSpc>
                <a:spcPct val="100000"/>
              </a:lnSpc>
              <a:spcBef>
                <a:spcPts val="100"/>
              </a:spcBef>
              <a:buClr>
                <a:srgbClr val="993300"/>
              </a:buClr>
              <a:buSzPct val="89000"/>
              <a:buFont typeface="Arial" panose="020B0604020202020204" pitchFamily="34" charset="0"/>
              <a:buChar char="•"/>
              <a:tabLst>
                <a:tab pos="415925" algn="l"/>
                <a:tab pos="415925" algn="l"/>
              </a:tabLst>
            </a:pPr>
            <a:endParaRPr lang="en-US" sz="2400" dirty="0">
              <a:cs typeface="Arial" panose="020B0604020202020204"/>
            </a:endParaRPr>
          </a:p>
          <a:p>
            <a:pPr marL="415925" indent="-403860">
              <a:lnSpc>
                <a:spcPct val="100000"/>
              </a:lnSpc>
              <a:spcBef>
                <a:spcPts val="100"/>
              </a:spcBef>
              <a:buClr>
                <a:srgbClr val="993300"/>
              </a:buClr>
              <a:buSzPct val="89000"/>
              <a:buFont typeface="Arial" panose="020B0604020202020204" pitchFamily="34" charset="0"/>
              <a:buChar char="•"/>
              <a:tabLst>
                <a:tab pos="415925" algn="l"/>
                <a:tab pos="415925" algn="l"/>
              </a:tabLst>
            </a:pPr>
            <a:endParaRPr lang="en-US" sz="2400" dirty="0">
              <a:cs typeface="Arial" panose="020B0604020202020204"/>
            </a:endParaRPr>
          </a:p>
          <a:p>
            <a:pPr marL="415925" indent="-403860">
              <a:lnSpc>
                <a:spcPct val="100000"/>
              </a:lnSpc>
              <a:spcBef>
                <a:spcPts val="100"/>
              </a:spcBef>
              <a:buClr>
                <a:srgbClr val="993300"/>
              </a:buClr>
              <a:buSzPct val="89000"/>
              <a:buFont typeface="Arial" panose="020B0604020202020204" pitchFamily="34" charset="0"/>
              <a:buChar char="•"/>
              <a:tabLst>
                <a:tab pos="415925" algn="l"/>
                <a:tab pos="415925" algn="l"/>
              </a:tabLst>
            </a:pPr>
            <a:endParaRPr sz="2400" dirty="0">
              <a:cs typeface="Arial" panose="020B0604020202020204"/>
            </a:endParaRPr>
          </a:p>
        </p:txBody>
      </p:sp>
      <p:sp>
        <p:nvSpPr>
          <p:cNvPr id="8" name="Slide Number Placeholder 7">
            <a:extLst>
              <a:ext uri="{FF2B5EF4-FFF2-40B4-BE49-F238E27FC236}">
                <a16:creationId xmlns:a16="http://schemas.microsoft.com/office/drawing/2014/main" id="{3A1134C1-6A5A-A7FF-A624-6BD4A039A9C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t>56</a:t>
            </a:fld>
            <a:endParaRPr lang="en-US"/>
          </a:p>
        </p:txBody>
      </p:sp>
      <p:pic>
        <p:nvPicPr>
          <p:cNvPr id="2" name="Picture 1" descr="A black and red logo&#10;&#10;Description automatically generated">
            <a:extLst>
              <a:ext uri="{FF2B5EF4-FFF2-40B4-BE49-F238E27FC236}">
                <a16:creationId xmlns:a16="http://schemas.microsoft.com/office/drawing/2014/main" id="{C96918D9-36B7-B7D8-4D21-6F6D64925C54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-27384"/>
            <a:ext cx="1657350" cy="710452"/>
          </a:xfrm>
          <a:prstGeom prst="rect">
            <a:avLst/>
          </a:prstGeom>
        </p:spPr>
      </p:pic>
      <p:sp>
        <p:nvSpPr>
          <p:cNvPr id="3" name="Title 1">
            <a:extLst>
              <a:ext uri="{FF2B5EF4-FFF2-40B4-BE49-F238E27FC236}">
                <a16:creationId xmlns:a16="http://schemas.microsoft.com/office/drawing/2014/main" id="{D720C411-634A-1415-CAA6-F5E89383DBFA}"/>
              </a:ext>
            </a:extLst>
          </p:cNvPr>
          <p:cNvSpPr txBox="1">
            <a:spLocks/>
          </p:cNvSpPr>
          <p:nvPr/>
        </p:nvSpPr>
        <p:spPr>
          <a:xfrm>
            <a:off x="1657350" y="0"/>
            <a:ext cx="7486650" cy="630981"/>
          </a:xfrm>
          <a:prstGeom prst="rect">
            <a:avLst/>
          </a:prstGeom>
          <a:gradFill flip="none" rotWithShape="1">
            <a:gsLst>
              <a:gs pos="0">
                <a:srgbClr val="FF0000">
                  <a:tint val="66000"/>
                  <a:satMod val="160000"/>
                </a:srgbClr>
              </a:gs>
              <a:gs pos="50000">
                <a:srgbClr val="FF0000">
                  <a:tint val="44500"/>
                  <a:satMod val="160000"/>
                </a:srgbClr>
              </a:gs>
              <a:gs pos="100000">
                <a:srgbClr val="FF0000">
                  <a:tint val="23500"/>
                  <a:satMod val="160000"/>
                </a:srgbClr>
              </a:gs>
            </a:gsLst>
            <a:lin ang="0" scaled="1"/>
            <a:tileRect/>
          </a:gradFill>
        </p:spPr>
        <p:style>
          <a:lnRef idx="1">
            <a:schemeClr val="accent5"/>
          </a:lnRef>
          <a:fillRef idx="2">
            <a:schemeClr val="accent5"/>
          </a:fillRef>
          <a:effectRef idx="1">
            <a:schemeClr val="accent5"/>
          </a:effectRef>
          <a:fontRef idx="minor">
            <a:schemeClr val="dk1"/>
          </a:fontRef>
        </p:style>
        <p:txBody>
          <a:bodyPr vert="horz" lIns="68580" tIns="34290" rIns="68580" bIns="34290" rtlCol="0" anchor="ctr">
            <a:noAutofit/>
          </a:bodyPr>
          <a:lstStyle>
            <a:defPPr>
              <a:defRPr lang="en-US"/>
            </a:defPPr>
            <a:lvl1pPr algn="ctr">
              <a:spcBef>
                <a:spcPct val="0"/>
              </a:spcBef>
              <a:buNone/>
              <a:defRPr sz="2800"/>
            </a:lvl1pPr>
          </a:lstStyle>
          <a:p>
            <a:pPr>
              <a:defRPr/>
            </a:pPr>
            <a:r>
              <a:rPr lang="en-US" sz="2400" b="1" dirty="0"/>
              <a:t>Sleeping Barber Problem</a:t>
            </a:r>
            <a:endParaRPr lang="en-US" sz="2100" dirty="0"/>
          </a:p>
        </p:txBody>
      </p:sp>
    </p:spTree>
    <p:extLst>
      <p:ext uri="{BB962C8B-B14F-4D97-AF65-F5344CB8AC3E}">
        <p14:creationId xmlns:p14="http://schemas.microsoft.com/office/powerpoint/2010/main" val="3858620194"/>
      </p:ext>
    </p:extLst>
  </p:cSld>
  <p:clrMapOvr>
    <a:masterClrMapping/>
  </p:clrMapOvr>
  <p:transition>
    <p:dissolve/>
  </p:transition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A8DF9BB-BE2A-C713-FFCC-8019BAA5450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F622859-09DE-B6A4-F766-6B83ED12D03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9A9B34E-4455-4802-839D-5AC1589540CB}" type="datetime3">
              <a:rPr lang="en-US" smtClean="0"/>
              <a:t>1 September 2025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734344D-FCAF-99B8-5A0E-C7AE52ADA49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2514600" y="6356350"/>
            <a:ext cx="5181600" cy="365125"/>
          </a:xfrm>
        </p:spPr>
        <p:txBody>
          <a:bodyPr/>
          <a:lstStyle/>
          <a:p>
            <a:r>
              <a:rPr lang="en-US"/>
              <a:t>Atul Garg           BCSE0303            Unit- III</a:t>
            </a:r>
            <a:endParaRPr lang="en-US" dirty="0"/>
          </a:p>
        </p:txBody>
      </p:sp>
      <p:sp>
        <p:nvSpPr>
          <p:cNvPr id="11" name="object 3">
            <a:extLst>
              <a:ext uri="{FF2B5EF4-FFF2-40B4-BE49-F238E27FC236}">
                <a16:creationId xmlns:a16="http://schemas.microsoft.com/office/drawing/2014/main" id="{8E649016-66CD-1A38-33C7-A3D0BAE40C17}"/>
              </a:ext>
            </a:extLst>
          </p:cNvPr>
          <p:cNvSpPr txBox="1"/>
          <p:nvPr/>
        </p:nvSpPr>
        <p:spPr>
          <a:xfrm>
            <a:off x="905822" y="908720"/>
            <a:ext cx="7986658" cy="3439403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415925" indent="-403860">
              <a:lnSpc>
                <a:spcPct val="100000"/>
              </a:lnSpc>
              <a:spcBef>
                <a:spcPts val="100"/>
              </a:spcBef>
              <a:buClr>
                <a:srgbClr val="993300"/>
              </a:buClr>
              <a:buSzPct val="89000"/>
              <a:buFont typeface="Arial" panose="020B0604020202020204" pitchFamily="34" charset="0"/>
              <a:buChar char="•"/>
              <a:tabLst>
                <a:tab pos="415925" algn="l"/>
                <a:tab pos="415925" algn="l"/>
              </a:tabLst>
            </a:pPr>
            <a:endParaRPr lang="en-US" sz="2400" dirty="0">
              <a:cs typeface="Arial" panose="020B0604020202020204"/>
            </a:endParaRPr>
          </a:p>
          <a:p>
            <a:pPr marL="415925" indent="-403860">
              <a:lnSpc>
                <a:spcPct val="100000"/>
              </a:lnSpc>
              <a:spcBef>
                <a:spcPts val="100"/>
              </a:spcBef>
              <a:buClr>
                <a:srgbClr val="993300"/>
              </a:buClr>
              <a:buSzPct val="89000"/>
              <a:buFont typeface="Arial" panose="020B0604020202020204" pitchFamily="34" charset="0"/>
              <a:buChar char="•"/>
              <a:tabLst>
                <a:tab pos="415925" algn="l"/>
                <a:tab pos="415925" algn="l"/>
              </a:tabLst>
            </a:pPr>
            <a:endParaRPr lang="en-US" sz="2400" dirty="0">
              <a:cs typeface="Arial" panose="020B0604020202020204"/>
            </a:endParaRPr>
          </a:p>
          <a:p>
            <a:pPr marL="415925" indent="-403860">
              <a:lnSpc>
                <a:spcPct val="100000"/>
              </a:lnSpc>
              <a:spcBef>
                <a:spcPts val="100"/>
              </a:spcBef>
              <a:buClr>
                <a:srgbClr val="993300"/>
              </a:buClr>
              <a:buSzPct val="89000"/>
              <a:buFont typeface="Arial" panose="020B0604020202020204" pitchFamily="34" charset="0"/>
              <a:buChar char="•"/>
              <a:tabLst>
                <a:tab pos="415925" algn="l"/>
                <a:tab pos="415925" algn="l"/>
              </a:tabLst>
            </a:pPr>
            <a:endParaRPr lang="en-US" sz="2400" dirty="0">
              <a:cs typeface="Arial" panose="020B0604020202020204"/>
            </a:endParaRPr>
          </a:p>
          <a:p>
            <a:pPr marL="415925" indent="-403860">
              <a:lnSpc>
                <a:spcPct val="100000"/>
              </a:lnSpc>
              <a:spcBef>
                <a:spcPts val="100"/>
              </a:spcBef>
              <a:buClr>
                <a:srgbClr val="993300"/>
              </a:buClr>
              <a:buSzPct val="89000"/>
              <a:buFont typeface="Arial" panose="020B0604020202020204" pitchFamily="34" charset="0"/>
              <a:buChar char="•"/>
              <a:tabLst>
                <a:tab pos="415925" algn="l"/>
                <a:tab pos="415925" algn="l"/>
              </a:tabLst>
            </a:pPr>
            <a:endParaRPr lang="en-US" sz="2400" dirty="0">
              <a:cs typeface="Arial" panose="020B0604020202020204"/>
            </a:endParaRPr>
          </a:p>
          <a:p>
            <a:pPr marL="415925" indent="-403860">
              <a:lnSpc>
                <a:spcPct val="100000"/>
              </a:lnSpc>
              <a:spcBef>
                <a:spcPts val="100"/>
              </a:spcBef>
              <a:buClr>
                <a:srgbClr val="993300"/>
              </a:buClr>
              <a:buSzPct val="89000"/>
              <a:buFont typeface="Arial" panose="020B0604020202020204" pitchFamily="34" charset="0"/>
              <a:buChar char="•"/>
              <a:tabLst>
                <a:tab pos="415925" algn="l"/>
                <a:tab pos="415925" algn="l"/>
              </a:tabLst>
            </a:pPr>
            <a:endParaRPr lang="en-US" sz="2400" dirty="0">
              <a:cs typeface="Arial" panose="020B0604020202020204"/>
            </a:endParaRPr>
          </a:p>
          <a:p>
            <a:pPr marL="415925" indent="-403860">
              <a:lnSpc>
                <a:spcPct val="100000"/>
              </a:lnSpc>
              <a:spcBef>
                <a:spcPts val="100"/>
              </a:spcBef>
              <a:buClr>
                <a:srgbClr val="993300"/>
              </a:buClr>
              <a:buSzPct val="89000"/>
              <a:buFont typeface="Arial" panose="020B0604020202020204" pitchFamily="34" charset="0"/>
              <a:buChar char="•"/>
              <a:tabLst>
                <a:tab pos="415925" algn="l"/>
                <a:tab pos="415925" algn="l"/>
              </a:tabLst>
            </a:pPr>
            <a:endParaRPr lang="en-US" sz="2400" dirty="0">
              <a:cs typeface="Arial" panose="020B0604020202020204"/>
            </a:endParaRPr>
          </a:p>
          <a:p>
            <a:pPr marL="415925" indent="-403860">
              <a:lnSpc>
                <a:spcPct val="100000"/>
              </a:lnSpc>
              <a:spcBef>
                <a:spcPts val="100"/>
              </a:spcBef>
              <a:buClr>
                <a:srgbClr val="993300"/>
              </a:buClr>
              <a:buSzPct val="89000"/>
              <a:buFont typeface="Arial" panose="020B0604020202020204" pitchFamily="34" charset="0"/>
              <a:buChar char="•"/>
              <a:tabLst>
                <a:tab pos="415925" algn="l"/>
                <a:tab pos="415925" algn="l"/>
              </a:tabLst>
            </a:pPr>
            <a:endParaRPr lang="en-US" sz="2400" dirty="0">
              <a:cs typeface="Arial" panose="020B0604020202020204"/>
            </a:endParaRPr>
          </a:p>
          <a:p>
            <a:pPr marL="415925" indent="-403860">
              <a:lnSpc>
                <a:spcPct val="100000"/>
              </a:lnSpc>
              <a:spcBef>
                <a:spcPts val="100"/>
              </a:spcBef>
              <a:buClr>
                <a:srgbClr val="993300"/>
              </a:buClr>
              <a:buSzPct val="89000"/>
              <a:buFont typeface="Arial" panose="020B0604020202020204" pitchFamily="34" charset="0"/>
              <a:buChar char="•"/>
              <a:tabLst>
                <a:tab pos="415925" algn="l"/>
                <a:tab pos="415925" algn="l"/>
              </a:tabLst>
            </a:pPr>
            <a:endParaRPr lang="en-US" sz="2400" dirty="0">
              <a:cs typeface="Arial" panose="020B0604020202020204"/>
            </a:endParaRPr>
          </a:p>
          <a:p>
            <a:pPr marL="415925" indent="-403860">
              <a:lnSpc>
                <a:spcPct val="100000"/>
              </a:lnSpc>
              <a:spcBef>
                <a:spcPts val="100"/>
              </a:spcBef>
              <a:buClr>
                <a:srgbClr val="993300"/>
              </a:buClr>
              <a:buSzPct val="89000"/>
              <a:buFont typeface="Arial" panose="020B0604020202020204" pitchFamily="34" charset="0"/>
              <a:buChar char="•"/>
              <a:tabLst>
                <a:tab pos="415925" algn="l"/>
                <a:tab pos="415925" algn="l"/>
              </a:tabLst>
            </a:pPr>
            <a:endParaRPr sz="2400" dirty="0">
              <a:cs typeface="Arial" panose="020B0604020202020204"/>
            </a:endParaRPr>
          </a:p>
        </p:txBody>
      </p:sp>
      <p:sp>
        <p:nvSpPr>
          <p:cNvPr id="8" name="Slide Number Placeholder 7">
            <a:extLst>
              <a:ext uri="{FF2B5EF4-FFF2-40B4-BE49-F238E27FC236}">
                <a16:creationId xmlns:a16="http://schemas.microsoft.com/office/drawing/2014/main" id="{D30E9C40-D964-0FF3-B99D-96142202CCF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t>57</a:t>
            </a:fld>
            <a:endParaRPr lang="en-US"/>
          </a:p>
        </p:txBody>
      </p:sp>
      <p:pic>
        <p:nvPicPr>
          <p:cNvPr id="2" name="Picture 1" descr="A black and red logo&#10;&#10;Description automatically generated">
            <a:extLst>
              <a:ext uri="{FF2B5EF4-FFF2-40B4-BE49-F238E27FC236}">
                <a16:creationId xmlns:a16="http://schemas.microsoft.com/office/drawing/2014/main" id="{81FD3481-518B-601B-2854-A9FFA8A7D0CE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-27384"/>
            <a:ext cx="1657350" cy="710452"/>
          </a:xfrm>
          <a:prstGeom prst="rect">
            <a:avLst/>
          </a:prstGeom>
        </p:spPr>
      </p:pic>
      <p:sp>
        <p:nvSpPr>
          <p:cNvPr id="3" name="Title 1">
            <a:extLst>
              <a:ext uri="{FF2B5EF4-FFF2-40B4-BE49-F238E27FC236}">
                <a16:creationId xmlns:a16="http://schemas.microsoft.com/office/drawing/2014/main" id="{05A20031-0CE2-1929-69A4-35FCAA8BC19E}"/>
              </a:ext>
            </a:extLst>
          </p:cNvPr>
          <p:cNvSpPr txBox="1">
            <a:spLocks/>
          </p:cNvSpPr>
          <p:nvPr/>
        </p:nvSpPr>
        <p:spPr>
          <a:xfrm>
            <a:off x="1657350" y="0"/>
            <a:ext cx="7486650" cy="630981"/>
          </a:xfrm>
          <a:prstGeom prst="rect">
            <a:avLst/>
          </a:prstGeom>
          <a:gradFill flip="none" rotWithShape="1">
            <a:gsLst>
              <a:gs pos="0">
                <a:srgbClr val="FF0000">
                  <a:tint val="66000"/>
                  <a:satMod val="160000"/>
                </a:srgbClr>
              </a:gs>
              <a:gs pos="50000">
                <a:srgbClr val="FF0000">
                  <a:tint val="44500"/>
                  <a:satMod val="160000"/>
                </a:srgbClr>
              </a:gs>
              <a:gs pos="100000">
                <a:srgbClr val="FF0000">
                  <a:tint val="23500"/>
                  <a:satMod val="160000"/>
                </a:srgbClr>
              </a:gs>
            </a:gsLst>
            <a:lin ang="0" scaled="1"/>
            <a:tileRect/>
          </a:gradFill>
        </p:spPr>
        <p:style>
          <a:lnRef idx="1">
            <a:schemeClr val="accent5"/>
          </a:lnRef>
          <a:fillRef idx="2">
            <a:schemeClr val="accent5"/>
          </a:fillRef>
          <a:effectRef idx="1">
            <a:schemeClr val="accent5"/>
          </a:effectRef>
          <a:fontRef idx="minor">
            <a:schemeClr val="dk1"/>
          </a:fontRef>
        </p:style>
        <p:txBody>
          <a:bodyPr vert="horz" lIns="68580" tIns="34290" rIns="68580" bIns="34290" rtlCol="0" anchor="ctr">
            <a:noAutofit/>
          </a:bodyPr>
          <a:lstStyle>
            <a:defPPr>
              <a:defRPr lang="en-US"/>
            </a:defPPr>
            <a:lvl1pPr algn="ctr">
              <a:spcBef>
                <a:spcPct val="0"/>
              </a:spcBef>
              <a:buNone/>
              <a:defRPr sz="2800"/>
            </a:lvl1pPr>
          </a:lstStyle>
          <a:p>
            <a:pPr>
              <a:defRPr/>
            </a:pPr>
            <a:r>
              <a:rPr lang="en-US" sz="2400" b="1" dirty="0"/>
              <a:t>Sleeping Barber Problem</a:t>
            </a:r>
            <a:endParaRPr lang="en-US" sz="2100" dirty="0"/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EEF514DD-30C3-A3FC-26A0-A0E3D270B95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32968" y="1247072"/>
            <a:ext cx="7078063" cy="412614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21931250"/>
      </p:ext>
    </p:extLst>
  </p:cSld>
  <p:clrMapOvr>
    <a:masterClrMapping/>
  </p:clrMapOvr>
  <p:transition>
    <p:dissolve/>
  </p:transition>
</p:sld>
</file>

<file path=ppt/slides/slide5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6FD517F-64DD-9346-1BF3-3AD30F7182B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766E9A7-3C10-EBA0-1D0B-26432BE60A2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9A9B34E-4455-4802-839D-5AC1589540CB}" type="datetime3">
              <a:rPr lang="en-US" smtClean="0"/>
              <a:t>1 September 2025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78C50C0-4769-BB87-610A-81A7399AC95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2514600" y="6356350"/>
            <a:ext cx="5181600" cy="365125"/>
          </a:xfrm>
        </p:spPr>
        <p:txBody>
          <a:bodyPr/>
          <a:lstStyle/>
          <a:p>
            <a:r>
              <a:rPr lang="en-US"/>
              <a:t>Atul Garg           BCSE0303            Unit- III</a:t>
            </a:r>
            <a:endParaRPr lang="en-US" dirty="0"/>
          </a:p>
        </p:txBody>
      </p:sp>
      <p:sp>
        <p:nvSpPr>
          <p:cNvPr id="11" name="object 3">
            <a:extLst>
              <a:ext uri="{FF2B5EF4-FFF2-40B4-BE49-F238E27FC236}">
                <a16:creationId xmlns:a16="http://schemas.microsoft.com/office/drawing/2014/main" id="{EC73A82B-AC5C-4B3B-FC6D-017DE938DA33}"/>
              </a:ext>
            </a:extLst>
          </p:cNvPr>
          <p:cNvSpPr txBox="1"/>
          <p:nvPr/>
        </p:nvSpPr>
        <p:spPr>
          <a:xfrm>
            <a:off x="905822" y="908720"/>
            <a:ext cx="7986658" cy="3439403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415925" indent="-403860">
              <a:lnSpc>
                <a:spcPct val="100000"/>
              </a:lnSpc>
              <a:spcBef>
                <a:spcPts val="100"/>
              </a:spcBef>
              <a:buClr>
                <a:srgbClr val="993300"/>
              </a:buClr>
              <a:buSzPct val="89000"/>
              <a:buFont typeface="Arial" panose="020B0604020202020204" pitchFamily="34" charset="0"/>
              <a:buChar char="•"/>
              <a:tabLst>
                <a:tab pos="415925" algn="l"/>
                <a:tab pos="415925" algn="l"/>
              </a:tabLst>
            </a:pPr>
            <a:endParaRPr lang="en-US" sz="2400" dirty="0">
              <a:cs typeface="Arial" panose="020B0604020202020204"/>
            </a:endParaRPr>
          </a:p>
          <a:p>
            <a:pPr marL="415925" indent="-403860">
              <a:lnSpc>
                <a:spcPct val="100000"/>
              </a:lnSpc>
              <a:spcBef>
                <a:spcPts val="100"/>
              </a:spcBef>
              <a:buClr>
                <a:srgbClr val="993300"/>
              </a:buClr>
              <a:buSzPct val="89000"/>
              <a:buFont typeface="Arial" panose="020B0604020202020204" pitchFamily="34" charset="0"/>
              <a:buChar char="•"/>
              <a:tabLst>
                <a:tab pos="415925" algn="l"/>
                <a:tab pos="415925" algn="l"/>
              </a:tabLst>
            </a:pPr>
            <a:endParaRPr lang="en-US" sz="2400" dirty="0">
              <a:cs typeface="Arial" panose="020B0604020202020204"/>
            </a:endParaRPr>
          </a:p>
          <a:p>
            <a:pPr marL="415925" indent="-403860">
              <a:lnSpc>
                <a:spcPct val="100000"/>
              </a:lnSpc>
              <a:spcBef>
                <a:spcPts val="100"/>
              </a:spcBef>
              <a:buClr>
                <a:srgbClr val="993300"/>
              </a:buClr>
              <a:buSzPct val="89000"/>
              <a:buFont typeface="Arial" panose="020B0604020202020204" pitchFamily="34" charset="0"/>
              <a:buChar char="•"/>
              <a:tabLst>
                <a:tab pos="415925" algn="l"/>
                <a:tab pos="415925" algn="l"/>
              </a:tabLst>
            </a:pPr>
            <a:endParaRPr lang="en-US" sz="2400" dirty="0">
              <a:cs typeface="Arial" panose="020B0604020202020204"/>
            </a:endParaRPr>
          </a:p>
          <a:p>
            <a:pPr marL="415925" indent="-403860">
              <a:lnSpc>
                <a:spcPct val="100000"/>
              </a:lnSpc>
              <a:spcBef>
                <a:spcPts val="100"/>
              </a:spcBef>
              <a:buClr>
                <a:srgbClr val="993300"/>
              </a:buClr>
              <a:buSzPct val="89000"/>
              <a:buFont typeface="Arial" panose="020B0604020202020204" pitchFamily="34" charset="0"/>
              <a:buChar char="•"/>
              <a:tabLst>
                <a:tab pos="415925" algn="l"/>
                <a:tab pos="415925" algn="l"/>
              </a:tabLst>
            </a:pPr>
            <a:endParaRPr lang="en-US" sz="2400" dirty="0">
              <a:cs typeface="Arial" panose="020B0604020202020204"/>
            </a:endParaRPr>
          </a:p>
          <a:p>
            <a:pPr marL="415925" indent="-403860">
              <a:lnSpc>
                <a:spcPct val="100000"/>
              </a:lnSpc>
              <a:spcBef>
                <a:spcPts val="100"/>
              </a:spcBef>
              <a:buClr>
                <a:srgbClr val="993300"/>
              </a:buClr>
              <a:buSzPct val="89000"/>
              <a:buFont typeface="Arial" panose="020B0604020202020204" pitchFamily="34" charset="0"/>
              <a:buChar char="•"/>
              <a:tabLst>
                <a:tab pos="415925" algn="l"/>
                <a:tab pos="415925" algn="l"/>
              </a:tabLst>
            </a:pPr>
            <a:endParaRPr lang="en-US" sz="2400" dirty="0">
              <a:cs typeface="Arial" panose="020B0604020202020204"/>
            </a:endParaRPr>
          </a:p>
          <a:p>
            <a:pPr marL="415925" indent="-403860">
              <a:lnSpc>
                <a:spcPct val="100000"/>
              </a:lnSpc>
              <a:spcBef>
                <a:spcPts val="100"/>
              </a:spcBef>
              <a:buClr>
                <a:srgbClr val="993300"/>
              </a:buClr>
              <a:buSzPct val="89000"/>
              <a:buFont typeface="Arial" panose="020B0604020202020204" pitchFamily="34" charset="0"/>
              <a:buChar char="•"/>
              <a:tabLst>
                <a:tab pos="415925" algn="l"/>
                <a:tab pos="415925" algn="l"/>
              </a:tabLst>
            </a:pPr>
            <a:endParaRPr lang="en-US" sz="2400" dirty="0">
              <a:cs typeface="Arial" panose="020B0604020202020204"/>
            </a:endParaRPr>
          </a:p>
          <a:p>
            <a:pPr marL="415925" indent="-403860">
              <a:lnSpc>
                <a:spcPct val="100000"/>
              </a:lnSpc>
              <a:spcBef>
                <a:spcPts val="100"/>
              </a:spcBef>
              <a:buClr>
                <a:srgbClr val="993300"/>
              </a:buClr>
              <a:buSzPct val="89000"/>
              <a:buFont typeface="Arial" panose="020B0604020202020204" pitchFamily="34" charset="0"/>
              <a:buChar char="•"/>
              <a:tabLst>
                <a:tab pos="415925" algn="l"/>
                <a:tab pos="415925" algn="l"/>
              </a:tabLst>
            </a:pPr>
            <a:endParaRPr lang="en-US" sz="2400" dirty="0">
              <a:cs typeface="Arial" panose="020B0604020202020204"/>
            </a:endParaRPr>
          </a:p>
          <a:p>
            <a:pPr marL="415925" indent="-403860">
              <a:lnSpc>
                <a:spcPct val="100000"/>
              </a:lnSpc>
              <a:spcBef>
                <a:spcPts val="100"/>
              </a:spcBef>
              <a:buClr>
                <a:srgbClr val="993300"/>
              </a:buClr>
              <a:buSzPct val="89000"/>
              <a:buFont typeface="Arial" panose="020B0604020202020204" pitchFamily="34" charset="0"/>
              <a:buChar char="•"/>
              <a:tabLst>
                <a:tab pos="415925" algn="l"/>
                <a:tab pos="415925" algn="l"/>
              </a:tabLst>
            </a:pPr>
            <a:endParaRPr lang="en-US" sz="2400" dirty="0">
              <a:cs typeface="Arial" panose="020B0604020202020204"/>
            </a:endParaRPr>
          </a:p>
          <a:p>
            <a:pPr marL="415925" indent="-403860">
              <a:lnSpc>
                <a:spcPct val="100000"/>
              </a:lnSpc>
              <a:spcBef>
                <a:spcPts val="100"/>
              </a:spcBef>
              <a:buClr>
                <a:srgbClr val="993300"/>
              </a:buClr>
              <a:buSzPct val="89000"/>
              <a:buFont typeface="Arial" panose="020B0604020202020204" pitchFamily="34" charset="0"/>
              <a:buChar char="•"/>
              <a:tabLst>
                <a:tab pos="415925" algn="l"/>
                <a:tab pos="415925" algn="l"/>
              </a:tabLst>
            </a:pPr>
            <a:endParaRPr sz="2400" dirty="0">
              <a:cs typeface="Arial" panose="020B0604020202020204"/>
            </a:endParaRPr>
          </a:p>
        </p:txBody>
      </p:sp>
      <p:sp>
        <p:nvSpPr>
          <p:cNvPr id="8" name="Slide Number Placeholder 7">
            <a:extLst>
              <a:ext uri="{FF2B5EF4-FFF2-40B4-BE49-F238E27FC236}">
                <a16:creationId xmlns:a16="http://schemas.microsoft.com/office/drawing/2014/main" id="{09ABE360-37A2-DA06-3A75-AEE1A433AC6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t>58</a:t>
            </a:fld>
            <a:endParaRPr lang="en-US"/>
          </a:p>
        </p:txBody>
      </p:sp>
      <p:pic>
        <p:nvPicPr>
          <p:cNvPr id="2" name="Picture 1" descr="A black and red logo&#10;&#10;Description automatically generated">
            <a:extLst>
              <a:ext uri="{FF2B5EF4-FFF2-40B4-BE49-F238E27FC236}">
                <a16:creationId xmlns:a16="http://schemas.microsoft.com/office/drawing/2014/main" id="{4D622E39-2CB6-7BFA-D4BD-D84993592AC3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-27384"/>
            <a:ext cx="1657350" cy="710452"/>
          </a:xfrm>
          <a:prstGeom prst="rect">
            <a:avLst/>
          </a:prstGeom>
        </p:spPr>
      </p:pic>
      <p:sp>
        <p:nvSpPr>
          <p:cNvPr id="3" name="Title 1">
            <a:extLst>
              <a:ext uri="{FF2B5EF4-FFF2-40B4-BE49-F238E27FC236}">
                <a16:creationId xmlns:a16="http://schemas.microsoft.com/office/drawing/2014/main" id="{F21878CB-B611-7089-D156-16177ED8F774}"/>
              </a:ext>
            </a:extLst>
          </p:cNvPr>
          <p:cNvSpPr txBox="1">
            <a:spLocks/>
          </p:cNvSpPr>
          <p:nvPr/>
        </p:nvSpPr>
        <p:spPr>
          <a:xfrm>
            <a:off x="1657350" y="0"/>
            <a:ext cx="7486650" cy="630981"/>
          </a:xfrm>
          <a:prstGeom prst="rect">
            <a:avLst/>
          </a:prstGeom>
          <a:gradFill flip="none" rotWithShape="1">
            <a:gsLst>
              <a:gs pos="0">
                <a:srgbClr val="FF0000">
                  <a:tint val="66000"/>
                  <a:satMod val="160000"/>
                </a:srgbClr>
              </a:gs>
              <a:gs pos="50000">
                <a:srgbClr val="FF0000">
                  <a:tint val="44500"/>
                  <a:satMod val="160000"/>
                </a:srgbClr>
              </a:gs>
              <a:gs pos="100000">
                <a:srgbClr val="FF0000">
                  <a:tint val="23500"/>
                  <a:satMod val="160000"/>
                </a:srgbClr>
              </a:gs>
            </a:gsLst>
            <a:lin ang="0" scaled="1"/>
            <a:tileRect/>
          </a:gradFill>
        </p:spPr>
        <p:style>
          <a:lnRef idx="1">
            <a:schemeClr val="accent5"/>
          </a:lnRef>
          <a:fillRef idx="2">
            <a:schemeClr val="accent5"/>
          </a:fillRef>
          <a:effectRef idx="1">
            <a:schemeClr val="accent5"/>
          </a:effectRef>
          <a:fontRef idx="minor">
            <a:schemeClr val="dk1"/>
          </a:fontRef>
        </p:style>
        <p:txBody>
          <a:bodyPr vert="horz" lIns="68580" tIns="34290" rIns="68580" bIns="34290" rtlCol="0" anchor="ctr">
            <a:noAutofit/>
          </a:bodyPr>
          <a:lstStyle>
            <a:defPPr>
              <a:defRPr lang="en-US"/>
            </a:defPPr>
            <a:lvl1pPr algn="ctr">
              <a:spcBef>
                <a:spcPct val="0"/>
              </a:spcBef>
              <a:buNone/>
              <a:defRPr sz="2800"/>
            </a:lvl1pPr>
          </a:lstStyle>
          <a:p>
            <a:pPr>
              <a:defRPr/>
            </a:pPr>
            <a:r>
              <a:rPr lang="en-US" sz="2400" b="1" dirty="0"/>
              <a:t>Sleeping Barber Problem Solution</a:t>
            </a:r>
            <a:endParaRPr lang="en-US" sz="2100" dirty="0"/>
          </a:p>
        </p:txBody>
      </p:sp>
      <p:pic>
        <p:nvPicPr>
          <p:cNvPr id="6146" name="Picture 2" descr="Lightbox">
            <a:extLst>
              <a:ext uri="{FF2B5EF4-FFF2-40B4-BE49-F238E27FC236}">
                <a16:creationId xmlns:a16="http://schemas.microsoft.com/office/drawing/2014/main" id="{1B213587-675F-E91C-87FB-34DCCCC8506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83568" y="1844824"/>
            <a:ext cx="7569534" cy="388843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805782512"/>
      </p:ext>
    </p:extLst>
  </p:cSld>
  <p:clrMapOvr>
    <a:masterClrMapping/>
  </p:clrMapOvr>
  <p:transition>
    <p:dissolve/>
  </p:transition>
</p:sld>
</file>

<file path=ppt/slides/slide5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BBCA6E7-F084-B881-7D36-D70F7996901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D9D3F8B-D981-65D8-37A0-EF4D3BDBD67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7091AF3-C440-4232-B7E2-8BE74D6E6203}" type="datetime3">
              <a:rPr lang="en-US" smtClean="0"/>
              <a:t>1 September 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1DC5061-979B-4ED9-5AC5-D447219F9BA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2514600" y="6356350"/>
            <a:ext cx="5181600" cy="365125"/>
          </a:xfrm>
        </p:spPr>
        <p:txBody>
          <a:bodyPr/>
          <a:lstStyle/>
          <a:p>
            <a:r>
              <a:rPr lang="en-US"/>
              <a:t>Atul Garg           BCSE0303            Unit- III</a:t>
            </a:r>
            <a:endParaRPr lang="en-US" dirty="0"/>
          </a:p>
        </p:txBody>
      </p:sp>
      <p:sp>
        <p:nvSpPr>
          <p:cNvPr id="11" name="object 3">
            <a:extLst>
              <a:ext uri="{FF2B5EF4-FFF2-40B4-BE49-F238E27FC236}">
                <a16:creationId xmlns:a16="http://schemas.microsoft.com/office/drawing/2014/main" id="{75841801-D1BE-7661-A8D5-0DE77EA968F1}"/>
              </a:ext>
            </a:extLst>
          </p:cNvPr>
          <p:cNvSpPr txBox="1"/>
          <p:nvPr/>
        </p:nvSpPr>
        <p:spPr>
          <a:xfrm>
            <a:off x="905822" y="908720"/>
            <a:ext cx="7986658" cy="7935506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415925" indent="-403860">
              <a:lnSpc>
                <a:spcPct val="100000"/>
              </a:lnSpc>
              <a:spcBef>
                <a:spcPts val="100"/>
              </a:spcBef>
              <a:buClr>
                <a:srgbClr val="993300"/>
              </a:buClr>
              <a:buSzPct val="89000"/>
              <a:buFont typeface="Arial" panose="020B0604020202020204" pitchFamily="34" charset="0"/>
              <a:buChar char="•"/>
              <a:tabLst>
                <a:tab pos="415925" algn="l"/>
                <a:tab pos="415925" algn="l"/>
              </a:tabLst>
            </a:pPr>
            <a:r>
              <a:rPr lang="en-US" sz="2400" b="1" dirty="0"/>
              <a:t>Behavior of the system</a:t>
            </a:r>
            <a:r>
              <a:rPr lang="en-US" sz="2400" dirty="0"/>
              <a:t>:</a:t>
            </a:r>
          </a:p>
          <a:p>
            <a:pPr marL="12065">
              <a:lnSpc>
                <a:spcPct val="100000"/>
              </a:lnSpc>
              <a:spcBef>
                <a:spcPts val="100"/>
              </a:spcBef>
              <a:buClr>
                <a:srgbClr val="993300"/>
              </a:buClr>
              <a:buSzPct val="89000"/>
              <a:tabLst>
                <a:tab pos="415925" algn="l"/>
                <a:tab pos="415925" algn="l"/>
              </a:tabLst>
            </a:pPr>
            <a:r>
              <a:rPr lang="en-US" sz="2400" dirty="0"/>
              <a:t>	-If there are no customers, the barber sleeps in the chair.</a:t>
            </a:r>
          </a:p>
          <a:p>
            <a:pPr marL="12065">
              <a:lnSpc>
                <a:spcPct val="100000"/>
              </a:lnSpc>
              <a:spcBef>
                <a:spcPts val="100"/>
              </a:spcBef>
              <a:buClr>
                <a:srgbClr val="993300"/>
              </a:buClr>
              <a:buSzPct val="89000"/>
              <a:tabLst>
                <a:tab pos="415925" algn="l"/>
                <a:tab pos="415925" algn="l"/>
              </a:tabLst>
            </a:pPr>
            <a:r>
              <a:rPr lang="en-US" sz="2400" dirty="0"/>
              <a:t>	-When a customer enters:</a:t>
            </a:r>
          </a:p>
          <a:p>
            <a:pPr marL="12065">
              <a:lnSpc>
                <a:spcPct val="100000"/>
              </a:lnSpc>
              <a:spcBef>
                <a:spcPts val="100"/>
              </a:spcBef>
              <a:buClr>
                <a:srgbClr val="993300"/>
              </a:buClr>
              <a:buSzPct val="89000"/>
              <a:tabLst>
                <a:tab pos="415925" algn="l"/>
                <a:tab pos="415925" algn="l"/>
              </a:tabLst>
            </a:pPr>
            <a:r>
              <a:rPr lang="en-US" sz="2400" dirty="0"/>
              <a:t>			-If the barber is sleeping, the customer wakes the barber 			up.</a:t>
            </a:r>
          </a:p>
          <a:p>
            <a:pPr marL="12065">
              <a:lnSpc>
                <a:spcPct val="100000"/>
              </a:lnSpc>
              <a:spcBef>
                <a:spcPts val="100"/>
              </a:spcBef>
              <a:buClr>
                <a:srgbClr val="993300"/>
              </a:buClr>
              <a:buSzPct val="89000"/>
              <a:tabLst>
                <a:tab pos="415925" algn="l"/>
                <a:tab pos="415925" algn="l"/>
              </a:tabLst>
            </a:pPr>
            <a:r>
              <a:rPr lang="en-US" sz="2400" dirty="0"/>
              <a:t>			-If the barber is busy and there is a free chair, the 				 customer waits in the waiting area.</a:t>
            </a:r>
          </a:p>
          <a:p>
            <a:pPr marL="12065">
              <a:lnSpc>
                <a:spcPct val="100000"/>
              </a:lnSpc>
              <a:spcBef>
                <a:spcPts val="100"/>
              </a:spcBef>
              <a:buClr>
                <a:srgbClr val="993300"/>
              </a:buClr>
              <a:buSzPct val="89000"/>
              <a:tabLst>
                <a:tab pos="415925" algn="l"/>
                <a:tab pos="415925" algn="l"/>
              </a:tabLst>
            </a:pPr>
            <a:r>
              <a:rPr lang="en-US" sz="2400" dirty="0"/>
              <a:t>			-If the waiting area is full, the customer leaves the shop.</a:t>
            </a:r>
          </a:p>
          <a:p>
            <a:pPr marL="415925" indent="-403860">
              <a:lnSpc>
                <a:spcPct val="100000"/>
              </a:lnSpc>
              <a:spcBef>
                <a:spcPts val="100"/>
              </a:spcBef>
              <a:buClr>
                <a:srgbClr val="993300"/>
              </a:buClr>
              <a:buSzPct val="89000"/>
              <a:buFont typeface="Arial" panose="020B0604020202020204" pitchFamily="34" charset="0"/>
              <a:buChar char="•"/>
              <a:tabLst>
                <a:tab pos="415925" algn="l"/>
                <a:tab pos="415925" algn="l"/>
              </a:tabLst>
            </a:pPr>
            <a:endParaRPr lang="en-US" sz="2400" dirty="0">
              <a:cs typeface="Arial" panose="020B0604020202020204"/>
            </a:endParaRPr>
          </a:p>
          <a:p>
            <a:r>
              <a:rPr lang="en-US" sz="2400" b="1" dirty="0"/>
              <a:t>.     Key Challenges</a:t>
            </a:r>
          </a:p>
          <a:p>
            <a:r>
              <a:rPr lang="en-US" sz="2400" dirty="0"/>
              <a:t>--Ensuring </a:t>
            </a:r>
            <a:r>
              <a:rPr lang="en-US" sz="2400" b="1" dirty="0"/>
              <a:t>mutual exclusion</a:t>
            </a:r>
            <a:r>
              <a:rPr lang="en-US" sz="2400" dirty="0"/>
              <a:t> so that no two customers occupy the same chair.</a:t>
            </a:r>
          </a:p>
          <a:p>
            <a:r>
              <a:rPr lang="en-US" sz="2400" dirty="0"/>
              <a:t>-Coordinating the </a:t>
            </a:r>
            <a:r>
              <a:rPr lang="en-US" sz="2400" b="1" dirty="0"/>
              <a:t>barber and customer processes</a:t>
            </a:r>
            <a:r>
              <a:rPr lang="en-US" sz="2400" dirty="0"/>
              <a:t> to avoid deadlock or starvation.</a:t>
            </a:r>
          </a:p>
          <a:p>
            <a:pPr marL="415925" indent="-403860">
              <a:lnSpc>
                <a:spcPct val="100000"/>
              </a:lnSpc>
              <a:spcBef>
                <a:spcPts val="100"/>
              </a:spcBef>
              <a:buClr>
                <a:srgbClr val="993300"/>
              </a:buClr>
              <a:buSzPct val="89000"/>
              <a:buFont typeface="Arial" panose="020B0604020202020204" pitchFamily="34" charset="0"/>
              <a:buChar char="•"/>
              <a:tabLst>
                <a:tab pos="415925" algn="l"/>
                <a:tab pos="415925" algn="l"/>
              </a:tabLst>
            </a:pPr>
            <a:endParaRPr lang="en-US" sz="2400" dirty="0">
              <a:cs typeface="Arial" panose="020B0604020202020204"/>
            </a:endParaRPr>
          </a:p>
          <a:p>
            <a:pPr marL="415925" indent="-403860">
              <a:lnSpc>
                <a:spcPct val="100000"/>
              </a:lnSpc>
              <a:spcBef>
                <a:spcPts val="100"/>
              </a:spcBef>
              <a:buClr>
                <a:srgbClr val="993300"/>
              </a:buClr>
              <a:buSzPct val="89000"/>
              <a:buFont typeface="Arial" panose="020B0604020202020204" pitchFamily="34" charset="0"/>
              <a:buChar char="•"/>
              <a:tabLst>
                <a:tab pos="415925" algn="l"/>
                <a:tab pos="415925" algn="l"/>
              </a:tabLst>
            </a:pPr>
            <a:endParaRPr lang="en-US" sz="2400" dirty="0">
              <a:cs typeface="Arial" panose="020B0604020202020204"/>
            </a:endParaRPr>
          </a:p>
          <a:p>
            <a:pPr marL="415925" indent="-403860">
              <a:lnSpc>
                <a:spcPct val="100000"/>
              </a:lnSpc>
              <a:spcBef>
                <a:spcPts val="100"/>
              </a:spcBef>
              <a:buClr>
                <a:srgbClr val="993300"/>
              </a:buClr>
              <a:buSzPct val="89000"/>
              <a:buFont typeface="Arial" panose="020B0604020202020204" pitchFamily="34" charset="0"/>
              <a:buChar char="•"/>
              <a:tabLst>
                <a:tab pos="415925" algn="l"/>
                <a:tab pos="415925" algn="l"/>
              </a:tabLst>
            </a:pPr>
            <a:endParaRPr lang="en-US" sz="2400" dirty="0">
              <a:cs typeface="Arial" panose="020B0604020202020204"/>
            </a:endParaRPr>
          </a:p>
          <a:p>
            <a:pPr marL="415925" indent="-403860">
              <a:lnSpc>
                <a:spcPct val="100000"/>
              </a:lnSpc>
              <a:spcBef>
                <a:spcPts val="100"/>
              </a:spcBef>
              <a:buClr>
                <a:srgbClr val="993300"/>
              </a:buClr>
              <a:buSzPct val="89000"/>
              <a:buFont typeface="Arial" panose="020B0604020202020204" pitchFamily="34" charset="0"/>
              <a:buChar char="•"/>
              <a:tabLst>
                <a:tab pos="415925" algn="l"/>
                <a:tab pos="415925" algn="l"/>
              </a:tabLst>
            </a:pPr>
            <a:endParaRPr lang="en-US" sz="2400" dirty="0">
              <a:cs typeface="Arial" panose="020B0604020202020204"/>
            </a:endParaRPr>
          </a:p>
          <a:p>
            <a:pPr marL="415925" indent="-403860">
              <a:lnSpc>
                <a:spcPct val="100000"/>
              </a:lnSpc>
              <a:spcBef>
                <a:spcPts val="100"/>
              </a:spcBef>
              <a:buClr>
                <a:srgbClr val="993300"/>
              </a:buClr>
              <a:buSzPct val="89000"/>
              <a:buFont typeface="Arial" panose="020B0604020202020204" pitchFamily="34" charset="0"/>
              <a:buChar char="•"/>
              <a:tabLst>
                <a:tab pos="415925" algn="l"/>
                <a:tab pos="415925" algn="l"/>
              </a:tabLst>
            </a:pPr>
            <a:endParaRPr lang="en-US" sz="2400" dirty="0">
              <a:cs typeface="Arial" panose="020B0604020202020204"/>
            </a:endParaRPr>
          </a:p>
          <a:p>
            <a:pPr marL="415925" indent="-403860">
              <a:lnSpc>
                <a:spcPct val="100000"/>
              </a:lnSpc>
              <a:spcBef>
                <a:spcPts val="100"/>
              </a:spcBef>
              <a:buClr>
                <a:srgbClr val="993300"/>
              </a:buClr>
              <a:buSzPct val="89000"/>
              <a:buFont typeface="Arial" panose="020B0604020202020204" pitchFamily="34" charset="0"/>
              <a:buChar char="•"/>
              <a:tabLst>
                <a:tab pos="415925" algn="l"/>
                <a:tab pos="415925" algn="l"/>
              </a:tabLst>
            </a:pPr>
            <a:endParaRPr lang="en-US" sz="2400" dirty="0">
              <a:cs typeface="Arial" panose="020B0604020202020204"/>
            </a:endParaRPr>
          </a:p>
          <a:p>
            <a:pPr marL="415925" indent="-403860">
              <a:lnSpc>
                <a:spcPct val="100000"/>
              </a:lnSpc>
              <a:spcBef>
                <a:spcPts val="100"/>
              </a:spcBef>
              <a:buClr>
                <a:srgbClr val="993300"/>
              </a:buClr>
              <a:buSzPct val="89000"/>
              <a:buFont typeface="Arial" panose="020B0604020202020204" pitchFamily="34" charset="0"/>
              <a:buChar char="•"/>
              <a:tabLst>
                <a:tab pos="415925" algn="l"/>
                <a:tab pos="415925" algn="l"/>
              </a:tabLst>
            </a:pPr>
            <a:endParaRPr sz="2400" dirty="0">
              <a:cs typeface="Arial" panose="020B0604020202020204"/>
            </a:endParaRPr>
          </a:p>
        </p:txBody>
      </p:sp>
      <p:sp>
        <p:nvSpPr>
          <p:cNvPr id="8" name="Slide Number Placeholder 7">
            <a:extLst>
              <a:ext uri="{FF2B5EF4-FFF2-40B4-BE49-F238E27FC236}">
                <a16:creationId xmlns:a16="http://schemas.microsoft.com/office/drawing/2014/main" id="{6707393F-D3E3-C8B8-C333-FABA97DA77C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t>59</a:t>
            </a:fld>
            <a:endParaRPr lang="en-US"/>
          </a:p>
        </p:txBody>
      </p:sp>
      <p:pic>
        <p:nvPicPr>
          <p:cNvPr id="2" name="Picture 1" descr="A black and red logo&#10;&#10;Description automatically generated">
            <a:extLst>
              <a:ext uri="{FF2B5EF4-FFF2-40B4-BE49-F238E27FC236}">
                <a16:creationId xmlns:a16="http://schemas.microsoft.com/office/drawing/2014/main" id="{3FDCFD55-72F1-2114-DAD7-C89C0C7065EE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-27384"/>
            <a:ext cx="1657350" cy="710452"/>
          </a:xfrm>
          <a:prstGeom prst="rect">
            <a:avLst/>
          </a:prstGeom>
        </p:spPr>
      </p:pic>
      <p:sp>
        <p:nvSpPr>
          <p:cNvPr id="3" name="Title 1">
            <a:extLst>
              <a:ext uri="{FF2B5EF4-FFF2-40B4-BE49-F238E27FC236}">
                <a16:creationId xmlns:a16="http://schemas.microsoft.com/office/drawing/2014/main" id="{10A53BB9-EACA-37D5-AD75-FFA2F4AD210D}"/>
              </a:ext>
            </a:extLst>
          </p:cNvPr>
          <p:cNvSpPr txBox="1">
            <a:spLocks/>
          </p:cNvSpPr>
          <p:nvPr/>
        </p:nvSpPr>
        <p:spPr>
          <a:xfrm>
            <a:off x="1657350" y="0"/>
            <a:ext cx="7486650" cy="630981"/>
          </a:xfrm>
          <a:prstGeom prst="rect">
            <a:avLst/>
          </a:prstGeom>
          <a:gradFill flip="none" rotWithShape="1">
            <a:gsLst>
              <a:gs pos="0">
                <a:srgbClr val="FF0000">
                  <a:tint val="66000"/>
                  <a:satMod val="160000"/>
                </a:srgbClr>
              </a:gs>
              <a:gs pos="50000">
                <a:srgbClr val="FF0000">
                  <a:tint val="44500"/>
                  <a:satMod val="160000"/>
                </a:srgbClr>
              </a:gs>
              <a:gs pos="100000">
                <a:srgbClr val="FF0000">
                  <a:tint val="23500"/>
                  <a:satMod val="160000"/>
                </a:srgbClr>
              </a:gs>
            </a:gsLst>
            <a:lin ang="0" scaled="1"/>
            <a:tileRect/>
          </a:gradFill>
        </p:spPr>
        <p:style>
          <a:lnRef idx="1">
            <a:schemeClr val="accent5"/>
          </a:lnRef>
          <a:fillRef idx="2">
            <a:schemeClr val="accent5"/>
          </a:fillRef>
          <a:effectRef idx="1">
            <a:schemeClr val="accent5"/>
          </a:effectRef>
          <a:fontRef idx="minor">
            <a:schemeClr val="dk1"/>
          </a:fontRef>
        </p:style>
        <p:txBody>
          <a:bodyPr vert="horz" lIns="68580" tIns="34290" rIns="68580" bIns="34290" rtlCol="0" anchor="ctr">
            <a:noAutofit/>
          </a:bodyPr>
          <a:lstStyle>
            <a:defPPr>
              <a:defRPr lang="en-US"/>
            </a:defPPr>
            <a:lvl1pPr algn="ctr">
              <a:spcBef>
                <a:spcPct val="0"/>
              </a:spcBef>
              <a:buNone/>
              <a:defRPr sz="2800"/>
            </a:lvl1pPr>
          </a:lstStyle>
          <a:p>
            <a:pPr>
              <a:defRPr/>
            </a:pPr>
            <a:r>
              <a:rPr lang="en-US" sz="2400" b="1" dirty="0"/>
              <a:t>Sleeping Barber Problem</a:t>
            </a:r>
            <a:endParaRPr lang="en-US" sz="2100" dirty="0"/>
          </a:p>
        </p:txBody>
      </p:sp>
    </p:spTree>
    <p:extLst>
      <p:ext uri="{BB962C8B-B14F-4D97-AF65-F5344CB8AC3E}">
        <p14:creationId xmlns:p14="http://schemas.microsoft.com/office/powerpoint/2010/main" val="1216157981"/>
      </p:ext>
    </p:extLst>
  </p:cSld>
  <p:clrMapOvr>
    <a:masterClrMapping/>
  </p:clrMapOvr>
  <p:transition>
    <p:dissolve/>
  </p:transition>
</p:sld>
</file>

<file path=ppt/slides/slide6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76315E2-11D6-8FFC-229B-B637AB1039D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90CF93F-CE83-28EF-CE18-0AEC4F89CA7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728C33-6052-4C35-9872-44DE20DC1BFC}" type="datetime3">
              <a:rPr lang="en-US" smtClean="0"/>
              <a:t>1 September 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F5856F8-32B4-FF26-AABE-92CFB4E51A6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2514600" y="6356350"/>
            <a:ext cx="5181600" cy="365125"/>
          </a:xfrm>
        </p:spPr>
        <p:txBody>
          <a:bodyPr/>
          <a:lstStyle/>
          <a:p>
            <a:r>
              <a:rPr lang="en-US"/>
              <a:t>Atul Garg           BCSE0303            Unit- III</a:t>
            </a:r>
            <a:endParaRPr lang="en-US" dirty="0"/>
          </a:p>
        </p:txBody>
      </p:sp>
      <p:sp>
        <p:nvSpPr>
          <p:cNvPr id="11" name="object 3">
            <a:extLst>
              <a:ext uri="{FF2B5EF4-FFF2-40B4-BE49-F238E27FC236}">
                <a16:creationId xmlns:a16="http://schemas.microsoft.com/office/drawing/2014/main" id="{2FCFF0EC-C345-AB63-CDB4-A578945BE79F}"/>
              </a:ext>
            </a:extLst>
          </p:cNvPr>
          <p:cNvSpPr txBox="1"/>
          <p:nvPr/>
        </p:nvSpPr>
        <p:spPr>
          <a:xfrm>
            <a:off x="905822" y="908720"/>
            <a:ext cx="7986658" cy="487825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b="1" dirty="0"/>
              <a:t>Real-World Applications</a:t>
            </a:r>
          </a:p>
          <a:p>
            <a:pPr algn="just"/>
            <a:r>
              <a:rPr lang="en-US" sz="2400" dirty="0"/>
              <a:t>-Thread scheduling in operating systems.</a:t>
            </a:r>
          </a:p>
          <a:p>
            <a:pPr algn="just"/>
            <a:r>
              <a:rPr lang="en-US" sz="2400" dirty="0"/>
              <a:t>-Resource allocation in multi-threaded applications.</a:t>
            </a:r>
          </a:p>
          <a:p>
            <a:pPr algn="just"/>
            <a:r>
              <a:rPr lang="en-US" sz="2400" dirty="0"/>
              <a:t>-Producer-consumer style problems where consumers wait for resources.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b="1" dirty="0"/>
              <a:t>Drawbacks</a:t>
            </a:r>
          </a:p>
          <a:p>
            <a:r>
              <a:rPr lang="en-US" sz="2400" dirty="0"/>
              <a:t>-Busy waiting may still occur if not implemented carefully.</a:t>
            </a:r>
          </a:p>
          <a:p>
            <a:r>
              <a:rPr lang="en-US" sz="2400" dirty="0"/>
              <a:t>More complex for multiple barbers or dynamic chair allocation.</a:t>
            </a:r>
          </a:p>
          <a:p>
            <a:pPr marL="415925" indent="-403860">
              <a:lnSpc>
                <a:spcPct val="100000"/>
              </a:lnSpc>
              <a:spcBef>
                <a:spcPts val="100"/>
              </a:spcBef>
              <a:buClr>
                <a:srgbClr val="993300"/>
              </a:buClr>
              <a:buSzPct val="89000"/>
              <a:buFont typeface="Arial" panose="020B0604020202020204" pitchFamily="34" charset="0"/>
              <a:buChar char="•"/>
              <a:tabLst>
                <a:tab pos="415925" algn="l"/>
                <a:tab pos="415925" algn="l"/>
              </a:tabLst>
            </a:pPr>
            <a:endParaRPr lang="en-US" sz="2400" dirty="0">
              <a:cs typeface="Arial" panose="020B0604020202020204"/>
            </a:endParaRPr>
          </a:p>
          <a:p>
            <a:pPr marL="415925" indent="-403860">
              <a:lnSpc>
                <a:spcPct val="100000"/>
              </a:lnSpc>
              <a:spcBef>
                <a:spcPts val="100"/>
              </a:spcBef>
              <a:buClr>
                <a:srgbClr val="993300"/>
              </a:buClr>
              <a:buSzPct val="89000"/>
              <a:buFont typeface="Arial" panose="020B0604020202020204" pitchFamily="34" charset="0"/>
              <a:buChar char="•"/>
              <a:tabLst>
                <a:tab pos="415925" algn="l"/>
                <a:tab pos="415925" algn="l"/>
              </a:tabLst>
            </a:pPr>
            <a:endParaRPr lang="en-US" sz="2400" dirty="0">
              <a:cs typeface="Arial" panose="020B0604020202020204"/>
            </a:endParaRPr>
          </a:p>
          <a:p>
            <a:pPr marL="415925" indent="-403860">
              <a:lnSpc>
                <a:spcPct val="100000"/>
              </a:lnSpc>
              <a:spcBef>
                <a:spcPts val="100"/>
              </a:spcBef>
              <a:buClr>
                <a:srgbClr val="993300"/>
              </a:buClr>
              <a:buSzPct val="89000"/>
              <a:buFont typeface="Arial" panose="020B0604020202020204" pitchFamily="34" charset="0"/>
              <a:buChar char="•"/>
              <a:tabLst>
                <a:tab pos="415925" algn="l"/>
                <a:tab pos="415925" algn="l"/>
              </a:tabLst>
            </a:pPr>
            <a:endParaRPr lang="en-US" sz="2400" dirty="0">
              <a:cs typeface="Arial" panose="020B0604020202020204"/>
            </a:endParaRPr>
          </a:p>
          <a:p>
            <a:pPr marL="415925" indent="-403860">
              <a:lnSpc>
                <a:spcPct val="100000"/>
              </a:lnSpc>
              <a:spcBef>
                <a:spcPts val="100"/>
              </a:spcBef>
              <a:buClr>
                <a:srgbClr val="993300"/>
              </a:buClr>
              <a:buSzPct val="89000"/>
              <a:buFont typeface="Arial" panose="020B0604020202020204" pitchFamily="34" charset="0"/>
              <a:buChar char="•"/>
              <a:tabLst>
                <a:tab pos="415925" algn="l"/>
                <a:tab pos="415925" algn="l"/>
              </a:tabLst>
            </a:pPr>
            <a:endParaRPr lang="en-US" sz="2400" dirty="0">
              <a:cs typeface="Arial" panose="020B0604020202020204"/>
            </a:endParaRPr>
          </a:p>
          <a:p>
            <a:pPr marL="415925" indent="-403860">
              <a:lnSpc>
                <a:spcPct val="100000"/>
              </a:lnSpc>
              <a:spcBef>
                <a:spcPts val="100"/>
              </a:spcBef>
              <a:buClr>
                <a:srgbClr val="993300"/>
              </a:buClr>
              <a:buSzPct val="89000"/>
              <a:buFont typeface="Arial" panose="020B0604020202020204" pitchFamily="34" charset="0"/>
              <a:buChar char="•"/>
              <a:tabLst>
                <a:tab pos="415925" algn="l"/>
                <a:tab pos="415925" algn="l"/>
              </a:tabLst>
            </a:pPr>
            <a:endParaRPr sz="2400" dirty="0">
              <a:cs typeface="Arial" panose="020B0604020202020204"/>
            </a:endParaRPr>
          </a:p>
        </p:txBody>
      </p:sp>
      <p:sp>
        <p:nvSpPr>
          <p:cNvPr id="8" name="Slide Number Placeholder 7">
            <a:extLst>
              <a:ext uri="{FF2B5EF4-FFF2-40B4-BE49-F238E27FC236}">
                <a16:creationId xmlns:a16="http://schemas.microsoft.com/office/drawing/2014/main" id="{35E00155-6DE8-11BA-6038-F601377A36E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t>60</a:t>
            </a:fld>
            <a:endParaRPr lang="en-US"/>
          </a:p>
        </p:txBody>
      </p:sp>
      <p:pic>
        <p:nvPicPr>
          <p:cNvPr id="2" name="Picture 1" descr="A black and red logo&#10;&#10;Description automatically generated">
            <a:extLst>
              <a:ext uri="{FF2B5EF4-FFF2-40B4-BE49-F238E27FC236}">
                <a16:creationId xmlns:a16="http://schemas.microsoft.com/office/drawing/2014/main" id="{C0E5DD0E-DECD-44B6-0851-300CBB1A821A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-27384"/>
            <a:ext cx="1657350" cy="710452"/>
          </a:xfrm>
          <a:prstGeom prst="rect">
            <a:avLst/>
          </a:prstGeom>
        </p:spPr>
      </p:pic>
      <p:sp>
        <p:nvSpPr>
          <p:cNvPr id="3" name="Title 1">
            <a:extLst>
              <a:ext uri="{FF2B5EF4-FFF2-40B4-BE49-F238E27FC236}">
                <a16:creationId xmlns:a16="http://schemas.microsoft.com/office/drawing/2014/main" id="{047F144A-1A3B-1C40-1E8B-380FE9EDF7B0}"/>
              </a:ext>
            </a:extLst>
          </p:cNvPr>
          <p:cNvSpPr txBox="1">
            <a:spLocks/>
          </p:cNvSpPr>
          <p:nvPr/>
        </p:nvSpPr>
        <p:spPr>
          <a:xfrm>
            <a:off x="1657350" y="0"/>
            <a:ext cx="7486650" cy="630981"/>
          </a:xfrm>
          <a:prstGeom prst="rect">
            <a:avLst/>
          </a:prstGeom>
          <a:gradFill flip="none" rotWithShape="1">
            <a:gsLst>
              <a:gs pos="0">
                <a:srgbClr val="FF0000">
                  <a:tint val="66000"/>
                  <a:satMod val="160000"/>
                </a:srgbClr>
              </a:gs>
              <a:gs pos="50000">
                <a:srgbClr val="FF0000">
                  <a:tint val="44500"/>
                  <a:satMod val="160000"/>
                </a:srgbClr>
              </a:gs>
              <a:gs pos="100000">
                <a:srgbClr val="FF0000">
                  <a:tint val="23500"/>
                  <a:satMod val="160000"/>
                </a:srgbClr>
              </a:gs>
            </a:gsLst>
            <a:lin ang="0" scaled="1"/>
            <a:tileRect/>
          </a:gradFill>
        </p:spPr>
        <p:style>
          <a:lnRef idx="1">
            <a:schemeClr val="accent5"/>
          </a:lnRef>
          <a:fillRef idx="2">
            <a:schemeClr val="accent5"/>
          </a:fillRef>
          <a:effectRef idx="1">
            <a:schemeClr val="accent5"/>
          </a:effectRef>
          <a:fontRef idx="minor">
            <a:schemeClr val="dk1"/>
          </a:fontRef>
        </p:style>
        <p:txBody>
          <a:bodyPr vert="horz" lIns="68580" tIns="34290" rIns="68580" bIns="34290" rtlCol="0" anchor="ctr">
            <a:noAutofit/>
          </a:bodyPr>
          <a:lstStyle>
            <a:defPPr>
              <a:defRPr lang="en-US"/>
            </a:defPPr>
            <a:lvl1pPr algn="ctr">
              <a:spcBef>
                <a:spcPct val="0"/>
              </a:spcBef>
              <a:buNone/>
              <a:defRPr sz="2800"/>
            </a:lvl1pPr>
          </a:lstStyle>
          <a:p>
            <a:pPr>
              <a:defRPr/>
            </a:pPr>
            <a:r>
              <a:rPr lang="en-US" sz="2400" b="1" dirty="0"/>
              <a:t>Sleeping Barber Problem</a:t>
            </a:r>
            <a:endParaRPr lang="en-US" sz="2100" dirty="0"/>
          </a:p>
        </p:txBody>
      </p:sp>
    </p:spTree>
    <p:extLst>
      <p:ext uri="{BB962C8B-B14F-4D97-AF65-F5344CB8AC3E}">
        <p14:creationId xmlns:p14="http://schemas.microsoft.com/office/powerpoint/2010/main" val="1806953473"/>
      </p:ext>
    </p:extLst>
  </p:cSld>
  <p:clrMapOvr>
    <a:masterClrMapping/>
  </p:clrMapOvr>
  <p:transition>
    <p:dissolve/>
  </p:transition>
</p:sld>
</file>

<file path=ppt/slides/slide6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A0F8E09-AEAE-4BD3-A179-0D5DBB7AA5D6}" type="datetime3">
              <a:rPr lang="en-US" smtClean="0"/>
              <a:t>1 September 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2514600" y="6356350"/>
            <a:ext cx="5181600" cy="365125"/>
          </a:xfrm>
        </p:spPr>
        <p:txBody>
          <a:bodyPr/>
          <a:lstStyle/>
          <a:p>
            <a:r>
              <a:rPr lang="en-US"/>
              <a:t>Atul Garg           BCSE0303            Unit- III</a:t>
            </a:r>
            <a:endParaRPr lang="en-US" dirty="0"/>
          </a:p>
        </p:txBody>
      </p:sp>
      <p:sp>
        <p:nvSpPr>
          <p:cNvPr id="12" name="object 3"/>
          <p:cNvSpPr txBox="1"/>
          <p:nvPr/>
        </p:nvSpPr>
        <p:spPr>
          <a:xfrm>
            <a:off x="827584" y="760741"/>
            <a:ext cx="7772400" cy="4972515"/>
          </a:xfrm>
          <a:prstGeom prst="rect">
            <a:avLst/>
          </a:prstGeom>
        </p:spPr>
        <p:txBody>
          <a:bodyPr vert="horz" wrap="square" lIns="0" tIns="108585" rIns="0" bIns="0" rtlCol="0">
            <a:spAutoFit/>
          </a:bodyPr>
          <a:lstStyle/>
          <a:p>
            <a:pPr marL="12700" algn="just">
              <a:spcBef>
                <a:spcPts val="855"/>
              </a:spcBef>
              <a:buFont typeface="Arial" panose="020B0604020202020204" pitchFamily="34" charset="0"/>
              <a:buChar char="•"/>
            </a:pPr>
            <a:r>
              <a:rPr lang="en-IN" sz="2200" dirty="0"/>
              <a:t> In a multiprogramming environment, several processes may compete for a finite number of resources. A process requests resources; if the resources are not available at that time, the process enters a wait state. Waiting processes may never again change state, because the resources they have requested are held by other waiting processes. This situation is called a deadlock.   </a:t>
            </a:r>
          </a:p>
          <a:p>
            <a:pPr marL="12700">
              <a:spcBef>
                <a:spcPts val="855"/>
              </a:spcBef>
              <a:buFont typeface="Arial" panose="020B0604020202020204" pitchFamily="34" charset="0"/>
              <a:buChar char="•"/>
            </a:pPr>
            <a:r>
              <a:rPr lang="en-IN" sz="2200" dirty="0"/>
              <a:t> A set of processes is in a deadlock state if every process in the set is waiting for an event (release) that can only be caused by some other process in the same set. </a:t>
            </a:r>
          </a:p>
          <a:p>
            <a:pPr marL="12700">
              <a:spcBef>
                <a:spcPts val="855"/>
              </a:spcBef>
            </a:pPr>
            <a:r>
              <a:rPr lang="en-IN" sz="2200" dirty="0"/>
              <a:t>Example </a:t>
            </a:r>
          </a:p>
          <a:p>
            <a:pPr marL="12700">
              <a:spcBef>
                <a:spcPts val="855"/>
              </a:spcBef>
            </a:pPr>
            <a:r>
              <a:rPr lang="en-IN" sz="2200" dirty="0"/>
              <a:t> 	-System has 2 disk drives </a:t>
            </a:r>
          </a:p>
          <a:p>
            <a:pPr marL="12700">
              <a:spcBef>
                <a:spcPts val="855"/>
              </a:spcBef>
            </a:pPr>
            <a:r>
              <a:rPr lang="en-IN" sz="2200" dirty="0"/>
              <a:t>	-P1 and P2 process each hold one disk drive and each needs 	another one</a:t>
            </a:r>
            <a:endParaRPr sz="2200" dirty="0">
              <a:cs typeface="Arial" panose="020B0604020202020204"/>
            </a:endParaRPr>
          </a:p>
        </p:txBody>
      </p:sp>
      <p:sp>
        <p:nvSpPr>
          <p:cNvPr id="8" name="Slide Number Placeholder 7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t>61</a:t>
            </a:fld>
            <a:endParaRPr lang="en-US"/>
          </a:p>
        </p:txBody>
      </p:sp>
      <p:pic>
        <p:nvPicPr>
          <p:cNvPr id="2" name="Picture 1" descr="A black and red logo&#10;&#10;Description automatically generated">
            <a:extLst>
              <a:ext uri="{FF2B5EF4-FFF2-40B4-BE49-F238E27FC236}">
                <a16:creationId xmlns:a16="http://schemas.microsoft.com/office/drawing/2014/main" id="{23038D21-3811-8B67-6BA3-ACA138C99174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-27384"/>
            <a:ext cx="1657350" cy="710452"/>
          </a:xfrm>
          <a:prstGeom prst="rect">
            <a:avLst/>
          </a:prstGeom>
        </p:spPr>
      </p:pic>
      <p:sp>
        <p:nvSpPr>
          <p:cNvPr id="3" name="Title 1">
            <a:extLst>
              <a:ext uri="{FF2B5EF4-FFF2-40B4-BE49-F238E27FC236}">
                <a16:creationId xmlns:a16="http://schemas.microsoft.com/office/drawing/2014/main" id="{C3A0CDAC-D228-BA2F-2478-B291099C3587}"/>
              </a:ext>
            </a:extLst>
          </p:cNvPr>
          <p:cNvSpPr txBox="1">
            <a:spLocks/>
          </p:cNvSpPr>
          <p:nvPr/>
        </p:nvSpPr>
        <p:spPr>
          <a:xfrm>
            <a:off x="1657350" y="116632"/>
            <a:ext cx="6875090" cy="514349"/>
          </a:xfrm>
          <a:prstGeom prst="rect">
            <a:avLst/>
          </a:prstGeom>
          <a:gradFill flip="none" rotWithShape="1">
            <a:gsLst>
              <a:gs pos="0">
                <a:srgbClr val="FF0000">
                  <a:tint val="66000"/>
                  <a:satMod val="160000"/>
                </a:srgbClr>
              </a:gs>
              <a:gs pos="50000">
                <a:srgbClr val="FF0000">
                  <a:tint val="44500"/>
                  <a:satMod val="160000"/>
                </a:srgbClr>
              </a:gs>
              <a:gs pos="100000">
                <a:srgbClr val="FF0000">
                  <a:tint val="23500"/>
                  <a:satMod val="160000"/>
                </a:srgbClr>
              </a:gs>
            </a:gsLst>
            <a:lin ang="0" scaled="1"/>
            <a:tileRect/>
          </a:gradFill>
        </p:spPr>
        <p:style>
          <a:lnRef idx="1">
            <a:schemeClr val="accent5"/>
          </a:lnRef>
          <a:fillRef idx="2">
            <a:schemeClr val="accent5"/>
          </a:fillRef>
          <a:effectRef idx="1">
            <a:schemeClr val="accent5"/>
          </a:effectRef>
          <a:fontRef idx="minor">
            <a:schemeClr val="dk1"/>
          </a:fontRef>
        </p:style>
        <p:txBody>
          <a:bodyPr vert="horz" lIns="68580" tIns="34290" rIns="68580" bIns="34290" rtlCol="0" anchor="ctr">
            <a:noAutofit/>
          </a:bodyPr>
          <a:lstStyle>
            <a:defPPr>
              <a:defRPr lang="en-US"/>
            </a:defPPr>
            <a:lvl1pPr algn="ctr">
              <a:spcBef>
                <a:spcPct val="0"/>
              </a:spcBef>
              <a:buNone/>
              <a:defRPr sz="2800"/>
            </a:lvl1pPr>
          </a:lstStyle>
          <a:p>
            <a:pPr>
              <a:defRPr/>
            </a:pPr>
            <a:endParaRPr lang="en-IN" sz="2400" spc="-5" dirty="0"/>
          </a:p>
          <a:p>
            <a:pPr>
              <a:defRPr/>
            </a:pPr>
            <a:r>
              <a:rPr lang="en-IN" sz="2400" spc="-5" dirty="0"/>
              <a:t>Deadlock Introduction(C03)</a:t>
            </a:r>
            <a:endParaRPr kumimoji="0" lang="en-US" sz="2400" b="0" i="0" u="none" strike="noStrike" kern="1200" cap="none" spc="0" normalizeH="0" baseline="0" noProof="0" dirty="0">
              <a:ln>
                <a:noFill/>
              </a:ln>
              <a:solidFill>
                <a:schemeClr val="dk1"/>
              </a:solidFill>
              <a:effectLst/>
              <a:uLnTx/>
              <a:uFillTx/>
              <a:ea typeface="+mn-ea"/>
              <a:cs typeface="+mn-cs"/>
            </a:endParaRPr>
          </a:p>
          <a:p>
            <a:pPr>
              <a:defRPr/>
            </a:pPr>
            <a:endParaRPr lang="en-US" sz="2100" dirty="0"/>
          </a:p>
        </p:txBody>
      </p:sp>
    </p:spTree>
  </p:cSld>
  <p:clrMapOvr>
    <a:masterClrMapping/>
  </p:clrMapOvr>
  <p:transition>
    <p:dissolve/>
  </p:transition>
</p:sld>
</file>

<file path=ppt/slides/slide6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3954AEF-749E-D453-DCBF-21E7AC59055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3B5B436-7257-9D99-874C-3E8334839D3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DE52476-1EA9-4225-925B-FEB2D1B79A20}" type="datetime3">
              <a:rPr lang="en-US" smtClean="0"/>
              <a:t>1 September 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F271A05-DE8E-E35D-E22F-9DE15EF856A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3257550" y="5543551"/>
            <a:ext cx="3543300" cy="273844"/>
          </a:xfrm>
        </p:spPr>
        <p:txBody>
          <a:bodyPr/>
          <a:lstStyle/>
          <a:p>
            <a:r>
              <a:rPr lang="en-US"/>
              <a:t>Atul Garg           BCSE0303            Unit- III</a:t>
            </a:r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D30CD71-4203-04A3-0611-3F638AB15C5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62</a:t>
            </a:fld>
            <a:endParaRPr lang="en-US"/>
          </a:p>
        </p:txBody>
      </p:sp>
      <p:sp>
        <p:nvSpPr>
          <p:cNvPr id="7" name="Title 1">
            <a:extLst>
              <a:ext uri="{FF2B5EF4-FFF2-40B4-BE49-F238E27FC236}">
                <a16:creationId xmlns:a16="http://schemas.microsoft.com/office/drawing/2014/main" id="{840F3E85-8B73-10BA-50C4-C1C32E5CC869}"/>
              </a:ext>
            </a:extLst>
          </p:cNvPr>
          <p:cNvSpPr txBox="1">
            <a:spLocks/>
          </p:cNvSpPr>
          <p:nvPr/>
        </p:nvSpPr>
        <p:spPr>
          <a:xfrm>
            <a:off x="1835696" y="116632"/>
            <a:ext cx="7273974" cy="700178"/>
          </a:xfrm>
          <a:prstGeom prst="rect">
            <a:avLst/>
          </a:prstGeom>
          <a:gradFill flip="none" rotWithShape="1">
            <a:gsLst>
              <a:gs pos="0">
                <a:srgbClr val="FF0000">
                  <a:tint val="66000"/>
                  <a:satMod val="160000"/>
                </a:srgbClr>
              </a:gs>
              <a:gs pos="50000">
                <a:srgbClr val="FF0000">
                  <a:tint val="44500"/>
                  <a:satMod val="160000"/>
                </a:srgbClr>
              </a:gs>
              <a:gs pos="100000">
                <a:srgbClr val="FF0000">
                  <a:tint val="23500"/>
                  <a:satMod val="160000"/>
                </a:srgbClr>
              </a:gs>
            </a:gsLst>
            <a:lin ang="0" scaled="1"/>
            <a:tileRect/>
          </a:gradFill>
        </p:spPr>
        <p:style>
          <a:lnRef idx="1">
            <a:schemeClr val="accent5"/>
          </a:lnRef>
          <a:fillRef idx="2">
            <a:schemeClr val="accent5"/>
          </a:fillRef>
          <a:effectRef idx="1">
            <a:schemeClr val="accent5"/>
          </a:effectRef>
          <a:fontRef idx="minor">
            <a:schemeClr val="dk1"/>
          </a:fontRef>
        </p:style>
        <p:txBody>
          <a:bodyPr vert="horz" lIns="68580" tIns="34290" rIns="68580" bIns="34290" rtlCol="0" anchor="ctr">
            <a:noAutofit/>
          </a:bodyPr>
          <a:lstStyle>
            <a:defPPr>
              <a:defRPr lang="en-US"/>
            </a:defPPr>
            <a:lvl1pPr algn="ctr">
              <a:spcBef>
                <a:spcPct val="0"/>
              </a:spcBef>
              <a:buNone/>
              <a:defRPr sz="2800"/>
            </a:lvl1pPr>
          </a:lstStyle>
          <a:p>
            <a:pPr>
              <a:defRPr/>
            </a:pPr>
            <a:r>
              <a:rPr lang="en-IN" sz="2400" dirty="0"/>
              <a:t>Producer-Consumer Problem(CO3)</a:t>
            </a:r>
            <a:endParaRPr lang="en-US" sz="2100" dirty="0"/>
          </a:p>
        </p:txBody>
      </p:sp>
      <p:pic>
        <p:nvPicPr>
          <p:cNvPr id="2" name="Picture 1" descr="A black and red logo&#10;&#10;Description automatically generated">
            <a:extLst>
              <a:ext uri="{FF2B5EF4-FFF2-40B4-BE49-F238E27FC236}">
                <a16:creationId xmlns:a16="http://schemas.microsoft.com/office/drawing/2014/main" id="{F3189D14-8DE8-5A9A-4DA0-6B27C0703C95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4330" y="44624"/>
            <a:ext cx="1801366" cy="772186"/>
          </a:xfrm>
          <a:prstGeom prst="rect">
            <a:avLst/>
          </a:prstGeom>
        </p:spPr>
      </p:pic>
      <p:sp>
        <p:nvSpPr>
          <p:cNvPr id="10" name="Content Placeholder 2">
            <a:extLst>
              <a:ext uri="{FF2B5EF4-FFF2-40B4-BE49-F238E27FC236}">
                <a16:creationId xmlns:a16="http://schemas.microsoft.com/office/drawing/2014/main" id="{E55304C7-2A7E-463F-56B1-2B030A4E079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27584" y="908720"/>
            <a:ext cx="7992888" cy="4878288"/>
          </a:xfrm>
        </p:spPr>
        <p:txBody>
          <a:bodyPr>
            <a:noAutofit/>
          </a:bodyPr>
          <a:lstStyle/>
          <a:p>
            <a:pPr marL="255905" indent="-243840">
              <a:spcBef>
                <a:spcPts val="670"/>
              </a:spcBef>
              <a:buClr>
                <a:srgbClr val="000000"/>
              </a:buClr>
              <a:buSzPct val="92000"/>
              <a:tabLst>
                <a:tab pos="256540" algn="l"/>
              </a:tabLst>
            </a:pPr>
            <a:r>
              <a:rPr lang="en-IN" sz="2200" b="1" spc="-5" dirty="0">
                <a:solidFill>
                  <a:srgbClr val="3164FF"/>
                </a:solidFill>
                <a:latin typeface="Carlito"/>
                <a:cs typeface="Carlito"/>
              </a:rPr>
              <a:t>  </a:t>
            </a:r>
            <a:r>
              <a:rPr lang="en-IN" sz="2200" b="1" spc="-5" dirty="0">
                <a:cs typeface="Carlito"/>
              </a:rPr>
              <a:t>Unbounded-buffer</a:t>
            </a:r>
            <a:r>
              <a:rPr lang="en-IN" sz="2200" dirty="0">
                <a:cs typeface="Carlito"/>
              </a:rPr>
              <a:t>  </a:t>
            </a:r>
            <a:r>
              <a:rPr lang="en-IN" sz="2200" spc="-5" dirty="0">
                <a:cs typeface="Carlito"/>
              </a:rPr>
              <a:t>places no practical  limit on the size of buffer.</a:t>
            </a:r>
          </a:p>
          <a:p>
            <a:pPr marL="255905" indent="-243840">
              <a:spcBef>
                <a:spcPts val="670"/>
              </a:spcBef>
              <a:buClr>
                <a:srgbClr val="000000"/>
              </a:buClr>
              <a:buSzPct val="92000"/>
              <a:tabLst>
                <a:tab pos="256540" algn="l"/>
              </a:tabLst>
            </a:pPr>
            <a:r>
              <a:rPr lang="en-IN" sz="2200" b="1" spc="-5" dirty="0">
                <a:solidFill>
                  <a:srgbClr val="3164FF"/>
                </a:solidFill>
                <a:cs typeface="Carlito"/>
              </a:rPr>
              <a:t>     </a:t>
            </a:r>
            <a:r>
              <a:rPr lang="en-IN" sz="2200" b="1" spc="-5" dirty="0">
                <a:cs typeface="Carlito"/>
              </a:rPr>
              <a:t>Bounded-buffer</a:t>
            </a:r>
            <a:r>
              <a:rPr lang="en-IN" sz="2200" b="1" spc="-5" dirty="0">
                <a:solidFill>
                  <a:srgbClr val="3164FF"/>
                </a:solidFill>
                <a:cs typeface="Carlito"/>
              </a:rPr>
              <a:t> </a:t>
            </a:r>
            <a:r>
              <a:rPr lang="en-IN" sz="2200" b="1" spc="-5" dirty="0">
                <a:cs typeface="Carlito"/>
              </a:rPr>
              <a:t> </a:t>
            </a:r>
            <a:r>
              <a:rPr lang="en-IN" sz="2200" dirty="0">
                <a:cs typeface="Carlito"/>
              </a:rPr>
              <a:t>assumes </a:t>
            </a:r>
            <a:r>
              <a:rPr lang="en-IN" sz="2200" spc="-5" dirty="0">
                <a:cs typeface="Carlito"/>
              </a:rPr>
              <a:t>that there</a:t>
            </a:r>
            <a:r>
              <a:rPr lang="en-IN" sz="2200" spc="-100" dirty="0">
                <a:cs typeface="Carlito"/>
              </a:rPr>
              <a:t> </a:t>
            </a:r>
            <a:r>
              <a:rPr lang="en-IN" sz="2200" spc="-5" dirty="0">
                <a:cs typeface="Carlito"/>
              </a:rPr>
              <a:t>is  </a:t>
            </a:r>
            <a:r>
              <a:rPr lang="en-IN" sz="2200" dirty="0">
                <a:cs typeface="Carlito"/>
              </a:rPr>
              <a:t>a </a:t>
            </a:r>
            <a:r>
              <a:rPr lang="en-IN" sz="2200" spc="-5" dirty="0">
                <a:cs typeface="Carlito"/>
              </a:rPr>
              <a:t>fixed buffer</a:t>
            </a:r>
            <a:r>
              <a:rPr lang="en-IN" sz="2200" spc="-40" dirty="0">
                <a:cs typeface="Carlito"/>
              </a:rPr>
              <a:t> </a:t>
            </a:r>
            <a:r>
              <a:rPr lang="en-IN" sz="2200" spc="-5" dirty="0">
                <a:cs typeface="Carlito"/>
              </a:rPr>
              <a:t>size.</a:t>
            </a:r>
          </a:p>
          <a:p>
            <a:pPr marL="12700">
              <a:lnSpc>
                <a:spcPct val="100000"/>
              </a:lnSpc>
              <a:spcBef>
                <a:spcPts val="105"/>
              </a:spcBef>
              <a:buNone/>
            </a:pPr>
            <a:r>
              <a:rPr lang="en-IN" sz="2200" dirty="0">
                <a:cs typeface="Courier New" panose="02070309020205020404"/>
              </a:rPr>
              <a:t>    </a:t>
            </a:r>
            <a:r>
              <a:rPr lang="en-IN" sz="2200" b="1" dirty="0">
                <a:cs typeface="Courier New" panose="02070309020205020404"/>
              </a:rPr>
              <a:t>Producer code</a:t>
            </a:r>
          </a:p>
          <a:p>
            <a:pPr marL="12700">
              <a:lnSpc>
                <a:spcPct val="100000"/>
              </a:lnSpc>
              <a:spcBef>
                <a:spcPts val="105"/>
              </a:spcBef>
              <a:buNone/>
            </a:pPr>
            <a:r>
              <a:rPr lang="en-IN" sz="2200" dirty="0">
                <a:cs typeface="Courier New" panose="02070309020205020404"/>
              </a:rPr>
              <a:t>    while </a:t>
            </a:r>
            <a:r>
              <a:rPr lang="en-IN" sz="2200" spc="5" dirty="0">
                <a:cs typeface="Courier New" panose="02070309020205020404"/>
              </a:rPr>
              <a:t>(true)</a:t>
            </a:r>
            <a:r>
              <a:rPr lang="en-IN" sz="2200" spc="-5" dirty="0">
                <a:cs typeface="Courier New" panose="02070309020205020404"/>
              </a:rPr>
              <a:t> </a:t>
            </a:r>
            <a:r>
              <a:rPr lang="en-IN" sz="2200" dirty="0">
                <a:cs typeface="Courier New" panose="02070309020205020404"/>
              </a:rPr>
              <a:t>{</a:t>
            </a:r>
          </a:p>
          <a:p>
            <a:pPr marL="927100">
              <a:lnSpc>
                <a:spcPct val="100000"/>
              </a:lnSpc>
              <a:buNone/>
            </a:pPr>
            <a:r>
              <a:rPr lang="en-IN" sz="2200" spc="-5" dirty="0">
                <a:cs typeface="Courier New" panose="02070309020205020404"/>
              </a:rPr>
              <a:t>   /* </a:t>
            </a:r>
            <a:r>
              <a:rPr lang="en-IN" sz="2200" dirty="0">
                <a:cs typeface="Courier New" panose="02070309020205020404"/>
              </a:rPr>
              <a:t>produce </a:t>
            </a:r>
            <a:r>
              <a:rPr lang="en-IN" sz="2200" spc="-5" dirty="0">
                <a:cs typeface="Courier New" panose="02070309020205020404"/>
              </a:rPr>
              <a:t>an </a:t>
            </a:r>
            <a:r>
              <a:rPr lang="en-IN" sz="2200" dirty="0">
                <a:cs typeface="Courier New" panose="02070309020205020404"/>
              </a:rPr>
              <a:t>item </a:t>
            </a:r>
            <a:r>
              <a:rPr lang="en-IN" sz="2200" spc="-5" dirty="0">
                <a:cs typeface="Courier New" panose="02070309020205020404"/>
              </a:rPr>
              <a:t>in </a:t>
            </a:r>
            <a:r>
              <a:rPr lang="en-IN" sz="2200" dirty="0">
                <a:cs typeface="Courier New" panose="02070309020205020404"/>
              </a:rPr>
              <a:t>next </a:t>
            </a:r>
            <a:r>
              <a:rPr lang="en-IN" sz="2200" spc="5" dirty="0">
                <a:cs typeface="Courier New" panose="02070309020205020404"/>
              </a:rPr>
              <a:t>produced</a:t>
            </a:r>
            <a:r>
              <a:rPr lang="en-IN" sz="2200" spc="60" dirty="0">
                <a:cs typeface="Courier New" panose="02070309020205020404"/>
              </a:rPr>
              <a:t> </a:t>
            </a:r>
            <a:r>
              <a:rPr lang="en-IN" sz="2200" spc="-5" dirty="0">
                <a:cs typeface="Courier New" panose="02070309020205020404"/>
              </a:rPr>
              <a:t>*/</a:t>
            </a:r>
            <a:endParaRPr lang="en-IN" sz="2200" dirty="0">
              <a:cs typeface="Courier New" panose="02070309020205020404"/>
            </a:endParaRPr>
          </a:p>
          <a:p>
            <a:pPr marL="927100">
              <a:lnSpc>
                <a:spcPct val="100000"/>
              </a:lnSpc>
              <a:spcBef>
                <a:spcPts val="1315"/>
              </a:spcBef>
              <a:buNone/>
            </a:pPr>
            <a:r>
              <a:rPr lang="en-IN" sz="2200" dirty="0">
                <a:cs typeface="Courier New" panose="02070309020205020404"/>
              </a:rPr>
              <a:t>      while (counter </a:t>
            </a:r>
            <a:r>
              <a:rPr lang="en-IN" sz="2200" spc="-5" dirty="0">
                <a:cs typeface="Courier New" panose="02070309020205020404"/>
              </a:rPr>
              <a:t>== </a:t>
            </a:r>
            <a:r>
              <a:rPr lang="en-IN" sz="2200" dirty="0">
                <a:cs typeface="Courier New" panose="02070309020205020404"/>
              </a:rPr>
              <a:t>BUFFER_  SIZE)</a:t>
            </a:r>
            <a:r>
              <a:rPr lang="en-IN" sz="2200" spc="40" dirty="0">
                <a:cs typeface="Courier New" panose="02070309020205020404"/>
              </a:rPr>
              <a:t> </a:t>
            </a:r>
            <a:r>
              <a:rPr lang="en-IN" sz="2200" dirty="0">
                <a:cs typeface="Courier New" panose="02070309020205020404"/>
              </a:rPr>
              <a:t>;</a:t>
            </a:r>
          </a:p>
          <a:p>
            <a:pPr marL="1841500">
              <a:lnSpc>
                <a:spcPct val="100000"/>
              </a:lnSpc>
              <a:spcBef>
                <a:spcPts val="705"/>
              </a:spcBef>
              <a:buNone/>
            </a:pPr>
            <a:r>
              <a:rPr lang="en-IN" sz="2200" spc="-5" dirty="0">
                <a:cs typeface="Courier New" panose="02070309020205020404"/>
              </a:rPr>
              <a:t>/* do </a:t>
            </a:r>
            <a:r>
              <a:rPr lang="en-IN" sz="2200" dirty="0">
                <a:cs typeface="Courier New" panose="02070309020205020404"/>
              </a:rPr>
              <a:t>nothing</a:t>
            </a:r>
            <a:r>
              <a:rPr lang="en-IN" sz="2200" spc="30" dirty="0">
                <a:cs typeface="Courier New" panose="02070309020205020404"/>
              </a:rPr>
              <a:t> </a:t>
            </a:r>
            <a:r>
              <a:rPr lang="en-IN" sz="2200" spc="-5" dirty="0">
                <a:cs typeface="Courier New" panose="02070309020205020404"/>
              </a:rPr>
              <a:t>*/</a:t>
            </a:r>
          </a:p>
          <a:p>
            <a:pPr marL="1841500">
              <a:lnSpc>
                <a:spcPct val="100000"/>
              </a:lnSpc>
              <a:spcBef>
                <a:spcPts val="705"/>
              </a:spcBef>
              <a:buNone/>
            </a:pPr>
            <a:r>
              <a:rPr lang="en-IN" sz="2200" dirty="0">
                <a:cs typeface="Courier New" panose="02070309020205020404"/>
              </a:rPr>
              <a:t>buffer[in] = </a:t>
            </a:r>
            <a:r>
              <a:rPr lang="en-IN" sz="2200" dirty="0" err="1">
                <a:cs typeface="Courier New" panose="02070309020205020404"/>
              </a:rPr>
              <a:t>next_produced</a:t>
            </a:r>
            <a:r>
              <a:rPr lang="en-IN" sz="2200" dirty="0">
                <a:cs typeface="Courier New" panose="02070309020205020404"/>
              </a:rPr>
              <a:t>; </a:t>
            </a:r>
          </a:p>
          <a:p>
            <a:pPr marL="1841500">
              <a:lnSpc>
                <a:spcPct val="100000"/>
              </a:lnSpc>
              <a:spcBef>
                <a:spcPts val="705"/>
              </a:spcBef>
              <a:buNone/>
            </a:pPr>
            <a:r>
              <a:rPr lang="en-IN" sz="2200" dirty="0">
                <a:cs typeface="Courier New" panose="02070309020205020404"/>
              </a:rPr>
              <a:t> </a:t>
            </a:r>
            <a:r>
              <a:rPr lang="en-IN" sz="2200" spc="-5" dirty="0">
                <a:cs typeface="Courier New" panose="02070309020205020404"/>
              </a:rPr>
              <a:t>in </a:t>
            </a:r>
            <a:r>
              <a:rPr lang="en-IN" sz="2200" dirty="0">
                <a:cs typeface="Courier New" panose="02070309020205020404"/>
              </a:rPr>
              <a:t>= (in + </a:t>
            </a:r>
            <a:r>
              <a:rPr lang="en-IN" sz="2200" spc="-5" dirty="0">
                <a:cs typeface="Courier New" panose="02070309020205020404"/>
              </a:rPr>
              <a:t>1) </a:t>
            </a:r>
            <a:r>
              <a:rPr lang="en-IN" sz="2200" dirty="0">
                <a:cs typeface="Courier New" panose="02070309020205020404"/>
              </a:rPr>
              <a:t>%BUFFER_SIZE;</a:t>
            </a:r>
          </a:p>
          <a:p>
            <a:pPr marL="926465">
              <a:lnSpc>
                <a:spcPct val="100000"/>
              </a:lnSpc>
              <a:spcBef>
                <a:spcPts val="720"/>
              </a:spcBef>
              <a:buNone/>
            </a:pPr>
            <a:r>
              <a:rPr lang="en-IN" sz="2200" dirty="0">
                <a:cs typeface="Courier New" panose="02070309020205020404"/>
              </a:rPr>
              <a:t>              counter++;</a:t>
            </a:r>
          </a:p>
          <a:p>
            <a:pPr marL="926465">
              <a:lnSpc>
                <a:spcPct val="100000"/>
              </a:lnSpc>
              <a:spcBef>
                <a:spcPts val="720"/>
              </a:spcBef>
              <a:buNone/>
            </a:pPr>
            <a:r>
              <a:rPr lang="en-IN" sz="2200" dirty="0">
                <a:cs typeface="Courier New" panose="02070309020205020404"/>
              </a:rPr>
              <a:t>}</a:t>
            </a:r>
          </a:p>
          <a:p>
            <a:pPr marL="255905" indent="-243840">
              <a:spcBef>
                <a:spcPts val="670"/>
              </a:spcBef>
              <a:buClr>
                <a:srgbClr val="000000"/>
              </a:buClr>
              <a:buSzPct val="92000"/>
              <a:tabLst>
                <a:tab pos="256540" algn="l"/>
              </a:tabLst>
            </a:pPr>
            <a:endParaRPr lang="en-IN" sz="2200" dirty="0">
              <a:cs typeface="Carlito"/>
            </a:endParaRPr>
          </a:p>
          <a:p>
            <a:pPr marL="653415" marR="5080" indent="322580" algn="just">
              <a:lnSpc>
                <a:spcPct val="100000"/>
              </a:lnSpc>
              <a:spcBef>
                <a:spcPts val="80"/>
              </a:spcBef>
            </a:pPr>
            <a:endParaRPr lang="en-IN" sz="2200" dirty="0">
              <a:latin typeface="Carlito"/>
              <a:cs typeface="Carlito"/>
            </a:endParaRPr>
          </a:p>
          <a:p>
            <a:pPr>
              <a:buFontTx/>
              <a:buNone/>
            </a:pPr>
            <a:endParaRPr lang="en-US" sz="2200" dirty="0"/>
          </a:p>
        </p:txBody>
      </p:sp>
    </p:spTree>
    <p:extLst>
      <p:ext uri="{BB962C8B-B14F-4D97-AF65-F5344CB8AC3E}">
        <p14:creationId xmlns:p14="http://schemas.microsoft.com/office/powerpoint/2010/main" val="1340647474"/>
      </p:ext>
    </p:extLst>
  </p:cSld>
  <p:clrMapOvr>
    <a:masterClrMapping/>
  </p:clrMapOvr>
</p:sld>
</file>

<file path=ppt/slides/slide6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13117F9-2619-41C0-099C-C5AC796AE52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AD313A0-4F9F-616E-CA85-401E7775B1D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E58E3EC-01DE-4C98-854B-0C9441CB4A30}" type="datetime3">
              <a:rPr lang="en-US" smtClean="0"/>
              <a:t>1 September 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8FEF5EF-1E4E-EB48-FEAE-7E3D56BA7D8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3257550" y="5543551"/>
            <a:ext cx="3543300" cy="273844"/>
          </a:xfrm>
        </p:spPr>
        <p:txBody>
          <a:bodyPr/>
          <a:lstStyle/>
          <a:p>
            <a:r>
              <a:rPr lang="en-US"/>
              <a:t>Atul Garg           BCSE0303            Unit- III</a:t>
            </a:r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C940DF8-9F19-2FCE-2B2A-F2B76B798B2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63</a:t>
            </a:fld>
            <a:endParaRPr lang="en-US"/>
          </a:p>
        </p:txBody>
      </p:sp>
      <p:sp>
        <p:nvSpPr>
          <p:cNvPr id="7" name="Title 1">
            <a:extLst>
              <a:ext uri="{FF2B5EF4-FFF2-40B4-BE49-F238E27FC236}">
                <a16:creationId xmlns:a16="http://schemas.microsoft.com/office/drawing/2014/main" id="{CD415FCB-2720-EDF6-3163-DF41F03B8BE2}"/>
              </a:ext>
            </a:extLst>
          </p:cNvPr>
          <p:cNvSpPr txBox="1">
            <a:spLocks/>
          </p:cNvSpPr>
          <p:nvPr/>
        </p:nvSpPr>
        <p:spPr>
          <a:xfrm>
            <a:off x="2167930" y="116632"/>
            <a:ext cx="6941740" cy="842596"/>
          </a:xfrm>
          <a:prstGeom prst="rect">
            <a:avLst/>
          </a:prstGeom>
          <a:gradFill flip="none" rotWithShape="1">
            <a:gsLst>
              <a:gs pos="0">
                <a:srgbClr val="FF0000">
                  <a:tint val="66000"/>
                  <a:satMod val="160000"/>
                </a:srgbClr>
              </a:gs>
              <a:gs pos="50000">
                <a:srgbClr val="FF0000">
                  <a:tint val="44500"/>
                  <a:satMod val="160000"/>
                </a:srgbClr>
              </a:gs>
              <a:gs pos="100000">
                <a:srgbClr val="FF0000">
                  <a:tint val="23500"/>
                  <a:satMod val="160000"/>
                </a:srgbClr>
              </a:gs>
            </a:gsLst>
            <a:lin ang="0" scaled="1"/>
            <a:tileRect/>
          </a:gradFill>
        </p:spPr>
        <p:style>
          <a:lnRef idx="1">
            <a:schemeClr val="accent5"/>
          </a:lnRef>
          <a:fillRef idx="2">
            <a:schemeClr val="accent5"/>
          </a:fillRef>
          <a:effectRef idx="1">
            <a:schemeClr val="accent5"/>
          </a:effectRef>
          <a:fontRef idx="minor">
            <a:schemeClr val="dk1"/>
          </a:fontRef>
        </p:style>
        <p:txBody>
          <a:bodyPr vert="horz" lIns="68580" tIns="34290" rIns="68580" bIns="34290" rtlCol="0" anchor="ctr">
            <a:noAutofit/>
          </a:bodyPr>
          <a:lstStyle>
            <a:defPPr>
              <a:defRPr lang="en-US"/>
            </a:defPPr>
            <a:lvl1pPr algn="ctr">
              <a:spcBef>
                <a:spcPct val="0"/>
              </a:spcBef>
              <a:buNone/>
              <a:defRPr sz="2800"/>
            </a:lvl1pPr>
          </a:lstStyle>
          <a:p>
            <a:pPr>
              <a:defRPr/>
            </a:pPr>
            <a:endParaRPr lang="en-IN" sz="2400" dirty="0"/>
          </a:p>
          <a:p>
            <a:pPr>
              <a:defRPr/>
            </a:pPr>
            <a:r>
              <a:rPr lang="en-IN" sz="2400" dirty="0"/>
              <a:t>Producer-Consumer Problem(CO3)</a:t>
            </a:r>
            <a:endParaRPr lang="en-US" sz="2400" dirty="0"/>
          </a:p>
          <a:p>
            <a:pPr>
              <a:defRPr/>
            </a:pPr>
            <a:endParaRPr lang="en-US" sz="2100" dirty="0"/>
          </a:p>
        </p:txBody>
      </p:sp>
      <p:pic>
        <p:nvPicPr>
          <p:cNvPr id="2" name="Picture 1" descr="A black and red logo&#10;&#10;Description automatically generated">
            <a:extLst>
              <a:ext uri="{FF2B5EF4-FFF2-40B4-BE49-F238E27FC236}">
                <a16:creationId xmlns:a16="http://schemas.microsoft.com/office/drawing/2014/main" id="{BD6217BD-5511-5CC1-6E66-EB4F39F6F82B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4330" y="44624"/>
            <a:ext cx="2133600" cy="914604"/>
          </a:xfrm>
          <a:prstGeom prst="rect">
            <a:avLst/>
          </a:prstGeom>
        </p:spPr>
      </p:pic>
      <p:sp>
        <p:nvSpPr>
          <p:cNvPr id="10" name="Rectangle 9">
            <a:extLst>
              <a:ext uri="{FF2B5EF4-FFF2-40B4-BE49-F238E27FC236}">
                <a16:creationId xmlns:a16="http://schemas.microsoft.com/office/drawing/2014/main" id="{900F58D6-A480-3E93-23D3-56BCB1FDA327}"/>
              </a:ext>
            </a:extLst>
          </p:cNvPr>
          <p:cNvSpPr/>
          <p:nvPr/>
        </p:nvSpPr>
        <p:spPr>
          <a:xfrm>
            <a:off x="827584" y="1004328"/>
            <a:ext cx="7776864" cy="436888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12700">
              <a:lnSpc>
                <a:spcPct val="100000"/>
              </a:lnSpc>
              <a:spcBef>
                <a:spcPts val="770"/>
              </a:spcBef>
            </a:pPr>
            <a:endParaRPr lang="en-IN" sz="2200" spc="-5" dirty="0">
              <a:cs typeface="Courier New" panose="02070309020205020404"/>
            </a:endParaRPr>
          </a:p>
          <a:p>
            <a:pPr marL="12700">
              <a:lnSpc>
                <a:spcPct val="100000"/>
              </a:lnSpc>
              <a:spcBef>
                <a:spcPts val="770"/>
              </a:spcBef>
            </a:pPr>
            <a:r>
              <a:rPr lang="en-IN" sz="2200" b="1" spc="-5" dirty="0">
                <a:cs typeface="Courier New" panose="02070309020205020404"/>
              </a:rPr>
              <a:t>Consumer code</a:t>
            </a:r>
          </a:p>
          <a:p>
            <a:pPr marL="12700">
              <a:lnSpc>
                <a:spcPct val="100000"/>
              </a:lnSpc>
              <a:spcBef>
                <a:spcPts val="770"/>
              </a:spcBef>
            </a:pPr>
            <a:r>
              <a:rPr lang="en-IN" sz="2200" spc="-5" dirty="0">
                <a:cs typeface="Courier New" panose="02070309020205020404"/>
              </a:rPr>
              <a:t>while (true)</a:t>
            </a:r>
            <a:r>
              <a:rPr lang="en-IN" sz="2200" spc="10" dirty="0">
                <a:cs typeface="Courier New" panose="02070309020205020404"/>
              </a:rPr>
              <a:t> </a:t>
            </a:r>
            <a:r>
              <a:rPr lang="en-IN" sz="2200" spc="-5" dirty="0">
                <a:cs typeface="Courier New" panose="02070309020205020404"/>
              </a:rPr>
              <a:t>{</a:t>
            </a:r>
            <a:endParaRPr lang="en-IN" sz="2200" dirty="0">
              <a:cs typeface="Courier New" panose="02070309020205020404"/>
            </a:endParaRPr>
          </a:p>
          <a:p>
            <a:pPr marL="927100">
              <a:lnSpc>
                <a:spcPct val="100000"/>
              </a:lnSpc>
              <a:spcBef>
                <a:spcPts val="675"/>
              </a:spcBef>
            </a:pPr>
            <a:r>
              <a:rPr lang="en-IN" sz="2200" spc="-5" dirty="0">
                <a:cs typeface="Courier New" panose="02070309020205020404"/>
              </a:rPr>
              <a:t>while (counter ==</a:t>
            </a:r>
            <a:r>
              <a:rPr lang="en-IN" sz="2200" dirty="0">
                <a:cs typeface="Courier New" panose="02070309020205020404"/>
              </a:rPr>
              <a:t> 0)</a:t>
            </a:r>
            <a:r>
              <a:rPr lang="en-IN" sz="2200" spc="-5" dirty="0">
                <a:cs typeface="Courier New" panose="02070309020205020404"/>
              </a:rPr>
              <a:t>; </a:t>
            </a:r>
          </a:p>
          <a:p>
            <a:pPr marL="927100">
              <a:lnSpc>
                <a:spcPct val="100000"/>
              </a:lnSpc>
              <a:spcBef>
                <a:spcPts val="675"/>
              </a:spcBef>
            </a:pPr>
            <a:r>
              <a:rPr lang="en-IN" sz="2200" spc="-5" dirty="0">
                <a:cs typeface="Courier New" panose="02070309020205020404"/>
              </a:rPr>
              <a:t>	 /* do nothing */  </a:t>
            </a:r>
          </a:p>
          <a:p>
            <a:pPr marL="927100" marR="1104265" indent="914400">
              <a:lnSpc>
                <a:spcPct val="135000"/>
              </a:lnSpc>
            </a:pPr>
            <a:r>
              <a:rPr lang="en-IN" sz="2200" spc="-5" dirty="0" err="1">
                <a:cs typeface="Courier New" panose="02070309020205020404"/>
              </a:rPr>
              <a:t>next_consumed</a:t>
            </a:r>
            <a:r>
              <a:rPr lang="en-IN" sz="2200" spc="-5" dirty="0">
                <a:cs typeface="Courier New" panose="02070309020205020404"/>
              </a:rPr>
              <a:t> = buffer[out];  </a:t>
            </a:r>
          </a:p>
          <a:p>
            <a:pPr marL="927100" marR="1104265" indent="914400">
              <a:lnSpc>
                <a:spcPct val="135000"/>
              </a:lnSpc>
            </a:pPr>
            <a:r>
              <a:rPr lang="en-IN" sz="2200" spc="-5" dirty="0">
                <a:cs typeface="Courier New" panose="02070309020205020404"/>
              </a:rPr>
              <a:t>out = (out + 1) %</a:t>
            </a:r>
            <a:r>
              <a:rPr lang="en-IN" sz="2200" spc="20" dirty="0">
                <a:cs typeface="Courier New" panose="02070309020205020404"/>
              </a:rPr>
              <a:t> </a:t>
            </a:r>
            <a:r>
              <a:rPr lang="en-IN" sz="2200" spc="-5" dirty="0">
                <a:cs typeface="Courier New" panose="02070309020205020404"/>
              </a:rPr>
              <a:t>BUFFER_SIZE;</a:t>
            </a:r>
            <a:endParaRPr lang="en-IN" sz="2200" dirty="0">
              <a:cs typeface="Courier New" panose="02070309020205020404"/>
            </a:endParaRPr>
          </a:p>
          <a:p>
            <a:pPr marL="988695">
              <a:lnSpc>
                <a:spcPct val="100000"/>
              </a:lnSpc>
              <a:spcBef>
                <a:spcPts val="670"/>
              </a:spcBef>
            </a:pPr>
            <a:r>
              <a:rPr lang="en-IN" sz="2200" spc="-5" dirty="0">
                <a:cs typeface="Courier New" panose="02070309020205020404"/>
              </a:rPr>
              <a:t>               counter--;</a:t>
            </a:r>
            <a:endParaRPr lang="en-IN" sz="2200" dirty="0">
              <a:cs typeface="Courier New" panose="02070309020205020404"/>
            </a:endParaRPr>
          </a:p>
          <a:p>
            <a:pPr marL="926465">
              <a:lnSpc>
                <a:spcPct val="100000"/>
              </a:lnSpc>
              <a:spcBef>
                <a:spcPts val="670"/>
              </a:spcBef>
            </a:pPr>
            <a:r>
              <a:rPr lang="en-IN" sz="2200" spc="-5" dirty="0">
                <a:cs typeface="Courier New" panose="02070309020205020404"/>
              </a:rPr>
              <a:t>/* consume </a:t>
            </a:r>
            <a:r>
              <a:rPr lang="en-IN" sz="2200" dirty="0">
                <a:cs typeface="Courier New" panose="02070309020205020404"/>
              </a:rPr>
              <a:t>the </a:t>
            </a:r>
            <a:r>
              <a:rPr lang="en-IN" sz="2200" spc="-5" dirty="0">
                <a:cs typeface="Courier New" panose="02070309020205020404"/>
              </a:rPr>
              <a:t>item in next consumed</a:t>
            </a:r>
            <a:r>
              <a:rPr lang="en-IN" sz="2200" spc="45" dirty="0">
                <a:cs typeface="Courier New" panose="02070309020205020404"/>
              </a:rPr>
              <a:t> </a:t>
            </a:r>
            <a:r>
              <a:rPr lang="en-IN" sz="2200" spc="-5" dirty="0">
                <a:cs typeface="Courier New" panose="02070309020205020404"/>
              </a:rPr>
              <a:t>*/</a:t>
            </a:r>
            <a:endParaRPr lang="en-IN" sz="2200" dirty="0">
              <a:cs typeface="Courier New" panose="02070309020205020404"/>
            </a:endParaRPr>
          </a:p>
          <a:p>
            <a:pPr marL="12700">
              <a:lnSpc>
                <a:spcPct val="100000"/>
              </a:lnSpc>
              <a:spcBef>
                <a:spcPts val="675"/>
              </a:spcBef>
            </a:pPr>
            <a:r>
              <a:rPr lang="en-IN" sz="2200" spc="-5" dirty="0">
                <a:cs typeface="Courier New" panose="02070309020205020404"/>
              </a:rPr>
              <a:t>}</a:t>
            </a:r>
            <a:endParaRPr lang="en-IN" sz="2200" dirty="0">
              <a:cs typeface="Courier New" panose="02070309020205020404"/>
            </a:endParaRPr>
          </a:p>
        </p:txBody>
      </p:sp>
    </p:spTree>
    <p:extLst>
      <p:ext uri="{BB962C8B-B14F-4D97-AF65-F5344CB8AC3E}">
        <p14:creationId xmlns:p14="http://schemas.microsoft.com/office/powerpoint/2010/main" val="3370290663"/>
      </p:ext>
    </p:extLst>
  </p:cSld>
  <p:clrMapOvr>
    <a:masterClrMapping/>
  </p:clrMapOvr>
</p:sld>
</file>

<file path=ppt/slides/slide6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48CDAFD-9182-4C4A-819C-6B9FD94318A8}" type="datetime3">
              <a:rPr lang="en-US" smtClean="0"/>
              <a:t>1 September 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2514600" y="6356350"/>
            <a:ext cx="5181600" cy="365125"/>
          </a:xfrm>
        </p:spPr>
        <p:txBody>
          <a:bodyPr/>
          <a:lstStyle/>
          <a:p>
            <a:r>
              <a:rPr lang="en-US"/>
              <a:t>Atul Garg           BCSE0303            Unit- III</a:t>
            </a:r>
            <a:endParaRPr lang="en-US" dirty="0"/>
          </a:p>
        </p:txBody>
      </p:sp>
      <p:sp>
        <p:nvSpPr>
          <p:cNvPr id="10" name="object 4"/>
          <p:cNvSpPr/>
          <p:nvPr/>
        </p:nvSpPr>
        <p:spPr>
          <a:xfrm>
            <a:off x="2627784" y="1412776"/>
            <a:ext cx="4248472" cy="3888432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8" name="Slide Number Placeholder 7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t>64</a:t>
            </a:fld>
            <a:endParaRPr lang="en-US"/>
          </a:p>
        </p:txBody>
      </p:sp>
      <p:pic>
        <p:nvPicPr>
          <p:cNvPr id="2" name="Picture 1" descr="A black and red logo&#10;&#10;Description automatically generated">
            <a:extLst>
              <a:ext uri="{FF2B5EF4-FFF2-40B4-BE49-F238E27FC236}">
                <a16:creationId xmlns:a16="http://schemas.microsoft.com/office/drawing/2014/main" id="{0CC0F8C4-0AA5-A8B3-7AA3-00857E2F020B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-27384"/>
            <a:ext cx="1657350" cy="710452"/>
          </a:xfrm>
          <a:prstGeom prst="rect">
            <a:avLst/>
          </a:prstGeom>
        </p:spPr>
      </p:pic>
      <p:sp>
        <p:nvSpPr>
          <p:cNvPr id="3" name="Title 1">
            <a:extLst>
              <a:ext uri="{FF2B5EF4-FFF2-40B4-BE49-F238E27FC236}">
                <a16:creationId xmlns:a16="http://schemas.microsoft.com/office/drawing/2014/main" id="{4A33ABF8-84D4-C17E-548D-5D60C5DA1FB9}"/>
              </a:ext>
            </a:extLst>
          </p:cNvPr>
          <p:cNvSpPr txBox="1">
            <a:spLocks/>
          </p:cNvSpPr>
          <p:nvPr/>
        </p:nvSpPr>
        <p:spPr>
          <a:xfrm>
            <a:off x="1657350" y="116632"/>
            <a:ext cx="7486650" cy="566436"/>
          </a:xfrm>
          <a:prstGeom prst="rect">
            <a:avLst/>
          </a:prstGeom>
          <a:gradFill flip="none" rotWithShape="1">
            <a:gsLst>
              <a:gs pos="0">
                <a:srgbClr val="FF0000">
                  <a:tint val="66000"/>
                  <a:satMod val="160000"/>
                </a:srgbClr>
              </a:gs>
              <a:gs pos="50000">
                <a:srgbClr val="FF0000">
                  <a:tint val="44500"/>
                  <a:satMod val="160000"/>
                </a:srgbClr>
              </a:gs>
              <a:gs pos="100000">
                <a:srgbClr val="FF0000">
                  <a:tint val="23500"/>
                  <a:satMod val="160000"/>
                </a:srgbClr>
              </a:gs>
            </a:gsLst>
            <a:lin ang="0" scaled="1"/>
            <a:tileRect/>
          </a:gradFill>
        </p:spPr>
        <p:style>
          <a:lnRef idx="1">
            <a:schemeClr val="accent5"/>
          </a:lnRef>
          <a:fillRef idx="2">
            <a:schemeClr val="accent5"/>
          </a:fillRef>
          <a:effectRef idx="1">
            <a:schemeClr val="accent5"/>
          </a:effectRef>
          <a:fontRef idx="minor">
            <a:schemeClr val="dk1"/>
          </a:fontRef>
        </p:style>
        <p:txBody>
          <a:bodyPr vert="horz" lIns="68580" tIns="34290" rIns="68580" bIns="34290" rtlCol="0" anchor="ctr">
            <a:noAutofit/>
          </a:bodyPr>
          <a:lstStyle>
            <a:defPPr>
              <a:defRPr lang="en-US"/>
            </a:defPPr>
            <a:lvl1pPr algn="ctr">
              <a:spcBef>
                <a:spcPct val="0"/>
              </a:spcBef>
              <a:buNone/>
              <a:defRPr sz="2800"/>
            </a:lvl1pPr>
          </a:lstStyle>
          <a:p>
            <a:pPr>
              <a:defRPr/>
            </a:pPr>
            <a:r>
              <a:rPr lang="en-IN" sz="2400" spc="-5" dirty="0"/>
              <a:t>Dining-Philosophers</a:t>
            </a:r>
            <a:r>
              <a:rPr lang="en-IN" sz="2400" spc="-95" dirty="0"/>
              <a:t> </a:t>
            </a:r>
            <a:r>
              <a:rPr lang="en-IN" sz="2400" spc="-5" dirty="0"/>
              <a:t>Problem</a:t>
            </a:r>
            <a:r>
              <a:rPr lang="en-IN" sz="2400" dirty="0"/>
              <a:t>(CO3)</a:t>
            </a:r>
            <a:endParaRPr lang="en-US" sz="2100" dirty="0"/>
          </a:p>
        </p:txBody>
      </p:sp>
    </p:spTree>
    <p:extLst>
      <p:ext uri="{BB962C8B-B14F-4D97-AF65-F5344CB8AC3E}">
        <p14:creationId xmlns:p14="http://schemas.microsoft.com/office/powerpoint/2010/main" val="672520701"/>
      </p:ext>
    </p:extLst>
  </p:cSld>
  <p:clrMapOvr>
    <a:masterClrMapping/>
  </p:clrMapOvr>
  <p:transition>
    <p:dissolve/>
  </p:transition>
</p:sld>
</file>

<file path=ppt/slides/slide6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ED60585-A035-46B4-9021-A597500BF2C0}" type="datetime3">
              <a:rPr lang="en-US" smtClean="0"/>
              <a:t>1 September 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2514600" y="6356350"/>
            <a:ext cx="5181600" cy="365125"/>
          </a:xfrm>
        </p:spPr>
        <p:txBody>
          <a:bodyPr/>
          <a:lstStyle/>
          <a:p>
            <a:r>
              <a:rPr lang="en-US"/>
              <a:t>Atul Garg           BCSE0303            Unit- III</a:t>
            </a:r>
            <a:endParaRPr lang="en-US" dirty="0"/>
          </a:p>
        </p:txBody>
      </p:sp>
      <p:sp>
        <p:nvSpPr>
          <p:cNvPr id="10" name="object 3"/>
          <p:cNvSpPr txBox="1"/>
          <p:nvPr/>
        </p:nvSpPr>
        <p:spPr>
          <a:xfrm>
            <a:off x="1007422" y="908720"/>
            <a:ext cx="7669034" cy="4647554"/>
          </a:xfrm>
          <a:prstGeom prst="rect">
            <a:avLst/>
          </a:prstGeom>
        </p:spPr>
        <p:txBody>
          <a:bodyPr vert="horz" wrap="square" lIns="0" tIns="97790" rIns="0" bIns="0" rtlCol="0">
            <a:spAutoFit/>
          </a:bodyPr>
          <a:lstStyle/>
          <a:p>
            <a:pPr marL="353695" indent="-341630">
              <a:lnSpc>
                <a:spcPct val="150000"/>
              </a:lnSpc>
              <a:spcBef>
                <a:spcPts val="770"/>
              </a:spcBef>
              <a:buClr>
                <a:srgbClr val="993300"/>
              </a:buClr>
              <a:buSzPct val="91000"/>
              <a:buFont typeface="Arial" panose="020B0604020202020204" pitchFamily="34" charset="0"/>
              <a:buChar char="•"/>
              <a:tabLst>
                <a:tab pos="353695" algn="l"/>
                <a:tab pos="354330" algn="l"/>
              </a:tabLst>
            </a:pPr>
            <a:r>
              <a:rPr sz="2200" spc="-5" dirty="0">
                <a:cs typeface="Arial" panose="020B0604020202020204"/>
              </a:rPr>
              <a:t>Philosophers spend their </a:t>
            </a:r>
            <a:r>
              <a:rPr sz="2200" dirty="0">
                <a:cs typeface="Arial" panose="020B0604020202020204"/>
              </a:rPr>
              <a:t>lives </a:t>
            </a:r>
            <a:r>
              <a:rPr sz="2200" spc="-5" dirty="0">
                <a:cs typeface="Arial" panose="020B0604020202020204"/>
              </a:rPr>
              <a:t>alternating thinking and</a:t>
            </a:r>
            <a:r>
              <a:rPr sz="2200" spc="30" dirty="0">
                <a:cs typeface="Arial" panose="020B0604020202020204"/>
              </a:rPr>
              <a:t> </a:t>
            </a:r>
            <a:r>
              <a:rPr sz="2200" spc="-5" dirty="0">
                <a:cs typeface="Arial" panose="020B0604020202020204"/>
              </a:rPr>
              <a:t>eating</a:t>
            </a:r>
            <a:endParaRPr sz="2200" dirty="0">
              <a:cs typeface="Arial" panose="020B0604020202020204"/>
            </a:endParaRPr>
          </a:p>
          <a:p>
            <a:pPr marL="353695" marR="5080" indent="-341630">
              <a:lnSpc>
                <a:spcPct val="150000"/>
              </a:lnSpc>
              <a:spcBef>
                <a:spcPts val="675"/>
              </a:spcBef>
              <a:buClr>
                <a:srgbClr val="993300"/>
              </a:buClr>
              <a:buSzPct val="91000"/>
              <a:buFont typeface="Arial" panose="020B0604020202020204" pitchFamily="34" charset="0"/>
              <a:buChar char="•"/>
              <a:tabLst>
                <a:tab pos="353695" algn="l"/>
                <a:tab pos="354330" algn="l"/>
              </a:tabLst>
            </a:pPr>
            <a:r>
              <a:rPr sz="2200" spc="-5" dirty="0">
                <a:cs typeface="Arial" panose="020B0604020202020204"/>
              </a:rPr>
              <a:t>Don’t interact with their neighbors, </a:t>
            </a:r>
            <a:r>
              <a:rPr sz="2200" dirty="0">
                <a:cs typeface="Arial" panose="020B0604020202020204"/>
              </a:rPr>
              <a:t>occasionally </a:t>
            </a:r>
            <a:r>
              <a:rPr sz="2200" spc="-5" dirty="0">
                <a:cs typeface="Arial" panose="020B0604020202020204"/>
              </a:rPr>
              <a:t>try to pick up 2  </a:t>
            </a:r>
            <a:r>
              <a:rPr sz="2200" dirty="0">
                <a:cs typeface="Arial" panose="020B0604020202020204"/>
              </a:rPr>
              <a:t>chopsticks </a:t>
            </a:r>
            <a:r>
              <a:rPr sz="2200" spc="-5" dirty="0">
                <a:cs typeface="Arial" panose="020B0604020202020204"/>
              </a:rPr>
              <a:t>(one at a time) to eat from</a:t>
            </a:r>
            <a:r>
              <a:rPr sz="2200" spc="70" dirty="0">
                <a:cs typeface="Arial" panose="020B0604020202020204"/>
              </a:rPr>
              <a:t> </a:t>
            </a:r>
            <a:r>
              <a:rPr sz="2200" spc="-10" dirty="0">
                <a:cs typeface="Arial" panose="020B0604020202020204"/>
              </a:rPr>
              <a:t>bowl</a:t>
            </a:r>
            <a:endParaRPr sz="2200" dirty="0">
              <a:cs typeface="Arial" panose="020B0604020202020204"/>
            </a:endParaRPr>
          </a:p>
          <a:p>
            <a:pPr marL="754380" lvl="1" indent="-285115">
              <a:lnSpc>
                <a:spcPct val="150000"/>
              </a:lnSpc>
              <a:spcBef>
                <a:spcPts val="670"/>
              </a:spcBef>
              <a:buClr>
                <a:srgbClr val="CC6600"/>
              </a:buClr>
              <a:buSzPct val="78000"/>
              <a:buFont typeface="Arial" panose="020B0604020202020204" pitchFamily="34" charset="0"/>
              <a:buChar char="•"/>
              <a:tabLst>
                <a:tab pos="754380" algn="l"/>
                <a:tab pos="755015" algn="l"/>
              </a:tabLst>
            </a:pPr>
            <a:r>
              <a:rPr sz="2200" spc="-5" dirty="0">
                <a:cs typeface="Arial" panose="020B0604020202020204"/>
              </a:rPr>
              <a:t>Need both to eat, then release both </a:t>
            </a:r>
            <a:r>
              <a:rPr sz="2200" spc="-10" dirty="0">
                <a:cs typeface="Arial" panose="020B0604020202020204"/>
              </a:rPr>
              <a:t>when</a:t>
            </a:r>
            <a:r>
              <a:rPr sz="2200" spc="75" dirty="0">
                <a:cs typeface="Arial" panose="020B0604020202020204"/>
              </a:rPr>
              <a:t> </a:t>
            </a:r>
            <a:r>
              <a:rPr sz="2200" spc="-5" dirty="0">
                <a:cs typeface="Arial" panose="020B0604020202020204"/>
              </a:rPr>
              <a:t>done</a:t>
            </a:r>
            <a:endParaRPr sz="2200" dirty="0">
              <a:cs typeface="Arial" panose="020B0604020202020204"/>
            </a:endParaRPr>
          </a:p>
          <a:p>
            <a:pPr marL="353695" indent="-341630">
              <a:lnSpc>
                <a:spcPct val="150000"/>
              </a:lnSpc>
              <a:spcBef>
                <a:spcPts val="670"/>
              </a:spcBef>
              <a:buClr>
                <a:srgbClr val="993300"/>
              </a:buClr>
              <a:buSzPct val="91000"/>
              <a:buFont typeface="Arial" panose="020B0604020202020204" pitchFamily="34" charset="0"/>
              <a:buChar char="•"/>
              <a:tabLst>
                <a:tab pos="353695" algn="l"/>
                <a:tab pos="354330" algn="l"/>
              </a:tabLst>
            </a:pPr>
            <a:r>
              <a:rPr sz="2200" spc="-5" dirty="0">
                <a:cs typeface="Arial" panose="020B0604020202020204"/>
              </a:rPr>
              <a:t>In the </a:t>
            </a:r>
            <a:r>
              <a:rPr sz="2200" dirty="0">
                <a:cs typeface="Arial" panose="020B0604020202020204"/>
              </a:rPr>
              <a:t>case </a:t>
            </a:r>
            <a:r>
              <a:rPr sz="2200" spc="-5" dirty="0">
                <a:cs typeface="Arial" panose="020B0604020202020204"/>
              </a:rPr>
              <a:t>of 5</a:t>
            </a:r>
            <a:r>
              <a:rPr sz="2200" spc="15" dirty="0">
                <a:cs typeface="Arial" panose="020B0604020202020204"/>
              </a:rPr>
              <a:t> </a:t>
            </a:r>
            <a:r>
              <a:rPr sz="2200" spc="-5" dirty="0">
                <a:cs typeface="Arial" panose="020B0604020202020204"/>
              </a:rPr>
              <a:t>philosophers</a:t>
            </a:r>
            <a:endParaRPr sz="2200" dirty="0">
              <a:cs typeface="Arial" panose="020B0604020202020204"/>
            </a:endParaRPr>
          </a:p>
          <a:p>
            <a:pPr marL="754380" lvl="1" indent="-285115">
              <a:lnSpc>
                <a:spcPct val="150000"/>
              </a:lnSpc>
              <a:spcBef>
                <a:spcPts val="675"/>
              </a:spcBef>
              <a:buClr>
                <a:srgbClr val="CC6600"/>
              </a:buClr>
              <a:buSzPct val="78000"/>
              <a:buFont typeface="Arial" panose="020B0604020202020204" pitchFamily="34" charset="0"/>
              <a:buChar char="•"/>
              <a:tabLst>
                <a:tab pos="754380" algn="l"/>
                <a:tab pos="755015" algn="l"/>
              </a:tabLst>
            </a:pPr>
            <a:r>
              <a:rPr sz="2200" spc="-5" dirty="0">
                <a:cs typeface="Arial" panose="020B0604020202020204"/>
              </a:rPr>
              <a:t>Shared</a:t>
            </a:r>
            <a:r>
              <a:rPr sz="2200" spc="-10" dirty="0">
                <a:cs typeface="Arial" panose="020B0604020202020204"/>
              </a:rPr>
              <a:t> </a:t>
            </a:r>
            <a:r>
              <a:rPr sz="2200" spc="-5" dirty="0">
                <a:cs typeface="Arial" panose="020B0604020202020204"/>
              </a:rPr>
              <a:t>data</a:t>
            </a:r>
            <a:endParaRPr sz="2200" dirty="0">
              <a:cs typeface="Arial" panose="020B0604020202020204"/>
            </a:endParaRPr>
          </a:p>
          <a:p>
            <a:pPr marL="1097280" lvl="2" indent="-227330">
              <a:lnSpc>
                <a:spcPct val="150000"/>
              </a:lnSpc>
              <a:spcBef>
                <a:spcPts val="670"/>
              </a:spcBef>
              <a:buClr>
                <a:srgbClr val="009900"/>
              </a:buClr>
              <a:buSzPct val="75000"/>
              <a:buFont typeface="Arial" panose="020B0604020202020204" pitchFamily="34" charset="0"/>
              <a:buChar char="•"/>
              <a:tabLst>
                <a:tab pos="1097915" algn="l"/>
              </a:tabLst>
            </a:pPr>
            <a:r>
              <a:rPr sz="2200" spc="-10" dirty="0">
                <a:cs typeface="Arial" panose="020B0604020202020204"/>
              </a:rPr>
              <a:t>Bowl </a:t>
            </a:r>
            <a:r>
              <a:rPr sz="2200" spc="-5" dirty="0">
                <a:cs typeface="Arial" panose="020B0604020202020204"/>
              </a:rPr>
              <a:t>of rice (data</a:t>
            </a:r>
            <a:r>
              <a:rPr sz="2200" spc="30" dirty="0">
                <a:cs typeface="Arial" panose="020B0604020202020204"/>
              </a:rPr>
              <a:t> </a:t>
            </a:r>
            <a:r>
              <a:rPr sz="2200" spc="-5" dirty="0">
                <a:cs typeface="Arial" panose="020B0604020202020204"/>
              </a:rPr>
              <a:t>set)</a:t>
            </a:r>
            <a:endParaRPr sz="2200" dirty="0">
              <a:cs typeface="Arial" panose="020B0604020202020204"/>
            </a:endParaRPr>
          </a:p>
          <a:p>
            <a:pPr marL="1097280" lvl="2" indent="-227330">
              <a:lnSpc>
                <a:spcPct val="150000"/>
              </a:lnSpc>
              <a:spcBef>
                <a:spcPts val="675"/>
              </a:spcBef>
              <a:buClr>
                <a:srgbClr val="009900"/>
              </a:buClr>
              <a:buSzPct val="75000"/>
              <a:buFont typeface="Arial" panose="020B0604020202020204" pitchFamily="34" charset="0"/>
              <a:buChar char="•"/>
              <a:tabLst>
                <a:tab pos="1097915" algn="l"/>
              </a:tabLst>
            </a:pPr>
            <a:r>
              <a:rPr sz="2200" spc="-5" dirty="0">
                <a:cs typeface="Arial" panose="020B0604020202020204"/>
              </a:rPr>
              <a:t>Semaphore </a:t>
            </a:r>
            <a:r>
              <a:rPr sz="2200" dirty="0">
                <a:solidFill>
                  <a:srgbClr val="FF0000"/>
                </a:solidFill>
                <a:cs typeface="Arial" panose="020B0604020202020204"/>
              </a:rPr>
              <a:t>chopstick </a:t>
            </a:r>
            <a:r>
              <a:rPr sz="2200" spc="-5" dirty="0">
                <a:solidFill>
                  <a:srgbClr val="FF0000"/>
                </a:solidFill>
                <a:cs typeface="Arial" panose="020B0604020202020204"/>
              </a:rPr>
              <a:t>[5] </a:t>
            </a:r>
            <a:r>
              <a:rPr sz="2200" dirty="0">
                <a:cs typeface="Arial" panose="020B0604020202020204"/>
              </a:rPr>
              <a:t>initialized </a:t>
            </a:r>
            <a:r>
              <a:rPr sz="2200" spc="-5" dirty="0">
                <a:cs typeface="Arial" panose="020B0604020202020204"/>
              </a:rPr>
              <a:t>to</a:t>
            </a:r>
            <a:r>
              <a:rPr sz="2200" spc="-30" dirty="0">
                <a:cs typeface="Arial" panose="020B0604020202020204"/>
              </a:rPr>
              <a:t> </a:t>
            </a:r>
            <a:r>
              <a:rPr sz="2200" spc="-5" dirty="0">
                <a:cs typeface="Arial" panose="020B0604020202020204"/>
              </a:rPr>
              <a:t>1</a:t>
            </a:r>
            <a:endParaRPr sz="2200" dirty="0">
              <a:cs typeface="Arial" panose="020B0604020202020204"/>
            </a:endParaRPr>
          </a:p>
        </p:txBody>
      </p:sp>
      <p:sp>
        <p:nvSpPr>
          <p:cNvPr id="8" name="Slide Number Placeholder 7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t>65</a:t>
            </a:fld>
            <a:endParaRPr lang="en-US"/>
          </a:p>
        </p:txBody>
      </p:sp>
      <p:pic>
        <p:nvPicPr>
          <p:cNvPr id="2" name="Picture 1" descr="A black and red logo&#10;&#10;Description automatically generated">
            <a:extLst>
              <a:ext uri="{FF2B5EF4-FFF2-40B4-BE49-F238E27FC236}">
                <a16:creationId xmlns:a16="http://schemas.microsoft.com/office/drawing/2014/main" id="{96724A73-64A7-8DEF-0F51-6B9505A84C87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-27384"/>
            <a:ext cx="1657350" cy="710452"/>
          </a:xfrm>
          <a:prstGeom prst="rect">
            <a:avLst/>
          </a:prstGeom>
        </p:spPr>
      </p:pic>
      <p:sp>
        <p:nvSpPr>
          <p:cNvPr id="6" name="Title 1">
            <a:extLst>
              <a:ext uri="{FF2B5EF4-FFF2-40B4-BE49-F238E27FC236}">
                <a16:creationId xmlns:a16="http://schemas.microsoft.com/office/drawing/2014/main" id="{689A31D0-5E0D-60E4-9CA9-C67AADE975F5}"/>
              </a:ext>
            </a:extLst>
          </p:cNvPr>
          <p:cNvSpPr txBox="1">
            <a:spLocks/>
          </p:cNvSpPr>
          <p:nvPr/>
        </p:nvSpPr>
        <p:spPr>
          <a:xfrm>
            <a:off x="1657350" y="0"/>
            <a:ext cx="7486650" cy="630981"/>
          </a:xfrm>
          <a:prstGeom prst="rect">
            <a:avLst/>
          </a:prstGeom>
          <a:gradFill flip="none" rotWithShape="1">
            <a:gsLst>
              <a:gs pos="0">
                <a:srgbClr val="FF0000">
                  <a:tint val="66000"/>
                  <a:satMod val="160000"/>
                </a:srgbClr>
              </a:gs>
              <a:gs pos="50000">
                <a:srgbClr val="FF0000">
                  <a:tint val="44500"/>
                  <a:satMod val="160000"/>
                </a:srgbClr>
              </a:gs>
              <a:gs pos="100000">
                <a:srgbClr val="FF0000">
                  <a:tint val="23500"/>
                  <a:satMod val="160000"/>
                </a:srgbClr>
              </a:gs>
            </a:gsLst>
            <a:lin ang="0" scaled="1"/>
            <a:tileRect/>
          </a:gradFill>
        </p:spPr>
        <p:style>
          <a:lnRef idx="1">
            <a:schemeClr val="accent5"/>
          </a:lnRef>
          <a:fillRef idx="2">
            <a:schemeClr val="accent5"/>
          </a:fillRef>
          <a:effectRef idx="1">
            <a:schemeClr val="accent5"/>
          </a:effectRef>
          <a:fontRef idx="minor">
            <a:schemeClr val="dk1"/>
          </a:fontRef>
        </p:style>
        <p:txBody>
          <a:bodyPr vert="horz" lIns="68580" tIns="34290" rIns="68580" bIns="34290" rtlCol="0" anchor="ctr">
            <a:noAutofit/>
          </a:bodyPr>
          <a:lstStyle>
            <a:defPPr>
              <a:defRPr lang="en-US"/>
            </a:defPPr>
            <a:lvl1pPr algn="ctr">
              <a:spcBef>
                <a:spcPct val="0"/>
              </a:spcBef>
              <a:buNone/>
              <a:defRPr sz="2800"/>
            </a:lvl1pPr>
          </a:lstStyle>
          <a:p>
            <a:pPr>
              <a:defRPr/>
            </a:pPr>
            <a:r>
              <a:rPr lang="en-IN" sz="2400" spc="-5" dirty="0"/>
              <a:t>Dining-Philosophers</a:t>
            </a:r>
            <a:r>
              <a:rPr lang="en-IN" sz="2400" spc="-95" dirty="0"/>
              <a:t> </a:t>
            </a:r>
            <a:r>
              <a:rPr lang="en-IN" sz="2400" spc="-5" dirty="0"/>
              <a:t>Problem</a:t>
            </a:r>
            <a:r>
              <a:rPr lang="en-IN" sz="2400" dirty="0"/>
              <a:t>(CO3)</a:t>
            </a:r>
            <a:endParaRPr lang="en-US" sz="2100" dirty="0"/>
          </a:p>
        </p:txBody>
      </p:sp>
    </p:spTree>
    <p:extLst>
      <p:ext uri="{BB962C8B-B14F-4D97-AF65-F5344CB8AC3E}">
        <p14:creationId xmlns:p14="http://schemas.microsoft.com/office/powerpoint/2010/main" val="3361435759"/>
      </p:ext>
    </p:extLst>
  </p:cSld>
  <p:clrMapOvr>
    <a:masterClrMapping/>
  </p:clrMapOvr>
  <p:transition>
    <p:dissolve/>
  </p:transition>
</p:sld>
</file>

<file path=ppt/slides/slide6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6C4950D-FBE6-4F95-B0A3-26AE1A5F66ED}" type="datetime3">
              <a:rPr lang="en-US" smtClean="0"/>
              <a:t>1 September 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2514600" y="6356350"/>
            <a:ext cx="5181600" cy="365125"/>
          </a:xfrm>
        </p:spPr>
        <p:txBody>
          <a:bodyPr/>
          <a:lstStyle/>
          <a:p>
            <a:r>
              <a:rPr lang="en-US"/>
              <a:t>Atul Garg           BCSE0303            Unit- III</a:t>
            </a:r>
            <a:endParaRPr lang="en-US" dirty="0"/>
          </a:p>
        </p:txBody>
      </p:sp>
      <p:sp>
        <p:nvSpPr>
          <p:cNvPr id="10" name="object 3"/>
          <p:cNvSpPr txBox="1"/>
          <p:nvPr/>
        </p:nvSpPr>
        <p:spPr>
          <a:xfrm>
            <a:off x="905822" y="764704"/>
            <a:ext cx="7482602" cy="5009705"/>
          </a:xfrm>
          <a:prstGeom prst="rect">
            <a:avLst/>
          </a:prstGeom>
        </p:spPr>
        <p:txBody>
          <a:bodyPr vert="horz" wrap="square" lIns="0" tIns="69215" rIns="0" bIns="0" rtlCol="0">
            <a:spAutoFit/>
          </a:bodyPr>
          <a:lstStyle/>
          <a:p>
            <a:pPr marL="388620" indent="-376555">
              <a:lnSpc>
                <a:spcPct val="100000"/>
              </a:lnSpc>
              <a:spcBef>
                <a:spcPts val="545"/>
              </a:spcBef>
              <a:buClr>
                <a:srgbClr val="993300"/>
              </a:buClr>
              <a:buSzPct val="89000"/>
              <a:tabLst>
                <a:tab pos="388620" algn="l"/>
                <a:tab pos="389255" algn="l"/>
              </a:tabLst>
            </a:pPr>
            <a:r>
              <a:rPr sz="2200" dirty="0">
                <a:cs typeface="Arial" panose="020B0604020202020204"/>
              </a:rPr>
              <a:t>The </a:t>
            </a:r>
            <a:r>
              <a:rPr sz="2200" spc="-5" dirty="0">
                <a:cs typeface="Arial" panose="020B0604020202020204"/>
              </a:rPr>
              <a:t>structure of </a:t>
            </a:r>
            <a:r>
              <a:rPr sz="2200" spc="-10" dirty="0">
                <a:cs typeface="Arial" panose="020B0604020202020204"/>
              </a:rPr>
              <a:t>Philosopher</a:t>
            </a:r>
            <a:r>
              <a:rPr sz="2200" spc="10" dirty="0">
                <a:cs typeface="Arial" panose="020B0604020202020204"/>
              </a:rPr>
              <a:t> </a:t>
            </a:r>
            <a:r>
              <a:rPr sz="2200" i="1" spc="-5" dirty="0">
                <a:solidFill>
                  <a:srgbClr val="0000FF"/>
                </a:solidFill>
                <a:cs typeface="Arial" panose="020B0604020202020204"/>
              </a:rPr>
              <a:t>i</a:t>
            </a:r>
            <a:r>
              <a:rPr sz="2200" spc="-5" dirty="0">
                <a:cs typeface="Arial" panose="020B0604020202020204"/>
              </a:rPr>
              <a:t>:</a:t>
            </a:r>
            <a:endParaRPr sz="2200" dirty="0">
              <a:cs typeface="Arial" panose="020B0604020202020204"/>
            </a:endParaRPr>
          </a:p>
          <a:p>
            <a:pPr marL="870585">
              <a:lnSpc>
                <a:spcPct val="100000"/>
              </a:lnSpc>
              <a:spcBef>
                <a:spcPts val="390"/>
              </a:spcBef>
            </a:pPr>
            <a:r>
              <a:rPr sz="2200" spc="-5" dirty="0">
                <a:cs typeface="Courier New" panose="02070309020205020404"/>
              </a:rPr>
              <a:t>do {</a:t>
            </a:r>
            <a:endParaRPr sz="2200" dirty="0">
              <a:cs typeface="Courier New" panose="02070309020205020404"/>
            </a:endParaRPr>
          </a:p>
          <a:p>
            <a:pPr marL="1357630">
              <a:lnSpc>
                <a:spcPct val="100000"/>
              </a:lnSpc>
              <a:spcBef>
                <a:spcPts val="485"/>
              </a:spcBef>
            </a:pPr>
            <a:r>
              <a:rPr sz="2200" spc="-5" dirty="0">
                <a:cs typeface="Courier New" panose="02070309020205020404"/>
              </a:rPr>
              <a:t>wait (chopstick[i]</a:t>
            </a:r>
            <a:r>
              <a:rPr sz="2200" dirty="0">
                <a:cs typeface="Courier New" panose="02070309020205020404"/>
              </a:rPr>
              <a:t> );</a:t>
            </a:r>
          </a:p>
          <a:p>
            <a:pPr marL="1452245">
              <a:lnSpc>
                <a:spcPct val="100000"/>
              </a:lnSpc>
              <a:spcBef>
                <a:spcPts val="480"/>
              </a:spcBef>
            </a:pPr>
            <a:r>
              <a:rPr sz="2200" spc="-5" dirty="0">
                <a:cs typeface="Courier New" panose="02070309020205020404"/>
              </a:rPr>
              <a:t>wait (chopStick[ (i + 1) % 5]</a:t>
            </a:r>
            <a:r>
              <a:rPr sz="2200" spc="45" dirty="0">
                <a:cs typeface="Courier New" panose="02070309020205020404"/>
              </a:rPr>
              <a:t> </a:t>
            </a:r>
            <a:r>
              <a:rPr sz="2200" spc="-5" dirty="0">
                <a:cs typeface="Courier New" panose="02070309020205020404"/>
              </a:rPr>
              <a:t>);</a:t>
            </a:r>
            <a:endParaRPr lang="en-IN" sz="2200" spc="-5" dirty="0">
              <a:cs typeface="Courier New" panose="02070309020205020404"/>
            </a:endParaRPr>
          </a:p>
          <a:p>
            <a:pPr marL="1452245" marR="1346835" indent="1343025">
              <a:lnSpc>
                <a:spcPct val="250000"/>
              </a:lnSpc>
              <a:tabLst>
                <a:tab pos="3282950" algn="l"/>
              </a:tabLst>
            </a:pPr>
            <a:r>
              <a:rPr sz="2200" spc="-5" dirty="0">
                <a:cs typeface="Courier New" panose="02070309020205020404"/>
              </a:rPr>
              <a:t>//	</a:t>
            </a:r>
            <a:r>
              <a:rPr sz="2200" dirty="0">
                <a:cs typeface="Courier New" panose="02070309020205020404"/>
              </a:rPr>
              <a:t>eat </a:t>
            </a:r>
            <a:r>
              <a:rPr lang="en-IN" sz="2200" dirty="0">
                <a:cs typeface="Courier New" panose="02070309020205020404"/>
              </a:rPr>
              <a:t>                             </a:t>
            </a:r>
            <a:r>
              <a:rPr sz="2200" dirty="0">
                <a:cs typeface="Courier New" panose="02070309020205020404"/>
              </a:rPr>
              <a:t> </a:t>
            </a:r>
            <a:r>
              <a:rPr sz="2200" spc="-5" dirty="0">
                <a:cs typeface="Courier New" panose="02070309020205020404"/>
              </a:rPr>
              <a:t>signal</a:t>
            </a:r>
            <a:r>
              <a:rPr lang="en-IN" sz="2200" spc="-5" dirty="0">
                <a:cs typeface="Courier New" panose="02070309020205020404"/>
              </a:rPr>
              <a:t> </a:t>
            </a:r>
            <a:r>
              <a:rPr sz="2200" spc="-5" dirty="0">
                <a:cs typeface="Courier New" panose="02070309020205020404"/>
              </a:rPr>
              <a:t>(chopstick[i]</a:t>
            </a:r>
            <a:r>
              <a:rPr sz="2200" spc="-15" dirty="0">
                <a:cs typeface="Courier New" panose="02070309020205020404"/>
              </a:rPr>
              <a:t> </a:t>
            </a:r>
            <a:r>
              <a:rPr sz="2200" dirty="0">
                <a:cs typeface="Courier New" panose="02070309020205020404"/>
              </a:rPr>
              <a:t>);</a:t>
            </a:r>
          </a:p>
          <a:p>
            <a:pPr marL="1452245">
              <a:lnSpc>
                <a:spcPct val="100000"/>
              </a:lnSpc>
              <a:spcBef>
                <a:spcPts val="480"/>
              </a:spcBef>
            </a:pPr>
            <a:r>
              <a:rPr sz="2200" spc="-5" dirty="0">
                <a:cs typeface="Courier New" panose="02070309020205020404"/>
              </a:rPr>
              <a:t>signal (chopstick[ (i + 1) % 5]</a:t>
            </a:r>
            <a:r>
              <a:rPr sz="2200" spc="45" dirty="0">
                <a:cs typeface="Courier New" panose="02070309020205020404"/>
              </a:rPr>
              <a:t> </a:t>
            </a:r>
            <a:r>
              <a:rPr sz="2200" spc="-5" dirty="0">
                <a:cs typeface="Courier New" panose="02070309020205020404"/>
              </a:rPr>
              <a:t>);</a:t>
            </a:r>
            <a:endParaRPr lang="en-IN" sz="2200" dirty="0">
              <a:cs typeface="Courier New" panose="02070309020205020404"/>
            </a:endParaRPr>
          </a:p>
          <a:p>
            <a:pPr marL="1452245">
              <a:lnSpc>
                <a:spcPct val="100000"/>
              </a:lnSpc>
              <a:spcBef>
                <a:spcPts val="480"/>
              </a:spcBef>
            </a:pPr>
            <a:r>
              <a:rPr sz="2200" spc="-5" dirty="0">
                <a:cs typeface="Courier New" panose="02070309020205020404"/>
              </a:rPr>
              <a:t>//	think</a:t>
            </a:r>
            <a:endParaRPr sz="2200" dirty="0">
              <a:cs typeface="Courier New" panose="02070309020205020404"/>
            </a:endParaRPr>
          </a:p>
          <a:p>
            <a:pPr marL="870585">
              <a:lnSpc>
                <a:spcPct val="100000"/>
              </a:lnSpc>
              <a:spcBef>
                <a:spcPts val="1160"/>
              </a:spcBef>
            </a:pPr>
            <a:r>
              <a:rPr sz="2200" spc="-5" dirty="0">
                <a:cs typeface="Courier New" panose="02070309020205020404"/>
              </a:rPr>
              <a:t>} while</a:t>
            </a:r>
            <a:r>
              <a:rPr sz="2200" spc="10" dirty="0">
                <a:cs typeface="Courier New" panose="02070309020205020404"/>
              </a:rPr>
              <a:t> </a:t>
            </a:r>
            <a:r>
              <a:rPr sz="2200" spc="-5" dirty="0">
                <a:cs typeface="Courier New" panose="02070309020205020404"/>
              </a:rPr>
              <a:t>(TRUE);</a:t>
            </a:r>
            <a:endParaRPr sz="2200" dirty="0">
              <a:cs typeface="Courier New" panose="02070309020205020404"/>
            </a:endParaRPr>
          </a:p>
          <a:p>
            <a:pPr marL="514985" indent="-502920">
              <a:lnSpc>
                <a:spcPct val="100000"/>
              </a:lnSpc>
              <a:spcBef>
                <a:spcPts val="605"/>
              </a:spcBef>
              <a:buClr>
                <a:srgbClr val="993300"/>
              </a:buClr>
              <a:buSzPct val="89000"/>
              <a:tabLst>
                <a:tab pos="514350" algn="l"/>
                <a:tab pos="515620" algn="l"/>
              </a:tabLst>
            </a:pPr>
            <a:r>
              <a:rPr sz="2200" spc="-5" dirty="0">
                <a:cs typeface="Arial" panose="020B0604020202020204"/>
              </a:rPr>
              <a:t>What is the </a:t>
            </a:r>
            <a:r>
              <a:rPr sz="2200" spc="-10" dirty="0">
                <a:cs typeface="Arial" panose="020B0604020202020204"/>
              </a:rPr>
              <a:t>problem </a:t>
            </a:r>
            <a:r>
              <a:rPr sz="2200" spc="-15" dirty="0">
                <a:cs typeface="Arial" panose="020B0604020202020204"/>
              </a:rPr>
              <a:t>with </a:t>
            </a:r>
            <a:r>
              <a:rPr sz="2200" spc="-5" dirty="0">
                <a:cs typeface="Arial" panose="020B0604020202020204"/>
              </a:rPr>
              <a:t>this</a:t>
            </a:r>
            <a:r>
              <a:rPr sz="2200" spc="85" dirty="0">
                <a:cs typeface="Arial" panose="020B0604020202020204"/>
              </a:rPr>
              <a:t> </a:t>
            </a:r>
            <a:r>
              <a:rPr sz="2200" spc="-10" dirty="0">
                <a:cs typeface="Arial" panose="020B0604020202020204"/>
              </a:rPr>
              <a:t>algorithm?</a:t>
            </a:r>
            <a:endParaRPr sz="2200" dirty="0">
              <a:cs typeface="Arial" panose="020B0604020202020204"/>
            </a:endParaRPr>
          </a:p>
        </p:txBody>
      </p:sp>
      <p:sp>
        <p:nvSpPr>
          <p:cNvPr id="8" name="Slide Number Placeholder 7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t>66</a:t>
            </a:fld>
            <a:endParaRPr lang="en-US"/>
          </a:p>
        </p:txBody>
      </p:sp>
      <p:pic>
        <p:nvPicPr>
          <p:cNvPr id="2" name="Picture 1" descr="A black and red logo&#10;&#10;Description automatically generated">
            <a:extLst>
              <a:ext uri="{FF2B5EF4-FFF2-40B4-BE49-F238E27FC236}">
                <a16:creationId xmlns:a16="http://schemas.microsoft.com/office/drawing/2014/main" id="{6C237D9A-5C41-5136-7CFC-93976F32A7A7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-27384"/>
            <a:ext cx="1657350" cy="710452"/>
          </a:xfrm>
          <a:prstGeom prst="rect">
            <a:avLst/>
          </a:prstGeom>
        </p:spPr>
      </p:pic>
      <p:sp>
        <p:nvSpPr>
          <p:cNvPr id="3" name="Title 1">
            <a:extLst>
              <a:ext uri="{FF2B5EF4-FFF2-40B4-BE49-F238E27FC236}">
                <a16:creationId xmlns:a16="http://schemas.microsoft.com/office/drawing/2014/main" id="{B37B2149-BF52-315B-1668-8000572FB263}"/>
              </a:ext>
            </a:extLst>
          </p:cNvPr>
          <p:cNvSpPr txBox="1">
            <a:spLocks/>
          </p:cNvSpPr>
          <p:nvPr/>
        </p:nvSpPr>
        <p:spPr>
          <a:xfrm>
            <a:off x="1657350" y="-27384"/>
            <a:ext cx="7482602" cy="658365"/>
          </a:xfrm>
          <a:prstGeom prst="rect">
            <a:avLst/>
          </a:prstGeom>
          <a:gradFill flip="none" rotWithShape="1">
            <a:gsLst>
              <a:gs pos="0">
                <a:srgbClr val="FF0000">
                  <a:tint val="66000"/>
                  <a:satMod val="160000"/>
                </a:srgbClr>
              </a:gs>
              <a:gs pos="50000">
                <a:srgbClr val="FF0000">
                  <a:tint val="44500"/>
                  <a:satMod val="160000"/>
                </a:srgbClr>
              </a:gs>
              <a:gs pos="100000">
                <a:srgbClr val="FF0000">
                  <a:tint val="23500"/>
                  <a:satMod val="160000"/>
                </a:srgbClr>
              </a:gs>
            </a:gsLst>
            <a:lin ang="0" scaled="1"/>
            <a:tileRect/>
          </a:gradFill>
        </p:spPr>
        <p:style>
          <a:lnRef idx="1">
            <a:schemeClr val="accent5"/>
          </a:lnRef>
          <a:fillRef idx="2">
            <a:schemeClr val="accent5"/>
          </a:fillRef>
          <a:effectRef idx="1">
            <a:schemeClr val="accent5"/>
          </a:effectRef>
          <a:fontRef idx="minor">
            <a:schemeClr val="dk1"/>
          </a:fontRef>
        </p:style>
        <p:txBody>
          <a:bodyPr vert="horz" lIns="68580" tIns="34290" rIns="68580" bIns="34290" rtlCol="0" anchor="ctr">
            <a:noAutofit/>
          </a:bodyPr>
          <a:lstStyle>
            <a:defPPr>
              <a:defRPr lang="en-US"/>
            </a:defPPr>
            <a:lvl1pPr algn="ctr">
              <a:spcBef>
                <a:spcPct val="0"/>
              </a:spcBef>
              <a:buNone/>
              <a:defRPr sz="2800"/>
            </a:lvl1pPr>
          </a:lstStyle>
          <a:p>
            <a:pPr>
              <a:defRPr/>
            </a:pPr>
            <a:r>
              <a:rPr lang="en-IN" sz="2400" spc="-5" dirty="0"/>
              <a:t>Dining-Philosophers Problem</a:t>
            </a:r>
            <a:r>
              <a:rPr lang="en-IN" sz="2400" spc="10" dirty="0"/>
              <a:t> </a:t>
            </a:r>
            <a:r>
              <a:rPr lang="en-IN" sz="2400" spc="-5" dirty="0"/>
              <a:t>Algorithm</a:t>
            </a:r>
            <a:r>
              <a:rPr lang="en-IN" sz="2400" dirty="0"/>
              <a:t>(CO3)</a:t>
            </a:r>
            <a:endParaRPr lang="en-US" sz="2100" dirty="0"/>
          </a:p>
        </p:txBody>
      </p:sp>
    </p:spTree>
    <p:extLst>
      <p:ext uri="{BB962C8B-B14F-4D97-AF65-F5344CB8AC3E}">
        <p14:creationId xmlns:p14="http://schemas.microsoft.com/office/powerpoint/2010/main" val="220743473"/>
      </p:ext>
    </p:extLst>
  </p:cSld>
  <p:clrMapOvr>
    <a:masterClrMapping/>
  </p:clrMapOvr>
  <p:transition>
    <p:dissolve/>
  </p:transition>
</p:sld>
</file>

<file path=ppt/slides/slide6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6B2B16B-88A7-4BC3-9A2F-CF013306285A}" type="datetime3">
              <a:rPr lang="en-US" smtClean="0"/>
              <a:t>1 September 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2514600" y="6356350"/>
            <a:ext cx="5181600" cy="365125"/>
          </a:xfrm>
        </p:spPr>
        <p:txBody>
          <a:bodyPr/>
          <a:lstStyle/>
          <a:p>
            <a:r>
              <a:rPr lang="en-US"/>
              <a:t>Atul Garg           BCSE0303            Unit- III</a:t>
            </a:r>
            <a:endParaRPr lang="en-US" dirty="0"/>
          </a:p>
        </p:txBody>
      </p:sp>
      <p:sp>
        <p:nvSpPr>
          <p:cNvPr id="10" name="object 3"/>
          <p:cNvSpPr txBox="1"/>
          <p:nvPr/>
        </p:nvSpPr>
        <p:spPr>
          <a:xfrm>
            <a:off x="964559" y="764704"/>
            <a:ext cx="7855913" cy="4935454"/>
          </a:xfrm>
          <a:prstGeom prst="rect">
            <a:avLst/>
          </a:prstGeom>
        </p:spPr>
        <p:txBody>
          <a:bodyPr vert="horz" wrap="square" lIns="0" tIns="108585" rIns="0" bIns="0" rtlCol="0">
            <a:spAutoFit/>
          </a:bodyPr>
          <a:lstStyle/>
          <a:p>
            <a:pPr marL="353695" indent="-341630">
              <a:lnSpc>
                <a:spcPct val="150000"/>
              </a:lnSpc>
              <a:spcBef>
                <a:spcPts val="855"/>
              </a:spcBef>
              <a:buClr>
                <a:srgbClr val="993300"/>
              </a:buClr>
              <a:buSzPct val="89000"/>
              <a:buFont typeface="Arial" panose="020B0604020202020204" pitchFamily="34" charset="0"/>
              <a:buChar char="•"/>
              <a:tabLst>
                <a:tab pos="353695" algn="l"/>
                <a:tab pos="354330" algn="l"/>
              </a:tabLst>
            </a:pPr>
            <a:r>
              <a:rPr sz="2200" spc="-10" dirty="0">
                <a:cs typeface="Arial" panose="020B0604020202020204"/>
              </a:rPr>
              <a:t>Deadlock</a:t>
            </a:r>
            <a:r>
              <a:rPr sz="2200" spc="10" dirty="0">
                <a:cs typeface="Arial" panose="020B0604020202020204"/>
              </a:rPr>
              <a:t> </a:t>
            </a:r>
            <a:r>
              <a:rPr sz="2200" spc="-10" dirty="0">
                <a:cs typeface="Arial" panose="020B0604020202020204"/>
              </a:rPr>
              <a:t>handling</a:t>
            </a:r>
            <a:endParaRPr sz="2200" dirty="0">
              <a:cs typeface="Arial" panose="020B0604020202020204"/>
            </a:endParaRPr>
          </a:p>
          <a:p>
            <a:pPr marL="754380" marR="1285240" lvl="1" indent="-285115">
              <a:lnSpc>
                <a:spcPct val="150000"/>
              </a:lnSpc>
              <a:spcBef>
                <a:spcPts val="755"/>
              </a:spcBef>
              <a:buClr>
                <a:srgbClr val="CC6600"/>
              </a:buClr>
              <a:buSzPct val="81000"/>
              <a:buFont typeface="Arial" panose="020B0604020202020204" pitchFamily="34" charset="0"/>
              <a:buChar char="•"/>
              <a:tabLst>
                <a:tab pos="816610" algn="l"/>
                <a:tab pos="817880" algn="l"/>
                <a:tab pos="2645410" algn="l"/>
              </a:tabLst>
            </a:pPr>
            <a:r>
              <a:rPr sz="2200" dirty="0"/>
              <a:t>	</a:t>
            </a:r>
            <a:r>
              <a:rPr sz="2200" spc="-5" dirty="0">
                <a:cs typeface="Arial" panose="020B0604020202020204"/>
              </a:rPr>
              <a:t>Allow at most 4 </a:t>
            </a:r>
            <a:r>
              <a:rPr sz="2200" spc="-10" dirty="0">
                <a:cs typeface="Arial" panose="020B0604020202020204"/>
              </a:rPr>
              <a:t>philosophers </a:t>
            </a:r>
            <a:r>
              <a:rPr sz="2200" dirty="0">
                <a:cs typeface="Arial" panose="020B0604020202020204"/>
              </a:rPr>
              <a:t>to </a:t>
            </a:r>
            <a:r>
              <a:rPr sz="2200" spc="-10" dirty="0">
                <a:cs typeface="Arial" panose="020B0604020202020204"/>
              </a:rPr>
              <a:t>be </a:t>
            </a:r>
            <a:r>
              <a:rPr sz="2200" spc="-5" dirty="0">
                <a:cs typeface="Arial" panose="020B0604020202020204"/>
              </a:rPr>
              <a:t>sitting  </a:t>
            </a:r>
            <a:r>
              <a:rPr sz="2200" spc="-10" dirty="0">
                <a:cs typeface="Arial" panose="020B0604020202020204"/>
              </a:rPr>
              <a:t>simultaneously</a:t>
            </a:r>
            <a:r>
              <a:rPr sz="2200" spc="35" dirty="0">
                <a:cs typeface="Arial" panose="020B0604020202020204"/>
              </a:rPr>
              <a:t> </a:t>
            </a:r>
            <a:r>
              <a:rPr sz="2200" spc="-5" dirty="0">
                <a:cs typeface="Arial" panose="020B0604020202020204"/>
              </a:rPr>
              <a:t>at	</a:t>
            </a:r>
            <a:r>
              <a:rPr lang="en-IN" sz="2200" spc="-5" dirty="0">
                <a:cs typeface="Arial" panose="020B0604020202020204"/>
              </a:rPr>
              <a:t> </a:t>
            </a:r>
            <a:r>
              <a:rPr sz="2200" spc="-5" dirty="0">
                <a:cs typeface="Arial" panose="020B0604020202020204"/>
              </a:rPr>
              <a:t>the</a:t>
            </a:r>
            <a:r>
              <a:rPr sz="2200" spc="-10" dirty="0">
                <a:cs typeface="Arial" panose="020B0604020202020204"/>
              </a:rPr>
              <a:t> table.</a:t>
            </a:r>
            <a:endParaRPr sz="2200" dirty="0">
              <a:cs typeface="Arial" panose="020B0604020202020204"/>
            </a:endParaRPr>
          </a:p>
          <a:p>
            <a:pPr marL="754380" marR="231775" lvl="1" indent="-285115">
              <a:lnSpc>
                <a:spcPct val="150000"/>
              </a:lnSpc>
              <a:spcBef>
                <a:spcPts val="755"/>
              </a:spcBef>
              <a:buClr>
                <a:srgbClr val="CC6600"/>
              </a:buClr>
              <a:buSzPct val="81000"/>
              <a:buFont typeface="Arial" panose="020B0604020202020204" pitchFamily="34" charset="0"/>
              <a:buChar char="•"/>
              <a:tabLst>
                <a:tab pos="816610" algn="l"/>
                <a:tab pos="817880" algn="l"/>
                <a:tab pos="3963670" algn="l"/>
              </a:tabLst>
            </a:pPr>
            <a:r>
              <a:rPr sz="2200" dirty="0"/>
              <a:t>	</a:t>
            </a:r>
            <a:r>
              <a:rPr sz="2200" spc="-5" dirty="0">
                <a:cs typeface="Arial" panose="020B0604020202020204"/>
              </a:rPr>
              <a:t>Allow a </a:t>
            </a:r>
            <a:r>
              <a:rPr sz="2200" spc="-10" dirty="0">
                <a:cs typeface="Arial" panose="020B0604020202020204"/>
              </a:rPr>
              <a:t>philosopher </a:t>
            </a:r>
            <a:r>
              <a:rPr sz="2200" dirty="0">
                <a:cs typeface="Arial" panose="020B0604020202020204"/>
              </a:rPr>
              <a:t>to</a:t>
            </a:r>
            <a:r>
              <a:rPr sz="2200" spc="70" dirty="0">
                <a:cs typeface="Arial" panose="020B0604020202020204"/>
              </a:rPr>
              <a:t> </a:t>
            </a:r>
            <a:r>
              <a:rPr sz="2200" spc="-5" dirty="0">
                <a:cs typeface="Arial" panose="020B0604020202020204"/>
              </a:rPr>
              <a:t>pick</a:t>
            </a:r>
            <a:r>
              <a:rPr sz="2200" spc="10" dirty="0">
                <a:cs typeface="Arial" panose="020B0604020202020204"/>
              </a:rPr>
              <a:t> </a:t>
            </a:r>
            <a:r>
              <a:rPr sz="2200" spc="-10" dirty="0">
                <a:cs typeface="Arial" panose="020B0604020202020204"/>
              </a:rPr>
              <a:t>up</a:t>
            </a:r>
            <a:r>
              <a:rPr lang="en-IN" sz="2200" spc="-10" dirty="0">
                <a:cs typeface="Arial" panose="020B0604020202020204"/>
              </a:rPr>
              <a:t> </a:t>
            </a:r>
            <a:r>
              <a:rPr sz="2200" spc="-5" dirty="0">
                <a:cs typeface="Arial" panose="020B0604020202020204"/>
              </a:rPr>
              <a:t>the forks </a:t>
            </a:r>
            <a:r>
              <a:rPr sz="2200" spc="-10" dirty="0">
                <a:cs typeface="Arial" panose="020B0604020202020204"/>
              </a:rPr>
              <a:t>only </a:t>
            </a:r>
            <a:r>
              <a:rPr sz="2200" spc="-5" dirty="0">
                <a:cs typeface="Arial" panose="020B0604020202020204"/>
              </a:rPr>
              <a:t>if </a:t>
            </a:r>
            <a:r>
              <a:rPr sz="2200" spc="-10" dirty="0">
                <a:cs typeface="Arial" panose="020B0604020202020204"/>
              </a:rPr>
              <a:t>both  </a:t>
            </a:r>
            <a:r>
              <a:rPr sz="2200" spc="-5" dirty="0">
                <a:cs typeface="Arial" panose="020B0604020202020204"/>
              </a:rPr>
              <a:t>are </a:t>
            </a:r>
            <a:r>
              <a:rPr sz="2200" spc="-10" dirty="0">
                <a:cs typeface="Arial" panose="020B0604020202020204"/>
              </a:rPr>
              <a:t>available </a:t>
            </a:r>
            <a:r>
              <a:rPr sz="2200" spc="-5" dirty="0">
                <a:cs typeface="Arial" panose="020B0604020202020204"/>
              </a:rPr>
              <a:t>(picking must </a:t>
            </a:r>
            <a:r>
              <a:rPr sz="2200" spc="-10" dirty="0">
                <a:cs typeface="Arial" panose="020B0604020202020204"/>
              </a:rPr>
              <a:t>be done </a:t>
            </a:r>
            <a:r>
              <a:rPr sz="2200" spc="-5" dirty="0">
                <a:cs typeface="Arial" panose="020B0604020202020204"/>
              </a:rPr>
              <a:t>in a critical  </a:t>
            </a:r>
            <a:r>
              <a:rPr sz="2200" spc="-10" dirty="0">
                <a:cs typeface="Arial" panose="020B0604020202020204"/>
              </a:rPr>
              <a:t>section</a:t>
            </a:r>
            <a:r>
              <a:rPr lang="en-IN" sz="2200" spc="-10" dirty="0">
                <a:cs typeface="Arial" panose="020B0604020202020204"/>
              </a:rPr>
              <a:t>).</a:t>
            </a:r>
            <a:endParaRPr sz="2200" dirty="0">
              <a:cs typeface="Arial" panose="020B0604020202020204"/>
            </a:endParaRPr>
          </a:p>
          <a:p>
            <a:pPr marL="754380" marR="5080" lvl="1" indent="-285115">
              <a:lnSpc>
                <a:spcPct val="150000"/>
              </a:lnSpc>
              <a:spcBef>
                <a:spcPts val="760"/>
              </a:spcBef>
              <a:buClr>
                <a:srgbClr val="CC6600"/>
              </a:buClr>
              <a:buSzPct val="81000"/>
              <a:buFont typeface="Arial" panose="020B0604020202020204" pitchFamily="34" charset="0"/>
              <a:buChar char="•"/>
              <a:tabLst>
                <a:tab pos="816610" algn="l"/>
                <a:tab pos="817880" algn="l"/>
                <a:tab pos="2644775" algn="l"/>
                <a:tab pos="3749675" algn="l"/>
                <a:tab pos="4472940" algn="l"/>
              </a:tabLst>
            </a:pPr>
            <a:r>
              <a:rPr sz="2200" dirty="0"/>
              <a:t>	</a:t>
            </a:r>
            <a:r>
              <a:rPr sz="2200" spc="-5" dirty="0">
                <a:cs typeface="Arial" panose="020B0604020202020204"/>
              </a:rPr>
              <a:t>Use </a:t>
            </a:r>
            <a:r>
              <a:rPr sz="2200" spc="-10" dirty="0">
                <a:cs typeface="Arial" panose="020B0604020202020204"/>
              </a:rPr>
              <a:t>an</a:t>
            </a:r>
            <a:r>
              <a:rPr sz="2200" spc="60" dirty="0">
                <a:cs typeface="Arial" panose="020B0604020202020204"/>
              </a:rPr>
              <a:t> </a:t>
            </a:r>
            <a:r>
              <a:rPr sz="2200" spc="-10" dirty="0">
                <a:cs typeface="Arial" panose="020B0604020202020204"/>
              </a:rPr>
              <a:t>asymmetric</a:t>
            </a:r>
            <a:r>
              <a:rPr sz="2200" spc="70" dirty="0">
                <a:cs typeface="Arial" panose="020B0604020202020204"/>
              </a:rPr>
              <a:t> </a:t>
            </a:r>
            <a:r>
              <a:rPr sz="2200" spc="-10" dirty="0">
                <a:cs typeface="Arial" panose="020B0604020202020204"/>
              </a:rPr>
              <a:t>solution</a:t>
            </a:r>
            <a:r>
              <a:rPr sz="2200" dirty="0">
                <a:cs typeface="Arial" panose="020B0604020202020204"/>
              </a:rPr>
              <a:t>-- </a:t>
            </a:r>
            <a:r>
              <a:rPr sz="2200" spc="-10" dirty="0">
                <a:cs typeface="Arial" panose="020B0604020202020204"/>
              </a:rPr>
              <a:t>an odd-numbered  philosopher</a:t>
            </a:r>
            <a:r>
              <a:rPr sz="2200" spc="35" dirty="0">
                <a:cs typeface="Arial" panose="020B0604020202020204"/>
              </a:rPr>
              <a:t> </a:t>
            </a:r>
            <a:r>
              <a:rPr sz="2200" spc="-5" dirty="0">
                <a:cs typeface="Arial" panose="020B0604020202020204"/>
              </a:rPr>
              <a:t>picks</a:t>
            </a:r>
            <a:r>
              <a:rPr lang="en-IN" sz="2200" spc="-5" dirty="0">
                <a:cs typeface="Arial" panose="020B0604020202020204"/>
              </a:rPr>
              <a:t> </a:t>
            </a:r>
            <a:r>
              <a:rPr sz="2200" spc="-10" dirty="0">
                <a:cs typeface="Arial" panose="020B0604020202020204"/>
              </a:rPr>
              <a:t>up </a:t>
            </a:r>
            <a:r>
              <a:rPr sz="2200" spc="-5" dirty="0">
                <a:cs typeface="Arial" panose="020B0604020202020204"/>
              </a:rPr>
              <a:t>first the left chopstick </a:t>
            </a:r>
            <a:r>
              <a:rPr sz="2200" spc="-10" dirty="0">
                <a:cs typeface="Arial" panose="020B0604020202020204"/>
              </a:rPr>
              <a:t>and then  </a:t>
            </a:r>
            <a:r>
              <a:rPr sz="2200" spc="-5" dirty="0">
                <a:cs typeface="Arial" panose="020B0604020202020204"/>
              </a:rPr>
              <a:t>the </a:t>
            </a:r>
            <a:r>
              <a:rPr sz="2200" spc="-10" dirty="0">
                <a:cs typeface="Arial" panose="020B0604020202020204"/>
              </a:rPr>
              <a:t>right</a:t>
            </a:r>
            <a:r>
              <a:rPr sz="2200" spc="40" dirty="0">
                <a:cs typeface="Arial" panose="020B0604020202020204"/>
              </a:rPr>
              <a:t> </a:t>
            </a:r>
            <a:r>
              <a:rPr sz="2200" spc="-5" dirty="0">
                <a:cs typeface="Arial" panose="020B0604020202020204"/>
              </a:rPr>
              <a:t>chopstick.</a:t>
            </a:r>
            <a:r>
              <a:rPr sz="2200" spc="40" dirty="0">
                <a:cs typeface="Arial" panose="020B0604020202020204"/>
              </a:rPr>
              <a:t> </a:t>
            </a:r>
            <a:r>
              <a:rPr sz="2200" spc="-10" dirty="0">
                <a:cs typeface="Arial" panose="020B0604020202020204"/>
              </a:rPr>
              <a:t>Even-numbered	philosopher </a:t>
            </a:r>
            <a:r>
              <a:rPr sz="2200" spc="-5" dirty="0">
                <a:cs typeface="Arial" panose="020B0604020202020204"/>
              </a:rPr>
              <a:t>picks  </a:t>
            </a:r>
            <a:r>
              <a:rPr sz="2200" spc="-10" dirty="0">
                <a:cs typeface="Arial" panose="020B0604020202020204"/>
              </a:rPr>
              <a:t>up </a:t>
            </a:r>
            <a:r>
              <a:rPr sz="2200" spc="-5" dirty="0">
                <a:cs typeface="Arial" panose="020B0604020202020204"/>
              </a:rPr>
              <a:t>first the </a:t>
            </a:r>
            <a:r>
              <a:rPr sz="2200" spc="-10" dirty="0">
                <a:cs typeface="Arial" panose="020B0604020202020204"/>
              </a:rPr>
              <a:t>right </a:t>
            </a:r>
            <a:r>
              <a:rPr sz="2200" spc="-5" dirty="0">
                <a:cs typeface="Arial" panose="020B0604020202020204"/>
              </a:rPr>
              <a:t>chopstick </a:t>
            </a:r>
            <a:r>
              <a:rPr sz="2200" spc="-10" dirty="0">
                <a:cs typeface="Arial" panose="020B0604020202020204"/>
              </a:rPr>
              <a:t>and then </a:t>
            </a:r>
            <a:r>
              <a:rPr sz="2200" spc="-5" dirty="0">
                <a:cs typeface="Arial" panose="020B0604020202020204"/>
              </a:rPr>
              <a:t>the left</a:t>
            </a:r>
            <a:r>
              <a:rPr sz="2200" spc="70" dirty="0">
                <a:cs typeface="Arial" panose="020B0604020202020204"/>
              </a:rPr>
              <a:t> </a:t>
            </a:r>
            <a:r>
              <a:rPr sz="2200" spc="-5" dirty="0">
                <a:cs typeface="Arial" panose="020B0604020202020204"/>
              </a:rPr>
              <a:t>chopstick.</a:t>
            </a:r>
            <a:endParaRPr sz="2200" dirty="0">
              <a:cs typeface="Arial" panose="020B0604020202020204"/>
            </a:endParaRPr>
          </a:p>
        </p:txBody>
      </p:sp>
      <p:sp>
        <p:nvSpPr>
          <p:cNvPr id="8" name="Slide Number Placeholder 7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t>67</a:t>
            </a:fld>
            <a:endParaRPr lang="en-US"/>
          </a:p>
        </p:txBody>
      </p:sp>
      <p:pic>
        <p:nvPicPr>
          <p:cNvPr id="2" name="Picture 1" descr="A black and red logo&#10;&#10;Description automatically generated">
            <a:extLst>
              <a:ext uri="{FF2B5EF4-FFF2-40B4-BE49-F238E27FC236}">
                <a16:creationId xmlns:a16="http://schemas.microsoft.com/office/drawing/2014/main" id="{0EA9A99D-3962-35DE-05F0-E9D2F4B6799A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-27384"/>
            <a:ext cx="1657350" cy="710452"/>
          </a:xfrm>
          <a:prstGeom prst="rect">
            <a:avLst/>
          </a:prstGeom>
        </p:spPr>
      </p:pic>
      <p:sp>
        <p:nvSpPr>
          <p:cNvPr id="3" name="Title 1">
            <a:extLst>
              <a:ext uri="{FF2B5EF4-FFF2-40B4-BE49-F238E27FC236}">
                <a16:creationId xmlns:a16="http://schemas.microsoft.com/office/drawing/2014/main" id="{41738444-FAFB-621A-197C-5BF983E087DB}"/>
              </a:ext>
            </a:extLst>
          </p:cNvPr>
          <p:cNvSpPr txBox="1">
            <a:spLocks/>
          </p:cNvSpPr>
          <p:nvPr/>
        </p:nvSpPr>
        <p:spPr>
          <a:xfrm>
            <a:off x="1657350" y="0"/>
            <a:ext cx="7379146" cy="630981"/>
          </a:xfrm>
          <a:prstGeom prst="rect">
            <a:avLst/>
          </a:prstGeom>
          <a:gradFill flip="none" rotWithShape="1">
            <a:gsLst>
              <a:gs pos="0">
                <a:srgbClr val="FF0000">
                  <a:tint val="66000"/>
                  <a:satMod val="160000"/>
                </a:srgbClr>
              </a:gs>
              <a:gs pos="50000">
                <a:srgbClr val="FF0000">
                  <a:tint val="44500"/>
                  <a:satMod val="160000"/>
                </a:srgbClr>
              </a:gs>
              <a:gs pos="100000">
                <a:srgbClr val="FF0000">
                  <a:tint val="23500"/>
                  <a:satMod val="160000"/>
                </a:srgbClr>
              </a:gs>
            </a:gsLst>
            <a:lin ang="0" scaled="1"/>
            <a:tileRect/>
          </a:gradFill>
        </p:spPr>
        <p:style>
          <a:lnRef idx="1">
            <a:schemeClr val="accent5"/>
          </a:lnRef>
          <a:fillRef idx="2">
            <a:schemeClr val="accent5"/>
          </a:fillRef>
          <a:effectRef idx="1">
            <a:schemeClr val="accent5"/>
          </a:effectRef>
          <a:fontRef idx="minor">
            <a:schemeClr val="dk1"/>
          </a:fontRef>
        </p:style>
        <p:txBody>
          <a:bodyPr vert="horz" lIns="68580" tIns="34290" rIns="68580" bIns="34290" rtlCol="0" anchor="ctr">
            <a:noAutofit/>
          </a:bodyPr>
          <a:lstStyle>
            <a:defPPr>
              <a:defRPr lang="en-US"/>
            </a:defPPr>
            <a:lvl1pPr algn="ctr">
              <a:spcBef>
                <a:spcPct val="0"/>
              </a:spcBef>
              <a:buNone/>
              <a:defRPr sz="2800"/>
            </a:lvl1pPr>
          </a:lstStyle>
          <a:p>
            <a:pPr>
              <a:defRPr/>
            </a:pPr>
            <a:endParaRPr lang="en-IN" sz="2400" spc="-5" dirty="0"/>
          </a:p>
          <a:p>
            <a:pPr>
              <a:defRPr/>
            </a:pPr>
            <a:r>
              <a:rPr lang="en-IN" sz="2400" spc="-5" dirty="0"/>
              <a:t>Dining-Philosophers Problem Algo.</a:t>
            </a:r>
            <a:r>
              <a:rPr lang="en-IN" sz="2400" spc="-60" dirty="0"/>
              <a:t> </a:t>
            </a:r>
            <a:r>
              <a:rPr lang="en-IN" sz="2400" spc="-5" dirty="0"/>
              <a:t>(</a:t>
            </a:r>
            <a:r>
              <a:rPr lang="en-IN" sz="2400" spc="-5" dirty="0" err="1"/>
              <a:t>Cont</a:t>
            </a:r>
            <a:r>
              <a:rPr lang="en-IN" sz="2400" spc="-5" dirty="0"/>
              <a:t>)</a:t>
            </a:r>
            <a:r>
              <a:rPr lang="en-IN" sz="2400" dirty="0"/>
              <a:t> (CO3)</a:t>
            </a:r>
            <a:endParaRPr kumimoji="0" lang="en-US" sz="2400" b="0" i="0" u="none" strike="noStrike" kern="1200" cap="none" spc="0" normalizeH="0" baseline="0" noProof="0" dirty="0">
              <a:ln>
                <a:noFill/>
              </a:ln>
              <a:solidFill>
                <a:schemeClr val="dk1"/>
              </a:solidFill>
              <a:effectLst/>
              <a:uLnTx/>
              <a:uFillTx/>
              <a:ea typeface="+mn-ea"/>
              <a:cs typeface="+mn-cs"/>
            </a:endParaRPr>
          </a:p>
          <a:p>
            <a:pPr>
              <a:defRPr/>
            </a:pPr>
            <a:endParaRPr lang="en-US" sz="2100" dirty="0"/>
          </a:p>
        </p:txBody>
      </p:sp>
    </p:spTree>
    <p:extLst>
      <p:ext uri="{BB962C8B-B14F-4D97-AF65-F5344CB8AC3E}">
        <p14:creationId xmlns:p14="http://schemas.microsoft.com/office/powerpoint/2010/main" val="547775016"/>
      </p:ext>
    </p:extLst>
  </p:cSld>
  <p:clrMapOvr>
    <a:masterClrMapping/>
  </p:clrMapOvr>
  <p:transition>
    <p:dissolve/>
  </p:transition>
</p:sld>
</file>

<file path=ppt/slides/slide6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F2B0DD9-DA3C-4CF9-B6E2-3A21A54F3608}" type="datetime3">
              <a:rPr lang="en-US" smtClean="0"/>
              <a:t>1 September 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2514600" y="6356350"/>
            <a:ext cx="5181600" cy="365125"/>
          </a:xfrm>
        </p:spPr>
        <p:txBody>
          <a:bodyPr/>
          <a:lstStyle/>
          <a:p>
            <a:r>
              <a:rPr lang="en-US"/>
              <a:t>Atul Garg           BCSE0303            Unit- III</a:t>
            </a:r>
            <a:endParaRPr lang="en-US" dirty="0"/>
          </a:p>
        </p:txBody>
      </p:sp>
      <p:sp>
        <p:nvSpPr>
          <p:cNvPr id="18" name="Rectangle 3"/>
          <p:cNvSpPr txBox="1">
            <a:spLocks noChangeArrowheads="1"/>
          </p:cNvSpPr>
          <p:nvPr/>
        </p:nvSpPr>
        <p:spPr>
          <a:xfrm>
            <a:off x="1047750" y="1484784"/>
            <a:ext cx="7029450" cy="4114800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/>
          <a:p>
            <a:pPr marL="342900" marR="0" lvl="0" indent="-342900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defRPr/>
            </a:pPr>
            <a:endParaRPr kumimoji="0" lang="en-US" sz="2200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10" name="object 3"/>
          <p:cNvSpPr txBox="1"/>
          <p:nvPr/>
        </p:nvSpPr>
        <p:spPr>
          <a:xfrm>
            <a:off x="827584" y="692696"/>
            <a:ext cx="7887820" cy="5862502"/>
          </a:xfrm>
          <a:prstGeom prst="rect">
            <a:avLst/>
          </a:prstGeom>
        </p:spPr>
        <p:txBody>
          <a:bodyPr vert="horz" wrap="square" lIns="0" tIns="108585" rIns="0" bIns="0" rtlCol="0">
            <a:spAutoFit/>
          </a:bodyPr>
          <a:lstStyle/>
          <a:p>
            <a:pPr marL="353695" indent="-341630">
              <a:lnSpc>
                <a:spcPct val="100000"/>
              </a:lnSpc>
              <a:spcBef>
                <a:spcPts val="855"/>
              </a:spcBef>
              <a:buClr>
                <a:srgbClr val="993300"/>
              </a:buClr>
              <a:buSzPct val="89000"/>
              <a:buFont typeface="Arial" panose="020B0604020202020204" pitchFamily="34" charset="0"/>
              <a:buChar char="•"/>
              <a:tabLst>
                <a:tab pos="353695" algn="l"/>
                <a:tab pos="354330" algn="l"/>
              </a:tabLst>
            </a:pPr>
            <a:r>
              <a:rPr sz="2200" dirty="0">
                <a:cs typeface="Arial" panose="020B0604020202020204"/>
              </a:rPr>
              <a:t>A </a:t>
            </a:r>
            <a:r>
              <a:rPr sz="2200" spc="-10" dirty="0">
                <a:cs typeface="Arial" panose="020B0604020202020204"/>
              </a:rPr>
              <a:t>data </a:t>
            </a:r>
            <a:r>
              <a:rPr sz="2200" spc="-5" dirty="0">
                <a:cs typeface="Arial" panose="020B0604020202020204"/>
              </a:rPr>
              <a:t>set is </a:t>
            </a:r>
            <a:r>
              <a:rPr sz="2200" spc="-10" dirty="0">
                <a:cs typeface="Arial" panose="020B0604020202020204"/>
              </a:rPr>
              <a:t>shared among </a:t>
            </a:r>
            <a:r>
              <a:rPr sz="2200" spc="-5" dirty="0">
                <a:cs typeface="Arial" panose="020B0604020202020204"/>
              </a:rPr>
              <a:t>a </a:t>
            </a:r>
            <a:r>
              <a:rPr sz="2200" spc="-10" dirty="0">
                <a:cs typeface="Arial" panose="020B0604020202020204"/>
              </a:rPr>
              <a:t>number </a:t>
            </a:r>
            <a:r>
              <a:rPr sz="2200" spc="-5" dirty="0">
                <a:cs typeface="Arial" panose="020B0604020202020204"/>
              </a:rPr>
              <a:t>of </a:t>
            </a:r>
            <a:r>
              <a:rPr sz="2200" spc="-10" dirty="0">
                <a:cs typeface="Arial" panose="020B0604020202020204"/>
              </a:rPr>
              <a:t>concurrent</a:t>
            </a:r>
            <a:r>
              <a:rPr sz="2200" spc="125" dirty="0">
                <a:cs typeface="Arial" panose="020B0604020202020204"/>
              </a:rPr>
              <a:t> </a:t>
            </a:r>
            <a:r>
              <a:rPr sz="2200" spc="-10" dirty="0">
                <a:cs typeface="Arial" panose="020B0604020202020204"/>
              </a:rPr>
              <a:t>processes</a:t>
            </a:r>
            <a:endParaRPr sz="2200" dirty="0">
              <a:cs typeface="Arial" panose="020B0604020202020204"/>
            </a:endParaRPr>
          </a:p>
          <a:p>
            <a:pPr marL="754380" lvl="1" indent="-285115">
              <a:lnSpc>
                <a:spcPct val="100000"/>
              </a:lnSpc>
              <a:spcBef>
                <a:spcPts val="755"/>
              </a:spcBef>
              <a:buClr>
                <a:srgbClr val="CC6600"/>
              </a:buClr>
              <a:buSzPct val="81000"/>
              <a:buFont typeface="Arial" panose="020B0604020202020204" pitchFamily="34" charset="0"/>
              <a:buChar char="•"/>
              <a:tabLst>
                <a:tab pos="754380" algn="l"/>
                <a:tab pos="755015" algn="l"/>
              </a:tabLst>
            </a:pPr>
            <a:r>
              <a:rPr sz="2200" spc="-10" dirty="0">
                <a:cs typeface="Arial" panose="020B0604020202020204"/>
              </a:rPr>
              <a:t>Readers </a:t>
            </a:r>
            <a:r>
              <a:rPr sz="2200" spc="-5" dirty="0">
                <a:cs typeface="Arial" panose="020B0604020202020204"/>
              </a:rPr>
              <a:t>– </a:t>
            </a:r>
            <a:r>
              <a:rPr sz="2200" spc="-10" dirty="0">
                <a:cs typeface="Arial" panose="020B0604020202020204"/>
              </a:rPr>
              <a:t>only read </a:t>
            </a:r>
            <a:r>
              <a:rPr sz="2200" spc="-5" dirty="0">
                <a:cs typeface="Arial" panose="020B0604020202020204"/>
              </a:rPr>
              <a:t>the </a:t>
            </a:r>
            <a:r>
              <a:rPr sz="2200" spc="-10" dirty="0">
                <a:cs typeface="Arial" panose="020B0604020202020204"/>
              </a:rPr>
              <a:t>data </a:t>
            </a:r>
            <a:r>
              <a:rPr sz="2200" spc="-5" dirty="0">
                <a:cs typeface="Arial" panose="020B0604020202020204"/>
              </a:rPr>
              <a:t>set; </a:t>
            </a:r>
            <a:r>
              <a:rPr sz="2200" spc="-10" dirty="0">
                <a:cs typeface="Arial" panose="020B0604020202020204"/>
              </a:rPr>
              <a:t>they do </a:t>
            </a:r>
            <a:r>
              <a:rPr sz="2200" b="1" i="1" dirty="0">
                <a:cs typeface="Arial" panose="020B0604020202020204"/>
              </a:rPr>
              <a:t>not </a:t>
            </a:r>
            <a:r>
              <a:rPr sz="2200" spc="-5" dirty="0">
                <a:cs typeface="Arial" panose="020B0604020202020204"/>
              </a:rPr>
              <a:t>perform </a:t>
            </a:r>
            <a:r>
              <a:rPr sz="2200" spc="-10" dirty="0">
                <a:cs typeface="Arial" panose="020B0604020202020204"/>
              </a:rPr>
              <a:t>any</a:t>
            </a:r>
            <a:r>
              <a:rPr sz="2200" spc="135" dirty="0">
                <a:cs typeface="Arial" panose="020B0604020202020204"/>
              </a:rPr>
              <a:t> </a:t>
            </a:r>
            <a:r>
              <a:rPr sz="2200" spc="-10" dirty="0">
                <a:cs typeface="Arial" panose="020B0604020202020204"/>
              </a:rPr>
              <a:t>updates</a:t>
            </a:r>
            <a:endParaRPr sz="2200" dirty="0">
              <a:cs typeface="Arial" panose="020B0604020202020204"/>
            </a:endParaRPr>
          </a:p>
          <a:p>
            <a:pPr marL="754380" lvl="1" indent="-285115">
              <a:lnSpc>
                <a:spcPct val="100000"/>
              </a:lnSpc>
              <a:spcBef>
                <a:spcPts val="755"/>
              </a:spcBef>
              <a:buClr>
                <a:srgbClr val="CC6600"/>
              </a:buClr>
              <a:buSzPct val="81000"/>
              <a:buFont typeface="Arial" panose="020B0604020202020204" pitchFamily="34" charset="0"/>
              <a:buChar char="•"/>
              <a:tabLst>
                <a:tab pos="754380" algn="l"/>
                <a:tab pos="755015" algn="l"/>
                <a:tab pos="1667510" algn="l"/>
              </a:tabLst>
            </a:pPr>
            <a:r>
              <a:rPr sz="2200" spc="-5" dirty="0">
                <a:cs typeface="Arial" panose="020B0604020202020204"/>
              </a:rPr>
              <a:t>Writers	– can </a:t>
            </a:r>
            <a:r>
              <a:rPr sz="2200" spc="-10" dirty="0">
                <a:cs typeface="Arial" panose="020B0604020202020204"/>
              </a:rPr>
              <a:t>both read and</a:t>
            </a:r>
            <a:r>
              <a:rPr sz="2200" spc="30" dirty="0">
                <a:cs typeface="Arial" panose="020B0604020202020204"/>
              </a:rPr>
              <a:t> </a:t>
            </a:r>
            <a:r>
              <a:rPr sz="2200" spc="-10" dirty="0">
                <a:cs typeface="Arial" panose="020B0604020202020204"/>
              </a:rPr>
              <a:t>write</a:t>
            </a:r>
            <a:endParaRPr sz="2200" dirty="0">
              <a:cs typeface="Arial" panose="020B0604020202020204"/>
            </a:endParaRPr>
          </a:p>
          <a:p>
            <a:pPr marL="353695" indent="-341630">
              <a:lnSpc>
                <a:spcPct val="100000"/>
              </a:lnSpc>
              <a:spcBef>
                <a:spcPts val="760"/>
              </a:spcBef>
              <a:buClr>
                <a:srgbClr val="993300"/>
              </a:buClr>
              <a:buSzPct val="89000"/>
              <a:buFont typeface="Arial" panose="020B0604020202020204" pitchFamily="34" charset="0"/>
              <a:buChar char="•"/>
              <a:tabLst>
                <a:tab pos="353695" algn="l"/>
                <a:tab pos="354330" algn="l"/>
              </a:tabLst>
            </a:pPr>
            <a:r>
              <a:rPr sz="2200" spc="-10" dirty="0">
                <a:cs typeface="Arial" panose="020B0604020202020204"/>
              </a:rPr>
              <a:t>Problem </a:t>
            </a:r>
            <a:r>
              <a:rPr sz="2200" spc="-5" dirty="0">
                <a:cs typeface="Arial" panose="020B0604020202020204"/>
              </a:rPr>
              <a:t>– allow multiple </a:t>
            </a:r>
            <a:r>
              <a:rPr sz="2200" spc="-10" dirty="0">
                <a:cs typeface="Arial" panose="020B0604020202020204"/>
              </a:rPr>
              <a:t>readers </a:t>
            </a:r>
            <a:r>
              <a:rPr sz="2200" dirty="0">
                <a:cs typeface="Arial" panose="020B0604020202020204"/>
              </a:rPr>
              <a:t>to </a:t>
            </a:r>
            <a:r>
              <a:rPr sz="2200" spc="-10" dirty="0">
                <a:cs typeface="Arial" panose="020B0604020202020204"/>
              </a:rPr>
              <a:t>read </a:t>
            </a:r>
            <a:r>
              <a:rPr sz="2200" spc="-5" dirty="0">
                <a:cs typeface="Arial" panose="020B0604020202020204"/>
              </a:rPr>
              <a:t>at the same</a:t>
            </a:r>
            <a:r>
              <a:rPr sz="2200" spc="85" dirty="0">
                <a:cs typeface="Arial" panose="020B0604020202020204"/>
              </a:rPr>
              <a:t> </a:t>
            </a:r>
            <a:r>
              <a:rPr sz="2200" spc="-5" dirty="0">
                <a:cs typeface="Arial" panose="020B0604020202020204"/>
              </a:rPr>
              <a:t>time</a:t>
            </a:r>
            <a:endParaRPr sz="2200" dirty="0">
              <a:cs typeface="Arial" panose="020B0604020202020204"/>
            </a:endParaRPr>
          </a:p>
          <a:p>
            <a:pPr marL="754380" lvl="1" indent="-285115">
              <a:lnSpc>
                <a:spcPct val="100000"/>
              </a:lnSpc>
              <a:spcBef>
                <a:spcPts val="755"/>
              </a:spcBef>
              <a:buClr>
                <a:srgbClr val="CC6600"/>
              </a:buClr>
              <a:buSzPct val="81000"/>
              <a:buFont typeface="Arial" panose="020B0604020202020204" pitchFamily="34" charset="0"/>
              <a:buChar char="•"/>
              <a:tabLst>
                <a:tab pos="754380" algn="l"/>
                <a:tab pos="755015" algn="l"/>
              </a:tabLst>
            </a:pPr>
            <a:r>
              <a:rPr sz="2200" spc="-5" dirty="0">
                <a:cs typeface="Arial" panose="020B0604020202020204"/>
              </a:rPr>
              <a:t>Only </a:t>
            </a:r>
            <a:r>
              <a:rPr sz="2200" spc="-10" dirty="0">
                <a:cs typeface="Arial" panose="020B0604020202020204"/>
              </a:rPr>
              <a:t>one single writer </a:t>
            </a:r>
            <a:r>
              <a:rPr sz="2200" spc="-5" dirty="0">
                <a:cs typeface="Arial" panose="020B0604020202020204"/>
              </a:rPr>
              <a:t>can access the </a:t>
            </a:r>
            <a:r>
              <a:rPr sz="2200" spc="-10" dirty="0">
                <a:cs typeface="Arial" panose="020B0604020202020204"/>
              </a:rPr>
              <a:t>shared data </a:t>
            </a:r>
            <a:r>
              <a:rPr sz="2200" spc="-5" dirty="0">
                <a:cs typeface="Arial" panose="020B0604020202020204"/>
              </a:rPr>
              <a:t>at the same</a:t>
            </a:r>
            <a:r>
              <a:rPr sz="2200" spc="170" dirty="0">
                <a:cs typeface="Arial" panose="020B0604020202020204"/>
              </a:rPr>
              <a:t> </a:t>
            </a:r>
            <a:r>
              <a:rPr sz="2200" spc="-5" dirty="0">
                <a:cs typeface="Arial" panose="020B0604020202020204"/>
              </a:rPr>
              <a:t>time</a:t>
            </a:r>
            <a:endParaRPr sz="2200" dirty="0">
              <a:cs typeface="Arial" panose="020B0604020202020204"/>
            </a:endParaRPr>
          </a:p>
          <a:p>
            <a:pPr marL="353695" marR="518795" indent="-341630">
              <a:lnSpc>
                <a:spcPct val="100000"/>
              </a:lnSpc>
              <a:spcBef>
                <a:spcPts val="755"/>
              </a:spcBef>
              <a:buClr>
                <a:srgbClr val="993300"/>
              </a:buClr>
              <a:buSzPct val="89000"/>
              <a:buFont typeface="Arial" panose="020B0604020202020204" pitchFamily="34" charset="0"/>
              <a:buChar char="•"/>
              <a:tabLst>
                <a:tab pos="353695" algn="l"/>
                <a:tab pos="354330" algn="l"/>
                <a:tab pos="6624320" algn="l"/>
              </a:tabLst>
            </a:pPr>
            <a:r>
              <a:rPr sz="2200" spc="-5" dirty="0">
                <a:cs typeface="Arial" panose="020B0604020202020204"/>
              </a:rPr>
              <a:t>Several </a:t>
            </a:r>
            <a:r>
              <a:rPr sz="2200" spc="-10" dirty="0">
                <a:cs typeface="Arial" panose="020B0604020202020204"/>
              </a:rPr>
              <a:t>variations </a:t>
            </a:r>
            <a:r>
              <a:rPr sz="2200" spc="-5" dirty="0">
                <a:cs typeface="Arial" panose="020B0604020202020204"/>
              </a:rPr>
              <a:t>of </a:t>
            </a:r>
            <a:r>
              <a:rPr sz="2200" spc="-10" dirty="0">
                <a:cs typeface="Arial" panose="020B0604020202020204"/>
              </a:rPr>
              <a:t>how readers and writers</a:t>
            </a:r>
            <a:r>
              <a:rPr sz="2200" spc="260" dirty="0">
                <a:cs typeface="Arial" panose="020B0604020202020204"/>
              </a:rPr>
              <a:t> </a:t>
            </a:r>
            <a:r>
              <a:rPr sz="2200" spc="-5" dirty="0">
                <a:cs typeface="Arial" panose="020B0604020202020204"/>
              </a:rPr>
              <a:t>are</a:t>
            </a:r>
            <a:r>
              <a:rPr sz="2200" spc="10" dirty="0">
                <a:cs typeface="Arial" panose="020B0604020202020204"/>
              </a:rPr>
              <a:t> </a:t>
            </a:r>
            <a:r>
              <a:rPr sz="2200" spc="-10" dirty="0" err="1">
                <a:cs typeface="Arial" panose="020B0604020202020204"/>
              </a:rPr>
              <a:t>considere</a:t>
            </a:r>
            <a:r>
              <a:rPr lang="en-IN" sz="2200" spc="-10" dirty="0">
                <a:cs typeface="Arial" panose="020B0604020202020204"/>
              </a:rPr>
              <a:t>d -</a:t>
            </a:r>
            <a:r>
              <a:rPr sz="2200" spc="-10" dirty="0">
                <a:cs typeface="Arial" panose="020B0604020202020204"/>
              </a:rPr>
              <a:t>all  </a:t>
            </a:r>
            <a:r>
              <a:rPr sz="2200" spc="-5" dirty="0">
                <a:cs typeface="Arial" panose="020B0604020202020204"/>
              </a:rPr>
              <a:t>involve some form of</a:t>
            </a:r>
            <a:r>
              <a:rPr sz="2200" spc="10" dirty="0">
                <a:cs typeface="Arial" panose="020B0604020202020204"/>
              </a:rPr>
              <a:t> </a:t>
            </a:r>
            <a:r>
              <a:rPr sz="2200" spc="-10" dirty="0">
                <a:cs typeface="Arial" panose="020B0604020202020204"/>
              </a:rPr>
              <a:t>priorities</a:t>
            </a:r>
            <a:endParaRPr sz="2200" dirty="0">
              <a:cs typeface="Arial" panose="020B0604020202020204"/>
            </a:endParaRPr>
          </a:p>
          <a:p>
            <a:pPr marL="353695" indent="-341630">
              <a:lnSpc>
                <a:spcPct val="100000"/>
              </a:lnSpc>
              <a:spcBef>
                <a:spcPts val="755"/>
              </a:spcBef>
              <a:buClr>
                <a:srgbClr val="993300"/>
              </a:buClr>
              <a:buSzPct val="89000"/>
              <a:buFont typeface="Arial" panose="020B0604020202020204" pitchFamily="34" charset="0"/>
              <a:buChar char="•"/>
              <a:tabLst>
                <a:tab pos="353695" algn="l"/>
                <a:tab pos="354330" algn="l"/>
              </a:tabLst>
            </a:pPr>
            <a:r>
              <a:rPr sz="2200" spc="-10" dirty="0">
                <a:cs typeface="Arial" panose="020B0604020202020204"/>
              </a:rPr>
              <a:t>Shared </a:t>
            </a:r>
            <a:r>
              <a:rPr sz="2200" spc="-5" dirty="0">
                <a:cs typeface="Arial" panose="020B0604020202020204"/>
              </a:rPr>
              <a:t>Data</a:t>
            </a:r>
            <a:endParaRPr sz="2200" dirty="0">
              <a:cs typeface="Arial" panose="020B0604020202020204"/>
            </a:endParaRPr>
          </a:p>
          <a:p>
            <a:pPr marL="754380" lvl="1" indent="-285115">
              <a:lnSpc>
                <a:spcPct val="100000"/>
              </a:lnSpc>
              <a:spcBef>
                <a:spcPts val="755"/>
              </a:spcBef>
              <a:buClr>
                <a:srgbClr val="CC6600"/>
              </a:buClr>
              <a:buSzPct val="81000"/>
              <a:buFont typeface="Arial" panose="020B0604020202020204" pitchFamily="34" charset="0"/>
              <a:buChar char="•"/>
              <a:tabLst>
                <a:tab pos="754380" algn="l"/>
                <a:tab pos="755015" algn="l"/>
              </a:tabLst>
            </a:pPr>
            <a:r>
              <a:rPr sz="2200" spc="-5" dirty="0">
                <a:cs typeface="Arial" panose="020B0604020202020204"/>
              </a:rPr>
              <a:t>Data</a:t>
            </a:r>
            <a:r>
              <a:rPr sz="2200" spc="-20" dirty="0">
                <a:cs typeface="Arial" panose="020B0604020202020204"/>
              </a:rPr>
              <a:t> </a:t>
            </a:r>
            <a:r>
              <a:rPr sz="2200" spc="-10" dirty="0">
                <a:cs typeface="Arial" panose="020B0604020202020204"/>
              </a:rPr>
              <a:t>set</a:t>
            </a:r>
            <a:endParaRPr sz="2200" dirty="0">
              <a:cs typeface="Arial" panose="020B0604020202020204"/>
            </a:endParaRPr>
          </a:p>
          <a:p>
            <a:pPr marL="754380" lvl="1" indent="-285115">
              <a:lnSpc>
                <a:spcPct val="100000"/>
              </a:lnSpc>
              <a:spcBef>
                <a:spcPts val="655"/>
              </a:spcBef>
              <a:buClr>
                <a:srgbClr val="CC6600"/>
              </a:buClr>
              <a:buSzPct val="81000"/>
              <a:buFont typeface="Arial" panose="020B0604020202020204" pitchFamily="34" charset="0"/>
              <a:buChar char="•"/>
              <a:tabLst>
                <a:tab pos="754380" algn="l"/>
                <a:tab pos="755015" algn="l"/>
                <a:tab pos="2071370" algn="l"/>
              </a:tabLst>
            </a:pPr>
            <a:r>
              <a:rPr sz="2200" spc="-10" dirty="0">
                <a:cs typeface="Arial" panose="020B0604020202020204"/>
              </a:rPr>
              <a:t>Semaphore	</a:t>
            </a:r>
            <a:r>
              <a:rPr sz="2200" b="1" spc="-5" dirty="0">
                <a:cs typeface="Courier New" panose="02070309020205020404"/>
              </a:rPr>
              <a:t>rw_mutex </a:t>
            </a:r>
            <a:r>
              <a:rPr sz="2200" spc="-10" dirty="0">
                <a:cs typeface="Arial" panose="020B0604020202020204"/>
              </a:rPr>
              <a:t>initialized </a:t>
            </a:r>
            <a:r>
              <a:rPr sz="2200" dirty="0">
                <a:cs typeface="Arial" panose="020B0604020202020204"/>
              </a:rPr>
              <a:t>to</a:t>
            </a:r>
            <a:r>
              <a:rPr sz="2200" spc="-114" dirty="0">
                <a:cs typeface="Arial" panose="020B0604020202020204"/>
              </a:rPr>
              <a:t> </a:t>
            </a:r>
            <a:r>
              <a:rPr sz="2200" spc="-5" dirty="0">
                <a:cs typeface="Arial" panose="020B0604020202020204"/>
              </a:rPr>
              <a:t>1</a:t>
            </a:r>
            <a:endParaRPr sz="2200" dirty="0">
              <a:cs typeface="Arial" panose="020B0604020202020204"/>
            </a:endParaRPr>
          </a:p>
          <a:p>
            <a:pPr marL="754380" lvl="1" indent="-285115">
              <a:lnSpc>
                <a:spcPct val="100000"/>
              </a:lnSpc>
              <a:spcBef>
                <a:spcPts val="840"/>
              </a:spcBef>
              <a:buClr>
                <a:srgbClr val="CC6600"/>
              </a:buClr>
              <a:buSzPct val="81000"/>
              <a:buFont typeface="Arial" panose="020B0604020202020204" pitchFamily="34" charset="0"/>
              <a:buChar char="•"/>
              <a:tabLst>
                <a:tab pos="754380" algn="l"/>
                <a:tab pos="755015" algn="l"/>
              </a:tabLst>
            </a:pPr>
            <a:r>
              <a:rPr sz="2200" spc="-10" dirty="0">
                <a:cs typeface="Arial" panose="020B0604020202020204"/>
              </a:rPr>
              <a:t>Semaphore </a:t>
            </a:r>
            <a:r>
              <a:rPr sz="2200" b="1" spc="-5" dirty="0">
                <a:cs typeface="Courier New" panose="02070309020205020404"/>
              </a:rPr>
              <a:t>mutex </a:t>
            </a:r>
            <a:r>
              <a:rPr sz="2200" spc="-10" dirty="0">
                <a:cs typeface="Arial" panose="020B0604020202020204"/>
              </a:rPr>
              <a:t>initialized </a:t>
            </a:r>
            <a:r>
              <a:rPr sz="2200" dirty="0">
                <a:cs typeface="Arial" panose="020B0604020202020204"/>
              </a:rPr>
              <a:t>to</a:t>
            </a:r>
            <a:r>
              <a:rPr sz="2200" spc="-90" dirty="0">
                <a:cs typeface="Arial" panose="020B0604020202020204"/>
              </a:rPr>
              <a:t> </a:t>
            </a:r>
            <a:r>
              <a:rPr sz="2200" spc="-5" dirty="0">
                <a:cs typeface="Arial" panose="020B0604020202020204"/>
              </a:rPr>
              <a:t>1</a:t>
            </a:r>
            <a:endParaRPr sz="2200" dirty="0">
              <a:cs typeface="Arial" panose="020B0604020202020204"/>
            </a:endParaRPr>
          </a:p>
          <a:p>
            <a:pPr marL="754380" lvl="1" indent="-285115">
              <a:lnSpc>
                <a:spcPct val="100000"/>
              </a:lnSpc>
              <a:spcBef>
                <a:spcPts val="840"/>
              </a:spcBef>
              <a:buClr>
                <a:srgbClr val="CC6600"/>
              </a:buClr>
              <a:buSzPct val="81000"/>
              <a:buFont typeface="Arial" panose="020B0604020202020204" pitchFamily="34" charset="0"/>
              <a:buChar char="•"/>
              <a:tabLst>
                <a:tab pos="754380" algn="l"/>
                <a:tab pos="755015" algn="l"/>
              </a:tabLst>
            </a:pPr>
            <a:r>
              <a:rPr sz="2200" spc="-10" dirty="0">
                <a:cs typeface="Arial" panose="020B0604020202020204"/>
              </a:rPr>
              <a:t>Integer </a:t>
            </a:r>
            <a:r>
              <a:rPr sz="2200" b="1" spc="-5" dirty="0">
                <a:cs typeface="Courier New" panose="02070309020205020404"/>
              </a:rPr>
              <a:t>read_count</a:t>
            </a:r>
            <a:r>
              <a:rPr sz="2200" b="1" spc="-680" dirty="0">
                <a:cs typeface="Courier New" panose="02070309020205020404"/>
              </a:rPr>
              <a:t> </a:t>
            </a:r>
            <a:r>
              <a:rPr sz="2200" spc="-10" dirty="0">
                <a:cs typeface="Arial" panose="020B0604020202020204"/>
              </a:rPr>
              <a:t>initialized </a:t>
            </a:r>
            <a:r>
              <a:rPr sz="2200" dirty="0">
                <a:cs typeface="Arial" panose="020B0604020202020204"/>
              </a:rPr>
              <a:t>to </a:t>
            </a:r>
            <a:r>
              <a:rPr sz="2200" spc="-5" dirty="0">
                <a:cs typeface="Arial" panose="020B0604020202020204"/>
              </a:rPr>
              <a:t>0</a:t>
            </a:r>
            <a:endParaRPr sz="2200" dirty="0">
              <a:cs typeface="Arial" panose="020B0604020202020204"/>
            </a:endParaRPr>
          </a:p>
        </p:txBody>
      </p:sp>
      <p:sp>
        <p:nvSpPr>
          <p:cNvPr id="12" name="Slide Number Placeholder 1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t>68</a:t>
            </a:fld>
            <a:endParaRPr lang="en-US"/>
          </a:p>
        </p:txBody>
      </p:sp>
      <p:pic>
        <p:nvPicPr>
          <p:cNvPr id="2" name="Picture 1" descr="A black and red logo&#10;&#10;Description automatically generated">
            <a:extLst>
              <a:ext uri="{FF2B5EF4-FFF2-40B4-BE49-F238E27FC236}">
                <a16:creationId xmlns:a16="http://schemas.microsoft.com/office/drawing/2014/main" id="{1667C813-A1AE-4E31-7995-86ECB99D369F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-27384"/>
            <a:ext cx="1657350" cy="710452"/>
          </a:xfrm>
          <a:prstGeom prst="rect">
            <a:avLst/>
          </a:prstGeom>
        </p:spPr>
      </p:pic>
      <p:sp>
        <p:nvSpPr>
          <p:cNvPr id="3" name="Title 1">
            <a:extLst>
              <a:ext uri="{FF2B5EF4-FFF2-40B4-BE49-F238E27FC236}">
                <a16:creationId xmlns:a16="http://schemas.microsoft.com/office/drawing/2014/main" id="{BFC5B5EA-F83C-6227-2CC1-36A2A1890DC2}"/>
              </a:ext>
            </a:extLst>
          </p:cNvPr>
          <p:cNvSpPr txBox="1">
            <a:spLocks/>
          </p:cNvSpPr>
          <p:nvPr/>
        </p:nvSpPr>
        <p:spPr>
          <a:xfrm>
            <a:off x="1547664" y="0"/>
            <a:ext cx="7488832" cy="630981"/>
          </a:xfrm>
          <a:prstGeom prst="rect">
            <a:avLst/>
          </a:prstGeom>
          <a:gradFill flip="none" rotWithShape="1">
            <a:gsLst>
              <a:gs pos="0">
                <a:srgbClr val="FF0000">
                  <a:tint val="66000"/>
                  <a:satMod val="160000"/>
                </a:srgbClr>
              </a:gs>
              <a:gs pos="50000">
                <a:srgbClr val="FF0000">
                  <a:tint val="44500"/>
                  <a:satMod val="160000"/>
                </a:srgbClr>
              </a:gs>
              <a:gs pos="100000">
                <a:srgbClr val="FF0000">
                  <a:tint val="23500"/>
                  <a:satMod val="160000"/>
                </a:srgbClr>
              </a:gs>
            </a:gsLst>
            <a:lin ang="0" scaled="1"/>
            <a:tileRect/>
          </a:gradFill>
        </p:spPr>
        <p:style>
          <a:lnRef idx="1">
            <a:schemeClr val="accent5"/>
          </a:lnRef>
          <a:fillRef idx="2">
            <a:schemeClr val="accent5"/>
          </a:fillRef>
          <a:effectRef idx="1">
            <a:schemeClr val="accent5"/>
          </a:effectRef>
          <a:fontRef idx="minor">
            <a:schemeClr val="dk1"/>
          </a:fontRef>
        </p:style>
        <p:txBody>
          <a:bodyPr vert="horz" lIns="68580" tIns="34290" rIns="68580" bIns="34290" rtlCol="0" anchor="ctr">
            <a:noAutofit/>
          </a:bodyPr>
          <a:lstStyle>
            <a:defPPr>
              <a:defRPr lang="en-US"/>
            </a:defPPr>
            <a:lvl1pPr algn="ctr">
              <a:spcBef>
                <a:spcPct val="0"/>
              </a:spcBef>
              <a:buNone/>
              <a:defRPr sz="2800"/>
            </a:lvl1pPr>
          </a:lstStyle>
          <a:p>
            <a:pPr>
              <a:defRPr/>
            </a:pPr>
            <a:r>
              <a:rPr lang="en-IN" sz="2400" spc="-5" dirty="0"/>
              <a:t>Readers-Writers</a:t>
            </a:r>
            <a:r>
              <a:rPr lang="en-IN" sz="2400" spc="-75" dirty="0"/>
              <a:t> </a:t>
            </a:r>
            <a:r>
              <a:rPr lang="en-IN" sz="2400" spc="-5" dirty="0"/>
              <a:t>Problem</a:t>
            </a:r>
            <a:r>
              <a:rPr lang="en-IN" sz="2400" dirty="0"/>
              <a:t>(CO3)</a:t>
            </a:r>
            <a:endParaRPr lang="en-US" sz="2100" dirty="0"/>
          </a:p>
        </p:txBody>
      </p:sp>
    </p:spTree>
    <p:extLst>
      <p:ext uri="{BB962C8B-B14F-4D97-AF65-F5344CB8AC3E}">
        <p14:creationId xmlns:p14="http://schemas.microsoft.com/office/powerpoint/2010/main" val="4189602283"/>
      </p:ext>
    </p:extLst>
  </p:cSld>
  <p:clrMapOvr>
    <a:masterClrMapping/>
  </p:clrMapOvr>
  <p:transition>
    <p:dissolve/>
  </p:transition>
</p:sld>
</file>

<file path=ppt/slides/slide6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3DA3167-4876-436E-9CEC-FD082B1106EF}" type="datetime3">
              <a:rPr lang="en-US" smtClean="0"/>
              <a:t>1 September 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2514600" y="6356350"/>
            <a:ext cx="5181600" cy="365125"/>
          </a:xfrm>
        </p:spPr>
        <p:txBody>
          <a:bodyPr/>
          <a:lstStyle/>
          <a:p>
            <a:r>
              <a:rPr lang="en-US"/>
              <a:t>Atul Garg           BCSE0303            Unit- III</a:t>
            </a:r>
            <a:endParaRPr lang="en-US" dirty="0"/>
          </a:p>
        </p:txBody>
      </p:sp>
      <p:sp>
        <p:nvSpPr>
          <p:cNvPr id="18" name="Rectangle 3"/>
          <p:cNvSpPr txBox="1">
            <a:spLocks noChangeArrowheads="1"/>
          </p:cNvSpPr>
          <p:nvPr/>
        </p:nvSpPr>
        <p:spPr>
          <a:xfrm>
            <a:off x="1047750" y="836712"/>
            <a:ext cx="7124650" cy="4762872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/>
          <a:p>
            <a:pPr marL="342900" marR="0" lvl="0" indent="-342900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defRPr/>
            </a:pPr>
            <a:endParaRPr kumimoji="0" lang="en-US" sz="2200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10" name="Rectangle 3"/>
          <p:cNvSpPr txBox="1">
            <a:spLocks noChangeArrowheads="1"/>
          </p:cNvSpPr>
          <p:nvPr/>
        </p:nvSpPr>
        <p:spPr>
          <a:xfrm>
            <a:off x="1200150" y="1637184"/>
            <a:ext cx="7029450" cy="4114800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/>
          <a:p>
            <a:pPr marL="342900" marR="0" lvl="0" indent="-342900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defRPr/>
            </a:pPr>
            <a:endParaRPr kumimoji="0" lang="en-US" sz="2200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13" name="Rectangle 3"/>
          <p:cNvSpPr txBox="1">
            <a:spLocks noChangeArrowheads="1"/>
          </p:cNvSpPr>
          <p:nvPr/>
        </p:nvSpPr>
        <p:spPr>
          <a:xfrm>
            <a:off x="1043608" y="1196752"/>
            <a:ext cx="7338392" cy="4968552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/>
          <a:p>
            <a:pPr marL="342900" marR="0" lvl="0" indent="-342900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defRPr/>
            </a:pPr>
            <a:endParaRPr kumimoji="0" lang="en-US" sz="2200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11" name="Rectangle 10"/>
          <p:cNvSpPr/>
          <p:nvPr/>
        </p:nvSpPr>
        <p:spPr>
          <a:xfrm>
            <a:off x="35496" y="867678"/>
            <a:ext cx="7200800" cy="457304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963930">
              <a:spcBef>
                <a:spcPts val="770"/>
              </a:spcBef>
            </a:pPr>
            <a:r>
              <a:rPr lang="en-IN" sz="2400" spc="-5" dirty="0">
                <a:cs typeface="Arial" panose="020B0604020202020204"/>
              </a:rPr>
              <a:t>The structure of a </a:t>
            </a:r>
            <a:r>
              <a:rPr lang="en-IN" sz="2400" spc="-10" dirty="0">
                <a:cs typeface="Arial" panose="020B0604020202020204"/>
              </a:rPr>
              <a:t>writer</a:t>
            </a:r>
            <a:r>
              <a:rPr lang="en-IN" sz="2400" spc="65" dirty="0">
                <a:cs typeface="Arial" panose="020B0604020202020204"/>
              </a:rPr>
              <a:t> </a:t>
            </a:r>
            <a:r>
              <a:rPr lang="en-IN" sz="2400" spc="-5" dirty="0">
                <a:cs typeface="Arial" panose="020B0604020202020204"/>
              </a:rPr>
              <a:t>process</a:t>
            </a:r>
            <a:endParaRPr lang="en-IN" sz="2400" dirty="0">
              <a:cs typeface="Arial" panose="020B0604020202020204"/>
            </a:endParaRPr>
          </a:p>
          <a:p>
            <a:pPr marL="963930">
              <a:lnSpc>
                <a:spcPct val="100000"/>
              </a:lnSpc>
              <a:spcBef>
                <a:spcPts val="770"/>
              </a:spcBef>
            </a:pPr>
            <a:r>
              <a:rPr lang="en-IN" sz="2400" b="1" spc="-5" dirty="0">
                <a:cs typeface="Courier New" panose="02070309020205020404"/>
              </a:rPr>
              <a:t>Do</a:t>
            </a:r>
          </a:p>
          <a:p>
            <a:pPr marL="963930">
              <a:lnSpc>
                <a:spcPct val="100000"/>
              </a:lnSpc>
              <a:spcBef>
                <a:spcPts val="770"/>
              </a:spcBef>
            </a:pPr>
            <a:r>
              <a:rPr lang="en-IN" sz="2400" b="1" spc="-5" dirty="0">
                <a:cs typeface="Courier New" panose="02070309020205020404"/>
              </a:rPr>
              <a:t>{</a:t>
            </a:r>
          </a:p>
          <a:p>
            <a:pPr marL="963930">
              <a:lnSpc>
                <a:spcPct val="100000"/>
              </a:lnSpc>
              <a:spcBef>
                <a:spcPts val="770"/>
              </a:spcBef>
            </a:pPr>
            <a:r>
              <a:rPr lang="en-IN" sz="2400" b="1" spc="-5" dirty="0">
                <a:cs typeface="Courier New" panose="02070309020205020404"/>
              </a:rPr>
              <a:t>wait(</a:t>
            </a:r>
            <a:r>
              <a:rPr lang="en-IN" sz="2400" b="1" spc="-5" dirty="0" err="1">
                <a:cs typeface="Courier New" panose="02070309020205020404"/>
              </a:rPr>
              <a:t>rw_mutex</a:t>
            </a:r>
            <a:r>
              <a:rPr lang="en-IN" sz="2400" b="1" spc="-5" dirty="0">
                <a:cs typeface="Courier New" panose="02070309020205020404"/>
              </a:rPr>
              <a:t>);</a:t>
            </a:r>
            <a:endParaRPr lang="en-IN" sz="2400" dirty="0">
              <a:cs typeface="Courier New" panose="02070309020205020404"/>
            </a:endParaRPr>
          </a:p>
          <a:p>
            <a:pPr marL="1233805">
              <a:lnSpc>
                <a:spcPct val="100000"/>
              </a:lnSpc>
              <a:spcBef>
                <a:spcPts val="675"/>
              </a:spcBef>
            </a:pPr>
            <a:r>
              <a:rPr lang="en-IN" sz="2400" b="1" spc="-5" dirty="0">
                <a:cs typeface="Courier New" panose="02070309020205020404"/>
              </a:rPr>
              <a:t>...</a:t>
            </a:r>
            <a:endParaRPr lang="en-IN" sz="2400" dirty="0">
              <a:cs typeface="Courier New" panose="02070309020205020404"/>
            </a:endParaRPr>
          </a:p>
          <a:p>
            <a:pPr marL="964565">
              <a:lnSpc>
                <a:spcPct val="100000"/>
              </a:lnSpc>
            </a:pPr>
            <a:r>
              <a:rPr lang="en-IN" sz="2400" b="1" spc="-5" dirty="0">
                <a:cs typeface="Courier New" panose="02070309020205020404"/>
              </a:rPr>
              <a:t>/* writing is performed</a:t>
            </a:r>
            <a:r>
              <a:rPr lang="en-IN" sz="2400" b="1" spc="5" dirty="0">
                <a:cs typeface="Courier New" panose="02070309020205020404"/>
              </a:rPr>
              <a:t> </a:t>
            </a:r>
            <a:r>
              <a:rPr lang="en-IN" sz="2400" b="1" spc="-5" dirty="0">
                <a:cs typeface="Courier New" panose="02070309020205020404"/>
              </a:rPr>
              <a:t>*/</a:t>
            </a:r>
            <a:endParaRPr lang="en-IN" sz="2400" dirty="0">
              <a:cs typeface="Courier New" panose="02070309020205020404"/>
            </a:endParaRPr>
          </a:p>
          <a:p>
            <a:pPr marL="1233805">
              <a:lnSpc>
                <a:spcPct val="100000"/>
              </a:lnSpc>
              <a:spcBef>
                <a:spcPts val="670"/>
              </a:spcBef>
            </a:pPr>
            <a:r>
              <a:rPr lang="en-IN" sz="2400" b="1" spc="-5" dirty="0">
                <a:cs typeface="Courier New" panose="02070309020205020404"/>
              </a:rPr>
              <a:t>...</a:t>
            </a:r>
            <a:endParaRPr lang="en-IN" sz="2400" dirty="0">
              <a:cs typeface="Courier New" panose="02070309020205020404"/>
            </a:endParaRPr>
          </a:p>
          <a:p>
            <a:pPr marL="622935">
              <a:lnSpc>
                <a:spcPct val="100000"/>
              </a:lnSpc>
              <a:spcBef>
                <a:spcPts val="670"/>
              </a:spcBef>
            </a:pPr>
            <a:r>
              <a:rPr lang="en-IN" sz="2400" b="1" spc="-5" dirty="0">
                <a:cs typeface="Courier New" panose="02070309020205020404"/>
              </a:rPr>
              <a:t>    signal(</a:t>
            </a:r>
            <a:r>
              <a:rPr lang="en-IN" sz="2400" b="1" spc="-5" dirty="0" err="1">
                <a:cs typeface="Courier New" panose="02070309020205020404"/>
              </a:rPr>
              <a:t>rw_mutex</a:t>
            </a:r>
            <a:r>
              <a:rPr lang="en-IN" sz="2400" b="1" spc="-5" dirty="0">
                <a:cs typeface="Courier New" panose="02070309020205020404"/>
              </a:rPr>
              <a:t>);</a:t>
            </a:r>
            <a:endParaRPr lang="en-IN" sz="2400" dirty="0">
              <a:cs typeface="Courier New" panose="02070309020205020404"/>
            </a:endParaRPr>
          </a:p>
          <a:p>
            <a:pPr marL="12700">
              <a:lnSpc>
                <a:spcPct val="100000"/>
              </a:lnSpc>
              <a:spcBef>
                <a:spcPts val="675"/>
              </a:spcBef>
            </a:pPr>
            <a:r>
              <a:rPr lang="en-IN" sz="2400" b="1" spc="-5" dirty="0">
                <a:cs typeface="Courier New" panose="02070309020205020404"/>
              </a:rPr>
              <a:t>             } </a:t>
            </a:r>
          </a:p>
          <a:p>
            <a:pPr marL="12700">
              <a:lnSpc>
                <a:spcPct val="100000"/>
              </a:lnSpc>
              <a:spcBef>
                <a:spcPts val="675"/>
              </a:spcBef>
            </a:pPr>
            <a:r>
              <a:rPr lang="en-IN" sz="2400" b="1" spc="-5" dirty="0">
                <a:cs typeface="Courier New" panose="02070309020205020404"/>
              </a:rPr>
              <a:t>	while</a:t>
            </a:r>
            <a:r>
              <a:rPr lang="en-IN" sz="2400" b="1" spc="15" dirty="0">
                <a:cs typeface="Courier New" panose="02070309020205020404"/>
              </a:rPr>
              <a:t> </a:t>
            </a:r>
            <a:r>
              <a:rPr lang="en-IN" sz="2400" b="1" spc="-5" dirty="0">
                <a:cs typeface="Courier New" panose="02070309020205020404"/>
              </a:rPr>
              <a:t>(true);</a:t>
            </a:r>
            <a:endParaRPr lang="en-IN" sz="2400" dirty="0">
              <a:cs typeface="Courier New" panose="02070309020205020404"/>
            </a:endParaRPr>
          </a:p>
        </p:txBody>
      </p:sp>
      <p:sp>
        <p:nvSpPr>
          <p:cNvPr id="14" name="Slide Number Placeholder 1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t>69</a:t>
            </a:fld>
            <a:endParaRPr lang="en-US"/>
          </a:p>
        </p:txBody>
      </p:sp>
      <p:pic>
        <p:nvPicPr>
          <p:cNvPr id="2" name="Picture 1" descr="A black and red logo&#10;&#10;Description automatically generated">
            <a:extLst>
              <a:ext uri="{FF2B5EF4-FFF2-40B4-BE49-F238E27FC236}">
                <a16:creationId xmlns:a16="http://schemas.microsoft.com/office/drawing/2014/main" id="{5C082A49-5230-AD3C-123A-9F829C3EEAAA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-27384"/>
            <a:ext cx="1657350" cy="710452"/>
          </a:xfrm>
          <a:prstGeom prst="rect">
            <a:avLst/>
          </a:prstGeom>
        </p:spPr>
      </p:pic>
      <p:sp>
        <p:nvSpPr>
          <p:cNvPr id="3" name="Title 1">
            <a:extLst>
              <a:ext uri="{FF2B5EF4-FFF2-40B4-BE49-F238E27FC236}">
                <a16:creationId xmlns:a16="http://schemas.microsoft.com/office/drawing/2014/main" id="{891118D9-3477-2DD0-B3D5-2FFFE69A4DFF}"/>
              </a:ext>
            </a:extLst>
          </p:cNvPr>
          <p:cNvSpPr txBox="1">
            <a:spLocks/>
          </p:cNvSpPr>
          <p:nvPr/>
        </p:nvSpPr>
        <p:spPr>
          <a:xfrm>
            <a:off x="1657350" y="0"/>
            <a:ext cx="7338392" cy="692696"/>
          </a:xfrm>
          <a:prstGeom prst="rect">
            <a:avLst/>
          </a:prstGeom>
          <a:gradFill flip="none" rotWithShape="1">
            <a:gsLst>
              <a:gs pos="0">
                <a:srgbClr val="FF0000">
                  <a:tint val="66000"/>
                  <a:satMod val="160000"/>
                </a:srgbClr>
              </a:gs>
              <a:gs pos="50000">
                <a:srgbClr val="FF0000">
                  <a:tint val="44500"/>
                  <a:satMod val="160000"/>
                </a:srgbClr>
              </a:gs>
              <a:gs pos="100000">
                <a:srgbClr val="FF0000">
                  <a:tint val="23500"/>
                  <a:satMod val="160000"/>
                </a:srgbClr>
              </a:gs>
            </a:gsLst>
            <a:lin ang="0" scaled="1"/>
            <a:tileRect/>
          </a:gradFill>
        </p:spPr>
        <p:style>
          <a:lnRef idx="1">
            <a:schemeClr val="accent5"/>
          </a:lnRef>
          <a:fillRef idx="2">
            <a:schemeClr val="accent5"/>
          </a:fillRef>
          <a:effectRef idx="1">
            <a:schemeClr val="accent5"/>
          </a:effectRef>
          <a:fontRef idx="minor">
            <a:schemeClr val="dk1"/>
          </a:fontRef>
        </p:style>
        <p:txBody>
          <a:bodyPr vert="horz" lIns="68580" tIns="34290" rIns="68580" bIns="34290" rtlCol="0" anchor="ctr">
            <a:noAutofit/>
          </a:bodyPr>
          <a:lstStyle>
            <a:defPPr>
              <a:defRPr lang="en-US"/>
            </a:defPPr>
            <a:lvl1pPr algn="ctr">
              <a:spcBef>
                <a:spcPct val="0"/>
              </a:spcBef>
              <a:buNone/>
              <a:defRPr sz="2800"/>
            </a:lvl1pPr>
          </a:lstStyle>
          <a:p>
            <a:pPr>
              <a:defRPr/>
            </a:pPr>
            <a:r>
              <a:rPr lang="en-IN" sz="2400" spc="-5" dirty="0"/>
              <a:t>Readers-Writers Problem</a:t>
            </a:r>
            <a:r>
              <a:rPr lang="en-IN" sz="2400" spc="-45" dirty="0"/>
              <a:t> </a:t>
            </a:r>
            <a:r>
              <a:rPr lang="en-IN" sz="2400" spc="-5" dirty="0"/>
              <a:t>(Cont.)</a:t>
            </a:r>
            <a:r>
              <a:rPr lang="en-IN" sz="2400" dirty="0"/>
              <a:t> (CO3)</a:t>
            </a:r>
            <a:endParaRPr lang="en-US" sz="2100" dirty="0"/>
          </a:p>
        </p:txBody>
      </p:sp>
    </p:spTree>
    <p:extLst>
      <p:ext uri="{BB962C8B-B14F-4D97-AF65-F5344CB8AC3E}">
        <p14:creationId xmlns:p14="http://schemas.microsoft.com/office/powerpoint/2010/main" val="2629200754"/>
      </p:ext>
    </p:extLst>
  </p:cSld>
  <p:clrMapOvr>
    <a:masterClrMapping/>
  </p:clrMapOvr>
  <p:transition>
    <p:dissolve/>
  </p:transition>
</p:sld>
</file>

<file path=ppt/slides/slide7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077C72E-F243-43D4-B910-FE4EBD90ECBD}" type="datetime3">
              <a:rPr lang="en-US" smtClean="0"/>
              <a:t>1 September 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2514600" y="6356350"/>
            <a:ext cx="5181600" cy="365125"/>
          </a:xfrm>
        </p:spPr>
        <p:txBody>
          <a:bodyPr/>
          <a:lstStyle/>
          <a:p>
            <a:r>
              <a:rPr lang="en-US"/>
              <a:t>Atul Garg           BCSE0303            Unit- III</a:t>
            </a:r>
            <a:endParaRPr lang="en-US" dirty="0"/>
          </a:p>
        </p:txBody>
      </p:sp>
      <p:sp>
        <p:nvSpPr>
          <p:cNvPr id="11" name="Footer Placeholder 2"/>
          <p:cNvSpPr txBox="1"/>
          <p:nvPr/>
        </p:nvSpPr>
        <p:spPr>
          <a:xfrm>
            <a:off x="0" y="6537325"/>
            <a:ext cx="2895600" cy="320675"/>
          </a:xfrm>
          <a:prstGeom prst="rect">
            <a:avLst/>
          </a:prstGeom>
          <a:noFill/>
        </p:spPr>
        <p:txBody>
          <a:bodyPr vert="horz" lIns="91440" tIns="45720" rIns="91440" bIns="4572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schemeClr val="tx1">
                  <a:tint val="75000"/>
                </a:scheme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14" name="Rectangle 1027"/>
          <p:cNvSpPr txBox="1">
            <a:spLocks noChangeArrowheads="1"/>
          </p:cNvSpPr>
          <p:nvPr/>
        </p:nvSpPr>
        <p:spPr>
          <a:xfrm>
            <a:off x="1047750" y="764704"/>
            <a:ext cx="7772722" cy="5688632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/>
          <a:p>
            <a:pPr marL="342900" lvl="0" indent="-342900">
              <a:defRPr/>
            </a:pPr>
            <a:r>
              <a:rPr lang="en-IN" sz="2200" dirty="0"/>
              <a:t>do{ </a:t>
            </a:r>
          </a:p>
          <a:p>
            <a:pPr marL="342900" lvl="0" indent="-342900">
              <a:defRPr/>
            </a:pPr>
            <a:r>
              <a:rPr lang="en-IN" sz="2200" dirty="0"/>
              <a:t>flag[</a:t>
            </a:r>
            <a:r>
              <a:rPr lang="en-IN" sz="2200" dirty="0" err="1"/>
              <a:t>i</a:t>
            </a:r>
            <a:r>
              <a:rPr lang="en-IN" sz="2200" dirty="0"/>
              <a:t>] = true; </a:t>
            </a:r>
          </a:p>
          <a:p>
            <a:pPr marL="342900" lvl="0" indent="-342900">
              <a:defRPr/>
            </a:pPr>
            <a:r>
              <a:rPr lang="en-IN" sz="2200" dirty="0"/>
              <a:t> turn = j; </a:t>
            </a:r>
          </a:p>
          <a:p>
            <a:pPr marL="342900" lvl="0" indent="-342900">
              <a:defRPr/>
            </a:pPr>
            <a:r>
              <a:rPr lang="en-IN" sz="2200" dirty="0"/>
              <a:t>while (flag[j] &amp;&amp; turn = = j);</a:t>
            </a:r>
          </a:p>
          <a:p>
            <a:pPr marL="342900" lvl="0" indent="-342900">
              <a:defRPr/>
            </a:pPr>
            <a:r>
              <a:rPr lang="en-IN" sz="2200" dirty="0"/>
              <a:t> critical section </a:t>
            </a:r>
          </a:p>
          <a:p>
            <a:pPr marL="342900" lvl="0" indent="-342900">
              <a:defRPr/>
            </a:pPr>
            <a:r>
              <a:rPr lang="en-IN" sz="2200" dirty="0"/>
              <a:t>flag[</a:t>
            </a:r>
            <a:r>
              <a:rPr lang="en-IN" sz="2200" dirty="0" err="1"/>
              <a:t>i</a:t>
            </a:r>
            <a:r>
              <a:rPr lang="en-IN" sz="2200" dirty="0"/>
              <a:t>] = false; </a:t>
            </a:r>
          </a:p>
          <a:p>
            <a:pPr marL="342900" lvl="0" indent="-342900">
              <a:defRPr/>
            </a:pPr>
            <a:r>
              <a:rPr lang="en-IN" sz="2200" dirty="0"/>
              <a:t>remainder section</a:t>
            </a:r>
          </a:p>
          <a:p>
            <a:pPr marL="342900" lvl="0" indent="-342900">
              <a:defRPr/>
            </a:pPr>
            <a:r>
              <a:rPr lang="en-IN" sz="2200" dirty="0"/>
              <a:t> } while (true);</a:t>
            </a:r>
          </a:p>
          <a:p>
            <a:pPr marL="366395" indent="-341630">
              <a:lnSpc>
                <a:spcPct val="100000"/>
              </a:lnSpc>
              <a:spcBef>
                <a:spcPts val="855"/>
              </a:spcBef>
              <a:buClr>
                <a:srgbClr val="993300"/>
              </a:buClr>
              <a:buSzPct val="89000"/>
              <a:tabLst>
                <a:tab pos="366395" algn="l"/>
                <a:tab pos="367030" algn="l"/>
                <a:tab pos="2802255" algn="l"/>
              </a:tabLst>
            </a:pPr>
            <a:r>
              <a:rPr lang="en-IN" sz="2200" spc="-5" dirty="0">
                <a:cs typeface="Arial" panose="020B0604020202020204"/>
              </a:rPr>
              <a:t>       Provable that</a:t>
            </a:r>
            <a:r>
              <a:rPr lang="en-IN" sz="2200" spc="10" dirty="0">
                <a:cs typeface="Arial" panose="020B0604020202020204"/>
              </a:rPr>
              <a:t> </a:t>
            </a:r>
            <a:r>
              <a:rPr lang="en-IN" sz="2200" spc="-5" dirty="0">
                <a:cs typeface="Arial" panose="020B0604020202020204"/>
              </a:rPr>
              <a:t>the three CS </a:t>
            </a:r>
            <a:r>
              <a:rPr lang="en-IN" sz="2200" spc="-10" dirty="0">
                <a:cs typeface="Arial" panose="020B0604020202020204"/>
              </a:rPr>
              <a:t>requirement </a:t>
            </a:r>
            <a:r>
              <a:rPr lang="en-IN" sz="2200" spc="-5" dirty="0">
                <a:cs typeface="Arial" panose="020B0604020202020204"/>
              </a:rPr>
              <a:t>are</a:t>
            </a:r>
            <a:r>
              <a:rPr lang="en-IN" sz="2200" spc="30" dirty="0">
                <a:cs typeface="Arial" panose="020B0604020202020204"/>
              </a:rPr>
              <a:t> </a:t>
            </a:r>
            <a:r>
              <a:rPr lang="en-IN" sz="2200" spc="-5" dirty="0">
                <a:cs typeface="Arial" panose="020B0604020202020204"/>
              </a:rPr>
              <a:t>met:</a:t>
            </a:r>
            <a:endParaRPr lang="en-IN" sz="2200" dirty="0">
              <a:cs typeface="Arial" panose="020B0604020202020204"/>
            </a:endParaRPr>
          </a:p>
          <a:p>
            <a:pPr marL="911860" lvl="1" indent="-381635">
              <a:lnSpc>
                <a:spcPct val="100000"/>
              </a:lnSpc>
              <a:spcBef>
                <a:spcPts val="755"/>
              </a:spcBef>
              <a:buAutoNum type="arabicPeriod"/>
              <a:tabLst>
                <a:tab pos="911860" algn="l"/>
                <a:tab pos="911860" algn="l"/>
              </a:tabLst>
            </a:pPr>
            <a:r>
              <a:rPr lang="en-IN" sz="2200" spc="-10" dirty="0">
                <a:cs typeface="Arial" panose="020B0604020202020204"/>
              </a:rPr>
              <a:t>Mutual exclusion </a:t>
            </a:r>
            <a:r>
              <a:rPr lang="en-IN" sz="2200" spc="-5" dirty="0">
                <a:cs typeface="Arial" panose="020B0604020202020204"/>
              </a:rPr>
              <a:t>is</a:t>
            </a:r>
            <a:r>
              <a:rPr lang="en-IN" sz="2200" spc="60" dirty="0">
                <a:cs typeface="Arial" panose="020B0604020202020204"/>
              </a:rPr>
              <a:t> </a:t>
            </a:r>
            <a:r>
              <a:rPr lang="en-IN" sz="2200" spc="-10" dirty="0">
                <a:cs typeface="Arial" panose="020B0604020202020204"/>
              </a:rPr>
              <a:t>preserved</a:t>
            </a:r>
            <a:endParaRPr lang="en-IN" sz="2200" dirty="0">
              <a:cs typeface="Arial" panose="020B0604020202020204"/>
            </a:endParaRPr>
          </a:p>
          <a:p>
            <a:pPr marL="1040130">
              <a:lnSpc>
                <a:spcPct val="100000"/>
              </a:lnSpc>
              <a:spcBef>
                <a:spcPts val="655"/>
              </a:spcBef>
            </a:pPr>
            <a:r>
              <a:rPr lang="en-IN" sz="2200" b="1" spc="5" dirty="0">
                <a:cs typeface="Courier New" panose="02070309020205020404"/>
              </a:rPr>
              <a:t>P</a:t>
            </a:r>
            <a:r>
              <a:rPr lang="en-IN" sz="2200" b="1" spc="7" baseline="-21000" dirty="0">
                <a:cs typeface="Courier New" panose="02070309020205020404"/>
              </a:rPr>
              <a:t>i </a:t>
            </a:r>
            <a:r>
              <a:rPr lang="en-IN" sz="2200" spc="-5" dirty="0">
                <a:cs typeface="Arial" panose="020B0604020202020204"/>
              </a:rPr>
              <a:t>enters CS </a:t>
            </a:r>
            <a:r>
              <a:rPr lang="en-IN" sz="2200" spc="-10" dirty="0">
                <a:cs typeface="Arial" panose="020B0604020202020204"/>
              </a:rPr>
              <a:t>only</a:t>
            </a:r>
            <a:r>
              <a:rPr lang="en-IN" sz="2200" spc="300" dirty="0">
                <a:cs typeface="Arial" panose="020B0604020202020204"/>
              </a:rPr>
              <a:t> </a:t>
            </a:r>
            <a:r>
              <a:rPr lang="en-IN" sz="2200" spc="-5" dirty="0">
                <a:cs typeface="Arial" panose="020B0604020202020204"/>
              </a:rPr>
              <a:t>if:</a:t>
            </a:r>
            <a:endParaRPr lang="en-IN" sz="2200" dirty="0">
              <a:cs typeface="Arial" panose="020B0604020202020204"/>
            </a:endParaRPr>
          </a:p>
          <a:p>
            <a:pPr marL="1420495">
              <a:lnSpc>
                <a:spcPct val="100000"/>
              </a:lnSpc>
              <a:spcBef>
                <a:spcPts val="820"/>
              </a:spcBef>
              <a:tabLst>
                <a:tab pos="4580255" algn="l"/>
              </a:tabLst>
            </a:pPr>
            <a:r>
              <a:rPr lang="en-IN" sz="2200" spc="-10" dirty="0">
                <a:cs typeface="Arial" panose="020B0604020202020204"/>
              </a:rPr>
              <a:t>either </a:t>
            </a:r>
            <a:r>
              <a:rPr lang="en-IN" sz="2200" b="1" spc="-5" dirty="0">
                <a:cs typeface="Courier New" panose="02070309020205020404"/>
              </a:rPr>
              <a:t>flag[j] =</a:t>
            </a:r>
            <a:r>
              <a:rPr lang="en-IN" sz="2200" b="1" spc="20" dirty="0">
                <a:cs typeface="Courier New" panose="02070309020205020404"/>
              </a:rPr>
              <a:t> </a:t>
            </a:r>
            <a:r>
              <a:rPr lang="en-IN" sz="2200" b="1" spc="-5" dirty="0">
                <a:cs typeface="Courier New" panose="02070309020205020404"/>
              </a:rPr>
              <a:t>false </a:t>
            </a:r>
            <a:r>
              <a:rPr lang="en-IN" sz="2200" spc="-10" dirty="0">
                <a:cs typeface="Arial" panose="020B0604020202020204"/>
              </a:rPr>
              <a:t>or </a:t>
            </a:r>
            <a:r>
              <a:rPr lang="en-IN" sz="2200" b="1" spc="-5" dirty="0">
                <a:cs typeface="Courier New" panose="02070309020205020404"/>
              </a:rPr>
              <a:t>turn =</a:t>
            </a:r>
            <a:r>
              <a:rPr lang="en-IN" sz="2200" b="1" spc="-90" dirty="0">
                <a:cs typeface="Courier New" panose="02070309020205020404"/>
              </a:rPr>
              <a:t> </a:t>
            </a:r>
            <a:r>
              <a:rPr lang="en-IN" sz="2200" b="1" spc="-5" dirty="0" err="1">
                <a:cs typeface="Courier New" panose="02070309020205020404"/>
              </a:rPr>
              <a:t>i</a:t>
            </a:r>
            <a:endParaRPr lang="en-IN" sz="2200" dirty="0">
              <a:cs typeface="Courier New" panose="02070309020205020404"/>
            </a:endParaRPr>
          </a:p>
          <a:p>
            <a:pPr marL="911860" lvl="1" indent="-381635">
              <a:lnSpc>
                <a:spcPct val="100000"/>
              </a:lnSpc>
              <a:spcBef>
                <a:spcPts val="880"/>
              </a:spcBef>
              <a:buAutoNum type="arabicPeriod" startAt="2"/>
              <a:tabLst>
                <a:tab pos="911860" algn="l"/>
                <a:tab pos="911860" algn="l"/>
              </a:tabLst>
            </a:pPr>
            <a:r>
              <a:rPr lang="en-IN" sz="2200" spc="-5" dirty="0">
                <a:cs typeface="Arial" panose="020B0604020202020204"/>
              </a:rPr>
              <a:t>Progress </a:t>
            </a:r>
            <a:r>
              <a:rPr lang="en-IN" sz="2200" spc="-10" dirty="0">
                <a:cs typeface="Arial" panose="020B0604020202020204"/>
              </a:rPr>
              <a:t>requirement </a:t>
            </a:r>
            <a:r>
              <a:rPr lang="en-IN" sz="2200" spc="-5" dirty="0">
                <a:cs typeface="Arial" panose="020B0604020202020204"/>
              </a:rPr>
              <a:t>is</a:t>
            </a:r>
            <a:r>
              <a:rPr lang="en-IN" sz="2200" spc="55" dirty="0">
                <a:cs typeface="Arial" panose="020B0604020202020204"/>
              </a:rPr>
              <a:t> </a:t>
            </a:r>
            <a:r>
              <a:rPr lang="en-IN" sz="2200" spc="-5" dirty="0">
                <a:cs typeface="Arial" panose="020B0604020202020204"/>
              </a:rPr>
              <a:t>satisfied</a:t>
            </a:r>
            <a:endParaRPr lang="en-IN" sz="2200" dirty="0">
              <a:cs typeface="Arial" panose="020B0604020202020204"/>
            </a:endParaRPr>
          </a:p>
          <a:p>
            <a:pPr marL="911860" lvl="1" indent="-381635">
              <a:lnSpc>
                <a:spcPct val="100000"/>
              </a:lnSpc>
              <a:spcBef>
                <a:spcPts val="755"/>
              </a:spcBef>
              <a:buAutoNum type="arabicPeriod" startAt="2"/>
              <a:tabLst>
                <a:tab pos="911860" algn="l"/>
                <a:tab pos="911860" algn="l"/>
              </a:tabLst>
            </a:pPr>
            <a:r>
              <a:rPr lang="en-IN" sz="2200" spc="-10" dirty="0">
                <a:cs typeface="Arial" panose="020B0604020202020204"/>
              </a:rPr>
              <a:t>Bounded-waiting requirement </a:t>
            </a:r>
            <a:r>
              <a:rPr lang="en-IN" sz="2200" spc="-5" dirty="0">
                <a:cs typeface="Arial" panose="020B0604020202020204"/>
              </a:rPr>
              <a:t>is</a:t>
            </a:r>
            <a:r>
              <a:rPr lang="en-IN" sz="2200" spc="85" dirty="0">
                <a:cs typeface="Arial" panose="020B0604020202020204"/>
              </a:rPr>
              <a:t> </a:t>
            </a:r>
            <a:r>
              <a:rPr lang="en-IN" sz="2200" spc="-10" dirty="0">
                <a:cs typeface="Arial" panose="020B0604020202020204"/>
              </a:rPr>
              <a:t>m</a:t>
            </a:r>
            <a:r>
              <a:rPr lang="en-IN" sz="2000" spc="-10" dirty="0">
                <a:cs typeface="Arial" panose="020B0604020202020204"/>
              </a:rPr>
              <a:t>et</a:t>
            </a:r>
            <a:endParaRPr kumimoji="0" lang="en-US" sz="2000" b="0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ea typeface="+mn-ea"/>
              <a:cs typeface="+mn-cs"/>
            </a:endParaRPr>
          </a:p>
        </p:txBody>
      </p:sp>
      <p:sp>
        <p:nvSpPr>
          <p:cNvPr id="12" name="Slide Number Placeholder 1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t>70</a:t>
            </a:fld>
            <a:endParaRPr lang="en-US"/>
          </a:p>
        </p:txBody>
      </p:sp>
      <p:pic>
        <p:nvPicPr>
          <p:cNvPr id="2" name="Picture 1" descr="A black and red logo&#10;&#10;Description automatically generated">
            <a:extLst>
              <a:ext uri="{FF2B5EF4-FFF2-40B4-BE49-F238E27FC236}">
                <a16:creationId xmlns:a16="http://schemas.microsoft.com/office/drawing/2014/main" id="{65B9DB93-A94D-EE00-0D79-714E8E1369B0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-27384"/>
            <a:ext cx="1657350" cy="710452"/>
          </a:xfrm>
          <a:prstGeom prst="rect">
            <a:avLst/>
          </a:prstGeom>
        </p:spPr>
      </p:pic>
      <p:sp>
        <p:nvSpPr>
          <p:cNvPr id="3" name="Title 1">
            <a:extLst>
              <a:ext uri="{FF2B5EF4-FFF2-40B4-BE49-F238E27FC236}">
                <a16:creationId xmlns:a16="http://schemas.microsoft.com/office/drawing/2014/main" id="{CB283437-5E62-F732-2460-7789B6D8D132}"/>
              </a:ext>
            </a:extLst>
          </p:cNvPr>
          <p:cNvSpPr txBox="1">
            <a:spLocks/>
          </p:cNvSpPr>
          <p:nvPr/>
        </p:nvSpPr>
        <p:spPr>
          <a:xfrm>
            <a:off x="1547664" y="116632"/>
            <a:ext cx="7056784" cy="514349"/>
          </a:xfrm>
          <a:prstGeom prst="rect">
            <a:avLst/>
          </a:prstGeom>
          <a:gradFill flip="none" rotWithShape="1">
            <a:gsLst>
              <a:gs pos="0">
                <a:srgbClr val="FF0000">
                  <a:tint val="66000"/>
                  <a:satMod val="160000"/>
                </a:srgbClr>
              </a:gs>
              <a:gs pos="50000">
                <a:srgbClr val="FF0000">
                  <a:tint val="44500"/>
                  <a:satMod val="160000"/>
                </a:srgbClr>
              </a:gs>
              <a:gs pos="100000">
                <a:srgbClr val="FF0000">
                  <a:tint val="23500"/>
                  <a:satMod val="160000"/>
                </a:srgbClr>
              </a:gs>
            </a:gsLst>
            <a:lin ang="0" scaled="1"/>
            <a:tileRect/>
          </a:gradFill>
        </p:spPr>
        <p:style>
          <a:lnRef idx="1">
            <a:schemeClr val="accent5"/>
          </a:lnRef>
          <a:fillRef idx="2">
            <a:schemeClr val="accent5"/>
          </a:fillRef>
          <a:effectRef idx="1">
            <a:schemeClr val="accent5"/>
          </a:effectRef>
          <a:fontRef idx="minor">
            <a:schemeClr val="dk1"/>
          </a:fontRef>
        </p:style>
        <p:txBody>
          <a:bodyPr vert="horz" lIns="68580" tIns="34290" rIns="68580" bIns="34290" rtlCol="0" anchor="ctr">
            <a:noAutofit/>
          </a:bodyPr>
          <a:lstStyle>
            <a:defPPr>
              <a:defRPr lang="en-US"/>
            </a:defPPr>
            <a:lvl1pPr algn="ctr">
              <a:spcBef>
                <a:spcPct val="0"/>
              </a:spcBef>
              <a:buNone/>
              <a:defRPr sz="2800"/>
            </a:lvl1pPr>
          </a:lstStyle>
          <a:p>
            <a:pPr>
              <a:defRPr/>
            </a:pPr>
            <a:r>
              <a:rPr lang="en-IN" sz="2400" spc="-5" dirty="0">
                <a:solidFill>
                  <a:schemeClr val="tx1"/>
                </a:solidFill>
              </a:rPr>
              <a:t>Algorithm </a:t>
            </a:r>
            <a:r>
              <a:rPr lang="en-IN" sz="2400" dirty="0">
                <a:solidFill>
                  <a:schemeClr val="tx1"/>
                </a:solidFill>
              </a:rPr>
              <a:t>for </a:t>
            </a:r>
            <a:r>
              <a:rPr lang="en-IN" sz="2400" spc="-5" dirty="0">
                <a:solidFill>
                  <a:schemeClr val="tx1"/>
                </a:solidFill>
              </a:rPr>
              <a:t>Process</a:t>
            </a:r>
            <a:r>
              <a:rPr lang="en-IN" sz="2400" spc="-75" dirty="0">
                <a:solidFill>
                  <a:schemeClr val="tx1"/>
                </a:solidFill>
              </a:rPr>
              <a:t> </a:t>
            </a:r>
            <a:r>
              <a:rPr lang="en-IN" sz="2400" dirty="0">
                <a:solidFill>
                  <a:schemeClr val="tx1"/>
                </a:solidFill>
              </a:rPr>
              <a:t>P</a:t>
            </a:r>
            <a:r>
              <a:rPr lang="en-IN" sz="2400" baseline="-21000" dirty="0">
                <a:solidFill>
                  <a:schemeClr val="tx1"/>
                </a:solidFill>
              </a:rPr>
              <a:t>i</a:t>
            </a:r>
            <a:r>
              <a:rPr lang="en-IN" sz="2400" dirty="0"/>
              <a:t>(CO3)</a:t>
            </a:r>
            <a:endParaRPr lang="en-US" sz="2100" dirty="0"/>
          </a:p>
        </p:txBody>
      </p:sp>
    </p:spTree>
    <p:extLst>
      <p:ext uri="{BB962C8B-B14F-4D97-AF65-F5344CB8AC3E}">
        <p14:creationId xmlns:p14="http://schemas.microsoft.com/office/powerpoint/2010/main" val="467231006"/>
      </p:ext>
    </p:extLst>
  </p:cSld>
  <p:clrMapOvr>
    <a:masterClrMapping/>
  </p:clrMapOvr>
  <p:transition>
    <p:wipe dir="u"/>
  </p:transition>
</p:sld>
</file>

<file path=ppt/slides/slide7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5EDEB22-87FE-4D5A-8BA4-FC8B2416894F}" type="datetime3">
              <a:rPr lang="en-US" smtClean="0"/>
              <a:t>1 September 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2514600" y="6356350"/>
            <a:ext cx="5181600" cy="365125"/>
          </a:xfrm>
        </p:spPr>
        <p:txBody>
          <a:bodyPr/>
          <a:lstStyle/>
          <a:p>
            <a:r>
              <a:rPr lang="en-US"/>
              <a:t>Atul Garg           BCSE0303            Unit- III</a:t>
            </a:r>
            <a:endParaRPr lang="en-US" dirty="0"/>
          </a:p>
        </p:txBody>
      </p:sp>
      <p:sp>
        <p:nvSpPr>
          <p:cNvPr id="14" name="Rectangle 3"/>
          <p:cNvSpPr txBox="1">
            <a:spLocks noChangeArrowheads="1"/>
          </p:cNvSpPr>
          <p:nvPr/>
        </p:nvSpPr>
        <p:spPr>
          <a:xfrm>
            <a:off x="1047750" y="1412776"/>
            <a:ext cx="7268666" cy="4536504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/>
          <a:p>
            <a:pPr marL="342900" marR="0" lvl="0" indent="-342900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defRPr/>
            </a:pPr>
            <a:endParaRPr kumimoji="0" lang="en-US" sz="220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11" name="object 3"/>
          <p:cNvSpPr txBox="1"/>
          <p:nvPr/>
        </p:nvSpPr>
        <p:spPr>
          <a:xfrm>
            <a:off x="905822" y="811855"/>
            <a:ext cx="7698626" cy="5569473"/>
          </a:xfrm>
          <a:prstGeom prst="rect">
            <a:avLst/>
          </a:prstGeom>
        </p:spPr>
        <p:txBody>
          <a:bodyPr vert="horz" wrap="square" lIns="0" tIns="39370" rIns="0" bIns="0" rtlCol="0">
            <a:spAutoFit/>
          </a:bodyPr>
          <a:lstStyle/>
          <a:p>
            <a:pPr marL="353695" marR="5080" indent="-341630">
              <a:lnSpc>
                <a:spcPts val="1730"/>
              </a:lnSpc>
              <a:spcBef>
                <a:spcPts val="310"/>
              </a:spcBef>
              <a:buClr>
                <a:srgbClr val="993300"/>
              </a:buClr>
              <a:buSzPct val="91000"/>
              <a:buFont typeface="Arial" panose="020B0604020202020204" pitchFamily="34" charset="0"/>
              <a:buChar char="•"/>
              <a:tabLst>
                <a:tab pos="353695" algn="l"/>
                <a:tab pos="354330" algn="l"/>
              </a:tabLst>
            </a:pPr>
            <a:r>
              <a:rPr sz="2200" spc="-5" dirty="0">
                <a:cs typeface="Arial" panose="020B0604020202020204"/>
              </a:rPr>
              <a:t>Synchronization tool that provides more </a:t>
            </a:r>
            <a:r>
              <a:rPr sz="2200" dirty="0">
                <a:cs typeface="Arial" panose="020B0604020202020204"/>
              </a:rPr>
              <a:t>sophisticated </a:t>
            </a:r>
            <a:r>
              <a:rPr sz="2200" spc="-15" dirty="0">
                <a:cs typeface="Arial" panose="020B0604020202020204"/>
              </a:rPr>
              <a:t>ways </a:t>
            </a:r>
            <a:r>
              <a:rPr sz="2200" dirty="0">
                <a:cs typeface="Arial" panose="020B0604020202020204"/>
              </a:rPr>
              <a:t>  </a:t>
            </a:r>
            <a:r>
              <a:rPr sz="2200" spc="-5" dirty="0">
                <a:cs typeface="Arial" panose="020B0604020202020204"/>
              </a:rPr>
              <a:t>for process to synchronize their</a:t>
            </a:r>
            <a:r>
              <a:rPr sz="2200" spc="50" dirty="0">
                <a:cs typeface="Arial" panose="020B0604020202020204"/>
              </a:rPr>
              <a:t> </a:t>
            </a:r>
            <a:r>
              <a:rPr sz="2200" dirty="0">
                <a:cs typeface="Arial" panose="020B0604020202020204"/>
              </a:rPr>
              <a:t>activities.</a:t>
            </a:r>
          </a:p>
          <a:p>
            <a:pPr marL="353695" indent="-341630">
              <a:lnSpc>
                <a:spcPct val="100000"/>
              </a:lnSpc>
              <a:spcBef>
                <a:spcPts val="450"/>
              </a:spcBef>
              <a:buClr>
                <a:srgbClr val="993300"/>
              </a:buClr>
              <a:buSzPct val="91000"/>
              <a:buFont typeface="Arial" panose="020B0604020202020204" pitchFamily="34" charset="0"/>
              <a:buChar char="•"/>
              <a:tabLst>
                <a:tab pos="353695" algn="l"/>
                <a:tab pos="354330" algn="l"/>
              </a:tabLst>
            </a:pPr>
            <a:r>
              <a:rPr sz="2200" spc="-5" dirty="0">
                <a:cs typeface="Arial" panose="020B0604020202020204"/>
              </a:rPr>
              <a:t>Semaphore </a:t>
            </a:r>
            <a:r>
              <a:rPr sz="2200" i="1" spc="-5" dirty="0">
                <a:cs typeface="Arial" panose="020B0604020202020204"/>
              </a:rPr>
              <a:t>S </a:t>
            </a:r>
            <a:r>
              <a:rPr sz="2200" spc="-5" dirty="0">
                <a:cs typeface="Arial" panose="020B0604020202020204"/>
              </a:rPr>
              <a:t>– integer</a:t>
            </a:r>
            <a:r>
              <a:rPr sz="2200" spc="15" dirty="0">
                <a:cs typeface="Arial" panose="020B0604020202020204"/>
              </a:rPr>
              <a:t> </a:t>
            </a:r>
            <a:r>
              <a:rPr sz="2200" spc="-5" dirty="0">
                <a:cs typeface="Arial" panose="020B0604020202020204"/>
              </a:rPr>
              <a:t>variable</a:t>
            </a:r>
            <a:endParaRPr sz="2200" dirty="0">
              <a:cs typeface="Arial" panose="020B0604020202020204"/>
            </a:endParaRPr>
          </a:p>
          <a:p>
            <a:pPr marL="353695" indent="-341630">
              <a:lnSpc>
                <a:spcPct val="100000"/>
              </a:lnSpc>
              <a:spcBef>
                <a:spcPts val="480"/>
              </a:spcBef>
              <a:buClr>
                <a:srgbClr val="993300"/>
              </a:buClr>
              <a:buSzPct val="91000"/>
              <a:buFont typeface="Arial" panose="020B0604020202020204" pitchFamily="34" charset="0"/>
              <a:buChar char="•"/>
              <a:tabLst>
                <a:tab pos="353695" algn="l"/>
                <a:tab pos="354330" algn="l"/>
              </a:tabLst>
            </a:pPr>
            <a:r>
              <a:rPr sz="2200" spc="-5" dirty="0">
                <a:cs typeface="Arial" panose="020B0604020202020204"/>
              </a:rPr>
              <a:t>Can only be </a:t>
            </a:r>
            <a:r>
              <a:rPr sz="2200" dirty="0">
                <a:cs typeface="Arial" panose="020B0604020202020204"/>
              </a:rPr>
              <a:t>accessed via </a:t>
            </a:r>
            <a:r>
              <a:rPr sz="2200" spc="-10" dirty="0">
                <a:cs typeface="Arial" panose="020B0604020202020204"/>
              </a:rPr>
              <a:t>two </a:t>
            </a:r>
            <a:r>
              <a:rPr sz="2200" spc="-5" dirty="0">
                <a:cs typeface="Arial" panose="020B0604020202020204"/>
              </a:rPr>
              <a:t>indivisible (atomic)</a:t>
            </a:r>
            <a:r>
              <a:rPr sz="2200" spc="-20" dirty="0">
                <a:cs typeface="Arial" panose="020B0604020202020204"/>
              </a:rPr>
              <a:t> </a:t>
            </a:r>
            <a:r>
              <a:rPr sz="2200" spc="-5" dirty="0">
                <a:cs typeface="Arial" panose="020B0604020202020204"/>
              </a:rPr>
              <a:t>operations</a:t>
            </a:r>
            <a:endParaRPr sz="2200" dirty="0">
              <a:cs typeface="Arial" panose="020B0604020202020204"/>
            </a:endParaRPr>
          </a:p>
          <a:p>
            <a:pPr marL="754380" lvl="1" indent="-285115">
              <a:lnSpc>
                <a:spcPct val="100000"/>
              </a:lnSpc>
              <a:spcBef>
                <a:spcPts val="460"/>
              </a:spcBef>
              <a:buClr>
                <a:srgbClr val="CC6600"/>
              </a:buClr>
              <a:buSzPct val="81000"/>
              <a:tabLst>
                <a:tab pos="754380" algn="l"/>
                <a:tab pos="755015" algn="l"/>
              </a:tabLst>
            </a:pPr>
            <a:r>
              <a:rPr lang="en-IN" sz="2200" spc="-5" dirty="0">
                <a:cs typeface="Courier New" panose="02070309020205020404"/>
              </a:rPr>
              <a:t>       </a:t>
            </a:r>
            <a:r>
              <a:rPr sz="2200" spc="-5" dirty="0">
                <a:cs typeface="Courier New" panose="02070309020205020404"/>
              </a:rPr>
              <a:t>wait()</a:t>
            </a:r>
            <a:r>
              <a:rPr sz="2200" spc="-635" dirty="0">
                <a:cs typeface="Courier New" panose="02070309020205020404"/>
              </a:rPr>
              <a:t> </a:t>
            </a:r>
            <a:r>
              <a:rPr lang="en-IN" sz="2200" spc="-635" dirty="0">
                <a:cs typeface="Courier New" panose="02070309020205020404"/>
              </a:rPr>
              <a:t>     </a:t>
            </a:r>
            <a:r>
              <a:rPr sz="2200" spc="-5" dirty="0">
                <a:cs typeface="Arial" panose="020B0604020202020204"/>
              </a:rPr>
              <a:t>and </a:t>
            </a:r>
            <a:r>
              <a:rPr sz="2200" spc="-5" dirty="0">
                <a:cs typeface="Courier New" panose="02070309020205020404"/>
              </a:rPr>
              <a:t>signal(</a:t>
            </a:r>
            <a:r>
              <a:rPr lang="en-IN" sz="2200" spc="-5" dirty="0">
                <a:cs typeface="Courier New" panose="02070309020205020404"/>
              </a:rPr>
              <a:t>)</a:t>
            </a:r>
          </a:p>
          <a:p>
            <a:pPr marL="754380" lvl="1" indent="-285115">
              <a:lnSpc>
                <a:spcPct val="100000"/>
              </a:lnSpc>
              <a:spcBef>
                <a:spcPts val="460"/>
              </a:spcBef>
              <a:buClr>
                <a:srgbClr val="CC6600"/>
              </a:buClr>
              <a:buSzPct val="81000"/>
              <a:tabLst>
                <a:tab pos="754380" algn="l"/>
                <a:tab pos="755015" algn="l"/>
              </a:tabLst>
            </a:pPr>
            <a:r>
              <a:rPr lang="en-IN" sz="2200" spc="-5" dirty="0">
                <a:cs typeface="Arial" panose="020B0604020202020204"/>
              </a:rPr>
              <a:t> </a:t>
            </a:r>
            <a:r>
              <a:rPr sz="2200" spc="-5" dirty="0">
                <a:cs typeface="Arial" panose="020B0604020202020204"/>
              </a:rPr>
              <a:t>Definition </a:t>
            </a:r>
            <a:r>
              <a:rPr lang="en-IN" sz="2200" spc="-5" dirty="0">
                <a:cs typeface="Arial" panose="020B0604020202020204"/>
              </a:rPr>
              <a:t>of the </a:t>
            </a:r>
            <a:r>
              <a:rPr lang="en-IN" sz="2200" spc="-5" dirty="0">
                <a:cs typeface="Courier New" panose="02070309020205020404"/>
              </a:rPr>
              <a:t>wait()operation </a:t>
            </a:r>
          </a:p>
          <a:p>
            <a:pPr marL="353695" marR="3337560" indent="-353695">
              <a:lnSpc>
                <a:spcPts val="2700"/>
              </a:lnSpc>
              <a:spcBef>
                <a:spcPts val="145"/>
              </a:spcBef>
              <a:buClr>
                <a:srgbClr val="993300"/>
              </a:buClr>
              <a:buSzPct val="91000"/>
              <a:tabLst>
                <a:tab pos="353695" algn="l"/>
                <a:tab pos="354330" algn="l"/>
              </a:tabLst>
            </a:pPr>
            <a:r>
              <a:rPr lang="en-IN" sz="2200" spc="-5" dirty="0">
                <a:cs typeface="Courier New" panose="02070309020205020404"/>
              </a:rPr>
              <a:t>          </a:t>
            </a:r>
            <a:r>
              <a:rPr sz="2200" spc="-5" dirty="0">
                <a:cs typeface="Courier New" panose="02070309020205020404"/>
              </a:rPr>
              <a:t> wait(S)</a:t>
            </a:r>
            <a:r>
              <a:rPr sz="2200" spc="-125" dirty="0">
                <a:cs typeface="Courier New" panose="02070309020205020404"/>
              </a:rPr>
              <a:t> </a:t>
            </a:r>
            <a:r>
              <a:rPr sz="2200" spc="-5" dirty="0">
                <a:cs typeface="Courier New" panose="02070309020205020404"/>
              </a:rPr>
              <a:t>{</a:t>
            </a:r>
            <a:endParaRPr sz="2200" dirty="0">
              <a:cs typeface="Courier New" panose="02070309020205020404"/>
            </a:endParaRPr>
          </a:p>
          <a:p>
            <a:pPr marL="956945">
              <a:lnSpc>
                <a:spcPct val="100000"/>
              </a:lnSpc>
              <a:spcBef>
                <a:spcPts val="320"/>
              </a:spcBef>
            </a:pPr>
            <a:r>
              <a:rPr sz="2200" spc="-5" dirty="0">
                <a:cs typeface="Courier New" panose="02070309020205020404"/>
              </a:rPr>
              <a:t>while (S &lt;=</a:t>
            </a:r>
            <a:r>
              <a:rPr sz="2200" spc="15" dirty="0">
                <a:cs typeface="Courier New" panose="02070309020205020404"/>
              </a:rPr>
              <a:t> </a:t>
            </a:r>
            <a:r>
              <a:rPr sz="2200" spc="-5" dirty="0">
                <a:cs typeface="Courier New" panose="02070309020205020404"/>
              </a:rPr>
              <a:t>0)</a:t>
            </a:r>
            <a:endParaRPr sz="2200" dirty="0">
              <a:cs typeface="Courier New" panose="02070309020205020404"/>
            </a:endParaRPr>
          </a:p>
          <a:p>
            <a:pPr marL="956945" marR="4371975" indent="367665">
              <a:lnSpc>
                <a:spcPct val="125000"/>
              </a:lnSpc>
            </a:pPr>
            <a:r>
              <a:rPr sz="2200" spc="-5" dirty="0">
                <a:cs typeface="Courier New" panose="02070309020205020404"/>
              </a:rPr>
              <a:t>; // busy</a:t>
            </a:r>
            <a:r>
              <a:rPr sz="2200" spc="-45" dirty="0">
                <a:cs typeface="Courier New" panose="02070309020205020404"/>
              </a:rPr>
              <a:t> </a:t>
            </a:r>
            <a:r>
              <a:rPr sz="2200" spc="-5" dirty="0">
                <a:cs typeface="Courier New" panose="02070309020205020404"/>
              </a:rPr>
              <a:t>wait  </a:t>
            </a:r>
            <a:r>
              <a:rPr lang="en-IN" sz="2200" spc="-5" dirty="0">
                <a:cs typeface="Courier New" panose="02070309020205020404"/>
              </a:rPr>
              <a:t> </a:t>
            </a:r>
            <a:r>
              <a:rPr sz="2200" dirty="0">
                <a:cs typeface="Courier New" panose="02070309020205020404"/>
              </a:rPr>
              <a:t>S--;</a:t>
            </a:r>
          </a:p>
          <a:p>
            <a:pPr marL="469900">
              <a:lnSpc>
                <a:spcPct val="100000"/>
              </a:lnSpc>
              <a:spcBef>
                <a:spcPts val="480"/>
              </a:spcBef>
            </a:pPr>
            <a:r>
              <a:rPr sz="2200" spc="-5" dirty="0">
                <a:cs typeface="Courier New" panose="02070309020205020404"/>
              </a:rPr>
              <a:t>}</a:t>
            </a:r>
            <a:endParaRPr sz="2200" dirty="0">
              <a:cs typeface="Courier New" panose="02070309020205020404"/>
            </a:endParaRPr>
          </a:p>
          <a:p>
            <a:pPr marL="353695" marR="3065145" indent="-353695">
              <a:lnSpc>
                <a:spcPts val="2700"/>
              </a:lnSpc>
              <a:spcBef>
                <a:spcPts val="160"/>
              </a:spcBef>
              <a:buClr>
                <a:srgbClr val="993300"/>
              </a:buClr>
              <a:buSzPct val="91000"/>
              <a:tabLst>
                <a:tab pos="353695" algn="l"/>
                <a:tab pos="354330" algn="l"/>
              </a:tabLst>
            </a:pPr>
            <a:r>
              <a:rPr lang="en-IN" sz="2200" spc="-5" dirty="0">
                <a:cs typeface="Arial" panose="020B0604020202020204"/>
              </a:rPr>
              <a:t>     </a:t>
            </a:r>
            <a:r>
              <a:rPr sz="2200" spc="-5" dirty="0">
                <a:cs typeface="Arial" panose="020B0604020202020204"/>
              </a:rPr>
              <a:t>Definition of the </a:t>
            </a:r>
            <a:r>
              <a:rPr sz="2200" spc="-5" dirty="0">
                <a:cs typeface="Courier New" panose="02070309020205020404"/>
              </a:rPr>
              <a:t>signal() operation  </a:t>
            </a:r>
            <a:r>
              <a:rPr sz="2200" spc="-10" dirty="0">
                <a:cs typeface="Courier New" panose="02070309020205020404"/>
              </a:rPr>
              <a:t>signal(S)</a:t>
            </a:r>
            <a:r>
              <a:rPr sz="2200" spc="-125" dirty="0">
                <a:cs typeface="Courier New" panose="02070309020205020404"/>
              </a:rPr>
              <a:t> </a:t>
            </a:r>
            <a:r>
              <a:rPr sz="2200" spc="-5" dirty="0">
                <a:cs typeface="Courier New" panose="02070309020205020404"/>
              </a:rPr>
              <a:t>{</a:t>
            </a:r>
            <a:endParaRPr sz="2200" dirty="0">
              <a:cs typeface="Courier New" panose="02070309020205020404"/>
            </a:endParaRPr>
          </a:p>
          <a:p>
            <a:pPr marL="956945">
              <a:lnSpc>
                <a:spcPct val="100000"/>
              </a:lnSpc>
              <a:spcBef>
                <a:spcPts val="320"/>
              </a:spcBef>
            </a:pPr>
            <a:r>
              <a:rPr sz="2200" spc="-5" dirty="0">
                <a:cs typeface="Courier New" panose="02070309020205020404"/>
              </a:rPr>
              <a:t>S++;</a:t>
            </a:r>
            <a:endParaRPr sz="2200" dirty="0">
              <a:cs typeface="Courier New" panose="02070309020205020404"/>
            </a:endParaRPr>
          </a:p>
          <a:p>
            <a:pPr marL="469265">
              <a:lnSpc>
                <a:spcPct val="100000"/>
              </a:lnSpc>
              <a:spcBef>
                <a:spcPts val="480"/>
              </a:spcBef>
            </a:pPr>
            <a:r>
              <a:rPr sz="2200" spc="-5" dirty="0">
                <a:cs typeface="Courier New" panose="02070309020205020404"/>
              </a:rPr>
              <a:t>}</a:t>
            </a:r>
            <a:endParaRPr sz="2200" dirty="0">
              <a:cs typeface="Courier New" panose="02070309020205020404"/>
            </a:endParaRPr>
          </a:p>
        </p:txBody>
      </p:sp>
      <p:sp>
        <p:nvSpPr>
          <p:cNvPr id="12" name="Slide Number Placeholder 1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t>71</a:t>
            </a:fld>
            <a:endParaRPr lang="en-US"/>
          </a:p>
        </p:txBody>
      </p:sp>
      <p:pic>
        <p:nvPicPr>
          <p:cNvPr id="2" name="Picture 1" descr="A black and red logo&#10;&#10;Description automatically generated">
            <a:extLst>
              <a:ext uri="{FF2B5EF4-FFF2-40B4-BE49-F238E27FC236}">
                <a16:creationId xmlns:a16="http://schemas.microsoft.com/office/drawing/2014/main" id="{7793C53F-1FB6-FB03-636B-7F14EE3AE49E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-27384"/>
            <a:ext cx="1657350" cy="710452"/>
          </a:xfrm>
          <a:prstGeom prst="rect">
            <a:avLst/>
          </a:prstGeom>
        </p:spPr>
      </p:pic>
      <p:sp>
        <p:nvSpPr>
          <p:cNvPr id="3" name="Title 1">
            <a:extLst>
              <a:ext uri="{FF2B5EF4-FFF2-40B4-BE49-F238E27FC236}">
                <a16:creationId xmlns:a16="http://schemas.microsoft.com/office/drawing/2014/main" id="{AEC0B936-FEB4-DCE4-2130-CBC26D4C176D}"/>
              </a:ext>
            </a:extLst>
          </p:cNvPr>
          <p:cNvSpPr txBox="1">
            <a:spLocks/>
          </p:cNvSpPr>
          <p:nvPr/>
        </p:nvSpPr>
        <p:spPr>
          <a:xfrm>
            <a:off x="1763688" y="0"/>
            <a:ext cx="7380312" cy="630981"/>
          </a:xfrm>
          <a:prstGeom prst="rect">
            <a:avLst/>
          </a:prstGeom>
          <a:gradFill flip="none" rotWithShape="1">
            <a:gsLst>
              <a:gs pos="0">
                <a:srgbClr val="FF0000">
                  <a:tint val="66000"/>
                  <a:satMod val="160000"/>
                </a:srgbClr>
              </a:gs>
              <a:gs pos="50000">
                <a:srgbClr val="FF0000">
                  <a:tint val="44500"/>
                  <a:satMod val="160000"/>
                </a:srgbClr>
              </a:gs>
              <a:gs pos="100000">
                <a:srgbClr val="FF0000">
                  <a:tint val="23500"/>
                  <a:satMod val="160000"/>
                </a:srgbClr>
              </a:gs>
            </a:gsLst>
            <a:lin ang="0" scaled="1"/>
            <a:tileRect/>
          </a:gradFill>
        </p:spPr>
        <p:style>
          <a:lnRef idx="1">
            <a:schemeClr val="accent5"/>
          </a:lnRef>
          <a:fillRef idx="2">
            <a:schemeClr val="accent5"/>
          </a:fillRef>
          <a:effectRef idx="1">
            <a:schemeClr val="accent5"/>
          </a:effectRef>
          <a:fontRef idx="minor">
            <a:schemeClr val="dk1"/>
          </a:fontRef>
        </p:style>
        <p:txBody>
          <a:bodyPr vert="horz" lIns="68580" tIns="34290" rIns="68580" bIns="34290" rtlCol="0" anchor="ctr">
            <a:noAutofit/>
          </a:bodyPr>
          <a:lstStyle>
            <a:defPPr>
              <a:defRPr lang="en-US"/>
            </a:defPPr>
            <a:lvl1pPr algn="ctr">
              <a:spcBef>
                <a:spcPct val="0"/>
              </a:spcBef>
              <a:buNone/>
              <a:defRPr sz="2800"/>
            </a:lvl1pPr>
          </a:lstStyle>
          <a:p>
            <a:pPr>
              <a:defRPr/>
            </a:pPr>
            <a:r>
              <a:rPr lang="en-IN" sz="2400" spc="-5" dirty="0"/>
              <a:t>Semaphore</a:t>
            </a:r>
            <a:r>
              <a:rPr lang="en-IN" sz="2400" dirty="0"/>
              <a:t>(CO3)</a:t>
            </a:r>
            <a:endParaRPr lang="en-US" sz="2100" dirty="0"/>
          </a:p>
        </p:txBody>
      </p:sp>
    </p:spTree>
    <p:extLst>
      <p:ext uri="{BB962C8B-B14F-4D97-AF65-F5344CB8AC3E}">
        <p14:creationId xmlns:p14="http://schemas.microsoft.com/office/powerpoint/2010/main" val="2757988983"/>
      </p:ext>
    </p:extLst>
  </p:cSld>
  <p:clrMapOvr>
    <a:masterClrMapping/>
  </p:clrMapOvr>
  <p:transition>
    <p:wedge/>
  </p:transition>
</p:sld>
</file>

<file path=ppt/slides/slide7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6472AF5-58E3-472A-B75C-A570B906E871}" type="datetime3">
              <a:rPr lang="en-US" smtClean="0"/>
              <a:t>1 September 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2514600" y="6356350"/>
            <a:ext cx="5181600" cy="365125"/>
          </a:xfrm>
        </p:spPr>
        <p:txBody>
          <a:bodyPr/>
          <a:lstStyle/>
          <a:p>
            <a:r>
              <a:rPr lang="en-US"/>
              <a:t>Atul Garg           BCSE0303            Unit- III</a:t>
            </a:r>
            <a:endParaRPr lang="en-US" dirty="0"/>
          </a:p>
        </p:txBody>
      </p:sp>
      <p:sp>
        <p:nvSpPr>
          <p:cNvPr id="11" name="Footer Placeholder 2"/>
          <p:cNvSpPr txBox="1"/>
          <p:nvPr/>
        </p:nvSpPr>
        <p:spPr>
          <a:xfrm>
            <a:off x="-4284984" y="6697662"/>
            <a:ext cx="2895600" cy="320675"/>
          </a:xfrm>
          <a:prstGeom prst="rect">
            <a:avLst/>
          </a:prstGeom>
          <a:noFill/>
        </p:spPr>
        <p:txBody>
          <a:bodyPr vert="horz" lIns="91440" tIns="45720" rIns="91440" bIns="4572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sz="1200" b="0" i="0" u="none" strike="noStrike" kern="1200" cap="none" spc="0" normalizeH="0" baseline="0" noProof="0" dirty="0">
                <a:ln>
                  <a:noFill/>
                </a:ln>
                <a:solidFill>
                  <a:schemeClr val="tx1">
                    <a:tint val="75000"/>
                  </a:scheme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Operating System </a:t>
            </a:r>
            <a:r>
              <a:rPr kumimoji="0" lang="en-US" sz="1200" b="0" i="0" u="none" strike="noStrike" kern="1200" cap="none" spc="0" normalizeH="0" baseline="0" noProof="0" dirty="0" err="1">
                <a:ln>
                  <a:noFill/>
                </a:ln>
                <a:solidFill>
                  <a:schemeClr val="tx1">
                    <a:tint val="75000"/>
                  </a:scheme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Concets</a:t>
            </a:r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schemeClr val="tx1">
                  <a:tint val="75000"/>
                </a:scheme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14" name="Rectangle 3"/>
          <p:cNvSpPr txBox="1">
            <a:spLocks noChangeArrowheads="1"/>
          </p:cNvSpPr>
          <p:nvPr/>
        </p:nvSpPr>
        <p:spPr>
          <a:xfrm>
            <a:off x="899592" y="1268760"/>
            <a:ext cx="7344816" cy="4896544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/>
          <a:p>
            <a:pPr marL="342900" marR="0" lvl="0" indent="-342900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defRPr/>
            </a:pPr>
            <a:endParaRPr kumimoji="0" lang="en-US" sz="220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12" name="object 3"/>
          <p:cNvSpPr txBox="1"/>
          <p:nvPr/>
        </p:nvSpPr>
        <p:spPr>
          <a:xfrm>
            <a:off x="897884" y="764704"/>
            <a:ext cx="7562548" cy="4901726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379095" marR="30480" indent="-341630">
              <a:lnSpc>
                <a:spcPct val="100000"/>
              </a:lnSpc>
              <a:spcBef>
                <a:spcPts val="95"/>
              </a:spcBef>
              <a:buClr>
                <a:srgbClr val="993300"/>
              </a:buClr>
              <a:buSzPct val="91000"/>
              <a:buFont typeface="Arial" panose="020B0604020202020204" pitchFamily="34" charset="0"/>
              <a:buChar char="•"/>
              <a:tabLst>
                <a:tab pos="379095" algn="l"/>
                <a:tab pos="379730" algn="l"/>
              </a:tabLst>
            </a:pPr>
            <a:r>
              <a:rPr sz="2200" b="1" spc="-10" dirty="0">
                <a:cs typeface="Arial" panose="020B0604020202020204"/>
              </a:rPr>
              <a:t>Counting </a:t>
            </a:r>
            <a:r>
              <a:rPr sz="2200" b="1" spc="-5" dirty="0">
                <a:cs typeface="Arial" panose="020B0604020202020204"/>
              </a:rPr>
              <a:t>semaphore </a:t>
            </a:r>
            <a:r>
              <a:rPr sz="2200" spc="-5" dirty="0">
                <a:cs typeface="Arial" panose="020B0604020202020204"/>
              </a:rPr>
              <a:t>– integer value can range over an unrestricted  domain</a:t>
            </a:r>
            <a:endParaRPr sz="2200" dirty="0">
              <a:cs typeface="Arial" panose="020B0604020202020204"/>
            </a:endParaRPr>
          </a:p>
          <a:p>
            <a:pPr marL="379095" indent="-341630">
              <a:lnSpc>
                <a:spcPct val="100000"/>
              </a:lnSpc>
              <a:spcBef>
                <a:spcPts val="670"/>
              </a:spcBef>
              <a:buClr>
                <a:srgbClr val="993300"/>
              </a:buClr>
              <a:buSzPct val="91000"/>
              <a:buFont typeface="Arial" panose="020B0604020202020204" pitchFamily="34" charset="0"/>
              <a:buChar char="•"/>
              <a:tabLst>
                <a:tab pos="379095" algn="l"/>
                <a:tab pos="379730" algn="l"/>
              </a:tabLst>
            </a:pPr>
            <a:r>
              <a:rPr sz="2200" b="1" spc="-5" dirty="0">
                <a:cs typeface="Arial" panose="020B0604020202020204"/>
              </a:rPr>
              <a:t>Binary semaphore </a:t>
            </a:r>
            <a:r>
              <a:rPr sz="2200" spc="-5" dirty="0">
                <a:cs typeface="Arial" panose="020B0604020202020204"/>
              </a:rPr>
              <a:t>– integer value can range only between 0 and</a:t>
            </a:r>
            <a:r>
              <a:rPr sz="2200" spc="90" dirty="0">
                <a:cs typeface="Arial" panose="020B0604020202020204"/>
              </a:rPr>
              <a:t> </a:t>
            </a:r>
            <a:r>
              <a:rPr sz="2200" spc="-5" dirty="0">
                <a:cs typeface="Arial" panose="020B0604020202020204"/>
              </a:rPr>
              <a:t>1</a:t>
            </a:r>
            <a:endParaRPr sz="2200" dirty="0">
              <a:cs typeface="Arial" panose="020B0604020202020204"/>
            </a:endParaRPr>
          </a:p>
          <a:p>
            <a:pPr marL="379095" indent="-341630">
              <a:lnSpc>
                <a:spcPct val="100000"/>
              </a:lnSpc>
              <a:spcBef>
                <a:spcPts val="670"/>
              </a:spcBef>
              <a:buClr>
                <a:srgbClr val="993300"/>
              </a:buClr>
              <a:buSzPct val="91000"/>
              <a:buFont typeface="Arial" panose="020B0604020202020204" pitchFamily="34" charset="0"/>
              <a:buChar char="•"/>
              <a:tabLst>
                <a:tab pos="379095" algn="l"/>
                <a:tab pos="379730" algn="l"/>
              </a:tabLst>
            </a:pPr>
            <a:r>
              <a:rPr sz="2200" spc="-5" dirty="0">
                <a:cs typeface="Arial" panose="020B0604020202020204"/>
              </a:rPr>
              <a:t>Can </a:t>
            </a:r>
            <a:r>
              <a:rPr sz="2200" dirty="0">
                <a:cs typeface="Arial" panose="020B0604020202020204"/>
              </a:rPr>
              <a:t>solve </a:t>
            </a:r>
            <a:r>
              <a:rPr sz="2200" spc="-5" dirty="0">
                <a:cs typeface="Arial" panose="020B0604020202020204"/>
              </a:rPr>
              <a:t>various synchronization</a:t>
            </a:r>
            <a:r>
              <a:rPr sz="2200" spc="-25" dirty="0">
                <a:cs typeface="Arial" panose="020B0604020202020204"/>
              </a:rPr>
              <a:t> </a:t>
            </a:r>
            <a:r>
              <a:rPr sz="2200" spc="-5" dirty="0">
                <a:cs typeface="Arial" panose="020B0604020202020204"/>
              </a:rPr>
              <a:t>problems</a:t>
            </a:r>
            <a:endParaRPr sz="2200" dirty="0">
              <a:cs typeface="Arial" panose="020B0604020202020204"/>
            </a:endParaRPr>
          </a:p>
          <a:p>
            <a:pPr marL="379095" indent="-341630">
              <a:lnSpc>
                <a:spcPct val="100000"/>
              </a:lnSpc>
              <a:spcBef>
                <a:spcPts val="670"/>
              </a:spcBef>
              <a:buClr>
                <a:srgbClr val="993300"/>
              </a:buClr>
              <a:buSzPct val="91000"/>
              <a:buFont typeface="Arial" panose="020B0604020202020204" pitchFamily="34" charset="0"/>
              <a:buChar char="•"/>
              <a:tabLst>
                <a:tab pos="379095" algn="l"/>
                <a:tab pos="379730" algn="l"/>
              </a:tabLst>
            </a:pPr>
            <a:r>
              <a:rPr sz="2200" spc="-5" dirty="0">
                <a:cs typeface="Arial" panose="020B0604020202020204"/>
              </a:rPr>
              <a:t>Consider </a:t>
            </a:r>
            <a:r>
              <a:rPr sz="2200" b="1" i="1" dirty="0">
                <a:cs typeface="Arial" panose="020B0604020202020204"/>
              </a:rPr>
              <a:t>P</a:t>
            </a:r>
            <a:r>
              <a:rPr sz="2200" b="1" i="1" baseline="-21000" dirty="0">
                <a:cs typeface="Arial" panose="020B0604020202020204"/>
              </a:rPr>
              <a:t>1 </a:t>
            </a:r>
            <a:r>
              <a:rPr sz="2200" spc="-5" dirty="0">
                <a:cs typeface="Arial" panose="020B0604020202020204"/>
              </a:rPr>
              <a:t>and </a:t>
            </a:r>
            <a:r>
              <a:rPr sz="2200" b="1" i="1" dirty="0">
                <a:cs typeface="Arial" panose="020B0604020202020204"/>
              </a:rPr>
              <a:t>P</a:t>
            </a:r>
            <a:r>
              <a:rPr sz="2200" b="1" i="1" baseline="-21000" dirty="0">
                <a:cs typeface="Arial" panose="020B0604020202020204"/>
              </a:rPr>
              <a:t>2 </a:t>
            </a:r>
            <a:r>
              <a:rPr sz="2200" spc="-5" dirty="0">
                <a:cs typeface="Arial" panose="020B0604020202020204"/>
              </a:rPr>
              <a:t>that require </a:t>
            </a:r>
            <a:r>
              <a:rPr sz="2200" b="1" i="1" dirty="0">
                <a:cs typeface="Arial" panose="020B0604020202020204"/>
              </a:rPr>
              <a:t>S</a:t>
            </a:r>
            <a:r>
              <a:rPr sz="2200" b="1" i="1" baseline="-21000" dirty="0">
                <a:cs typeface="Arial" panose="020B0604020202020204"/>
              </a:rPr>
              <a:t>1 </a:t>
            </a:r>
            <a:r>
              <a:rPr sz="2200" spc="-5" dirty="0">
                <a:cs typeface="Arial" panose="020B0604020202020204"/>
              </a:rPr>
              <a:t>to happen before</a:t>
            </a:r>
            <a:r>
              <a:rPr sz="2200" spc="-210" dirty="0">
                <a:cs typeface="Arial" panose="020B0604020202020204"/>
              </a:rPr>
              <a:t> </a:t>
            </a:r>
            <a:r>
              <a:rPr sz="2200" b="1" i="1" dirty="0">
                <a:cs typeface="Arial" panose="020B0604020202020204"/>
              </a:rPr>
              <a:t>S</a:t>
            </a:r>
            <a:r>
              <a:rPr sz="2200" b="1" i="1" baseline="-21000" dirty="0">
                <a:cs typeface="Arial" panose="020B0604020202020204"/>
              </a:rPr>
              <a:t>2</a:t>
            </a:r>
            <a:endParaRPr sz="2200" baseline="-21000" dirty="0">
              <a:cs typeface="Arial" panose="020B0604020202020204"/>
            </a:endParaRPr>
          </a:p>
          <a:p>
            <a:pPr marL="435610">
              <a:lnSpc>
                <a:spcPct val="100000"/>
              </a:lnSpc>
              <a:spcBef>
                <a:spcPts val="565"/>
              </a:spcBef>
            </a:pPr>
            <a:r>
              <a:rPr sz="2200" spc="-5" dirty="0">
                <a:cs typeface="Arial" panose="020B0604020202020204"/>
              </a:rPr>
              <a:t>Create a semaphore “</a:t>
            </a:r>
            <a:r>
              <a:rPr sz="2200" b="1" spc="-5" dirty="0">
                <a:cs typeface="Courier New" panose="02070309020205020404"/>
              </a:rPr>
              <a:t>synch</a:t>
            </a:r>
            <a:r>
              <a:rPr sz="2200" spc="-5" dirty="0">
                <a:cs typeface="Arial" panose="020B0604020202020204"/>
              </a:rPr>
              <a:t>” </a:t>
            </a:r>
            <a:r>
              <a:rPr sz="2200" dirty="0">
                <a:cs typeface="Arial" panose="020B0604020202020204"/>
              </a:rPr>
              <a:t>initialized </a:t>
            </a:r>
            <a:r>
              <a:rPr sz="2200" spc="-5" dirty="0">
                <a:cs typeface="Arial" panose="020B0604020202020204"/>
              </a:rPr>
              <a:t>to</a:t>
            </a:r>
            <a:r>
              <a:rPr sz="2200" spc="55" dirty="0">
                <a:cs typeface="Arial" panose="020B0604020202020204"/>
              </a:rPr>
              <a:t> </a:t>
            </a:r>
            <a:r>
              <a:rPr sz="2200" spc="-5" dirty="0">
                <a:cs typeface="Arial" panose="020B0604020202020204"/>
              </a:rPr>
              <a:t>0</a:t>
            </a:r>
            <a:endParaRPr sz="2200" dirty="0">
              <a:cs typeface="Arial" panose="020B0604020202020204"/>
            </a:endParaRPr>
          </a:p>
          <a:p>
            <a:pPr marL="495300">
              <a:lnSpc>
                <a:spcPct val="100000"/>
              </a:lnSpc>
              <a:spcBef>
                <a:spcPts val="635"/>
              </a:spcBef>
            </a:pPr>
            <a:r>
              <a:rPr sz="2200" b="1" spc="-5" dirty="0">
                <a:cs typeface="Courier New" panose="02070309020205020404"/>
              </a:rPr>
              <a:t>P1:</a:t>
            </a:r>
            <a:endParaRPr sz="2200" dirty="0">
              <a:cs typeface="Courier New" panose="02070309020205020404"/>
            </a:endParaRPr>
          </a:p>
          <a:p>
            <a:pPr marL="860425">
              <a:lnSpc>
                <a:spcPct val="100000"/>
              </a:lnSpc>
              <a:spcBef>
                <a:spcPts val="675"/>
              </a:spcBef>
            </a:pPr>
            <a:r>
              <a:rPr sz="2200" b="1" dirty="0">
                <a:cs typeface="Courier New" panose="02070309020205020404"/>
              </a:rPr>
              <a:t>S</a:t>
            </a:r>
            <a:r>
              <a:rPr sz="2200" b="1" baseline="-21000" dirty="0">
                <a:cs typeface="Courier New" panose="02070309020205020404"/>
              </a:rPr>
              <a:t>1</a:t>
            </a:r>
            <a:r>
              <a:rPr sz="2200" b="1" dirty="0">
                <a:cs typeface="Courier New" panose="02070309020205020404"/>
              </a:rPr>
              <a:t>;</a:t>
            </a:r>
            <a:endParaRPr sz="2200" dirty="0">
              <a:cs typeface="Courier New" panose="02070309020205020404"/>
            </a:endParaRPr>
          </a:p>
          <a:p>
            <a:pPr marL="494665" marR="4070350" indent="365125">
              <a:lnSpc>
                <a:spcPct val="135000"/>
              </a:lnSpc>
            </a:pPr>
            <a:r>
              <a:rPr sz="2200" b="1" spc="-5" dirty="0">
                <a:cs typeface="Courier New" panose="02070309020205020404"/>
              </a:rPr>
              <a:t>sig</a:t>
            </a:r>
            <a:r>
              <a:rPr sz="2200" b="1" spc="5" dirty="0">
                <a:cs typeface="Courier New" panose="02070309020205020404"/>
              </a:rPr>
              <a:t>n</a:t>
            </a:r>
            <a:r>
              <a:rPr sz="2200" b="1" spc="-5" dirty="0">
                <a:cs typeface="Courier New" panose="02070309020205020404"/>
              </a:rPr>
              <a:t>al(</a:t>
            </a:r>
            <a:r>
              <a:rPr sz="2200" b="1" spc="-5" dirty="0" err="1">
                <a:cs typeface="Courier New" panose="02070309020205020404"/>
              </a:rPr>
              <a:t>s</a:t>
            </a:r>
            <a:r>
              <a:rPr sz="2200" b="1" spc="5" dirty="0" err="1">
                <a:cs typeface="Courier New" panose="02070309020205020404"/>
              </a:rPr>
              <a:t>y</a:t>
            </a:r>
            <a:r>
              <a:rPr lang="en-IN" sz="2200" b="1" spc="-5" dirty="0" err="1">
                <a:cs typeface="Courier New" panose="02070309020205020404"/>
              </a:rPr>
              <a:t>nch</a:t>
            </a:r>
            <a:r>
              <a:rPr lang="en-IN" sz="2200" b="1" spc="-5" dirty="0">
                <a:cs typeface="Courier New" panose="02070309020205020404"/>
              </a:rPr>
              <a:t>)</a:t>
            </a:r>
            <a:r>
              <a:rPr sz="2200" b="1" spc="-5" dirty="0">
                <a:cs typeface="Courier New" panose="02070309020205020404"/>
              </a:rPr>
              <a:t>;  P2:</a:t>
            </a:r>
            <a:endParaRPr lang="en-IN" sz="2200" dirty="0">
              <a:cs typeface="Courier New" panose="02070309020205020404"/>
            </a:endParaRPr>
          </a:p>
          <a:p>
            <a:pPr marL="494665" marR="4070350" indent="365125">
              <a:lnSpc>
                <a:spcPct val="135000"/>
              </a:lnSpc>
            </a:pPr>
            <a:r>
              <a:rPr sz="2200" b="1" spc="-5" dirty="0">
                <a:cs typeface="Courier New" panose="02070309020205020404"/>
              </a:rPr>
              <a:t>wait(synch</a:t>
            </a:r>
            <a:r>
              <a:rPr sz="2200" b="1" spc="5" dirty="0">
                <a:cs typeface="Courier New" panose="02070309020205020404"/>
              </a:rPr>
              <a:t>)</a:t>
            </a:r>
            <a:r>
              <a:rPr lang="en-IN" sz="2200" dirty="0">
                <a:cs typeface="Arial" panose="020B0604020202020204"/>
              </a:rPr>
              <a:t>;</a:t>
            </a:r>
            <a:r>
              <a:rPr sz="2200" dirty="0">
                <a:cs typeface="Arial" panose="020B0604020202020204"/>
              </a:rPr>
              <a:t>  </a:t>
            </a:r>
            <a:r>
              <a:rPr lang="en-IN" sz="2200" dirty="0">
                <a:cs typeface="Arial" panose="020B0604020202020204"/>
              </a:rPr>
              <a:t>    	</a:t>
            </a:r>
            <a:r>
              <a:rPr sz="2200" b="1" dirty="0">
                <a:cs typeface="Courier New" panose="02070309020205020404"/>
              </a:rPr>
              <a:t>S</a:t>
            </a:r>
            <a:r>
              <a:rPr sz="2200" b="1" baseline="-21000" dirty="0">
                <a:cs typeface="Courier New" panose="02070309020205020404"/>
              </a:rPr>
              <a:t>2</a:t>
            </a:r>
            <a:r>
              <a:rPr sz="2200" b="1" dirty="0">
                <a:cs typeface="Courier New" panose="02070309020205020404"/>
              </a:rPr>
              <a:t>;</a:t>
            </a:r>
            <a:endParaRPr sz="2200" dirty="0">
              <a:cs typeface="Courier New" panose="02070309020205020404"/>
            </a:endParaRPr>
          </a:p>
          <a:p>
            <a:pPr marL="379095" indent="-341630">
              <a:lnSpc>
                <a:spcPct val="100000"/>
              </a:lnSpc>
              <a:spcBef>
                <a:spcPts val="575"/>
              </a:spcBef>
              <a:buClr>
                <a:srgbClr val="993300"/>
              </a:buClr>
              <a:buSzPct val="91000"/>
              <a:tabLst>
                <a:tab pos="379095" algn="l"/>
                <a:tab pos="379730" algn="l"/>
              </a:tabLst>
            </a:pPr>
            <a:r>
              <a:rPr sz="2200" spc="-5" dirty="0">
                <a:cs typeface="Arial" panose="020B0604020202020204"/>
              </a:rPr>
              <a:t>Can implement a counting semaphore </a:t>
            </a:r>
            <a:r>
              <a:rPr sz="2200" b="1" i="1" spc="-5" dirty="0">
                <a:cs typeface="Arial" panose="020B0604020202020204"/>
              </a:rPr>
              <a:t>S </a:t>
            </a:r>
            <a:r>
              <a:rPr sz="2200" spc="-5" dirty="0">
                <a:cs typeface="Arial" panose="020B0604020202020204"/>
              </a:rPr>
              <a:t>as a binary</a:t>
            </a:r>
            <a:r>
              <a:rPr sz="2200" spc="70" dirty="0">
                <a:cs typeface="Arial" panose="020B0604020202020204"/>
              </a:rPr>
              <a:t> </a:t>
            </a:r>
            <a:r>
              <a:rPr sz="2200" spc="-5" dirty="0">
                <a:cs typeface="Arial" panose="020B0604020202020204"/>
              </a:rPr>
              <a:t>semaphore</a:t>
            </a:r>
            <a:endParaRPr sz="2200" dirty="0">
              <a:cs typeface="Arial" panose="020B0604020202020204"/>
            </a:endParaRPr>
          </a:p>
        </p:txBody>
      </p:sp>
      <p:sp>
        <p:nvSpPr>
          <p:cNvPr id="13" name="Slide Number Placeholder 1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t>72</a:t>
            </a:fld>
            <a:endParaRPr lang="en-US"/>
          </a:p>
        </p:txBody>
      </p:sp>
      <p:pic>
        <p:nvPicPr>
          <p:cNvPr id="2" name="Picture 1" descr="A black and red logo&#10;&#10;Description automatically generated">
            <a:extLst>
              <a:ext uri="{FF2B5EF4-FFF2-40B4-BE49-F238E27FC236}">
                <a16:creationId xmlns:a16="http://schemas.microsoft.com/office/drawing/2014/main" id="{304582C7-2354-4B52-3830-D8A1402E797D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-27384"/>
            <a:ext cx="1657350" cy="710452"/>
          </a:xfrm>
          <a:prstGeom prst="rect">
            <a:avLst/>
          </a:prstGeom>
        </p:spPr>
      </p:pic>
      <p:sp>
        <p:nvSpPr>
          <p:cNvPr id="3" name="Title 1">
            <a:extLst>
              <a:ext uri="{FF2B5EF4-FFF2-40B4-BE49-F238E27FC236}">
                <a16:creationId xmlns:a16="http://schemas.microsoft.com/office/drawing/2014/main" id="{06BD23D2-8D84-25A7-1D31-D2535D8DAE90}"/>
              </a:ext>
            </a:extLst>
          </p:cNvPr>
          <p:cNvSpPr txBox="1">
            <a:spLocks/>
          </p:cNvSpPr>
          <p:nvPr/>
        </p:nvSpPr>
        <p:spPr>
          <a:xfrm>
            <a:off x="1657350" y="0"/>
            <a:ext cx="7486650" cy="630981"/>
          </a:xfrm>
          <a:prstGeom prst="rect">
            <a:avLst/>
          </a:prstGeom>
          <a:gradFill flip="none" rotWithShape="1">
            <a:gsLst>
              <a:gs pos="0">
                <a:srgbClr val="FF0000">
                  <a:tint val="66000"/>
                  <a:satMod val="160000"/>
                </a:srgbClr>
              </a:gs>
              <a:gs pos="50000">
                <a:srgbClr val="FF0000">
                  <a:tint val="44500"/>
                  <a:satMod val="160000"/>
                </a:srgbClr>
              </a:gs>
              <a:gs pos="100000">
                <a:srgbClr val="FF0000">
                  <a:tint val="23500"/>
                  <a:satMod val="160000"/>
                </a:srgbClr>
              </a:gs>
            </a:gsLst>
            <a:lin ang="0" scaled="1"/>
            <a:tileRect/>
          </a:gradFill>
        </p:spPr>
        <p:style>
          <a:lnRef idx="1">
            <a:schemeClr val="accent5"/>
          </a:lnRef>
          <a:fillRef idx="2">
            <a:schemeClr val="accent5"/>
          </a:fillRef>
          <a:effectRef idx="1">
            <a:schemeClr val="accent5"/>
          </a:effectRef>
          <a:fontRef idx="minor">
            <a:schemeClr val="dk1"/>
          </a:fontRef>
        </p:style>
        <p:txBody>
          <a:bodyPr vert="horz" lIns="68580" tIns="34290" rIns="68580" bIns="34290" rtlCol="0" anchor="ctr">
            <a:noAutofit/>
          </a:bodyPr>
          <a:lstStyle>
            <a:defPPr>
              <a:defRPr lang="en-US"/>
            </a:defPPr>
            <a:lvl1pPr algn="ctr">
              <a:spcBef>
                <a:spcPct val="0"/>
              </a:spcBef>
              <a:buNone/>
              <a:defRPr sz="2800"/>
            </a:lvl1pPr>
          </a:lstStyle>
          <a:p>
            <a:pPr>
              <a:defRPr/>
            </a:pPr>
            <a:r>
              <a:rPr lang="en-IN" sz="2400" spc="-5" dirty="0"/>
              <a:t>Semaphore</a:t>
            </a:r>
            <a:r>
              <a:rPr lang="en-IN" sz="2400" spc="-90" dirty="0"/>
              <a:t> </a:t>
            </a:r>
            <a:r>
              <a:rPr lang="en-IN" sz="2400" spc="-5" dirty="0"/>
              <a:t>Usage</a:t>
            </a:r>
            <a:r>
              <a:rPr lang="en-IN" sz="2400" dirty="0"/>
              <a:t>(CO3)</a:t>
            </a:r>
            <a:endParaRPr lang="en-US" sz="2100" dirty="0"/>
          </a:p>
        </p:txBody>
      </p:sp>
    </p:spTree>
    <p:extLst>
      <p:ext uri="{BB962C8B-B14F-4D97-AF65-F5344CB8AC3E}">
        <p14:creationId xmlns:p14="http://schemas.microsoft.com/office/powerpoint/2010/main" val="1804174653"/>
      </p:ext>
    </p:extLst>
  </p:cSld>
  <p:clrMapOvr>
    <a:masterClrMapping/>
  </p:clrMapOvr>
  <p:transition>
    <p:wedge/>
  </p:transition>
</p:sld>
</file>

<file path=ppt/slides/slide7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3441FBE-7D90-487D-B903-88108AB95D7E}" type="datetime3">
              <a:rPr lang="en-US" smtClean="0"/>
              <a:t>1 September 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2514600" y="6356350"/>
            <a:ext cx="5181600" cy="365125"/>
          </a:xfrm>
        </p:spPr>
        <p:txBody>
          <a:bodyPr/>
          <a:lstStyle/>
          <a:p>
            <a:r>
              <a:rPr lang="en-US"/>
              <a:t>Atul Garg           BCSE0303            Unit- III</a:t>
            </a:r>
            <a:endParaRPr lang="en-US" dirty="0"/>
          </a:p>
        </p:txBody>
      </p:sp>
      <p:sp>
        <p:nvSpPr>
          <p:cNvPr id="10" name="object 3"/>
          <p:cNvSpPr txBox="1"/>
          <p:nvPr/>
        </p:nvSpPr>
        <p:spPr>
          <a:xfrm>
            <a:off x="948684" y="692696"/>
            <a:ext cx="7583756" cy="5353389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353695" indent="-341630">
              <a:lnSpc>
                <a:spcPct val="100000"/>
              </a:lnSpc>
              <a:spcBef>
                <a:spcPts val="105"/>
              </a:spcBef>
              <a:buClr>
                <a:srgbClr val="993300"/>
              </a:buClr>
              <a:buSzPct val="89000"/>
              <a:buFont typeface="Arial" panose="020B0604020202020204" pitchFamily="34" charset="0"/>
              <a:buChar char="•"/>
              <a:tabLst>
                <a:tab pos="353695" algn="l"/>
                <a:tab pos="354330" algn="l"/>
                <a:tab pos="5646420" algn="l"/>
              </a:tabLst>
            </a:pPr>
            <a:r>
              <a:rPr sz="2400" spc="-5" dirty="0">
                <a:cs typeface="Arial" panose="020B0604020202020204"/>
              </a:rPr>
              <a:t>Must </a:t>
            </a:r>
            <a:r>
              <a:rPr sz="2400" spc="-10" dirty="0">
                <a:cs typeface="Arial" panose="020B0604020202020204"/>
              </a:rPr>
              <a:t>guarantee </a:t>
            </a:r>
            <a:r>
              <a:rPr sz="2400" spc="-5" dirty="0">
                <a:cs typeface="Arial" panose="020B0604020202020204"/>
              </a:rPr>
              <a:t>that </a:t>
            </a:r>
            <a:r>
              <a:rPr sz="2400" spc="-10" dirty="0">
                <a:cs typeface="Arial" panose="020B0604020202020204"/>
              </a:rPr>
              <a:t>no </a:t>
            </a:r>
            <a:r>
              <a:rPr sz="2400" spc="-15" dirty="0">
                <a:cs typeface="Arial" panose="020B0604020202020204"/>
              </a:rPr>
              <a:t>two </a:t>
            </a:r>
            <a:r>
              <a:rPr sz="2400" spc="-5" dirty="0">
                <a:cs typeface="Arial" panose="020B0604020202020204"/>
              </a:rPr>
              <a:t>processes</a:t>
            </a:r>
            <a:r>
              <a:rPr sz="2400" spc="145" dirty="0">
                <a:cs typeface="Arial" panose="020B0604020202020204"/>
              </a:rPr>
              <a:t> </a:t>
            </a:r>
            <a:r>
              <a:rPr sz="2400" spc="-5" dirty="0">
                <a:cs typeface="Arial" panose="020B0604020202020204"/>
              </a:rPr>
              <a:t>can</a:t>
            </a:r>
            <a:r>
              <a:rPr sz="2400" spc="20" dirty="0">
                <a:cs typeface="Arial" panose="020B0604020202020204"/>
              </a:rPr>
              <a:t> </a:t>
            </a:r>
            <a:r>
              <a:rPr sz="2400" spc="-10" dirty="0">
                <a:cs typeface="Arial" panose="020B0604020202020204"/>
              </a:rPr>
              <a:t>execute	</a:t>
            </a:r>
            <a:r>
              <a:rPr sz="2400" spc="-5" dirty="0">
                <a:cs typeface="Arial" panose="020B0604020202020204"/>
              </a:rPr>
              <a:t>the</a:t>
            </a:r>
            <a:r>
              <a:rPr sz="2400" spc="-55" dirty="0">
                <a:cs typeface="Arial" panose="020B0604020202020204"/>
              </a:rPr>
              <a:t> </a:t>
            </a:r>
            <a:r>
              <a:rPr sz="2400" b="1" spc="-5" dirty="0">
                <a:cs typeface="Courier New" panose="02070309020205020404"/>
              </a:rPr>
              <a:t>wait()</a:t>
            </a:r>
            <a:r>
              <a:rPr sz="2400" spc="-10" dirty="0">
                <a:cs typeface="Arial" panose="020B0604020202020204"/>
              </a:rPr>
              <a:t>and </a:t>
            </a:r>
            <a:r>
              <a:rPr sz="2400" b="1" spc="-5" dirty="0">
                <a:cs typeface="Courier New" panose="02070309020205020404"/>
              </a:rPr>
              <a:t>signal() </a:t>
            </a:r>
            <a:r>
              <a:rPr sz="2400" spc="-10" dirty="0">
                <a:cs typeface="Arial" panose="020B0604020202020204"/>
              </a:rPr>
              <a:t>on </a:t>
            </a:r>
            <a:r>
              <a:rPr sz="2400" spc="-5" dirty="0">
                <a:cs typeface="Arial" panose="020B0604020202020204"/>
              </a:rPr>
              <a:t>the same </a:t>
            </a:r>
            <a:r>
              <a:rPr sz="2400" spc="-10" dirty="0">
                <a:cs typeface="Arial" panose="020B0604020202020204"/>
              </a:rPr>
              <a:t>semaphore </a:t>
            </a:r>
            <a:r>
              <a:rPr sz="2400" spc="-5" dirty="0">
                <a:cs typeface="Arial" panose="020B0604020202020204"/>
              </a:rPr>
              <a:t>at the same</a:t>
            </a:r>
            <a:r>
              <a:rPr sz="2400" spc="55" dirty="0">
                <a:cs typeface="Arial" panose="020B0604020202020204"/>
              </a:rPr>
              <a:t> </a:t>
            </a:r>
            <a:r>
              <a:rPr sz="2400" spc="-5" dirty="0">
                <a:cs typeface="Arial" panose="020B0604020202020204"/>
              </a:rPr>
              <a:t>time</a:t>
            </a:r>
            <a:endParaRPr sz="2400" dirty="0">
              <a:cs typeface="Arial" panose="020B0604020202020204"/>
            </a:endParaRPr>
          </a:p>
          <a:p>
            <a:pPr marL="353695" marR="277495" indent="-341630">
              <a:lnSpc>
                <a:spcPct val="100000"/>
              </a:lnSpc>
              <a:spcBef>
                <a:spcPts val="950"/>
              </a:spcBef>
              <a:buClr>
                <a:srgbClr val="993300"/>
              </a:buClr>
              <a:buSzPct val="89000"/>
              <a:buFont typeface="Arial" panose="020B0604020202020204" pitchFamily="34" charset="0"/>
              <a:buChar char="•"/>
              <a:tabLst>
                <a:tab pos="353695" algn="l"/>
                <a:tab pos="354330" algn="l"/>
              </a:tabLst>
            </a:pPr>
            <a:r>
              <a:rPr sz="2400" spc="-5" dirty="0">
                <a:cs typeface="Arial" panose="020B0604020202020204"/>
              </a:rPr>
              <a:t>Thus, the </a:t>
            </a:r>
            <a:r>
              <a:rPr sz="2400" spc="-10" dirty="0">
                <a:cs typeface="Arial" panose="020B0604020202020204"/>
              </a:rPr>
              <a:t>implementation becomes </a:t>
            </a:r>
            <a:r>
              <a:rPr sz="2400" spc="-5" dirty="0">
                <a:cs typeface="Arial" panose="020B0604020202020204"/>
              </a:rPr>
              <a:t>the critical section </a:t>
            </a:r>
            <a:r>
              <a:rPr sz="2400" spc="-10" dirty="0">
                <a:cs typeface="Arial" panose="020B0604020202020204"/>
              </a:rPr>
              <a:t>problem  </a:t>
            </a:r>
            <a:r>
              <a:rPr sz="2400" spc="-15" dirty="0">
                <a:cs typeface="Arial" panose="020B0604020202020204"/>
              </a:rPr>
              <a:t>where </a:t>
            </a:r>
            <a:r>
              <a:rPr sz="2400" spc="-5" dirty="0">
                <a:cs typeface="Arial" panose="020B0604020202020204"/>
              </a:rPr>
              <a:t>the </a:t>
            </a:r>
            <a:r>
              <a:rPr sz="2400" b="1" spc="-5" dirty="0">
                <a:cs typeface="Courier New" panose="02070309020205020404"/>
              </a:rPr>
              <a:t>wait </a:t>
            </a:r>
            <a:r>
              <a:rPr sz="2400" spc="-10" dirty="0">
                <a:cs typeface="Arial" panose="020B0604020202020204"/>
              </a:rPr>
              <a:t>and </a:t>
            </a:r>
            <a:r>
              <a:rPr sz="2400" b="1" spc="-5" dirty="0">
                <a:cs typeface="Courier New" panose="02070309020205020404"/>
              </a:rPr>
              <a:t>signal </a:t>
            </a:r>
            <a:r>
              <a:rPr sz="2400" spc="-10" dirty="0">
                <a:cs typeface="Arial" panose="020B0604020202020204"/>
              </a:rPr>
              <a:t>code </a:t>
            </a:r>
            <a:r>
              <a:rPr sz="2400" spc="-5" dirty="0">
                <a:cs typeface="Arial" panose="020B0604020202020204"/>
              </a:rPr>
              <a:t>are </a:t>
            </a:r>
            <a:r>
              <a:rPr sz="2400" spc="-10" dirty="0">
                <a:cs typeface="Arial" panose="020B0604020202020204"/>
              </a:rPr>
              <a:t>placed </a:t>
            </a:r>
            <a:r>
              <a:rPr sz="2400" spc="-5" dirty="0">
                <a:cs typeface="Arial" panose="020B0604020202020204"/>
              </a:rPr>
              <a:t>in the critical  </a:t>
            </a:r>
            <a:r>
              <a:rPr sz="2400" spc="-10" dirty="0">
                <a:cs typeface="Arial" panose="020B0604020202020204"/>
              </a:rPr>
              <a:t>section</a:t>
            </a:r>
            <a:endParaRPr sz="2400" dirty="0">
              <a:cs typeface="Arial" panose="020B0604020202020204"/>
            </a:endParaRPr>
          </a:p>
          <a:p>
            <a:pPr marL="754380" marR="1370965" lvl="1" indent="-285115">
              <a:lnSpc>
                <a:spcPct val="100000"/>
              </a:lnSpc>
              <a:spcBef>
                <a:spcPts val="755"/>
              </a:spcBef>
              <a:buClr>
                <a:srgbClr val="CC6600"/>
              </a:buClr>
              <a:buSzPct val="81000"/>
              <a:buFont typeface="Arial" panose="020B0604020202020204" pitchFamily="34" charset="0"/>
              <a:buChar char="•"/>
              <a:tabLst>
                <a:tab pos="754380" algn="l"/>
                <a:tab pos="755015" algn="l"/>
              </a:tabLst>
            </a:pPr>
            <a:r>
              <a:rPr sz="2400" spc="-10" dirty="0">
                <a:cs typeface="Arial" panose="020B0604020202020204"/>
              </a:rPr>
              <a:t>Could now have </a:t>
            </a:r>
            <a:r>
              <a:rPr sz="2400" b="1" spc="-5" dirty="0">
                <a:cs typeface="Arial" panose="020B0604020202020204"/>
              </a:rPr>
              <a:t>busy </a:t>
            </a:r>
            <a:r>
              <a:rPr sz="2400" b="1" dirty="0">
                <a:cs typeface="Arial" panose="020B0604020202020204"/>
              </a:rPr>
              <a:t>waiting </a:t>
            </a:r>
            <a:r>
              <a:rPr sz="2400" spc="-5" dirty="0">
                <a:cs typeface="Arial" panose="020B0604020202020204"/>
              </a:rPr>
              <a:t>in </a:t>
            </a:r>
            <a:r>
              <a:rPr lang="en-IN" sz="2400" spc="-5" dirty="0">
                <a:cs typeface="Arial" panose="020B0604020202020204"/>
              </a:rPr>
              <a:t>critical  </a:t>
            </a:r>
            <a:r>
              <a:rPr lang="en-IN" sz="2400" spc="-10" dirty="0">
                <a:cs typeface="Arial" panose="020B0604020202020204"/>
              </a:rPr>
              <a:t>section  implementation</a:t>
            </a:r>
            <a:r>
              <a:rPr lang="en-IN" sz="2400" spc="-5" dirty="0">
                <a:cs typeface="Arial" panose="020B0604020202020204"/>
              </a:rPr>
              <a:t> 			</a:t>
            </a:r>
            <a:endParaRPr sz="2400" dirty="0">
              <a:cs typeface="Arial" panose="020B0604020202020204"/>
            </a:endParaRPr>
          </a:p>
          <a:p>
            <a:pPr marL="1097280" lvl="2" indent="-227330">
              <a:lnSpc>
                <a:spcPct val="100000"/>
              </a:lnSpc>
              <a:spcBef>
                <a:spcPts val="755"/>
              </a:spcBef>
              <a:buClr>
                <a:srgbClr val="009900"/>
              </a:buClr>
              <a:buSzPct val="75000"/>
              <a:buFont typeface="Arial" panose="020B0604020202020204" pitchFamily="34" charset="0"/>
              <a:buChar char="•"/>
              <a:tabLst>
                <a:tab pos="1097915" algn="l"/>
              </a:tabLst>
            </a:pPr>
            <a:r>
              <a:rPr sz="2400" spc="-5" dirty="0">
                <a:cs typeface="Arial" panose="020B0604020202020204"/>
              </a:rPr>
              <a:t>But </a:t>
            </a:r>
            <a:r>
              <a:rPr sz="2400" spc="-10" dirty="0">
                <a:cs typeface="Arial" panose="020B0604020202020204"/>
              </a:rPr>
              <a:t>implementation code </a:t>
            </a:r>
            <a:r>
              <a:rPr sz="2400" spc="-5" dirty="0">
                <a:cs typeface="Arial" panose="020B0604020202020204"/>
              </a:rPr>
              <a:t>is</a:t>
            </a:r>
            <a:r>
              <a:rPr sz="2400" spc="40" dirty="0">
                <a:cs typeface="Arial" panose="020B0604020202020204"/>
              </a:rPr>
              <a:t> </a:t>
            </a:r>
            <a:r>
              <a:rPr sz="2400" spc="-5" dirty="0">
                <a:cs typeface="Arial" panose="020B0604020202020204"/>
              </a:rPr>
              <a:t>short</a:t>
            </a:r>
            <a:endParaRPr sz="2400" dirty="0">
              <a:cs typeface="Arial" panose="020B0604020202020204"/>
            </a:endParaRPr>
          </a:p>
          <a:p>
            <a:pPr marL="1097280" lvl="2" indent="-227330">
              <a:lnSpc>
                <a:spcPct val="100000"/>
              </a:lnSpc>
              <a:spcBef>
                <a:spcPts val="760"/>
              </a:spcBef>
              <a:buClr>
                <a:srgbClr val="009900"/>
              </a:buClr>
              <a:buSzPct val="75000"/>
              <a:buFont typeface="Arial" panose="020B0604020202020204" pitchFamily="34" charset="0"/>
              <a:buChar char="•"/>
              <a:tabLst>
                <a:tab pos="1097915" algn="l"/>
              </a:tabLst>
            </a:pPr>
            <a:r>
              <a:rPr sz="2400" spc="-5" dirty="0">
                <a:cs typeface="Arial" panose="020B0604020202020204"/>
              </a:rPr>
              <a:t>Little </a:t>
            </a:r>
            <a:r>
              <a:rPr sz="2400" spc="-10" dirty="0">
                <a:cs typeface="Arial" panose="020B0604020202020204"/>
              </a:rPr>
              <a:t>busy </a:t>
            </a:r>
            <a:r>
              <a:rPr sz="2400" spc="-15" dirty="0">
                <a:cs typeface="Arial" panose="020B0604020202020204"/>
              </a:rPr>
              <a:t>waiting </a:t>
            </a:r>
            <a:r>
              <a:rPr sz="2400" spc="-5" dirty="0">
                <a:cs typeface="Arial" panose="020B0604020202020204"/>
              </a:rPr>
              <a:t>if critical section rarely</a:t>
            </a:r>
            <a:r>
              <a:rPr sz="2400" spc="125" dirty="0">
                <a:cs typeface="Arial" panose="020B0604020202020204"/>
              </a:rPr>
              <a:t> </a:t>
            </a:r>
            <a:r>
              <a:rPr sz="2400" spc="-10" dirty="0">
                <a:cs typeface="Arial" panose="020B0604020202020204"/>
              </a:rPr>
              <a:t>occupied</a:t>
            </a:r>
            <a:endParaRPr sz="2400" dirty="0">
              <a:cs typeface="Arial" panose="020B0604020202020204"/>
            </a:endParaRPr>
          </a:p>
          <a:p>
            <a:pPr marL="353695" marR="200025" indent="-341630">
              <a:lnSpc>
                <a:spcPct val="100000"/>
              </a:lnSpc>
              <a:spcBef>
                <a:spcPts val="755"/>
              </a:spcBef>
              <a:buClr>
                <a:srgbClr val="993300"/>
              </a:buClr>
              <a:buSzPct val="89000"/>
              <a:buFont typeface="Arial" panose="020B0604020202020204" pitchFamily="34" charset="0"/>
              <a:buChar char="•"/>
              <a:tabLst>
                <a:tab pos="353695" algn="l"/>
                <a:tab pos="354330" algn="l"/>
              </a:tabLst>
            </a:pPr>
            <a:r>
              <a:rPr sz="2400" spc="-5" dirty="0">
                <a:cs typeface="Arial" panose="020B0604020202020204"/>
              </a:rPr>
              <a:t>Note that </a:t>
            </a:r>
            <a:r>
              <a:rPr sz="2400" spc="-10" dirty="0">
                <a:cs typeface="Arial" panose="020B0604020202020204"/>
              </a:rPr>
              <a:t>applications </a:t>
            </a:r>
            <a:r>
              <a:rPr sz="2400" spc="-5" dirty="0">
                <a:cs typeface="Arial" panose="020B0604020202020204"/>
              </a:rPr>
              <a:t>may </a:t>
            </a:r>
            <a:r>
              <a:rPr sz="2400" spc="-10" dirty="0">
                <a:cs typeface="Arial" panose="020B0604020202020204"/>
              </a:rPr>
              <a:t>spend </a:t>
            </a:r>
            <a:r>
              <a:rPr sz="2400" spc="-5" dirty="0">
                <a:cs typeface="Arial" panose="020B0604020202020204"/>
              </a:rPr>
              <a:t>lots of time in critical </a:t>
            </a:r>
            <a:r>
              <a:rPr sz="2400" spc="-10" dirty="0">
                <a:cs typeface="Arial" panose="020B0604020202020204"/>
              </a:rPr>
              <a:t>sections  and </a:t>
            </a:r>
            <a:r>
              <a:rPr sz="2400" spc="-5" dirty="0">
                <a:cs typeface="Arial" panose="020B0604020202020204"/>
              </a:rPr>
              <a:t>therefore this is </a:t>
            </a:r>
            <a:r>
              <a:rPr sz="2400" spc="-10" dirty="0">
                <a:cs typeface="Arial" panose="020B0604020202020204"/>
              </a:rPr>
              <a:t>not </a:t>
            </a:r>
            <a:r>
              <a:rPr sz="2400" spc="-5" dirty="0">
                <a:cs typeface="Arial" panose="020B0604020202020204"/>
              </a:rPr>
              <a:t>a </a:t>
            </a:r>
            <a:r>
              <a:rPr sz="2400" spc="-10" dirty="0">
                <a:cs typeface="Arial" panose="020B0604020202020204"/>
              </a:rPr>
              <a:t>good</a:t>
            </a:r>
            <a:r>
              <a:rPr sz="2400" spc="35" dirty="0">
                <a:cs typeface="Arial" panose="020B0604020202020204"/>
              </a:rPr>
              <a:t> </a:t>
            </a:r>
            <a:r>
              <a:rPr sz="2400" spc="-10" dirty="0">
                <a:cs typeface="Arial" panose="020B0604020202020204"/>
              </a:rPr>
              <a:t>solution</a:t>
            </a:r>
            <a:endParaRPr sz="2400" dirty="0">
              <a:cs typeface="Arial" panose="020B0604020202020204"/>
            </a:endParaRPr>
          </a:p>
        </p:txBody>
      </p:sp>
      <p:sp>
        <p:nvSpPr>
          <p:cNvPr id="8" name="Slide Number Placeholder 7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t>73</a:t>
            </a:fld>
            <a:endParaRPr lang="en-US"/>
          </a:p>
        </p:txBody>
      </p:sp>
      <p:pic>
        <p:nvPicPr>
          <p:cNvPr id="2" name="Picture 1" descr="A black and red logo&#10;&#10;Description automatically generated">
            <a:extLst>
              <a:ext uri="{FF2B5EF4-FFF2-40B4-BE49-F238E27FC236}">
                <a16:creationId xmlns:a16="http://schemas.microsoft.com/office/drawing/2014/main" id="{330DC560-232D-F79E-1571-2339FCDF28AE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-27384"/>
            <a:ext cx="1657350" cy="710452"/>
          </a:xfrm>
          <a:prstGeom prst="rect">
            <a:avLst/>
          </a:prstGeom>
        </p:spPr>
      </p:pic>
      <p:sp>
        <p:nvSpPr>
          <p:cNvPr id="3" name="Title 1">
            <a:extLst>
              <a:ext uri="{FF2B5EF4-FFF2-40B4-BE49-F238E27FC236}">
                <a16:creationId xmlns:a16="http://schemas.microsoft.com/office/drawing/2014/main" id="{AA3AA4C6-E632-250F-448A-91223440A754}"/>
              </a:ext>
            </a:extLst>
          </p:cNvPr>
          <p:cNvSpPr txBox="1">
            <a:spLocks/>
          </p:cNvSpPr>
          <p:nvPr/>
        </p:nvSpPr>
        <p:spPr>
          <a:xfrm>
            <a:off x="1657350" y="0"/>
            <a:ext cx="7486650" cy="630981"/>
          </a:xfrm>
          <a:prstGeom prst="rect">
            <a:avLst/>
          </a:prstGeom>
          <a:gradFill flip="none" rotWithShape="1">
            <a:gsLst>
              <a:gs pos="0">
                <a:srgbClr val="FF0000">
                  <a:tint val="66000"/>
                  <a:satMod val="160000"/>
                </a:srgbClr>
              </a:gs>
              <a:gs pos="50000">
                <a:srgbClr val="FF0000">
                  <a:tint val="44500"/>
                  <a:satMod val="160000"/>
                </a:srgbClr>
              </a:gs>
              <a:gs pos="100000">
                <a:srgbClr val="FF0000">
                  <a:tint val="23500"/>
                  <a:satMod val="160000"/>
                </a:srgbClr>
              </a:gs>
            </a:gsLst>
            <a:lin ang="0" scaled="1"/>
            <a:tileRect/>
          </a:gradFill>
        </p:spPr>
        <p:style>
          <a:lnRef idx="1">
            <a:schemeClr val="accent5"/>
          </a:lnRef>
          <a:fillRef idx="2">
            <a:schemeClr val="accent5"/>
          </a:fillRef>
          <a:effectRef idx="1">
            <a:schemeClr val="accent5"/>
          </a:effectRef>
          <a:fontRef idx="minor">
            <a:schemeClr val="dk1"/>
          </a:fontRef>
        </p:style>
        <p:txBody>
          <a:bodyPr vert="horz" lIns="68580" tIns="34290" rIns="68580" bIns="34290" rtlCol="0" anchor="ctr">
            <a:noAutofit/>
          </a:bodyPr>
          <a:lstStyle>
            <a:defPPr>
              <a:defRPr lang="en-US"/>
            </a:defPPr>
            <a:lvl1pPr algn="ctr">
              <a:spcBef>
                <a:spcPct val="0"/>
              </a:spcBef>
              <a:buNone/>
              <a:defRPr sz="2800"/>
            </a:lvl1pPr>
          </a:lstStyle>
          <a:p>
            <a:pPr>
              <a:defRPr/>
            </a:pPr>
            <a:r>
              <a:rPr lang="en-US" sz="2100" dirty="0"/>
              <a:t>Semaphore Implementation</a:t>
            </a:r>
          </a:p>
        </p:txBody>
      </p:sp>
    </p:spTree>
    <p:extLst>
      <p:ext uri="{BB962C8B-B14F-4D97-AF65-F5344CB8AC3E}">
        <p14:creationId xmlns:p14="http://schemas.microsoft.com/office/powerpoint/2010/main" val="545873644"/>
      </p:ext>
    </p:extLst>
  </p:cSld>
  <p:clrMapOvr>
    <a:masterClrMapping/>
  </p:clrMapOvr>
  <p:transition>
    <p:wedge/>
  </p:transition>
</p:sld>
</file>

<file path=ppt/slides/slide7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E91843B-FA63-479C-9674-D78469083FC9}" type="datetime3">
              <a:rPr lang="en-US" smtClean="0"/>
              <a:t>1 September 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2514600" y="6356350"/>
            <a:ext cx="5181600" cy="365125"/>
          </a:xfrm>
        </p:spPr>
        <p:txBody>
          <a:bodyPr/>
          <a:lstStyle/>
          <a:p>
            <a:r>
              <a:rPr lang="en-US"/>
              <a:t>Atul Garg           BCSE0303            Unit- III</a:t>
            </a:r>
            <a:endParaRPr lang="en-US" dirty="0"/>
          </a:p>
        </p:txBody>
      </p:sp>
      <p:sp>
        <p:nvSpPr>
          <p:cNvPr id="11" name="Rectangle 10"/>
          <p:cNvSpPr/>
          <p:nvPr/>
        </p:nvSpPr>
        <p:spPr>
          <a:xfrm>
            <a:off x="1043608" y="836712"/>
            <a:ext cx="7560840" cy="317009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353695" marR="5080" indent="-341630">
              <a:lnSpc>
                <a:spcPct val="150000"/>
              </a:lnSpc>
              <a:spcBef>
                <a:spcPts val="100"/>
              </a:spcBef>
              <a:buClr>
                <a:srgbClr val="993300"/>
              </a:buClr>
              <a:buSzPct val="89000"/>
              <a:buFont typeface="Arial" panose="020B0604020202020204" pitchFamily="34" charset="0"/>
              <a:buChar char="•"/>
              <a:tabLst>
                <a:tab pos="353695" algn="l"/>
                <a:tab pos="354330" algn="l"/>
              </a:tabLst>
            </a:pPr>
            <a:r>
              <a:rPr lang="en-IN" sz="2400" spc="-5" dirty="0">
                <a:cs typeface="Arial" panose="020B0604020202020204"/>
              </a:rPr>
              <a:t>Classical </a:t>
            </a:r>
            <a:r>
              <a:rPr lang="en-IN" sz="2400" spc="-10" dirty="0">
                <a:cs typeface="Arial" panose="020B0604020202020204"/>
              </a:rPr>
              <a:t>problems used </a:t>
            </a:r>
            <a:r>
              <a:rPr lang="en-IN" sz="2400" dirty="0">
                <a:cs typeface="Arial" panose="020B0604020202020204"/>
              </a:rPr>
              <a:t>to </a:t>
            </a:r>
            <a:r>
              <a:rPr lang="en-IN" sz="2400" spc="-5" dirty="0">
                <a:cs typeface="Arial" panose="020B0604020202020204"/>
              </a:rPr>
              <a:t>test </a:t>
            </a:r>
            <a:r>
              <a:rPr lang="en-IN" sz="2400" spc="-10" dirty="0">
                <a:cs typeface="Arial" panose="020B0604020202020204"/>
              </a:rPr>
              <a:t>newly-proposed synchronization  schemes</a:t>
            </a:r>
            <a:endParaRPr lang="en-IN" sz="2400" dirty="0">
              <a:cs typeface="Arial" panose="020B0604020202020204"/>
            </a:endParaRPr>
          </a:p>
          <a:p>
            <a:pPr marL="754380" lvl="1" indent="-285115">
              <a:lnSpc>
                <a:spcPct val="150000"/>
              </a:lnSpc>
              <a:spcBef>
                <a:spcPts val="755"/>
              </a:spcBef>
              <a:buClr>
                <a:srgbClr val="CC6600"/>
              </a:buClr>
              <a:buSzPct val="81000"/>
              <a:buFont typeface="Arial" panose="020B0604020202020204" pitchFamily="34" charset="0"/>
              <a:buChar char="•"/>
              <a:tabLst>
                <a:tab pos="754380" algn="l"/>
                <a:tab pos="755015" algn="l"/>
              </a:tabLst>
            </a:pPr>
            <a:r>
              <a:rPr lang="en-IN" sz="2400" spc="-10" dirty="0">
                <a:cs typeface="Arial" panose="020B0604020202020204"/>
              </a:rPr>
              <a:t>Bounded-Buffer</a:t>
            </a:r>
            <a:r>
              <a:rPr lang="en-IN" sz="2400" spc="10" dirty="0">
                <a:cs typeface="Arial" panose="020B0604020202020204"/>
              </a:rPr>
              <a:t> </a:t>
            </a:r>
            <a:r>
              <a:rPr lang="en-IN" sz="2400" spc="-10" dirty="0">
                <a:cs typeface="Arial" panose="020B0604020202020204"/>
              </a:rPr>
              <a:t>Problem</a:t>
            </a:r>
            <a:endParaRPr lang="en-IN" sz="2400" dirty="0">
              <a:cs typeface="Arial" panose="020B0604020202020204"/>
            </a:endParaRPr>
          </a:p>
          <a:p>
            <a:pPr marL="754380" lvl="1" indent="-285115">
              <a:lnSpc>
                <a:spcPct val="150000"/>
              </a:lnSpc>
              <a:spcBef>
                <a:spcPts val="755"/>
              </a:spcBef>
              <a:buClr>
                <a:srgbClr val="CC6600"/>
              </a:buClr>
              <a:buSzPct val="81000"/>
              <a:buFont typeface="Arial" panose="020B0604020202020204" pitchFamily="34" charset="0"/>
              <a:buChar char="•"/>
              <a:tabLst>
                <a:tab pos="754380" algn="l"/>
                <a:tab pos="755015" algn="l"/>
              </a:tabLst>
            </a:pPr>
            <a:r>
              <a:rPr lang="en-IN" sz="2400" spc="-10" dirty="0">
                <a:cs typeface="Arial" panose="020B0604020202020204"/>
              </a:rPr>
              <a:t>Readers and </a:t>
            </a:r>
            <a:r>
              <a:rPr lang="en-IN" sz="2400" spc="-5" dirty="0">
                <a:cs typeface="Arial" panose="020B0604020202020204"/>
              </a:rPr>
              <a:t>Writers</a:t>
            </a:r>
            <a:r>
              <a:rPr lang="en-IN" sz="2400" spc="25" dirty="0">
                <a:cs typeface="Arial" panose="020B0604020202020204"/>
              </a:rPr>
              <a:t> </a:t>
            </a:r>
            <a:r>
              <a:rPr lang="en-IN" sz="2400" spc="-10" dirty="0">
                <a:cs typeface="Arial" panose="020B0604020202020204"/>
              </a:rPr>
              <a:t>Problem</a:t>
            </a:r>
            <a:endParaRPr lang="en-IN" sz="2400" dirty="0">
              <a:cs typeface="Arial" panose="020B0604020202020204"/>
            </a:endParaRPr>
          </a:p>
          <a:p>
            <a:pPr marL="754380" lvl="1" indent="-285115">
              <a:lnSpc>
                <a:spcPct val="150000"/>
              </a:lnSpc>
              <a:spcBef>
                <a:spcPts val="755"/>
              </a:spcBef>
              <a:buClr>
                <a:srgbClr val="CC6600"/>
              </a:buClr>
              <a:buSzPct val="81000"/>
              <a:buFont typeface="Arial" panose="020B0604020202020204" pitchFamily="34" charset="0"/>
              <a:buChar char="•"/>
              <a:tabLst>
                <a:tab pos="754380" algn="l"/>
                <a:tab pos="755015" algn="l"/>
              </a:tabLst>
            </a:pPr>
            <a:r>
              <a:rPr lang="en-IN" sz="2400" spc="-10" dirty="0">
                <a:cs typeface="Arial" panose="020B0604020202020204"/>
              </a:rPr>
              <a:t>Dining-Philosophers</a:t>
            </a:r>
            <a:r>
              <a:rPr lang="en-IN" sz="2400" spc="35" dirty="0">
                <a:cs typeface="Arial" panose="020B0604020202020204"/>
              </a:rPr>
              <a:t> </a:t>
            </a:r>
            <a:r>
              <a:rPr lang="en-IN" sz="2400" spc="-10" dirty="0">
                <a:cs typeface="Arial" panose="020B0604020202020204"/>
              </a:rPr>
              <a:t>Problem</a:t>
            </a:r>
            <a:endParaRPr lang="en-IN" sz="2400" dirty="0">
              <a:cs typeface="Arial" panose="020B0604020202020204"/>
            </a:endParaRPr>
          </a:p>
        </p:txBody>
      </p:sp>
      <p:sp>
        <p:nvSpPr>
          <p:cNvPr id="8" name="Slide Number Placeholder 7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t>74</a:t>
            </a:fld>
            <a:endParaRPr lang="en-US"/>
          </a:p>
        </p:txBody>
      </p:sp>
      <p:pic>
        <p:nvPicPr>
          <p:cNvPr id="2" name="Picture 1" descr="A black and red logo&#10;&#10;Description automatically generated">
            <a:extLst>
              <a:ext uri="{FF2B5EF4-FFF2-40B4-BE49-F238E27FC236}">
                <a16:creationId xmlns:a16="http://schemas.microsoft.com/office/drawing/2014/main" id="{22D6D386-3A36-1C25-6940-A0F13E30C571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-27384"/>
            <a:ext cx="1657350" cy="710452"/>
          </a:xfrm>
          <a:prstGeom prst="rect">
            <a:avLst/>
          </a:prstGeom>
        </p:spPr>
      </p:pic>
      <p:sp>
        <p:nvSpPr>
          <p:cNvPr id="3" name="Title 1">
            <a:extLst>
              <a:ext uri="{FF2B5EF4-FFF2-40B4-BE49-F238E27FC236}">
                <a16:creationId xmlns:a16="http://schemas.microsoft.com/office/drawing/2014/main" id="{CB7D535E-2E00-1E6D-08B3-121A910793F9}"/>
              </a:ext>
            </a:extLst>
          </p:cNvPr>
          <p:cNvSpPr txBox="1">
            <a:spLocks/>
          </p:cNvSpPr>
          <p:nvPr/>
        </p:nvSpPr>
        <p:spPr>
          <a:xfrm>
            <a:off x="1657350" y="0"/>
            <a:ext cx="7486650" cy="630981"/>
          </a:xfrm>
          <a:prstGeom prst="rect">
            <a:avLst/>
          </a:prstGeom>
          <a:gradFill flip="none" rotWithShape="1">
            <a:gsLst>
              <a:gs pos="0">
                <a:srgbClr val="FF0000">
                  <a:tint val="66000"/>
                  <a:satMod val="160000"/>
                </a:srgbClr>
              </a:gs>
              <a:gs pos="50000">
                <a:srgbClr val="FF0000">
                  <a:tint val="44500"/>
                  <a:satMod val="160000"/>
                </a:srgbClr>
              </a:gs>
              <a:gs pos="100000">
                <a:srgbClr val="FF0000">
                  <a:tint val="23500"/>
                  <a:satMod val="160000"/>
                </a:srgbClr>
              </a:gs>
            </a:gsLst>
            <a:lin ang="0" scaled="1"/>
            <a:tileRect/>
          </a:gradFill>
        </p:spPr>
        <p:style>
          <a:lnRef idx="1">
            <a:schemeClr val="accent5"/>
          </a:lnRef>
          <a:fillRef idx="2">
            <a:schemeClr val="accent5"/>
          </a:fillRef>
          <a:effectRef idx="1">
            <a:schemeClr val="accent5"/>
          </a:effectRef>
          <a:fontRef idx="minor">
            <a:schemeClr val="dk1"/>
          </a:fontRef>
        </p:style>
        <p:txBody>
          <a:bodyPr vert="horz" lIns="68580" tIns="34290" rIns="68580" bIns="34290" rtlCol="0" anchor="ctr">
            <a:noAutofit/>
          </a:bodyPr>
          <a:lstStyle>
            <a:defPPr>
              <a:defRPr lang="en-US"/>
            </a:defPPr>
            <a:lvl1pPr algn="ctr">
              <a:spcBef>
                <a:spcPct val="0"/>
              </a:spcBef>
              <a:buNone/>
              <a:defRPr sz="2800"/>
            </a:lvl1pPr>
          </a:lstStyle>
          <a:p>
            <a:pPr>
              <a:defRPr/>
            </a:pPr>
            <a:r>
              <a:rPr lang="en-IN" sz="2400" spc="-5" dirty="0"/>
              <a:t>Classical Problems of</a:t>
            </a:r>
            <a:r>
              <a:rPr lang="en-IN" sz="2400" spc="-60" dirty="0"/>
              <a:t> </a:t>
            </a:r>
            <a:r>
              <a:rPr lang="en-IN" sz="2400" spc="-5" dirty="0"/>
              <a:t>Synchronization</a:t>
            </a:r>
            <a:r>
              <a:rPr lang="en-IN" sz="2400" dirty="0"/>
              <a:t>(CO3)</a:t>
            </a:r>
            <a:endParaRPr lang="en-US" sz="2100" dirty="0"/>
          </a:p>
        </p:txBody>
      </p:sp>
    </p:spTree>
    <p:extLst>
      <p:ext uri="{BB962C8B-B14F-4D97-AF65-F5344CB8AC3E}">
        <p14:creationId xmlns:p14="http://schemas.microsoft.com/office/powerpoint/2010/main" val="2666321618"/>
      </p:ext>
    </p:extLst>
  </p:cSld>
  <p:clrMapOvr>
    <a:masterClrMapping/>
  </p:clrMapOvr>
  <p:transition>
    <p:wedge/>
  </p:transition>
</p:sld>
</file>

<file path=ppt/slides/slide7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4800B6-B8FA-48D7-9012-161995167AEB}" type="datetime3">
              <a:rPr lang="en-US" smtClean="0"/>
              <a:t>1 September 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2514600" y="6356350"/>
            <a:ext cx="5181600" cy="365125"/>
          </a:xfrm>
        </p:spPr>
        <p:txBody>
          <a:bodyPr/>
          <a:lstStyle/>
          <a:p>
            <a:r>
              <a:rPr lang="en-US"/>
              <a:t>Atul Garg           BCSE0303            Unit- III</a:t>
            </a:r>
            <a:endParaRPr lang="en-US" dirty="0"/>
          </a:p>
        </p:txBody>
      </p:sp>
      <p:sp>
        <p:nvSpPr>
          <p:cNvPr id="11" name="object 3"/>
          <p:cNvSpPr txBox="1"/>
          <p:nvPr/>
        </p:nvSpPr>
        <p:spPr>
          <a:xfrm>
            <a:off x="1043608" y="836712"/>
            <a:ext cx="7683322" cy="3207738"/>
          </a:xfrm>
          <a:prstGeom prst="rect">
            <a:avLst/>
          </a:prstGeom>
        </p:spPr>
        <p:txBody>
          <a:bodyPr vert="horz" wrap="square" lIns="0" tIns="96520" rIns="0" bIns="0" rtlCol="0">
            <a:spAutoFit/>
          </a:bodyPr>
          <a:lstStyle/>
          <a:p>
            <a:pPr marL="353695" indent="-341630">
              <a:lnSpc>
                <a:spcPct val="150000"/>
              </a:lnSpc>
              <a:spcBef>
                <a:spcPts val="760"/>
              </a:spcBef>
              <a:buClr>
                <a:srgbClr val="993300"/>
              </a:buClr>
              <a:buSzPct val="90000"/>
              <a:buFont typeface="Arial" panose="020B0604020202020204" pitchFamily="34" charset="0"/>
              <a:buChar char="•"/>
              <a:tabLst>
                <a:tab pos="353695" algn="l"/>
                <a:tab pos="354330" algn="l"/>
              </a:tabLst>
            </a:pPr>
            <a:r>
              <a:rPr sz="2400" b="1" i="1" dirty="0">
                <a:cs typeface="Arial" panose="020B0604020202020204"/>
              </a:rPr>
              <a:t>n </a:t>
            </a:r>
            <a:r>
              <a:rPr sz="2400" spc="-5" dirty="0">
                <a:cs typeface="Arial" panose="020B0604020202020204"/>
              </a:rPr>
              <a:t>buffers, </a:t>
            </a:r>
            <a:r>
              <a:rPr sz="2400" spc="-10" dirty="0">
                <a:cs typeface="Arial" panose="020B0604020202020204"/>
              </a:rPr>
              <a:t>each </a:t>
            </a:r>
            <a:r>
              <a:rPr sz="2400" spc="-5" dirty="0">
                <a:cs typeface="Arial" panose="020B0604020202020204"/>
              </a:rPr>
              <a:t>can </a:t>
            </a:r>
            <a:r>
              <a:rPr sz="2400" spc="-10" dirty="0">
                <a:cs typeface="Arial" panose="020B0604020202020204"/>
              </a:rPr>
              <a:t>hold one</a:t>
            </a:r>
            <a:r>
              <a:rPr sz="2400" spc="-30" dirty="0">
                <a:cs typeface="Arial" panose="020B0604020202020204"/>
              </a:rPr>
              <a:t> </a:t>
            </a:r>
            <a:r>
              <a:rPr sz="2400" spc="-10" dirty="0">
                <a:cs typeface="Arial" panose="020B0604020202020204"/>
              </a:rPr>
              <a:t>item</a:t>
            </a:r>
            <a:endParaRPr sz="2400" dirty="0">
              <a:cs typeface="Arial" panose="020B0604020202020204"/>
            </a:endParaRPr>
          </a:p>
          <a:p>
            <a:pPr marL="353695" indent="-341630">
              <a:lnSpc>
                <a:spcPct val="150000"/>
              </a:lnSpc>
              <a:spcBef>
                <a:spcPts val="660"/>
              </a:spcBef>
              <a:buClr>
                <a:srgbClr val="993300"/>
              </a:buClr>
              <a:buSzPct val="89000"/>
              <a:buFont typeface="Arial" panose="020B0604020202020204" pitchFamily="34" charset="0"/>
              <a:buChar char="•"/>
              <a:tabLst>
                <a:tab pos="353695" algn="l"/>
                <a:tab pos="354330" algn="l"/>
              </a:tabLst>
            </a:pPr>
            <a:r>
              <a:rPr sz="2400" spc="-10" dirty="0">
                <a:cs typeface="Arial" panose="020B0604020202020204"/>
              </a:rPr>
              <a:t>Semaphore </a:t>
            </a:r>
            <a:r>
              <a:rPr sz="2400" b="1" spc="-5" dirty="0">
                <a:cs typeface="Courier New" panose="02070309020205020404"/>
              </a:rPr>
              <a:t>mutex</a:t>
            </a:r>
            <a:r>
              <a:rPr lang="en-IN" sz="2400" b="1" spc="-5" dirty="0">
                <a:cs typeface="Courier New" panose="02070309020205020404"/>
              </a:rPr>
              <a:t> </a:t>
            </a:r>
            <a:r>
              <a:rPr sz="2400" b="1" spc="-620" dirty="0">
                <a:cs typeface="Courier New" panose="02070309020205020404"/>
              </a:rPr>
              <a:t> </a:t>
            </a:r>
            <a:r>
              <a:rPr sz="2400" spc="-10" dirty="0">
                <a:cs typeface="Arial" panose="020B0604020202020204"/>
              </a:rPr>
              <a:t>initialized </a:t>
            </a:r>
            <a:r>
              <a:rPr sz="2400" dirty="0">
                <a:cs typeface="Arial" panose="020B0604020202020204"/>
              </a:rPr>
              <a:t>to </a:t>
            </a:r>
            <a:r>
              <a:rPr sz="2400" spc="-5" dirty="0">
                <a:cs typeface="Arial" panose="020B0604020202020204"/>
              </a:rPr>
              <a:t>the </a:t>
            </a:r>
            <a:r>
              <a:rPr sz="2400" spc="-10" dirty="0">
                <a:cs typeface="Arial" panose="020B0604020202020204"/>
              </a:rPr>
              <a:t>value </a:t>
            </a:r>
            <a:r>
              <a:rPr sz="2400" spc="-5" dirty="0">
                <a:cs typeface="Arial" panose="020B0604020202020204"/>
              </a:rPr>
              <a:t>1</a:t>
            </a:r>
            <a:endParaRPr sz="2400" dirty="0">
              <a:cs typeface="Arial" panose="020B0604020202020204"/>
            </a:endParaRPr>
          </a:p>
          <a:p>
            <a:pPr marL="353695" indent="-341630">
              <a:lnSpc>
                <a:spcPct val="150000"/>
              </a:lnSpc>
              <a:spcBef>
                <a:spcPts val="840"/>
              </a:spcBef>
              <a:buClr>
                <a:srgbClr val="993300"/>
              </a:buClr>
              <a:buSzPct val="89000"/>
              <a:buFont typeface="Arial" panose="020B0604020202020204" pitchFamily="34" charset="0"/>
              <a:buChar char="•"/>
              <a:tabLst>
                <a:tab pos="353695" algn="l"/>
                <a:tab pos="354330" algn="l"/>
              </a:tabLst>
            </a:pPr>
            <a:r>
              <a:rPr sz="2400" spc="-10" dirty="0">
                <a:cs typeface="Arial" panose="020B0604020202020204"/>
              </a:rPr>
              <a:t>Semaphore </a:t>
            </a:r>
            <a:r>
              <a:rPr sz="2400" b="1" spc="-5" dirty="0">
                <a:cs typeface="Courier New" panose="02070309020205020404"/>
              </a:rPr>
              <a:t>full</a:t>
            </a:r>
            <a:r>
              <a:rPr lang="en-IN" sz="2400" b="1" spc="-5" dirty="0">
                <a:cs typeface="Courier New" panose="02070309020205020404"/>
              </a:rPr>
              <a:t> </a:t>
            </a:r>
            <a:r>
              <a:rPr sz="2400" b="1" spc="-630" dirty="0">
                <a:cs typeface="Courier New" panose="02070309020205020404"/>
              </a:rPr>
              <a:t> </a:t>
            </a:r>
            <a:r>
              <a:rPr lang="en-IN" sz="2400" b="1" spc="-630" dirty="0">
                <a:cs typeface="Courier New" panose="02070309020205020404"/>
              </a:rPr>
              <a:t>    </a:t>
            </a:r>
            <a:r>
              <a:rPr sz="2400" spc="-10" dirty="0">
                <a:cs typeface="Arial" panose="020B0604020202020204"/>
              </a:rPr>
              <a:t>initialized </a:t>
            </a:r>
            <a:r>
              <a:rPr sz="2400" dirty="0">
                <a:cs typeface="Arial" panose="020B0604020202020204"/>
              </a:rPr>
              <a:t>to </a:t>
            </a:r>
            <a:r>
              <a:rPr sz="2400" spc="-5" dirty="0">
                <a:cs typeface="Arial" panose="020B0604020202020204"/>
              </a:rPr>
              <a:t>the </a:t>
            </a:r>
            <a:r>
              <a:rPr sz="2400" spc="-10" dirty="0">
                <a:cs typeface="Arial" panose="020B0604020202020204"/>
              </a:rPr>
              <a:t>value </a:t>
            </a:r>
            <a:r>
              <a:rPr sz="2400" spc="-5" dirty="0">
                <a:cs typeface="Arial" panose="020B0604020202020204"/>
              </a:rPr>
              <a:t>0</a:t>
            </a:r>
            <a:endParaRPr sz="2400" dirty="0">
              <a:cs typeface="Arial" panose="020B0604020202020204"/>
            </a:endParaRPr>
          </a:p>
          <a:p>
            <a:pPr marL="353695" indent="-341630">
              <a:lnSpc>
                <a:spcPct val="150000"/>
              </a:lnSpc>
              <a:spcBef>
                <a:spcPts val="840"/>
              </a:spcBef>
              <a:buClr>
                <a:srgbClr val="993300"/>
              </a:buClr>
              <a:buSzPct val="89000"/>
              <a:buFont typeface="Arial" panose="020B0604020202020204" pitchFamily="34" charset="0"/>
              <a:buChar char="•"/>
              <a:tabLst>
                <a:tab pos="353695" algn="l"/>
                <a:tab pos="354330" algn="l"/>
              </a:tabLst>
            </a:pPr>
            <a:r>
              <a:rPr sz="2400" spc="-10" dirty="0">
                <a:cs typeface="Arial" panose="020B0604020202020204"/>
              </a:rPr>
              <a:t>Semaphore </a:t>
            </a:r>
            <a:r>
              <a:rPr sz="2400" b="1" spc="-5" dirty="0">
                <a:cs typeface="Courier New" panose="02070309020205020404"/>
              </a:rPr>
              <a:t>empty </a:t>
            </a:r>
            <a:r>
              <a:rPr sz="2400" spc="-10" dirty="0">
                <a:cs typeface="Arial" panose="020B0604020202020204"/>
              </a:rPr>
              <a:t>initialized </a:t>
            </a:r>
            <a:r>
              <a:rPr sz="2400" dirty="0">
                <a:cs typeface="Arial" panose="020B0604020202020204"/>
              </a:rPr>
              <a:t>to </a:t>
            </a:r>
            <a:r>
              <a:rPr sz="2400" spc="-5" dirty="0">
                <a:cs typeface="Arial" panose="020B0604020202020204"/>
              </a:rPr>
              <a:t>the </a:t>
            </a:r>
            <a:r>
              <a:rPr sz="2400" spc="-10" dirty="0">
                <a:cs typeface="Arial" panose="020B0604020202020204"/>
              </a:rPr>
              <a:t>value</a:t>
            </a:r>
            <a:r>
              <a:rPr sz="2400" spc="-45" dirty="0">
                <a:cs typeface="Arial" panose="020B0604020202020204"/>
              </a:rPr>
              <a:t> </a:t>
            </a:r>
            <a:r>
              <a:rPr sz="2400" spc="-5" dirty="0">
                <a:cs typeface="Arial" panose="020B0604020202020204"/>
              </a:rPr>
              <a:t>n</a:t>
            </a:r>
            <a:endParaRPr lang="en-IN" sz="2400" spc="-5" dirty="0">
              <a:cs typeface="Arial" panose="020B0604020202020204"/>
            </a:endParaRPr>
          </a:p>
          <a:p>
            <a:pPr marL="353695" indent="-341630">
              <a:lnSpc>
                <a:spcPct val="150000"/>
              </a:lnSpc>
              <a:spcBef>
                <a:spcPts val="840"/>
              </a:spcBef>
              <a:buClr>
                <a:srgbClr val="993300"/>
              </a:buClr>
              <a:buSzPct val="89000"/>
              <a:tabLst>
                <a:tab pos="353695" algn="l"/>
                <a:tab pos="354330" algn="l"/>
              </a:tabLst>
            </a:pPr>
            <a:endParaRPr sz="2400" dirty="0">
              <a:cs typeface="Arial" panose="020B0604020202020204"/>
            </a:endParaRPr>
          </a:p>
        </p:txBody>
      </p:sp>
      <p:sp>
        <p:nvSpPr>
          <p:cNvPr id="8" name="Slide Number Placeholder 7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t>75</a:t>
            </a:fld>
            <a:endParaRPr lang="en-US"/>
          </a:p>
        </p:txBody>
      </p:sp>
      <p:pic>
        <p:nvPicPr>
          <p:cNvPr id="2" name="Picture 1" descr="A black and red logo&#10;&#10;Description automatically generated">
            <a:extLst>
              <a:ext uri="{FF2B5EF4-FFF2-40B4-BE49-F238E27FC236}">
                <a16:creationId xmlns:a16="http://schemas.microsoft.com/office/drawing/2014/main" id="{EB636326-60F1-3D32-1667-E4727D25C79D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-27384"/>
            <a:ext cx="1657350" cy="710452"/>
          </a:xfrm>
          <a:prstGeom prst="rect">
            <a:avLst/>
          </a:prstGeom>
        </p:spPr>
      </p:pic>
      <p:sp>
        <p:nvSpPr>
          <p:cNvPr id="3" name="Title 1">
            <a:extLst>
              <a:ext uri="{FF2B5EF4-FFF2-40B4-BE49-F238E27FC236}">
                <a16:creationId xmlns:a16="http://schemas.microsoft.com/office/drawing/2014/main" id="{7136512B-FEEE-C2F3-C896-46355687738E}"/>
              </a:ext>
            </a:extLst>
          </p:cNvPr>
          <p:cNvSpPr txBox="1">
            <a:spLocks/>
          </p:cNvSpPr>
          <p:nvPr/>
        </p:nvSpPr>
        <p:spPr>
          <a:xfrm>
            <a:off x="1657350" y="0"/>
            <a:ext cx="7486650" cy="630981"/>
          </a:xfrm>
          <a:prstGeom prst="rect">
            <a:avLst/>
          </a:prstGeom>
          <a:gradFill flip="none" rotWithShape="1">
            <a:gsLst>
              <a:gs pos="0">
                <a:srgbClr val="FF0000">
                  <a:tint val="66000"/>
                  <a:satMod val="160000"/>
                </a:srgbClr>
              </a:gs>
              <a:gs pos="50000">
                <a:srgbClr val="FF0000">
                  <a:tint val="44500"/>
                  <a:satMod val="160000"/>
                </a:srgbClr>
              </a:gs>
              <a:gs pos="100000">
                <a:srgbClr val="FF0000">
                  <a:tint val="23500"/>
                  <a:satMod val="160000"/>
                </a:srgbClr>
              </a:gs>
            </a:gsLst>
            <a:lin ang="0" scaled="1"/>
            <a:tileRect/>
          </a:gradFill>
        </p:spPr>
        <p:style>
          <a:lnRef idx="1">
            <a:schemeClr val="accent5"/>
          </a:lnRef>
          <a:fillRef idx="2">
            <a:schemeClr val="accent5"/>
          </a:fillRef>
          <a:effectRef idx="1">
            <a:schemeClr val="accent5"/>
          </a:effectRef>
          <a:fontRef idx="minor">
            <a:schemeClr val="dk1"/>
          </a:fontRef>
        </p:style>
        <p:txBody>
          <a:bodyPr vert="horz" lIns="68580" tIns="34290" rIns="68580" bIns="34290" rtlCol="0" anchor="ctr">
            <a:noAutofit/>
          </a:bodyPr>
          <a:lstStyle>
            <a:defPPr>
              <a:defRPr lang="en-US"/>
            </a:defPPr>
            <a:lvl1pPr algn="ctr">
              <a:spcBef>
                <a:spcPct val="0"/>
              </a:spcBef>
              <a:buNone/>
              <a:defRPr sz="2800"/>
            </a:lvl1pPr>
          </a:lstStyle>
          <a:p>
            <a:pPr>
              <a:defRPr/>
            </a:pPr>
            <a:r>
              <a:rPr lang="en-US" sz="2100" dirty="0"/>
              <a:t>Bounded Buffer Problem</a:t>
            </a:r>
          </a:p>
        </p:txBody>
      </p:sp>
    </p:spTree>
    <p:extLst>
      <p:ext uri="{BB962C8B-B14F-4D97-AF65-F5344CB8AC3E}">
        <p14:creationId xmlns:p14="http://schemas.microsoft.com/office/powerpoint/2010/main" val="4244306738"/>
      </p:ext>
    </p:extLst>
  </p:cSld>
  <p:clrMapOvr>
    <a:masterClrMapping/>
  </p:clrMapOvr>
  <p:transition>
    <p:dissolve/>
  </p:transition>
</p:sld>
</file>

<file path=ppt/slides/slide7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F8BA5E9-FF99-45C5-AA08-47081F7BFB87}" type="datetime3">
              <a:rPr lang="en-US" smtClean="0"/>
              <a:t>1 September 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2514600" y="6356350"/>
            <a:ext cx="5181600" cy="365125"/>
          </a:xfrm>
        </p:spPr>
        <p:txBody>
          <a:bodyPr/>
          <a:lstStyle/>
          <a:p>
            <a:r>
              <a:rPr lang="en-US"/>
              <a:t>Atul Garg           BCSE0303            Unit- III</a:t>
            </a:r>
            <a:endParaRPr lang="en-US" dirty="0"/>
          </a:p>
        </p:txBody>
      </p:sp>
      <p:sp>
        <p:nvSpPr>
          <p:cNvPr id="18" name="Rectangle 3"/>
          <p:cNvSpPr txBox="1">
            <a:spLocks noChangeArrowheads="1"/>
          </p:cNvSpPr>
          <p:nvPr/>
        </p:nvSpPr>
        <p:spPr>
          <a:xfrm>
            <a:off x="1047750" y="1484784"/>
            <a:ext cx="7029450" cy="4114800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/>
          <a:p>
            <a:pPr marL="342900" marR="0" lvl="0" indent="-342900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defRPr/>
            </a:pPr>
            <a:endParaRPr kumimoji="0" lang="en-US" sz="2200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12" name="Rectangle 3"/>
          <p:cNvSpPr txBox="1">
            <a:spLocks noChangeArrowheads="1"/>
          </p:cNvSpPr>
          <p:nvPr/>
        </p:nvSpPr>
        <p:spPr>
          <a:xfrm>
            <a:off x="1047750" y="908720"/>
            <a:ext cx="7268666" cy="4680520"/>
          </a:xfrm>
          <a:prstGeom prst="rect">
            <a:avLst/>
          </a:prstGeom>
        </p:spPr>
        <p:txBody>
          <a:bodyPr vert="horz" lIns="91440" tIns="45720" rIns="91440" bIns="45720" rtlCol="0">
            <a:normAutofit fontScale="25000" lnSpcReduction="20000"/>
          </a:bodyPr>
          <a:lstStyle/>
          <a:p>
            <a:pPr marL="353695" indent="-341630">
              <a:lnSpc>
                <a:spcPct val="100000"/>
              </a:lnSpc>
              <a:spcBef>
                <a:spcPts val="95"/>
              </a:spcBef>
              <a:buClr>
                <a:srgbClr val="993300"/>
              </a:buClr>
              <a:buSzPct val="91000"/>
              <a:tabLst>
                <a:tab pos="353695" algn="l"/>
                <a:tab pos="354330" algn="l"/>
              </a:tabLst>
            </a:pPr>
            <a:r>
              <a:rPr lang="en-IN" sz="8800" spc="-5" dirty="0">
                <a:cs typeface="Arial" panose="020B0604020202020204"/>
              </a:rPr>
              <a:t>The structure of the producer</a:t>
            </a:r>
            <a:r>
              <a:rPr lang="en-IN" sz="8800" spc="55" dirty="0">
                <a:cs typeface="Arial" panose="020B0604020202020204"/>
              </a:rPr>
              <a:t> </a:t>
            </a:r>
            <a:r>
              <a:rPr lang="en-IN" sz="8800" spc="-5" dirty="0">
                <a:cs typeface="Arial" panose="020B0604020202020204"/>
              </a:rPr>
              <a:t>process</a:t>
            </a:r>
            <a:endParaRPr lang="en-IN" sz="8800" dirty="0">
              <a:cs typeface="Arial" panose="020B0604020202020204"/>
            </a:endParaRPr>
          </a:p>
          <a:p>
            <a:pPr>
              <a:lnSpc>
                <a:spcPct val="100000"/>
              </a:lnSpc>
              <a:spcBef>
                <a:spcPts val="35"/>
              </a:spcBef>
            </a:pPr>
            <a:endParaRPr lang="en-IN" sz="8800" dirty="0">
              <a:cs typeface="Arial" panose="020B0604020202020204"/>
            </a:endParaRPr>
          </a:p>
          <a:p>
            <a:pPr marL="546100">
              <a:lnSpc>
                <a:spcPct val="100000"/>
              </a:lnSpc>
            </a:pPr>
            <a:r>
              <a:rPr lang="en-IN" sz="8800" spc="-5" dirty="0">
                <a:cs typeface="Courier New" panose="02070309020205020404"/>
              </a:rPr>
              <a:t>do {</a:t>
            </a:r>
            <a:endParaRPr lang="en-IN" sz="8800" dirty="0">
              <a:cs typeface="Courier New" panose="02070309020205020404"/>
            </a:endParaRPr>
          </a:p>
          <a:p>
            <a:pPr marL="1231900">
              <a:lnSpc>
                <a:spcPct val="100000"/>
              </a:lnSpc>
              <a:spcBef>
                <a:spcPts val="675"/>
              </a:spcBef>
            </a:pPr>
            <a:r>
              <a:rPr lang="en-IN" sz="8800" dirty="0">
                <a:cs typeface="Courier New" panose="02070309020205020404"/>
              </a:rPr>
              <a:t>...</a:t>
            </a:r>
          </a:p>
          <a:p>
            <a:pPr marL="1329690">
              <a:lnSpc>
                <a:spcPct val="100000"/>
              </a:lnSpc>
            </a:pPr>
            <a:r>
              <a:rPr lang="en-IN" sz="8800" spc="-5" dirty="0">
                <a:cs typeface="Courier New" panose="02070309020205020404"/>
              </a:rPr>
              <a:t>/* produce an item in </a:t>
            </a:r>
            <a:r>
              <a:rPr lang="en-IN" sz="8800" spc="-5" dirty="0" err="1">
                <a:cs typeface="Courier New" panose="02070309020205020404"/>
              </a:rPr>
              <a:t>next_produced</a:t>
            </a:r>
            <a:r>
              <a:rPr lang="en-IN" sz="8800" spc="60" dirty="0">
                <a:cs typeface="Courier New" panose="02070309020205020404"/>
              </a:rPr>
              <a:t> </a:t>
            </a:r>
            <a:r>
              <a:rPr lang="en-IN" sz="8800" spc="-5" dirty="0">
                <a:cs typeface="Courier New" panose="02070309020205020404"/>
              </a:rPr>
              <a:t>*/</a:t>
            </a:r>
            <a:endParaRPr lang="en-IN" sz="8800" dirty="0">
              <a:cs typeface="Courier New" panose="02070309020205020404"/>
            </a:endParaRPr>
          </a:p>
          <a:p>
            <a:pPr marL="1231900">
              <a:lnSpc>
                <a:spcPct val="100000"/>
              </a:lnSpc>
              <a:spcBef>
                <a:spcPts val="670"/>
              </a:spcBef>
            </a:pPr>
            <a:r>
              <a:rPr lang="en-IN" sz="8800" dirty="0">
                <a:cs typeface="Courier New" panose="02070309020205020404"/>
              </a:rPr>
              <a:t>...</a:t>
            </a:r>
          </a:p>
          <a:p>
            <a:pPr marL="988695" marR="3519805">
              <a:lnSpc>
                <a:spcPct val="135000"/>
              </a:lnSpc>
            </a:pPr>
            <a:r>
              <a:rPr lang="en-IN" sz="8800" spc="-5" dirty="0">
                <a:cs typeface="Courier New" panose="02070309020205020404"/>
              </a:rPr>
              <a:t>wai</a:t>
            </a:r>
            <a:r>
              <a:rPr lang="en-IN" sz="8800" spc="5" dirty="0">
                <a:cs typeface="Courier New" panose="02070309020205020404"/>
              </a:rPr>
              <a:t>t</a:t>
            </a:r>
            <a:r>
              <a:rPr lang="en-IN" sz="8800" spc="-5" dirty="0">
                <a:cs typeface="Courier New" panose="02070309020205020404"/>
              </a:rPr>
              <a:t>(empty</a:t>
            </a:r>
            <a:r>
              <a:rPr lang="en-IN" sz="8800" spc="5" dirty="0">
                <a:cs typeface="Courier New" panose="02070309020205020404"/>
              </a:rPr>
              <a:t>)</a:t>
            </a:r>
            <a:r>
              <a:rPr lang="en-IN" sz="8800" spc="-5" dirty="0">
                <a:cs typeface="Courier New" panose="02070309020205020404"/>
              </a:rPr>
              <a:t>;  wai</a:t>
            </a:r>
            <a:r>
              <a:rPr lang="en-IN" sz="8800" spc="5" dirty="0">
                <a:cs typeface="Courier New" panose="02070309020205020404"/>
              </a:rPr>
              <a:t>t</a:t>
            </a:r>
            <a:r>
              <a:rPr lang="en-IN" sz="8800" spc="-5" dirty="0">
                <a:cs typeface="Courier New" panose="02070309020205020404"/>
              </a:rPr>
              <a:t>(mutex</a:t>
            </a:r>
            <a:r>
              <a:rPr lang="en-IN" sz="8800" spc="5" dirty="0">
                <a:cs typeface="Courier New" panose="02070309020205020404"/>
              </a:rPr>
              <a:t>)</a:t>
            </a:r>
            <a:r>
              <a:rPr lang="en-IN" sz="8800" spc="-5" dirty="0">
                <a:cs typeface="Courier New" panose="02070309020205020404"/>
              </a:rPr>
              <a:t>;</a:t>
            </a:r>
            <a:endParaRPr lang="en-IN" sz="8800" dirty="0">
              <a:cs typeface="Courier New" panose="02070309020205020404"/>
            </a:endParaRPr>
          </a:p>
          <a:p>
            <a:pPr marL="1353820">
              <a:lnSpc>
                <a:spcPct val="100000"/>
              </a:lnSpc>
              <a:spcBef>
                <a:spcPts val="670"/>
              </a:spcBef>
            </a:pPr>
            <a:r>
              <a:rPr lang="en-IN" sz="8800" dirty="0">
                <a:cs typeface="Courier New" panose="02070309020205020404"/>
              </a:rPr>
              <a:t>...</a:t>
            </a:r>
          </a:p>
          <a:p>
            <a:pPr marL="1329690">
              <a:lnSpc>
                <a:spcPct val="100000"/>
              </a:lnSpc>
            </a:pPr>
            <a:r>
              <a:rPr lang="en-IN" sz="8800" spc="-5" dirty="0">
                <a:cs typeface="Courier New" panose="02070309020205020404"/>
              </a:rPr>
              <a:t>/* </a:t>
            </a:r>
            <a:r>
              <a:rPr lang="en-IN" sz="8800" dirty="0">
                <a:cs typeface="Courier New" panose="02070309020205020404"/>
              </a:rPr>
              <a:t>add </a:t>
            </a:r>
            <a:r>
              <a:rPr lang="en-IN" sz="8800" spc="-5" dirty="0">
                <a:cs typeface="Courier New" panose="02070309020205020404"/>
              </a:rPr>
              <a:t>next_produced to the buffer</a:t>
            </a:r>
            <a:r>
              <a:rPr lang="en-IN" sz="8800" spc="45" dirty="0">
                <a:cs typeface="Courier New" panose="02070309020205020404"/>
              </a:rPr>
              <a:t> </a:t>
            </a:r>
            <a:r>
              <a:rPr lang="en-IN" sz="8800" spc="-5" dirty="0">
                <a:cs typeface="Courier New" panose="02070309020205020404"/>
              </a:rPr>
              <a:t>*/</a:t>
            </a:r>
            <a:endParaRPr lang="en-IN" sz="8800" dirty="0">
              <a:cs typeface="Courier New" panose="02070309020205020404"/>
            </a:endParaRPr>
          </a:p>
          <a:p>
            <a:pPr marL="1353820">
              <a:lnSpc>
                <a:spcPct val="100000"/>
              </a:lnSpc>
              <a:spcBef>
                <a:spcPts val="675"/>
              </a:spcBef>
            </a:pPr>
            <a:r>
              <a:rPr lang="en-IN" sz="8800" dirty="0">
                <a:cs typeface="Courier New" panose="02070309020205020404"/>
              </a:rPr>
              <a:t>...</a:t>
            </a:r>
          </a:p>
          <a:p>
            <a:pPr marL="988060" marR="3276600">
              <a:lnSpc>
                <a:spcPct val="135000"/>
              </a:lnSpc>
            </a:pPr>
            <a:r>
              <a:rPr lang="en-IN" sz="8800" spc="-5" dirty="0">
                <a:cs typeface="Courier New" panose="02070309020205020404"/>
              </a:rPr>
              <a:t>sig</a:t>
            </a:r>
            <a:r>
              <a:rPr lang="en-IN" sz="8800" spc="5" dirty="0">
                <a:cs typeface="Courier New" panose="02070309020205020404"/>
              </a:rPr>
              <a:t>n</a:t>
            </a:r>
            <a:r>
              <a:rPr lang="en-IN" sz="8800" spc="-5" dirty="0">
                <a:cs typeface="Courier New" panose="02070309020205020404"/>
              </a:rPr>
              <a:t>al(mut</a:t>
            </a:r>
            <a:r>
              <a:rPr lang="en-IN" sz="8800" spc="5" dirty="0">
                <a:cs typeface="Courier New" panose="02070309020205020404"/>
              </a:rPr>
              <a:t>e</a:t>
            </a:r>
            <a:r>
              <a:rPr lang="en-IN" sz="8800" spc="-5" dirty="0">
                <a:cs typeface="Courier New" panose="02070309020205020404"/>
              </a:rPr>
              <a:t>x);  signal(full);</a:t>
            </a:r>
          </a:p>
          <a:p>
            <a:pPr marL="988060" marR="3276600">
              <a:lnSpc>
                <a:spcPct val="135000"/>
              </a:lnSpc>
            </a:pPr>
            <a:r>
              <a:rPr lang="en-IN" sz="8800" spc="-5" dirty="0">
                <a:cs typeface="Courier New" panose="02070309020205020404"/>
              </a:rPr>
              <a:t>}while(true);</a:t>
            </a:r>
            <a:endParaRPr lang="en-IN" sz="8800" dirty="0">
              <a:cs typeface="Courier New" panose="02070309020205020404"/>
            </a:endParaRPr>
          </a:p>
          <a:p>
            <a:pPr marL="342900" marR="0" lvl="0" indent="-342900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defRPr/>
            </a:pPr>
            <a:endParaRPr kumimoji="0" lang="en-US" sz="2400" b="0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10" name="Slide Number Placeholder 9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t>76</a:t>
            </a:fld>
            <a:endParaRPr lang="en-US"/>
          </a:p>
        </p:txBody>
      </p:sp>
      <p:pic>
        <p:nvPicPr>
          <p:cNvPr id="2" name="Picture 1" descr="A black and red logo&#10;&#10;Description automatically generated">
            <a:extLst>
              <a:ext uri="{FF2B5EF4-FFF2-40B4-BE49-F238E27FC236}">
                <a16:creationId xmlns:a16="http://schemas.microsoft.com/office/drawing/2014/main" id="{9C3AA907-47F3-8A73-5001-0F21754B6FFE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-27384"/>
            <a:ext cx="1657350" cy="710452"/>
          </a:xfrm>
          <a:prstGeom prst="rect">
            <a:avLst/>
          </a:prstGeom>
        </p:spPr>
      </p:pic>
      <p:sp>
        <p:nvSpPr>
          <p:cNvPr id="3" name="Title 1">
            <a:extLst>
              <a:ext uri="{FF2B5EF4-FFF2-40B4-BE49-F238E27FC236}">
                <a16:creationId xmlns:a16="http://schemas.microsoft.com/office/drawing/2014/main" id="{BC4D3050-A694-B476-3B96-C6CF06C6958D}"/>
              </a:ext>
            </a:extLst>
          </p:cNvPr>
          <p:cNvSpPr txBox="1">
            <a:spLocks/>
          </p:cNvSpPr>
          <p:nvPr/>
        </p:nvSpPr>
        <p:spPr>
          <a:xfrm>
            <a:off x="1657350" y="0"/>
            <a:ext cx="7486650" cy="630981"/>
          </a:xfrm>
          <a:prstGeom prst="rect">
            <a:avLst/>
          </a:prstGeom>
          <a:gradFill flip="none" rotWithShape="1">
            <a:gsLst>
              <a:gs pos="0">
                <a:srgbClr val="FF0000">
                  <a:tint val="66000"/>
                  <a:satMod val="160000"/>
                </a:srgbClr>
              </a:gs>
              <a:gs pos="50000">
                <a:srgbClr val="FF0000">
                  <a:tint val="44500"/>
                  <a:satMod val="160000"/>
                </a:srgbClr>
              </a:gs>
              <a:gs pos="100000">
                <a:srgbClr val="FF0000">
                  <a:tint val="23500"/>
                  <a:satMod val="160000"/>
                </a:srgbClr>
              </a:gs>
            </a:gsLst>
            <a:lin ang="0" scaled="1"/>
            <a:tileRect/>
          </a:gradFill>
        </p:spPr>
        <p:style>
          <a:lnRef idx="1">
            <a:schemeClr val="accent5"/>
          </a:lnRef>
          <a:fillRef idx="2">
            <a:schemeClr val="accent5"/>
          </a:fillRef>
          <a:effectRef idx="1">
            <a:schemeClr val="accent5"/>
          </a:effectRef>
          <a:fontRef idx="minor">
            <a:schemeClr val="dk1"/>
          </a:fontRef>
        </p:style>
        <p:txBody>
          <a:bodyPr vert="horz" lIns="68580" tIns="34290" rIns="68580" bIns="34290" rtlCol="0" anchor="ctr">
            <a:noAutofit/>
          </a:bodyPr>
          <a:lstStyle>
            <a:defPPr>
              <a:defRPr lang="en-US"/>
            </a:defPPr>
            <a:lvl1pPr algn="ctr">
              <a:spcBef>
                <a:spcPct val="0"/>
              </a:spcBef>
              <a:buNone/>
              <a:defRPr sz="2800"/>
            </a:lvl1pPr>
          </a:lstStyle>
          <a:p>
            <a:pPr>
              <a:defRPr/>
            </a:pPr>
            <a:r>
              <a:rPr lang="en-IN" sz="2400" spc="-5"/>
              <a:t>Bounded Buffer Problem</a:t>
            </a:r>
            <a:r>
              <a:rPr lang="en-IN" sz="2400" spc="-70"/>
              <a:t> </a:t>
            </a:r>
            <a:r>
              <a:rPr lang="en-IN" sz="2400" spc="-5"/>
              <a:t>(Cont.</a:t>
            </a:r>
            <a:r>
              <a:rPr lang="en-US" sz="2400"/>
              <a:t>)</a:t>
            </a:r>
            <a:r>
              <a:rPr lang="en-IN" sz="2400"/>
              <a:t> (CO3)</a:t>
            </a:r>
            <a:endParaRPr lang="en-US" sz="2100" dirty="0"/>
          </a:p>
        </p:txBody>
      </p:sp>
    </p:spTree>
    <p:extLst>
      <p:ext uri="{BB962C8B-B14F-4D97-AF65-F5344CB8AC3E}">
        <p14:creationId xmlns:p14="http://schemas.microsoft.com/office/powerpoint/2010/main" val="3309044548"/>
      </p:ext>
    </p:extLst>
  </p:cSld>
  <p:clrMapOvr>
    <a:masterClrMapping/>
  </p:clrMapOvr>
  <p:transition>
    <p:dissolve/>
  </p:transition>
</p:sld>
</file>

<file path=ppt/slides/slide7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1264551-1E55-4BB6-B86B-4F32D598410A}" type="datetime3">
              <a:rPr lang="en-US" smtClean="0"/>
              <a:t>1 September 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2514600" y="6356350"/>
            <a:ext cx="5181600" cy="365125"/>
          </a:xfrm>
        </p:spPr>
        <p:txBody>
          <a:bodyPr/>
          <a:lstStyle/>
          <a:p>
            <a:r>
              <a:rPr lang="en-US"/>
              <a:t>Atul Garg           BCSE0303            Unit- III</a:t>
            </a:r>
            <a:endParaRPr lang="en-US" dirty="0"/>
          </a:p>
        </p:txBody>
      </p:sp>
      <p:sp>
        <p:nvSpPr>
          <p:cNvPr id="18" name="Rectangle 3"/>
          <p:cNvSpPr txBox="1">
            <a:spLocks noChangeArrowheads="1"/>
          </p:cNvSpPr>
          <p:nvPr/>
        </p:nvSpPr>
        <p:spPr>
          <a:xfrm>
            <a:off x="1047750" y="1484784"/>
            <a:ext cx="7029450" cy="4114800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/>
          <a:p>
            <a:pPr marL="342900" marR="0" lvl="0" indent="-342900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defRPr/>
            </a:pPr>
            <a:endParaRPr kumimoji="0" lang="en-US" sz="2200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12" name="object 3"/>
          <p:cNvSpPr txBox="1"/>
          <p:nvPr/>
        </p:nvSpPr>
        <p:spPr>
          <a:xfrm>
            <a:off x="918522" y="836712"/>
            <a:ext cx="7613918" cy="5437771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355600" indent="-342900">
              <a:spcBef>
                <a:spcPts val="95"/>
              </a:spcBef>
              <a:buClr>
                <a:srgbClr val="993300"/>
              </a:buClr>
              <a:buSzPct val="91000"/>
              <a:tabLst>
                <a:tab pos="354965" algn="l"/>
                <a:tab pos="355600" algn="l"/>
              </a:tabLst>
            </a:pPr>
            <a:r>
              <a:rPr sz="2200" spc="-5" dirty="0">
                <a:cs typeface="Arial" panose="020B0604020202020204"/>
              </a:rPr>
              <a:t>The structure of the consumer</a:t>
            </a:r>
            <a:r>
              <a:rPr sz="2200" spc="60" dirty="0">
                <a:cs typeface="Arial" panose="020B0604020202020204"/>
              </a:rPr>
              <a:t> </a:t>
            </a:r>
            <a:r>
              <a:rPr sz="2200" spc="-5" dirty="0">
                <a:cs typeface="Arial" panose="020B0604020202020204"/>
              </a:rPr>
              <a:t>process</a:t>
            </a:r>
            <a:endParaRPr sz="2200" dirty="0">
              <a:cs typeface="Arial" panose="020B0604020202020204"/>
            </a:endParaRPr>
          </a:p>
          <a:p>
            <a:pPr>
              <a:spcBef>
                <a:spcPts val="30"/>
              </a:spcBef>
            </a:pPr>
            <a:endParaRPr sz="2200" dirty="0">
              <a:cs typeface="Arial" panose="020B0604020202020204"/>
            </a:endParaRPr>
          </a:p>
          <a:p>
            <a:pPr marL="988695" marR="4526915" indent="-443230">
              <a:spcBef>
                <a:spcPts val="5"/>
              </a:spcBef>
            </a:pPr>
            <a:r>
              <a:rPr lang="en-IN" sz="2200" spc="-5" dirty="0">
                <a:cs typeface="Courier New" panose="02070309020205020404"/>
              </a:rPr>
              <a:t>d</a:t>
            </a:r>
            <a:r>
              <a:rPr sz="2200" spc="-5" dirty="0">
                <a:cs typeface="Courier New" panose="02070309020205020404"/>
              </a:rPr>
              <a:t>o {  </a:t>
            </a:r>
            <a:endParaRPr lang="en-IN" sz="2200" spc="-5" dirty="0">
              <a:cs typeface="Courier New" panose="02070309020205020404"/>
            </a:endParaRPr>
          </a:p>
          <a:p>
            <a:pPr marL="988695" marR="4526915" indent="-443230">
              <a:spcBef>
                <a:spcPts val="5"/>
              </a:spcBef>
            </a:pPr>
            <a:r>
              <a:rPr lang="en-IN" sz="2200" spc="-5" dirty="0">
                <a:cs typeface="Courier New" panose="02070309020205020404"/>
              </a:rPr>
              <a:t>        </a:t>
            </a:r>
            <a:r>
              <a:rPr sz="2200" spc="-5" dirty="0">
                <a:cs typeface="Courier New" panose="02070309020205020404"/>
              </a:rPr>
              <a:t>wait(full);  wai</a:t>
            </a:r>
            <a:r>
              <a:rPr sz="2200" spc="5" dirty="0">
                <a:cs typeface="Courier New" panose="02070309020205020404"/>
              </a:rPr>
              <a:t>t</a:t>
            </a:r>
            <a:r>
              <a:rPr sz="2200" spc="-5" dirty="0">
                <a:cs typeface="Courier New" panose="02070309020205020404"/>
              </a:rPr>
              <a:t>(mutex</a:t>
            </a:r>
            <a:r>
              <a:rPr sz="2200" spc="5" dirty="0">
                <a:cs typeface="Courier New" panose="02070309020205020404"/>
              </a:rPr>
              <a:t>)</a:t>
            </a:r>
            <a:r>
              <a:rPr sz="2200" spc="-5" dirty="0">
                <a:cs typeface="Courier New" panose="02070309020205020404"/>
              </a:rPr>
              <a:t>;</a:t>
            </a:r>
            <a:endParaRPr sz="2200" dirty="0">
              <a:cs typeface="Courier New" panose="02070309020205020404"/>
            </a:endParaRPr>
          </a:p>
          <a:p>
            <a:pPr marL="1353820">
              <a:lnSpc>
                <a:spcPct val="100000"/>
              </a:lnSpc>
              <a:spcBef>
                <a:spcPts val="670"/>
              </a:spcBef>
            </a:pPr>
            <a:r>
              <a:rPr sz="2200" dirty="0">
                <a:cs typeface="Courier New" panose="02070309020205020404"/>
              </a:rPr>
              <a:t>...</a:t>
            </a:r>
          </a:p>
          <a:p>
            <a:pPr marL="988695">
              <a:lnSpc>
                <a:spcPct val="100000"/>
              </a:lnSpc>
            </a:pPr>
            <a:r>
              <a:rPr sz="2200" spc="-5" dirty="0">
                <a:cs typeface="Courier New" panose="02070309020205020404"/>
              </a:rPr>
              <a:t>/* remove </a:t>
            </a:r>
            <a:r>
              <a:rPr sz="2200" dirty="0">
                <a:cs typeface="Courier New" panose="02070309020205020404"/>
              </a:rPr>
              <a:t>an </a:t>
            </a:r>
            <a:r>
              <a:rPr sz="2200" spc="-5" dirty="0">
                <a:cs typeface="Courier New" panose="02070309020205020404"/>
              </a:rPr>
              <a:t>item from buffer to next_consumed</a:t>
            </a:r>
            <a:r>
              <a:rPr sz="2200" spc="130" dirty="0">
                <a:cs typeface="Courier New" panose="02070309020205020404"/>
              </a:rPr>
              <a:t> </a:t>
            </a:r>
            <a:r>
              <a:rPr sz="2200" spc="-5" dirty="0">
                <a:cs typeface="Courier New" panose="02070309020205020404"/>
              </a:rPr>
              <a:t>*/</a:t>
            </a:r>
            <a:endParaRPr sz="2200" dirty="0">
              <a:cs typeface="Courier New" panose="02070309020205020404"/>
            </a:endParaRPr>
          </a:p>
          <a:p>
            <a:pPr marL="1353820">
              <a:lnSpc>
                <a:spcPct val="100000"/>
              </a:lnSpc>
              <a:spcBef>
                <a:spcPts val="670"/>
              </a:spcBef>
            </a:pPr>
            <a:r>
              <a:rPr sz="2200" dirty="0">
                <a:cs typeface="Courier New" panose="02070309020205020404"/>
              </a:rPr>
              <a:t>...</a:t>
            </a:r>
          </a:p>
          <a:p>
            <a:pPr marL="988695" marR="4283075">
              <a:lnSpc>
                <a:spcPct val="135000"/>
              </a:lnSpc>
            </a:pPr>
            <a:r>
              <a:rPr sz="2200" spc="-5" dirty="0">
                <a:cs typeface="Courier New" panose="02070309020205020404"/>
              </a:rPr>
              <a:t>sig</a:t>
            </a:r>
            <a:r>
              <a:rPr sz="2200" spc="5" dirty="0">
                <a:cs typeface="Courier New" panose="02070309020205020404"/>
              </a:rPr>
              <a:t>n</a:t>
            </a:r>
            <a:r>
              <a:rPr sz="2200" spc="-5" dirty="0">
                <a:cs typeface="Courier New" panose="02070309020205020404"/>
              </a:rPr>
              <a:t>al(mut</a:t>
            </a:r>
            <a:r>
              <a:rPr sz="2200" spc="5" dirty="0">
                <a:cs typeface="Courier New" panose="02070309020205020404"/>
              </a:rPr>
              <a:t>e</a:t>
            </a:r>
            <a:r>
              <a:rPr sz="2200" spc="-5" dirty="0">
                <a:cs typeface="Courier New" panose="02070309020205020404"/>
              </a:rPr>
              <a:t>x);  sig</a:t>
            </a:r>
            <a:r>
              <a:rPr sz="2200" spc="5" dirty="0">
                <a:cs typeface="Courier New" panose="02070309020205020404"/>
              </a:rPr>
              <a:t>n</a:t>
            </a:r>
            <a:r>
              <a:rPr sz="2200" spc="-5" dirty="0">
                <a:cs typeface="Courier New" panose="02070309020205020404"/>
              </a:rPr>
              <a:t>al(emp</a:t>
            </a:r>
            <a:r>
              <a:rPr sz="2200" spc="5" dirty="0">
                <a:cs typeface="Courier New" panose="02070309020205020404"/>
              </a:rPr>
              <a:t>t</a:t>
            </a:r>
            <a:r>
              <a:rPr sz="2200" spc="-5" dirty="0">
                <a:cs typeface="Courier New" panose="02070309020205020404"/>
              </a:rPr>
              <a:t>y);</a:t>
            </a:r>
            <a:endParaRPr sz="2200" dirty="0">
              <a:cs typeface="Courier New" panose="02070309020205020404"/>
            </a:endParaRPr>
          </a:p>
          <a:p>
            <a:pPr marL="1353820">
              <a:lnSpc>
                <a:spcPct val="100000"/>
              </a:lnSpc>
              <a:spcBef>
                <a:spcPts val="675"/>
              </a:spcBef>
            </a:pPr>
            <a:r>
              <a:rPr sz="2200" dirty="0">
                <a:cs typeface="Courier New" panose="02070309020205020404"/>
              </a:rPr>
              <a:t>...</a:t>
            </a:r>
          </a:p>
          <a:p>
            <a:pPr marL="988695">
              <a:lnSpc>
                <a:spcPct val="100000"/>
              </a:lnSpc>
            </a:pPr>
            <a:r>
              <a:rPr sz="2200" spc="-5" dirty="0">
                <a:cs typeface="Courier New" panose="02070309020205020404"/>
              </a:rPr>
              <a:t>/* consume the item in next consumed</a:t>
            </a:r>
            <a:r>
              <a:rPr sz="2200" spc="65" dirty="0">
                <a:cs typeface="Courier New" panose="02070309020205020404"/>
              </a:rPr>
              <a:t> </a:t>
            </a:r>
            <a:r>
              <a:rPr sz="2200" spc="-5" dirty="0">
                <a:cs typeface="Courier New" panose="02070309020205020404"/>
              </a:rPr>
              <a:t>*/</a:t>
            </a:r>
            <a:endParaRPr sz="2200" dirty="0">
              <a:cs typeface="Courier New" panose="02070309020205020404"/>
            </a:endParaRPr>
          </a:p>
          <a:p>
            <a:pPr marL="1353820">
              <a:lnSpc>
                <a:spcPct val="100000"/>
              </a:lnSpc>
              <a:spcBef>
                <a:spcPts val="670"/>
              </a:spcBef>
            </a:pPr>
            <a:r>
              <a:rPr sz="2200" dirty="0">
                <a:cs typeface="Courier New" panose="02070309020205020404"/>
              </a:rPr>
              <a:t>...</a:t>
            </a:r>
            <a:endParaRPr lang="en-IN" sz="2200" dirty="0">
              <a:cs typeface="Courier New" panose="02070309020205020404"/>
            </a:endParaRPr>
          </a:p>
          <a:p>
            <a:pPr marL="1353820">
              <a:lnSpc>
                <a:spcPct val="100000"/>
              </a:lnSpc>
              <a:spcBef>
                <a:spcPts val="670"/>
              </a:spcBef>
            </a:pPr>
            <a:r>
              <a:rPr lang="en-IN" sz="2200" dirty="0">
                <a:cs typeface="Courier New" panose="02070309020205020404"/>
              </a:rPr>
              <a:t>}while(true);</a:t>
            </a:r>
            <a:endParaRPr sz="2200" dirty="0">
              <a:cs typeface="Courier New" panose="02070309020205020404"/>
            </a:endParaRPr>
          </a:p>
        </p:txBody>
      </p:sp>
      <p:sp>
        <p:nvSpPr>
          <p:cNvPr id="11" name="Slide Number Placeholder 10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t>77</a:t>
            </a:fld>
            <a:endParaRPr lang="en-US"/>
          </a:p>
        </p:txBody>
      </p:sp>
      <p:pic>
        <p:nvPicPr>
          <p:cNvPr id="2" name="Picture 1" descr="A black and red logo&#10;&#10;Description automatically generated">
            <a:extLst>
              <a:ext uri="{FF2B5EF4-FFF2-40B4-BE49-F238E27FC236}">
                <a16:creationId xmlns:a16="http://schemas.microsoft.com/office/drawing/2014/main" id="{2945F77E-1E7A-6D4D-B2E5-985CDEAFE661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-27384"/>
            <a:ext cx="1657350" cy="710452"/>
          </a:xfrm>
          <a:prstGeom prst="rect">
            <a:avLst/>
          </a:prstGeom>
        </p:spPr>
      </p:pic>
      <p:sp>
        <p:nvSpPr>
          <p:cNvPr id="3" name="Title 1">
            <a:extLst>
              <a:ext uri="{FF2B5EF4-FFF2-40B4-BE49-F238E27FC236}">
                <a16:creationId xmlns:a16="http://schemas.microsoft.com/office/drawing/2014/main" id="{76BD93FA-5F42-BC15-B99B-F39EA59D899C}"/>
              </a:ext>
            </a:extLst>
          </p:cNvPr>
          <p:cNvSpPr txBox="1">
            <a:spLocks/>
          </p:cNvSpPr>
          <p:nvPr/>
        </p:nvSpPr>
        <p:spPr>
          <a:xfrm>
            <a:off x="1657350" y="0"/>
            <a:ext cx="7486650" cy="630981"/>
          </a:xfrm>
          <a:prstGeom prst="rect">
            <a:avLst/>
          </a:prstGeom>
          <a:gradFill flip="none" rotWithShape="1">
            <a:gsLst>
              <a:gs pos="0">
                <a:srgbClr val="FF0000">
                  <a:tint val="66000"/>
                  <a:satMod val="160000"/>
                </a:srgbClr>
              </a:gs>
              <a:gs pos="50000">
                <a:srgbClr val="FF0000">
                  <a:tint val="44500"/>
                  <a:satMod val="160000"/>
                </a:srgbClr>
              </a:gs>
              <a:gs pos="100000">
                <a:srgbClr val="FF0000">
                  <a:tint val="23500"/>
                  <a:satMod val="160000"/>
                </a:srgbClr>
              </a:gs>
            </a:gsLst>
            <a:lin ang="0" scaled="1"/>
            <a:tileRect/>
          </a:gradFill>
        </p:spPr>
        <p:style>
          <a:lnRef idx="1">
            <a:schemeClr val="accent5"/>
          </a:lnRef>
          <a:fillRef idx="2">
            <a:schemeClr val="accent5"/>
          </a:fillRef>
          <a:effectRef idx="1">
            <a:schemeClr val="accent5"/>
          </a:effectRef>
          <a:fontRef idx="minor">
            <a:schemeClr val="dk1"/>
          </a:fontRef>
        </p:style>
        <p:txBody>
          <a:bodyPr vert="horz" lIns="68580" tIns="34290" rIns="68580" bIns="34290" rtlCol="0" anchor="ctr">
            <a:noAutofit/>
          </a:bodyPr>
          <a:lstStyle>
            <a:defPPr>
              <a:defRPr lang="en-US"/>
            </a:defPPr>
            <a:lvl1pPr algn="ctr">
              <a:spcBef>
                <a:spcPct val="0"/>
              </a:spcBef>
              <a:buNone/>
              <a:defRPr sz="2800"/>
            </a:lvl1pPr>
          </a:lstStyle>
          <a:p>
            <a:pPr>
              <a:defRPr/>
            </a:pPr>
            <a:r>
              <a:rPr lang="en-IN" sz="2400" spc="-5" dirty="0"/>
              <a:t>Bounded Buffer Problem</a:t>
            </a:r>
            <a:r>
              <a:rPr lang="en-IN" sz="2400" spc="-70" dirty="0"/>
              <a:t> </a:t>
            </a:r>
            <a:r>
              <a:rPr lang="en-IN" sz="2400" spc="-5" dirty="0"/>
              <a:t>(Cont.</a:t>
            </a:r>
            <a:r>
              <a:rPr lang="en-US" sz="2400" dirty="0"/>
              <a:t>)</a:t>
            </a:r>
            <a:r>
              <a:rPr lang="en-IN" sz="2400" dirty="0"/>
              <a:t> (CO3)</a:t>
            </a:r>
            <a:endParaRPr lang="en-US" sz="2100" dirty="0"/>
          </a:p>
        </p:txBody>
      </p:sp>
    </p:spTree>
    <p:extLst>
      <p:ext uri="{BB962C8B-B14F-4D97-AF65-F5344CB8AC3E}">
        <p14:creationId xmlns:p14="http://schemas.microsoft.com/office/powerpoint/2010/main" val="705054481"/>
      </p:ext>
    </p:extLst>
  </p:cSld>
  <p:clrMapOvr>
    <a:masterClrMapping/>
  </p:clrMapOvr>
  <p:transition>
    <p:dissolve/>
  </p:transition>
</p:sld>
</file>

<file path=ppt/slides/slide7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A7605C1-1DA4-44DC-B977-F4FFE8D73FF8}" type="datetime3">
              <a:rPr lang="en-US" smtClean="0"/>
              <a:t>1 September 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2514600" y="6356350"/>
            <a:ext cx="5181600" cy="365125"/>
          </a:xfrm>
        </p:spPr>
        <p:txBody>
          <a:bodyPr/>
          <a:lstStyle/>
          <a:p>
            <a:r>
              <a:rPr lang="en-US"/>
              <a:t>Atul Garg           BCSE0303            Unit- III</a:t>
            </a:r>
            <a:endParaRPr lang="en-US" dirty="0"/>
          </a:p>
        </p:txBody>
      </p:sp>
      <p:sp>
        <p:nvSpPr>
          <p:cNvPr id="11" name="object 3"/>
          <p:cNvSpPr txBox="1"/>
          <p:nvPr/>
        </p:nvSpPr>
        <p:spPr>
          <a:xfrm>
            <a:off x="905822" y="908720"/>
            <a:ext cx="7986658" cy="3695884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415925" indent="-403860">
              <a:lnSpc>
                <a:spcPct val="100000"/>
              </a:lnSpc>
              <a:spcBef>
                <a:spcPts val="100"/>
              </a:spcBef>
              <a:buClr>
                <a:srgbClr val="993300"/>
              </a:buClr>
              <a:buSzPct val="89000"/>
              <a:buFont typeface="Arial" panose="020B0604020202020204" pitchFamily="34" charset="0"/>
              <a:buChar char="•"/>
              <a:tabLst>
                <a:tab pos="415925" algn="l"/>
                <a:tab pos="415925" algn="l"/>
              </a:tabLst>
            </a:pPr>
            <a:r>
              <a:rPr sz="2400" spc="-5" dirty="0">
                <a:cs typeface="Arial" panose="020B0604020202020204"/>
              </a:rPr>
              <a:t>Incorrect use of </a:t>
            </a:r>
            <a:r>
              <a:rPr sz="2400" spc="-10" dirty="0">
                <a:cs typeface="Arial" panose="020B0604020202020204"/>
              </a:rPr>
              <a:t>semaphore</a:t>
            </a:r>
            <a:r>
              <a:rPr sz="2400" spc="30" dirty="0">
                <a:cs typeface="Arial" panose="020B0604020202020204"/>
              </a:rPr>
              <a:t> </a:t>
            </a:r>
            <a:r>
              <a:rPr sz="2400" spc="-10" dirty="0">
                <a:cs typeface="Arial" panose="020B0604020202020204"/>
              </a:rPr>
              <a:t>operations:</a:t>
            </a:r>
            <a:endParaRPr sz="2400" dirty="0">
              <a:cs typeface="Arial" panose="020B0604020202020204"/>
            </a:endParaRPr>
          </a:p>
          <a:p>
            <a:pPr>
              <a:lnSpc>
                <a:spcPct val="100000"/>
              </a:lnSpc>
              <a:spcBef>
                <a:spcPts val="40"/>
              </a:spcBef>
              <a:buClr>
                <a:srgbClr val="993300"/>
              </a:buClr>
              <a:buFont typeface="Arial" panose="020B0604020202020204" pitchFamily="34" charset="0"/>
              <a:buChar char="•"/>
            </a:pPr>
            <a:endParaRPr sz="2400" dirty="0">
              <a:cs typeface="Arial" panose="020B0604020202020204"/>
            </a:endParaRPr>
          </a:p>
          <a:p>
            <a:pPr marL="817245" lvl="1" indent="-347980">
              <a:lnSpc>
                <a:spcPct val="100000"/>
              </a:lnSpc>
              <a:buClr>
                <a:srgbClr val="CC6600"/>
              </a:buClr>
              <a:buSzPct val="81000"/>
              <a:buFont typeface="Arial" panose="020B0604020202020204" pitchFamily="34" charset="0"/>
              <a:buChar char="•"/>
              <a:tabLst>
                <a:tab pos="816610" algn="l"/>
                <a:tab pos="817880" algn="l"/>
                <a:tab pos="2378710" algn="l"/>
              </a:tabLst>
            </a:pPr>
            <a:r>
              <a:rPr sz="2400" spc="-10" dirty="0">
                <a:cs typeface="Arial" panose="020B0604020202020204"/>
              </a:rPr>
              <a:t>signal</a:t>
            </a:r>
            <a:r>
              <a:rPr sz="2400" spc="15" dirty="0">
                <a:cs typeface="Arial" panose="020B0604020202020204"/>
              </a:rPr>
              <a:t> </a:t>
            </a:r>
            <a:r>
              <a:rPr sz="2400" spc="-5" dirty="0">
                <a:cs typeface="Arial" panose="020B0604020202020204"/>
              </a:rPr>
              <a:t>(mutex)	</a:t>
            </a:r>
            <a:r>
              <a:rPr sz="2400" dirty="0">
                <a:cs typeface="Arial" panose="020B0604020202020204"/>
              </a:rPr>
              <a:t>…. </a:t>
            </a:r>
            <a:r>
              <a:rPr sz="2400" spc="-15" dirty="0">
                <a:cs typeface="Arial" panose="020B0604020202020204"/>
              </a:rPr>
              <a:t>wait</a:t>
            </a:r>
            <a:r>
              <a:rPr sz="2400" spc="25" dirty="0">
                <a:cs typeface="Arial" panose="020B0604020202020204"/>
              </a:rPr>
              <a:t> </a:t>
            </a:r>
            <a:r>
              <a:rPr sz="2400" spc="-5" dirty="0">
                <a:cs typeface="Arial" panose="020B0604020202020204"/>
              </a:rPr>
              <a:t>(mutex)</a:t>
            </a:r>
            <a:endParaRPr sz="2400" dirty="0">
              <a:cs typeface="Arial" panose="020B0604020202020204"/>
            </a:endParaRPr>
          </a:p>
          <a:p>
            <a:pPr lvl="1">
              <a:lnSpc>
                <a:spcPct val="100000"/>
              </a:lnSpc>
              <a:spcBef>
                <a:spcPts val="40"/>
              </a:spcBef>
              <a:buClr>
                <a:srgbClr val="CC6600"/>
              </a:buClr>
              <a:buFont typeface="Arial" panose="020B0604020202020204" pitchFamily="34" charset="0"/>
              <a:buChar char="•"/>
            </a:pPr>
            <a:endParaRPr sz="2400" dirty="0">
              <a:cs typeface="Arial" panose="020B0604020202020204"/>
            </a:endParaRPr>
          </a:p>
          <a:p>
            <a:pPr marL="817245" lvl="1" indent="-347980">
              <a:lnSpc>
                <a:spcPct val="100000"/>
              </a:lnSpc>
              <a:buClr>
                <a:srgbClr val="CC6600"/>
              </a:buClr>
              <a:buSzPct val="81000"/>
              <a:buFont typeface="Arial" panose="020B0604020202020204" pitchFamily="34" charset="0"/>
              <a:buChar char="•"/>
              <a:tabLst>
                <a:tab pos="816610" algn="l"/>
                <a:tab pos="817880" algn="l"/>
                <a:tab pos="2188210" algn="l"/>
              </a:tabLst>
            </a:pPr>
            <a:r>
              <a:rPr sz="2400" spc="-15" dirty="0">
                <a:cs typeface="Arial" panose="020B0604020202020204"/>
              </a:rPr>
              <a:t>wait</a:t>
            </a:r>
            <a:r>
              <a:rPr sz="2400" spc="40" dirty="0">
                <a:cs typeface="Arial" panose="020B0604020202020204"/>
              </a:rPr>
              <a:t> </a:t>
            </a:r>
            <a:r>
              <a:rPr sz="2400" spc="-5" dirty="0">
                <a:cs typeface="Arial" panose="020B0604020202020204"/>
              </a:rPr>
              <a:t>(mutex)	</a:t>
            </a:r>
            <a:r>
              <a:rPr sz="2400" dirty="0">
                <a:cs typeface="Arial" panose="020B0604020202020204"/>
              </a:rPr>
              <a:t>… </a:t>
            </a:r>
            <a:r>
              <a:rPr sz="2400" spc="-15" dirty="0">
                <a:cs typeface="Arial" panose="020B0604020202020204"/>
              </a:rPr>
              <a:t>wait</a:t>
            </a:r>
            <a:r>
              <a:rPr sz="2400" spc="25" dirty="0">
                <a:cs typeface="Arial" panose="020B0604020202020204"/>
              </a:rPr>
              <a:t> </a:t>
            </a:r>
            <a:r>
              <a:rPr sz="2400" spc="-5" dirty="0">
                <a:cs typeface="Arial" panose="020B0604020202020204"/>
              </a:rPr>
              <a:t>(mutex)</a:t>
            </a:r>
            <a:endParaRPr sz="2400" dirty="0">
              <a:cs typeface="Arial" panose="020B0604020202020204"/>
            </a:endParaRPr>
          </a:p>
          <a:p>
            <a:pPr lvl="1">
              <a:lnSpc>
                <a:spcPct val="100000"/>
              </a:lnSpc>
              <a:buClr>
                <a:srgbClr val="CC6600"/>
              </a:buClr>
              <a:buFont typeface="Arial" panose="020B0604020202020204" pitchFamily="34" charset="0"/>
              <a:buChar char="•"/>
            </a:pPr>
            <a:endParaRPr sz="2400" dirty="0">
              <a:cs typeface="Arial" panose="020B0604020202020204"/>
            </a:endParaRPr>
          </a:p>
          <a:p>
            <a:pPr marL="817245" lvl="1" indent="-347980">
              <a:lnSpc>
                <a:spcPct val="100000"/>
              </a:lnSpc>
              <a:spcBef>
                <a:spcPts val="1375"/>
              </a:spcBef>
              <a:buClr>
                <a:srgbClr val="CC6600"/>
              </a:buClr>
              <a:buSzPct val="81000"/>
              <a:buFont typeface="Arial" panose="020B0604020202020204" pitchFamily="34" charset="0"/>
              <a:buChar char="•"/>
              <a:tabLst>
                <a:tab pos="816610" algn="l"/>
                <a:tab pos="817880" algn="l"/>
              </a:tabLst>
            </a:pPr>
            <a:r>
              <a:rPr sz="2400" spc="-5" dirty="0">
                <a:cs typeface="Arial" panose="020B0604020202020204"/>
              </a:rPr>
              <a:t>Omitting of </a:t>
            </a:r>
            <a:r>
              <a:rPr sz="2400" spc="-15" dirty="0">
                <a:cs typeface="Arial" panose="020B0604020202020204"/>
              </a:rPr>
              <a:t>wait </a:t>
            </a:r>
            <a:r>
              <a:rPr sz="2400" spc="-5" dirty="0">
                <a:cs typeface="Arial" panose="020B0604020202020204"/>
              </a:rPr>
              <a:t>(mutex) </a:t>
            </a:r>
            <a:r>
              <a:rPr sz="2400" spc="-10" dirty="0">
                <a:cs typeface="Arial" panose="020B0604020202020204"/>
              </a:rPr>
              <a:t>or signal </a:t>
            </a:r>
            <a:r>
              <a:rPr sz="2400" spc="-5" dirty="0">
                <a:cs typeface="Arial" panose="020B0604020202020204"/>
              </a:rPr>
              <a:t>(mutex) (or</a:t>
            </a:r>
            <a:r>
              <a:rPr sz="2400" spc="110" dirty="0">
                <a:cs typeface="Arial" panose="020B0604020202020204"/>
              </a:rPr>
              <a:t> </a:t>
            </a:r>
            <a:r>
              <a:rPr sz="2400" spc="-10" dirty="0">
                <a:cs typeface="Arial" panose="020B0604020202020204"/>
              </a:rPr>
              <a:t>both)</a:t>
            </a:r>
            <a:endParaRPr sz="2400" dirty="0">
              <a:cs typeface="Arial" panose="020B0604020202020204"/>
            </a:endParaRPr>
          </a:p>
          <a:p>
            <a:pPr lvl="1">
              <a:lnSpc>
                <a:spcPct val="100000"/>
              </a:lnSpc>
              <a:buClr>
                <a:srgbClr val="CC6600"/>
              </a:buClr>
              <a:buFont typeface="Arial" panose="020B0604020202020204" pitchFamily="34" charset="0"/>
              <a:buChar char="•"/>
            </a:pPr>
            <a:endParaRPr sz="2400" dirty="0">
              <a:cs typeface="Arial" panose="020B0604020202020204"/>
            </a:endParaRPr>
          </a:p>
          <a:p>
            <a:pPr marL="353695" indent="-341630">
              <a:lnSpc>
                <a:spcPct val="100000"/>
              </a:lnSpc>
              <a:spcBef>
                <a:spcPts val="1370"/>
              </a:spcBef>
              <a:buClr>
                <a:srgbClr val="993300"/>
              </a:buClr>
              <a:buSzPct val="89000"/>
              <a:buFont typeface="Arial" panose="020B0604020202020204" pitchFamily="34" charset="0"/>
              <a:buChar char="•"/>
              <a:tabLst>
                <a:tab pos="353695" algn="l"/>
                <a:tab pos="354330" algn="l"/>
              </a:tabLst>
            </a:pPr>
            <a:r>
              <a:rPr sz="2400" spc="-10" dirty="0">
                <a:cs typeface="Arial" panose="020B0604020202020204"/>
              </a:rPr>
              <a:t>Deadlock and </a:t>
            </a:r>
            <a:r>
              <a:rPr sz="2400" spc="-5" dirty="0">
                <a:cs typeface="Arial" panose="020B0604020202020204"/>
              </a:rPr>
              <a:t>starvation are</a:t>
            </a:r>
            <a:r>
              <a:rPr sz="2400" spc="35" dirty="0">
                <a:cs typeface="Arial" panose="020B0604020202020204"/>
              </a:rPr>
              <a:t> </a:t>
            </a:r>
            <a:r>
              <a:rPr sz="2400" spc="-10" dirty="0">
                <a:cs typeface="Arial" panose="020B0604020202020204"/>
              </a:rPr>
              <a:t>possible.</a:t>
            </a:r>
            <a:endParaRPr sz="2400" dirty="0">
              <a:cs typeface="Arial" panose="020B0604020202020204"/>
            </a:endParaRPr>
          </a:p>
        </p:txBody>
      </p:sp>
      <p:sp>
        <p:nvSpPr>
          <p:cNvPr id="8" name="Slide Number Placeholder 7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t>78</a:t>
            </a:fld>
            <a:endParaRPr lang="en-US"/>
          </a:p>
        </p:txBody>
      </p:sp>
      <p:pic>
        <p:nvPicPr>
          <p:cNvPr id="2" name="Picture 1" descr="A black and red logo&#10;&#10;Description automatically generated">
            <a:extLst>
              <a:ext uri="{FF2B5EF4-FFF2-40B4-BE49-F238E27FC236}">
                <a16:creationId xmlns:a16="http://schemas.microsoft.com/office/drawing/2014/main" id="{12BFBEFA-1E99-80E9-BCD8-39AB78120A79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-27384"/>
            <a:ext cx="1657350" cy="710452"/>
          </a:xfrm>
          <a:prstGeom prst="rect">
            <a:avLst/>
          </a:prstGeom>
        </p:spPr>
      </p:pic>
      <p:sp>
        <p:nvSpPr>
          <p:cNvPr id="3" name="Title 1">
            <a:extLst>
              <a:ext uri="{FF2B5EF4-FFF2-40B4-BE49-F238E27FC236}">
                <a16:creationId xmlns:a16="http://schemas.microsoft.com/office/drawing/2014/main" id="{3708DDB9-5CE5-96D8-7C2D-8C088DC2879A}"/>
              </a:ext>
            </a:extLst>
          </p:cNvPr>
          <p:cNvSpPr txBox="1">
            <a:spLocks/>
          </p:cNvSpPr>
          <p:nvPr/>
        </p:nvSpPr>
        <p:spPr>
          <a:xfrm>
            <a:off x="1657350" y="0"/>
            <a:ext cx="7486650" cy="630981"/>
          </a:xfrm>
          <a:prstGeom prst="rect">
            <a:avLst/>
          </a:prstGeom>
          <a:gradFill flip="none" rotWithShape="1">
            <a:gsLst>
              <a:gs pos="0">
                <a:srgbClr val="FF0000">
                  <a:tint val="66000"/>
                  <a:satMod val="160000"/>
                </a:srgbClr>
              </a:gs>
              <a:gs pos="50000">
                <a:srgbClr val="FF0000">
                  <a:tint val="44500"/>
                  <a:satMod val="160000"/>
                </a:srgbClr>
              </a:gs>
              <a:gs pos="100000">
                <a:srgbClr val="FF0000">
                  <a:tint val="23500"/>
                  <a:satMod val="160000"/>
                </a:srgbClr>
              </a:gs>
            </a:gsLst>
            <a:lin ang="0" scaled="1"/>
            <a:tileRect/>
          </a:gradFill>
        </p:spPr>
        <p:style>
          <a:lnRef idx="1">
            <a:schemeClr val="accent5"/>
          </a:lnRef>
          <a:fillRef idx="2">
            <a:schemeClr val="accent5"/>
          </a:fillRef>
          <a:effectRef idx="1">
            <a:schemeClr val="accent5"/>
          </a:effectRef>
          <a:fontRef idx="minor">
            <a:schemeClr val="dk1"/>
          </a:fontRef>
        </p:style>
        <p:txBody>
          <a:bodyPr vert="horz" lIns="68580" tIns="34290" rIns="68580" bIns="34290" rtlCol="0" anchor="ctr">
            <a:noAutofit/>
          </a:bodyPr>
          <a:lstStyle>
            <a:defPPr>
              <a:defRPr lang="en-US"/>
            </a:defPPr>
            <a:lvl1pPr algn="ctr">
              <a:spcBef>
                <a:spcPct val="0"/>
              </a:spcBef>
              <a:buNone/>
              <a:defRPr sz="2800"/>
            </a:lvl1pPr>
          </a:lstStyle>
          <a:p>
            <a:pPr>
              <a:defRPr/>
            </a:pPr>
            <a:r>
              <a:rPr lang="en-IN" sz="2400" spc="-5" dirty="0"/>
              <a:t>Problems </a:t>
            </a:r>
            <a:r>
              <a:rPr lang="en-IN" sz="2400" dirty="0"/>
              <a:t>with</a:t>
            </a:r>
            <a:r>
              <a:rPr lang="en-IN" sz="2400" spc="-95" dirty="0"/>
              <a:t> </a:t>
            </a:r>
            <a:r>
              <a:rPr lang="en-IN" sz="2400" spc="-5" dirty="0"/>
              <a:t>Semaphores</a:t>
            </a:r>
            <a:r>
              <a:rPr lang="en-IN" sz="2400" dirty="0"/>
              <a:t>(CO3)</a:t>
            </a:r>
            <a:endParaRPr lang="en-US" sz="2100" dirty="0"/>
          </a:p>
        </p:txBody>
      </p:sp>
    </p:spTree>
    <p:extLst>
      <p:ext uri="{BB962C8B-B14F-4D97-AF65-F5344CB8AC3E}">
        <p14:creationId xmlns:p14="http://schemas.microsoft.com/office/powerpoint/2010/main" val="3543862726"/>
      </p:ext>
    </p:extLst>
  </p:cSld>
  <p:clrMapOvr>
    <a:masterClrMapping/>
  </p:clrMapOvr>
  <p:transition>
    <p:dissolve/>
  </p:transition>
</p:sld>
</file>

<file path=ppt/slides/slide7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9B4F0DA-9186-456F-BD58-271C58EE277A}" type="datetime3">
              <a:rPr lang="en-US" smtClean="0"/>
              <a:t>1 September 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2514600" y="6356350"/>
            <a:ext cx="5181600" cy="365125"/>
          </a:xfrm>
        </p:spPr>
        <p:txBody>
          <a:bodyPr/>
          <a:lstStyle/>
          <a:p>
            <a:r>
              <a:rPr lang="en-US"/>
              <a:t>Atul Garg           BCSE0303            Unit- III</a:t>
            </a:r>
            <a:endParaRPr lang="en-US" dirty="0"/>
          </a:p>
        </p:txBody>
      </p:sp>
      <p:sp>
        <p:nvSpPr>
          <p:cNvPr id="10" name="Rectangle 9"/>
          <p:cNvSpPr/>
          <p:nvPr/>
        </p:nvSpPr>
        <p:spPr>
          <a:xfrm>
            <a:off x="827584" y="801286"/>
            <a:ext cx="7632848" cy="557075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342900" indent="-342900" algn="just">
              <a:buFont typeface="Arial" panose="020B0604020202020204" pitchFamily="34" charset="0"/>
              <a:buChar char="•"/>
            </a:pPr>
            <a:r>
              <a:rPr lang="en-IN" dirty="0"/>
              <a:t>A system consists of a finite number of resources to be distributed among a number of competing processes. The resources are partitioned into several types, each of which consists of some number of identical instances.</a:t>
            </a:r>
          </a:p>
          <a:p>
            <a:pPr algn="just"/>
            <a:endParaRPr lang="en-IN" dirty="0"/>
          </a:p>
          <a:p>
            <a:pPr marL="342900" indent="-342900" algn="just">
              <a:buFont typeface="Arial" panose="020B0604020202020204" pitchFamily="34" charset="0"/>
              <a:buChar char="•"/>
            </a:pPr>
            <a:r>
              <a:rPr lang="en-IN" dirty="0"/>
              <a:t>Memory space, CPU cycles, files and I/O devices (printers, tape drives) are examples of resource types.</a:t>
            </a:r>
          </a:p>
          <a:p>
            <a:pPr marL="342900" indent="-342900" algn="just">
              <a:buFont typeface="Arial" panose="020B0604020202020204" pitchFamily="34" charset="0"/>
              <a:buChar char="•"/>
            </a:pPr>
            <a:endParaRPr lang="en-IN" dirty="0"/>
          </a:p>
          <a:p>
            <a:pPr marL="342900" indent="-342900" algn="just">
              <a:buFont typeface="Arial" panose="020B0604020202020204" pitchFamily="34" charset="0"/>
              <a:buChar char="•"/>
            </a:pPr>
            <a:r>
              <a:rPr lang="en-IN" dirty="0"/>
              <a:t>A process must request a resource before using it, and must release the resource after using it.</a:t>
            </a:r>
          </a:p>
          <a:p>
            <a:pPr marL="342900" indent="-342900" algn="just">
              <a:buFont typeface="Arial" panose="020B0604020202020204" pitchFamily="34" charset="0"/>
              <a:buChar char="•"/>
            </a:pPr>
            <a:endParaRPr lang="en-IN" dirty="0"/>
          </a:p>
          <a:p>
            <a:pPr marL="342900" indent="-342900" algn="just">
              <a:buFont typeface="Arial" panose="020B0604020202020204" pitchFamily="34" charset="0"/>
              <a:buChar char="•"/>
            </a:pPr>
            <a:r>
              <a:rPr lang="en-IN" dirty="0"/>
              <a:t>Under the normal mode of operation, a process may utilize a resource in only the following sequence.</a:t>
            </a:r>
          </a:p>
          <a:p>
            <a:pPr marL="342900" indent="-342900" algn="just">
              <a:buFont typeface="Arial" panose="020B0604020202020204" pitchFamily="34" charset="0"/>
              <a:buChar char="•"/>
            </a:pPr>
            <a:endParaRPr lang="en-IN" dirty="0"/>
          </a:p>
          <a:p>
            <a:pPr marL="342900" indent="-342900" algn="just">
              <a:buAutoNum type="arabicPeriod"/>
            </a:pPr>
            <a:r>
              <a:rPr lang="en-IN" b="1" dirty="0"/>
              <a:t>Request: </a:t>
            </a:r>
            <a:r>
              <a:rPr lang="en-IN" dirty="0"/>
              <a:t>if the request can not be granted immediately then the requesting process must wait until it can acquire the resource.</a:t>
            </a:r>
          </a:p>
          <a:p>
            <a:pPr marL="342900" indent="-342900" algn="just">
              <a:buAutoNum type="arabicPeriod"/>
            </a:pPr>
            <a:endParaRPr lang="en-IN" dirty="0"/>
          </a:p>
          <a:p>
            <a:pPr algn="just"/>
            <a:r>
              <a:rPr lang="en-IN" b="1" dirty="0"/>
              <a:t>2. Use: </a:t>
            </a:r>
            <a:r>
              <a:rPr lang="en-IN" dirty="0"/>
              <a:t>The process can operate on the resource </a:t>
            </a:r>
            <a:r>
              <a:rPr lang="en-IN" sz="1600" dirty="0"/>
              <a:t>(for example, if the resource is a printer, the process can print on the printer)</a:t>
            </a:r>
          </a:p>
          <a:p>
            <a:pPr algn="just"/>
            <a:endParaRPr lang="en-IN" sz="1600" dirty="0"/>
          </a:p>
          <a:p>
            <a:pPr algn="just"/>
            <a:r>
              <a:rPr lang="en-IN" b="1" dirty="0"/>
              <a:t>3. Release: </a:t>
            </a:r>
            <a:r>
              <a:rPr lang="en-IN" dirty="0"/>
              <a:t>The process releases the resource.</a:t>
            </a:r>
            <a:endParaRPr lang="en-IN" b="1" dirty="0"/>
          </a:p>
        </p:txBody>
      </p:sp>
      <p:sp>
        <p:nvSpPr>
          <p:cNvPr id="8" name="Slide Number Placeholder 7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t>79</a:t>
            </a:fld>
            <a:endParaRPr lang="en-US"/>
          </a:p>
        </p:txBody>
      </p:sp>
      <p:pic>
        <p:nvPicPr>
          <p:cNvPr id="2" name="Picture 1" descr="A black and red logo&#10;&#10;Description automatically generated">
            <a:extLst>
              <a:ext uri="{FF2B5EF4-FFF2-40B4-BE49-F238E27FC236}">
                <a16:creationId xmlns:a16="http://schemas.microsoft.com/office/drawing/2014/main" id="{AE164FB3-7CCC-79C8-8848-E7A4CF7E38CD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-27384"/>
            <a:ext cx="1657350" cy="710452"/>
          </a:xfrm>
          <a:prstGeom prst="rect">
            <a:avLst/>
          </a:prstGeom>
        </p:spPr>
      </p:pic>
      <p:sp>
        <p:nvSpPr>
          <p:cNvPr id="3" name="Title 1">
            <a:extLst>
              <a:ext uri="{FF2B5EF4-FFF2-40B4-BE49-F238E27FC236}">
                <a16:creationId xmlns:a16="http://schemas.microsoft.com/office/drawing/2014/main" id="{1EB0A570-09F0-7FF5-E096-B90C33CD4C5E}"/>
              </a:ext>
            </a:extLst>
          </p:cNvPr>
          <p:cNvSpPr txBox="1">
            <a:spLocks/>
          </p:cNvSpPr>
          <p:nvPr/>
        </p:nvSpPr>
        <p:spPr>
          <a:xfrm>
            <a:off x="1657350" y="0"/>
            <a:ext cx="7486650" cy="630981"/>
          </a:xfrm>
          <a:prstGeom prst="rect">
            <a:avLst/>
          </a:prstGeom>
          <a:gradFill flip="none" rotWithShape="1">
            <a:gsLst>
              <a:gs pos="0">
                <a:srgbClr val="FF0000">
                  <a:tint val="66000"/>
                  <a:satMod val="160000"/>
                </a:srgbClr>
              </a:gs>
              <a:gs pos="50000">
                <a:srgbClr val="FF0000">
                  <a:tint val="44500"/>
                  <a:satMod val="160000"/>
                </a:srgbClr>
              </a:gs>
              <a:gs pos="100000">
                <a:srgbClr val="FF0000">
                  <a:tint val="23500"/>
                  <a:satMod val="160000"/>
                </a:srgbClr>
              </a:gs>
            </a:gsLst>
            <a:lin ang="0" scaled="1"/>
            <a:tileRect/>
          </a:gradFill>
        </p:spPr>
        <p:style>
          <a:lnRef idx="1">
            <a:schemeClr val="accent5"/>
          </a:lnRef>
          <a:fillRef idx="2">
            <a:schemeClr val="accent5"/>
          </a:fillRef>
          <a:effectRef idx="1">
            <a:schemeClr val="accent5"/>
          </a:effectRef>
          <a:fontRef idx="minor">
            <a:schemeClr val="dk1"/>
          </a:fontRef>
        </p:style>
        <p:txBody>
          <a:bodyPr vert="horz" lIns="68580" tIns="34290" rIns="68580" bIns="34290" rtlCol="0" anchor="ctr">
            <a:noAutofit/>
          </a:bodyPr>
          <a:lstStyle>
            <a:defPPr>
              <a:defRPr lang="en-US"/>
            </a:defPPr>
            <a:lvl1pPr algn="ctr">
              <a:spcBef>
                <a:spcPct val="0"/>
              </a:spcBef>
              <a:buNone/>
              <a:defRPr sz="2800"/>
            </a:lvl1pPr>
          </a:lstStyle>
          <a:p>
            <a:pPr>
              <a:defRPr/>
            </a:pPr>
            <a:r>
              <a:rPr lang="en-US" sz="2100" dirty="0"/>
              <a:t>System Model</a:t>
            </a:r>
          </a:p>
        </p:txBody>
      </p:sp>
    </p:spTree>
    <p:extLst>
      <p:ext uri="{BB962C8B-B14F-4D97-AF65-F5344CB8AC3E}">
        <p14:creationId xmlns:p14="http://schemas.microsoft.com/office/powerpoint/2010/main" val="2403247174"/>
      </p:ext>
    </p:extLst>
  </p:cSld>
  <p:clrMapOvr>
    <a:masterClrMapping/>
  </p:clrMapOvr>
  <p:transition>
    <p:dissolve/>
  </p:transition>
</p:sld>
</file>

<file path=ppt/slides/slide8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C89B90C-5819-4852-9FE1-D1EC92FE8AEC}" type="datetime3">
              <a:rPr lang="en-US" smtClean="0"/>
              <a:t>1 September 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2514600" y="6356350"/>
            <a:ext cx="5181600" cy="365125"/>
          </a:xfrm>
        </p:spPr>
        <p:txBody>
          <a:bodyPr/>
          <a:lstStyle/>
          <a:p>
            <a:r>
              <a:rPr lang="en-US"/>
              <a:t>Atul Garg           BCSE0303            Unit- III</a:t>
            </a:r>
            <a:endParaRPr lang="en-US" dirty="0"/>
          </a:p>
        </p:txBody>
      </p:sp>
      <p:sp>
        <p:nvSpPr>
          <p:cNvPr id="10" name="Rectangle 9"/>
          <p:cNvSpPr/>
          <p:nvPr/>
        </p:nvSpPr>
        <p:spPr>
          <a:xfrm>
            <a:off x="827584" y="764704"/>
            <a:ext cx="8244408" cy="483209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IN" sz="2200" dirty="0"/>
              <a:t>Deadlock can arise if four conditions hold simultaneously</a:t>
            </a:r>
          </a:p>
          <a:p>
            <a:endParaRPr lang="en-IN" sz="2200" dirty="0"/>
          </a:p>
          <a:p>
            <a:pPr>
              <a:buFont typeface="Arial" panose="020B0604020202020204" pitchFamily="34" charset="0"/>
              <a:buChar char="•"/>
            </a:pPr>
            <a:r>
              <a:rPr lang="en-IN" sz="2200" b="1" dirty="0"/>
              <a:t>Mutual exclusion</a:t>
            </a:r>
            <a:r>
              <a:rPr lang="en-IN" sz="2200" dirty="0"/>
              <a:t>: only one process at a time can use a resource.</a:t>
            </a:r>
          </a:p>
          <a:p>
            <a:pPr>
              <a:buFont typeface="Arial" panose="020B0604020202020204" pitchFamily="34" charset="0"/>
              <a:buChar char="•"/>
            </a:pPr>
            <a:endParaRPr lang="en-IN" sz="2200" dirty="0"/>
          </a:p>
          <a:p>
            <a:pPr>
              <a:buFont typeface="Arial" panose="020B0604020202020204" pitchFamily="34" charset="0"/>
              <a:buChar char="•"/>
            </a:pPr>
            <a:r>
              <a:rPr lang="en-IN" sz="2200" dirty="0"/>
              <a:t> </a:t>
            </a:r>
            <a:r>
              <a:rPr lang="en-IN" sz="2200" b="1" dirty="0"/>
              <a:t>Hold and wait</a:t>
            </a:r>
            <a:r>
              <a:rPr lang="en-IN" sz="2200" dirty="0"/>
              <a:t>: a process holding at least one resource and is waiting to acquire additional resources held by other processes.</a:t>
            </a:r>
          </a:p>
          <a:p>
            <a:pPr>
              <a:buFont typeface="Arial" panose="020B0604020202020204" pitchFamily="34" charset="0"/>
              <a:buChar char="•"/>
            </a:pPr>
            <a:endParaRPr lang="en-IN" sz="2200" dirty="0"/>
          </a:p>
          <a:p>
            <a:pPr>
              <a:buFont typeface="Arial" panose="020B0604020202020204" pitchFamily="34" charset="0"/>
              <a:buChar char="•"/>
            </a:pPr>
            <a:r>
              <a:rPr lang="en-IN" sz="2200" b="1" dirty="0"/>
              <a:t>No preemption</a:t>
            </a:r>
            <a:r>
              <a:rPr lang="en-IN" sz="2200" dirty="0"/>
              <a:t>: a resource can be released only voluntarily by the process holding it, after that process has completed its task.</a:t>
            </a:r>
          </a:p>
          <a:p>
            <a:pPr>
              <a:buFont typeface="Arial" panose="020B0604020202020204" pitchFamily="34" charset="0"/>
              <a:buChar char="•"/>
            </a:pPr>
            <a:endParaRPr lang="en-IN" sz="2200" dirty="0"/>
          </a:p>
          <a:p>
            <a:pPr>
              <a:buFont typeface="Arial" panose="020B0604020202020204" pitchFamily="34" charset="0"/>
              <a:buChar char="•"/>
            </a:pPr>
            <a:r>
              <a:rPr lang="en-IN" sz="2200" b="1" dirty="0"/>
              <a:t>Circular wait: </a:t>
            </a:r>
            <a:r>
              <a:rPr lang="en-IN" sz="2200" dirty="0"/>
              <a:t>there exists a set {P0, P1, …, </a:t>
            </a:r>
            <a:r>
              <a:rPr lang="en-IN" sz="2200" dirty="0" err="1"/>
              <a:t>Pn</a:t>
            </a:r>
            <a:r>
              <a:rPr lang="en-IN" sz="2200" dirty="0"/>
              <a:t>} of waiting processes such that P0 is waiting for a resource that is held by P1, P1 is waiting for a resource that is held by P2, …, Pn–1 is waiting for a resource that is held by </a:t>
            </a:r>
            <a:r>
              <a:rPr lang="en-IN" sz="2200" dirty="0" err="1"/>
              <a:t>Pn</a:t>
            </a:r>
            <a:r>
              <a:rPr lang="en-IN" sz="2200" dirty="0"/>
              <a:t>, and </a:t>
            </a:r>
            <a:r>
              <a:rPr lang="en-IN" sz="2200" dirty="0" err="1"/>
              <a:t>Pn</a:t>
            </a:r>
            <a:r>
              <a:rPr lang="en-IN" sz="2200" dirty="0"/>
              <a:t> is waiting for a resource that is held by P0.</a:t>
            </a:r>
          </a:p>
        </p:txBody>
      </p:sp>
      <p:sp>
        <p:nvSpPr>
          <p:cNvPr id="8" name="Slide Number Placeholder 7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t>80</a:t>
            </a:fld>
            <a:endParaRPr lang="en-US"/>
          </a:p>
        </p:txBody>
      </p:sp>
      <p:pic>
        <p:nvPicPr>
          <p:cNvPr id="2" name="Picture 1" descr="A black and red logo&#10;&#10;Description automatically generated">
            <a:extLst>
              <a:ext uri="{FF2B5EF4-FFF2-40B4-BE49-F238E27FC236}">
                <a16:creationId xmlns:a16="http://schemas.microsoft.com/office/drawing/2014/main" id="{C2E38611-AD71-8DA9-B4A7-1F3B60FB79AF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-27384"/>
            <a:ext cx="1657350" cy="710452"/>
          </a:xfrm>
          <a:prstGeom prst="rect">
            <a:avLst/>
          </a:prstGeom>
        </p:spPr>
      </p:pic>
      <p:sp>
        <p:nvSpPr>
          <p:cNvPr id="3" name="Title 1">
            <a:extLst>
              <a:ext uri="{FF2B5EF4-FFF2-40B4-BE49-F238E27FC236}">
                <a16:creationId xmlns:a16="http://schemas.microsoft.com/office/drawing/2014/main" id="{42FBEC78-57D8-0A3D-3C2C-E10BE3C0353A}"/>
              </a:ext>
            </a:extLst>
          </p:cNvPr>
          <p:cNvSpPr txBox="1">
            <a:spLocks/>
          </p:cNvSpPr>
          <p:nvPr/>
        </p:nvSpPr>
        <p:spPr>
          <a:xfrm>
            <a:off x="1657350" y="0"/>
            <a:ext cx="7414642" cy="630981"/>
          </a:xfrm>
          <a:prstGeom prst="rect">
            <a:avLst/>
          </a:prstGeom>
          <a:gradFill flip="none" rotWithShape="1">
            <a:gsLst>
              <a:gs pos="0">
                <a:srgbClr val="FF0000">
                  <a:tint val="66000"/>
                  <a:satMod val="160000"/>
                </a:srgbClr>
              </a:gs>
              <a:gs pos="50000">
                <a:srgbClr val="FF0000">
                  <a:tint val="44500"/>
                  <a:satMod val="160000"/>
                </a:srgbClr>
              </a:gs>
              <a:gs pos="100000">
                <a:srgbClr val="FF0000">
                  <a:tint val="23500"/>
                  <a:satMod val="160000"/>
                </a:srgbClr>
              </a:gs>
            </a:gsLst>
            <a:lin ang="0" scaled="1"/>
            <a:tileRect/>
          </a:gradFill>
        </p:spPr>
        <p:style>
          <a:lnRef idx="1">
            <a:schemeClr val="accent5"/>
          </a:lnRef>
          <a:fillRef idx="2">
            <a:schemeClr val="accent5"/>
          </a:fillRef>
          <a:effectRef idx="1">
            <a:schemeClr val="accent5"/>
          </a:effectRef>
          <a:fontRef idx="minor">
            <a:schemeClr val="dk1"/>
          </a:fontRef>
        </p:style>
        <p:txBody>
          <a:bodyPr vert="horz" lIns="68580" tIns="34290" rIns="68580" bIns="34290" rtlCol="0" anchor="ctr">
            <a:noAutofit/>
          </a:bodyPr>
          <a:lstStyle>
            <a:defPPr>
              <a:defRPr lang="en-US"/>
            </a:defPPr>
            <a:lvl1pPr algn="ctr">
              <a:spcBef>
                <a:spcPct val="0"/>
              </a:spcBef>
              <a:buNone/>
              <a:defRPr sz="2800"/>
            </a:lvl1pPr>
          </a:lstStyle>
          <a:p>
            <a:pPr>
              <a:defRPr/>
            </a:pPr>
            <a:r>
              <a:rPr lang="en-US" sz="2100" dirty="0"/>
              <a:t>Deadlock Characterization (CO3)</a:t>
            </a:r>
          </a:p>
        </p:txBody>
      </p:sp>
    </p:spTree>
  </p:cSld>
  <p:clrMapOvr>
    <a:masterClrMapping/>
  </p:clrMapOvr>
  <p:transition>
    <p:dissolve/>
  </p:transition>
</p:sld>
</file>

<file path=ppt/slides/slide8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7986E9B-92C3-4280-B1CF-1FF64E217F49}" type="datetime3">
              <a:rPr lang="en-US" smtClean="0"/>
              <a:t>1 September 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2514600" y="6356350"/>
            <a:ext cx="5181600" cy="365125"/>
          </a:xfrm>
        </p:spPr>
        <p:txBody>
          <a:bodyPr/>
          <a:lstStyle/>
          <a:p>
            <a:r>
              <a:rPr lang="en-US"/>
              <a:t>Atul Garg           BCSE0303            Unit- III</a:t>
            </a:r>
            <a:endParaRPr lang="en-US" dirty="0"/>
          </a:p>
        </p:txBody>
      </p:sp>
      <p:sp>
        <p:nvSpPr>
          <p:cNvPr id="12" name="object 3"/>
          <p:cNvSpPr txBox="1"/>
          <p:nvPr/>
        </p:nvSpPr>
        <p:spPr>
          <a:xfrm>
            <a:off x="899593" y="836712"/>
            <a:ext cx="7992888" cy="4636526"/>
          </a:xfrm>
          <a:prstGeom prst="rect">
            <a:avLst/>
          </a:prstGeom>
        </p:spPr>
        <p:txBody>
          <a:bodyPr vert="horz" wrap="square" lIns="0" tIns="108585" rIns="0" bIns="0" rtlCol="0">
            <a:spAutoFit/>
          </a:bodyPr>
          <a:lstStyle/>
          <a:p>
            <a:pPr marL="12700">
              <a:spcBef>
                <a:spcPts val="855"/>
              </a:spcBef>
            </a:pPr>
            <a:r>
              <a:rPr lang="en-IN" sz="2200" dirty="0"/>
              <a:t>A resource allocation graph is a set of vertices V and a set of edges E such that:</a:t>
            </a:r>
          </a:p>
          <a:p>
            <a:pPr marL="12700">
              <a:spcBef>
                <a:spcPts val="855"/>
              </a:spcBef>
              <a:buFont typeface="Arial" panose="020B0604020202020204" pitchFamily="34" charset="0"/>
              <a:buChar char="•"/>
            </a:pPr>
            <a:r>
              <a:rPr lang="en-IN" sz="2200" dirty="0"/>
              <a:t>V is partitioned into two types: </a:t>
            </a:r>
          </a:p>
          <a:p>
            <a:pPr marL="12700">
              <a:spcBef>
                <a:spcPts val="855"/>
              </a:spcBef>
            </a:pPr>
            <a:r>
              <a:rPr lang="en-IN" sz="2200" dirty="0"/>
              <a:t> 	P = {P1, P2, …, </a:t>
            </a:r>
            <a:r>
              <a:rPr lang="en-IN" sz="2200" dirty="0" err="1"/>
              <a:t>Pn</a:t>
            </a:r>
            <a:r>
              <a:rPr lang="en-IN" sz="2200" dirty="0"/>
              <a:t>}, the set consisting of all the processes in 	the system</a:t>
            </a:r>
          </a:p>
          <a:p>
            <a:pPr marL="12700">
              <a:spcBef>
                <a:spcPts val="855"/>
              </a:spcBef>
            </a:pPr>
            <a:r>
              <a:rPr lang="en-IN" sz="2200" dirty="0"/>
              <a:t>  	R = {R1, R2, …, </a:t>
            </a:r>
            <a:r>
              <a:rPr lang="en-IN" sz="2200" dirty="0" err="1"/>
              <a:t>Rm</a:t>
            </a:r>
            <a:r>
              <a:rPr lang="en-IN" sz="2200" dirty="0"/>
              <a:t>}, the set consisting of all resource types in 	the system</a:t>
            </a:r>
          </a:p>
          <a:p>
            <a:pPr marL="12700">
              <a:spcBef>
                <a:spcPts val="855"/>
              </a:spcBef>
            </a:pPr>
            <a:endParaRPr lang="en-IN" sz="2200" dirty="0"/>
          </a:p>
          <a:p>
            <a:pPr>
              <a:buFont typeface="Arial" panose="020B0604020202020204" pitchFamily="34" charset="0"/>
              <a:buChar char="•"/>
            </a:pPr>
            <a:r>
              <a:rPr lang="en-US" sz="2200" b="1" dirty="0">
                <a:solidFill>
                  <a:srgbClr val="000000"/>
                </a:solidFill>
                <a:ea typeface="MS PGothic" charset="0"/>
              </a:rPr>
              <a:t>request edge</a:t>
            </a:r>
            <a:r>
              <a:rPr lang="en-US" sz="2200" dirty="0">
                <a:solidFill>
                  <a:srgbClr val="000000"/>
                </a:solidFill>
                <a:ea typeface="MS PGothic" charset="0"/>
              </a:rPr>
              <a:t> – directed edge </a:t>
            </a:r>
            <a:r>
              <a:rPr lang="en-US" sz="2200" i="1" dirty="0">
                <a:solidFill>
                  <a:srgbClr val="000000"/>
                </a:solidFill>
                <a:ea typeface="MS PGothic" charset="0"/>
              </a:rPr>
              <a:t>P</a:t>
            </a:r>
            <a:r>
              <a:rPr lang="en-US" sz="2200" i="1" baseline="-25000" dirty="0">
                <a:solidFill>
                  <a:srgbClr val="000000"/>
                </a:solidFill>
                <a:ea typeface="MS PGothic" charset="0"/>
              </a:rPr>
              <a:t>i </a:t>
            </a:r>
            <a:r>
              <a:rPr lang="en-US" sz="2200" dirty="0">
                <a:solidFill>
                  <a:srgbClr val="000000"/>
                </a:solidFill>
                <a:ea typeface="MS PGothic" charset="0"/>
                <a:sym typeface="Symbol" charset="0"/>
              </a:rPr>
              <a:t> </a:t>
            </a:r>
            <a:r>
              <a:rPr lang="en-US" sz="2200" i="1" dirty="0">
                <a:solidFill>
                  <a:srgbClr val="000000"/>
                </a:solidFill>
                <a:ea typeface="MS PGothic" charset="0"/>
                <a:sym typeface="Symbol" charset="0"/>
              </a:rPr>
              <a:t>R</a:t>
            </a:r>
            <a:r>
              <a:rPr lang="en-US" sz="2200" i="1" baseline="-25000" dirty="0">
                <a:solidFill>
                  <a:srgbClr val="000000"/>
                </a:solidFill>
                <a:ea typeface="MS PGothic" charset="0"/>
                <a:sym typeface="Symbol" charset="0"/>
              </a:rPr>
              <a:t>j</a:t>
            </a:r>
          </a:p>
          <a:p>
            <a:pPr>
              <a:buFont typeface="Arial" panose="020B0604020202020204" pitchFamily="34" charset="0"/>
              <a:buChar char="•"/>
            </a:pPr>
            <a:endParaRPr lang="en-US" sz="2200" i="1" baseline="-25000" dirty="0">
              <a:solidFill>
                <a:srgbClr val="000000"/>
              </a:solidFill>
              <a:ea typeface="MS PGothic" charset="0"/>
              <a:sym typeface="Symbol" charset="0"/>
            </a:endParaRPr>
          </a:p>
          <a:p>
            <a:pPr>
              <a:buFont typeface="Arial" panose="020B0604020202020204" pitchFamily="34" charset="0"/>
              <a:buChar char="•"/>
            </a:pPr>
            <a:r>
              <a:rPr lang="en-US" sz="2200" b="1" dirty="0">
                <a:solidFill>
                  <a:srgbClr val="000000"/>
                </a:solidFill>
                <a:ea typeface="MS PGothic" charset="0"/>
                <a:sym typeface="Symbol" charset="0"/>
              </a:rPr>
              <a:t>assignment edge</a:t>
            </a:r>
            <a:r>
              <a:rPr lang="en-US" sz="2200" dirty="0">
                <a:solidFill>
                  <a:srgbClr val="000000"/>
                </a:solidFill>
                <a:ea typeface="MS PGothic" charset="0"/>
                <a:sym typeface="Symbol" charset="0"/>
              </a:rPr>
              <a:t> </a:t>
            </a:r>
            <a:r>
              <a:rPr lang="en-US" sz="2200" dirty="0">
                <a:solidFill>
                  <a:srgbClr val="000000"/>
                </a:solidFill>
                <a:ea typeface="MS PGothic" charset="0"/>
              </a:rPr>
              <a:t>– </a:t>
            </a:r>
            <a:r>
              <a:rPr lang="en-US" sz="2200" dirty="0">
                <a:ea typeface="MS PGothic" charset="0"/>
              </a:rPr>
              <a:t>directed edge </a:t>
            </a:r>
            <a:r>
              <a:rPr lang="en-US" sz="2200" i="1" dirty="0">
                <a:ea typeface="MS PGothic" charset="0"/>
              </a:rPr>
              <a:t>R</a:t>
            </a:r>
            <a:r>
              <a:rPr lang="en-US" sz="2200" i="1" baseline="-25000" dirty="0">
                <a:ea typeface="MS PGothic" charset="0"/>
              </a:rPr>
              <a:t>j</a:t>
            </a:r>
            <a:r>
              <a:rPr lang="en-US" sz="2200" i="1" dirty="0">
                <a:ea typeface="MS PGothic" charset="0"/>
              </a:rPr>
              <a:t> </a:t>
            </a:r>
            <a:r>
              <a:rPr lang="en-US" sz="2200" dirty="0">
                <a:ea typeface="MS PGothic" charset="0"/>
                <a:sym typeface="Symbol" charset="0"/>
              </a:rPr>
              <a:t> </a:t>
            </a:r>
            <a:r>
              <a:rPr lang="en-US" sz="2200" i="1" dirty="0">
                <a:ea typeface="MS PGothic" charset="0"/>
                <a:sym typeface="Symbol" charset="0"/>
              </a:rPr>
              <a:t>P</a:t>
            </a:r>
            <a:r>
              <a:rPr lang="en-US" sz="2200" i="1" baseline="-25000" dirty="0">
                <a:ea typeface="MS PGothic" charset="0"/>
                <a:sym typeface="Symbol" charset="0"/>
              </a:rPr>
              <a:t>i</a:t>
            </a:r>
            <a:endParaRPr lang="en-US" sz="2200" dirty="0">
              <a:ea typeface="MS PGothic" charset="0"/>
              <a:sym typeface="Symbol" charset="0"/>
            </a:endParaRPr>
          </a:p>
          <a:p>
            <a:pPr marL="12700">
              <a:spcBef>
                <a:spcPts val="855"/>
              </a:spcBef>
            </a:pPr>
            <a:endParaRPr lang="en-IN" sz="2200" dirty="0"/>
          </a:p>
        </p:txBody>
      </p:sp>
      <p:sp>
        <p:nvSpPr>
          <p:cNvPr id="8" name="Slide Number Placeholder 7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t>81</a:t>
            </a:fld>
            <a:endParaRPr lang="en-US"/>
          </a:p>
        </p:txBody>
      </p:sp>
      <p:pic>
        <p:nvPicPr>
          <p:cNvPr id="2" name="Picture 1" descr="A black and red logo&#10;&#10;Description automatically generated">
            <a:extLst>
              <a:ext uri="{FF2B5EF4-FFF2-40B4-BE49-F238E27FC236}">
                <a16:creationId xmlns:a16="http://schemas.microsoft.com/office/drawing/2014/main" id="{CCB1EF45-4414-831F-F623-743F60C4DC0A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-27384"/>
            <a:ext cx="1657350" cy="710452"/>
          </a:xfrm>
          <a:prstGeom prst="rect">
            <a:avLst/>
          </a:prstGeom>
        </p:spPr>
      </p:pic>
      <p:sp>
        <p:nvSpPr>
          <p:cNvPr id="3" name="Title 1">
            <a:extLst>
              <a:ext uri="{FF2B5EF4-FFF2-40B4-BE49-F238E27FC236}">
                <a16:creationId xmlns:a16="http://schemas.microsoft.com/office/drawing/2014/main" id="{7E7EEDB7-3CF2-9CF4-D71B-533DDDB74669}"/>
              </a:ext>
            </a:extLst>
          </p:cNvPr>
          <p:cNvSpPr txBox="1">
            <a:spLocks/>
          </p:cNvSpPr>
          <p:nvPr/>
        </p:nvSpPr>
        <p:spPr>
          <a:xfrm>
            <a:off x="1657350" y="0"/>
            <a:ext cx="7379146" cy="630981"/>
          </a:xfrm>
          <a:prstGeom prst="rect">
            <a:avLst/>
          </a:prstGeom>
          <a:gradFill flip="none" rotWithShape="1">
            <a:gsLst>
              <a:gs pos="0">
                <a:srgbClr val="FF0000">
                  <a:tint val="66000"/>
                  <a:satMod val="160000"/>
                </a:srgbClr>
              </a:gs>
              <a:gs pos="50000">
                <a:srgbClr val="FF0000">
                  <a:tint val="44500"/>
                  <a:satMod val="160000"/>
                </a:srgbClr>
              </a:gs>
              <a:gs pos="100000">
                <a:srgbClr val="FF0000">
                  <a:tint val="23500"/>
                  <a:satMod val="160000"/>
                </a:srgbClr>
              </a:gs>
            </a:gsLst>
            <a:lin ang="0" scaled="1"/>
            <a:tileRect/>
          </a:gradFill>
        </p:spPr>
        <p:style>
          <a:lnRef idx="1">
            <a:schemeClr val="accent5"/>
          </a:lnRef>
          <a:fillRef idx="2">
            <a:schemeClr val="accent5"/>
          </a:fillRef>
          <a:effectRef idx="1">
            <a:schemeClr val="accent5"/>
          </a:effectRef>
          <a:fontRef idx="minor">
            <a:schemeClr val="dk1"/>
          </a:fontRef>
        </p:style>
        <p:txBody>
          <a:bodyPr vert="horz" lIns="68580" tIns="34290" rIns="68580" bIns="34290" rtlCol="0" anchor="ctr">
            <a:noAutofit/>
          </a:bodyPr>
          <a:lstStyle>
            <a:defPPr>
              <a:defRPr lang="en-US"/>
            </a:defPPr>
            <a:lvl1pPr algn="ctr">
              <a:spcBef>
                <a:spcPct val="0"/>
              </a:spcBef>
              <a:buNone/>
              <a:defRPr sz="2800"/>
            </a:lvl1pPr>
          </a:lstStyle>
          <a:p>
            <a:pPr>
              <a:defRPr/>
            </a:pPr>
            <a:r>
              <a:rPr lang="en-IN" sz="2400" dirty="0"/>
              <a:t>Resource-Allocation Graph</a:t>
            </a:r>
            <a:r>
              <a:rPr lang="en-IN" sz="2400" spc="-5" dirty="0"/>
              <a:t>(CO3)</a:t>
            </a:r>
            <a:endParaRPr lang="en-US" sz="2100" dirty="0"/>
          </a:p>
        </p:txBody>
      </p:sp>
    </p:spTree>
  </p:cSld>
  <p:clrMapOvr>
    <a:masterClrMapping/>
  </p:clrMapOvr>
  <p:transition>
    <p:dissolve/>
  </p:transition>
</p:sld>
</file>

<file path=ppt/slides/slide8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1B4A062-C247-4000-B13F-8EA4E0CACC66}" type="datetime3">
              <a:rPr lang="en-US" smtClean="0"/>
              <a:t>1 September 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2514600" y="6356350"/>
            <a:ext cx="5181600" cy="365125"/>
          </a:xfrm>
        </p:spPr>
        <p:txBody>
          <a:bodyPr/>
          <a:lstStyle/>
          <a:p>
            <a:r>
              <a:rPr lang="en-US"/>
              <a:t>Atul Garg           BCSE0303            Unit- III</a:t>
            </a:r>
            <a:endParaRPr lang="en-US" dirty="0"/>
          </a:p>
        </p:txBody>
      </p:sp>
      <p:sp>
        <p:nvSpPr>
          <p:cNvPr id="10" name="Rectangle 3"/>
          <p:cNvSpPr txBox="1">
            <a:spLocks noChangeArrowheads="1"/>
          </p:cNvSpPr>
          <p:nvPr/>
        </p:nvSpPr>
        <p:spPr>
          <a:xfrm>
            <a:off x="827584" y="908720"/>
            <a:ext cx="8011615" cy="4724400"/>
          </a:xfrm>
          <a:prstGeom prst="rect">
            <a:avLst/>
          </a:prstGeom>
        </p:spPr>
        <p:txBody>
          <a:bodyPr vert="horz" lIns="91440" tIns="45720" rIns="91440" bIns="45720" rtlCol="0">
            <a:normAutofit fontScale="92500" lnSpcReduction="20000"/>
          </a:bodyPr>
          <a:lstStyle/>
          <a:p>
            <a:pPr marL="342900" marR="0" lvl="0" indent="-342900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defRPr/>
            </a:pPr>
            <a:r>
              <a:rPr kumimoji="0" lang="en-US" sz="32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Helvetica" charset="0"/>
                <a:ea typeface="MS PGothic" charset="0"/>
                <a:cs typeface="+mn-cs"/>
              </a:rPr>
              <a:t>Process</a:t>
            </a:r>
            <a:br>
              <a:rPr kumimoji="0" lang="en-US" sz="32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Helvetica" charset="0"/>
                <a:ea typeface="MS PGothic" charset="0"/>
                <a:cs typeface="+mn-cs"/>
              </a:rPr>
            </a:br>
            <a:br>
              <a:rPr kumimoji="0" lang="en-US" sz="32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Helvetica" charset="0"/>
                <a:ea typeface="MS PGothic" charset="0"/>
                <a:cs typeface="+mn-cs"/>
              </a:rPr>
            </a:br>
            <a:endParaRPr kumimoji="0" lang="en-US" sz="3200" b="0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Helvetica" charset="0"/>
              <a:ea typeface="MS PGothic" charset="0"/>
              <a:cs typeface="+mn-cs"/>
            </a:endParaRPr>
          </a:p>
          <a:p>
            <a:pPr marL="342900" marR="0" lvl="0" indent="-342900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defRPr/>
            </a:pPr>
            <a:r>
              <a:rPr kumimoji="0" lang="en-US" sz="32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Helvetica" charset="0"/>
                <a:ea typeface="MS PGothic" charset="0"/>
                <a:cs typeface="+mn-cs"/>
              </a:rPr>
              <a:t>Resource Type with 4 instances</a:t>
            </a:r>
          </a:p>
          <a:p>
            <a:pPr marL="342900" marR="0" lvl="0" indent="-342900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Monotype Sorts" charset="0"/>
              <a:buNone/>
              <a:defRPr/>
            </a:pPr>
            <a:endParaRPr kumimoji="0" lang="en-US" sz="3200" b="0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Helvetica" charset="0"/>
              <a:ea typeface="MS PGothic" charset="0"/>
              <a:cs typeface="+mn-cs"/>
            </a:endParaRPr>
          </a:p>
          <a:p>
            <a:pPr marL="342900" marR="0" lvl="0" indent="-342900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defRPr/>
            </a:pPr>
            <a:endParaRPr kumimoji="0" lang="en-US" sz="3200" b="0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Helvetica" charset="0"/>
              <a:ea typeface="MS PGothic" charset="0"/>
              <a:cs typeface="+mn-cs"/>
            </a:endParaRPr>
          </a:p>
          <a:p>
            <a:pPr marL="342900" marR="0" lvl="0" indent="-342900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defRPr/>
            </a:pPr>
            <a:r>
              <a:rPr kumimoji="0" lang="en-US" sz="3200" b="0" i="1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Helvetica" charset="0"/>
                <a:ea typeface="MS PGothic" charset="0"/>
                <a:cs typeface="+mn-cs"/>
              </a:rPr>
              <a:t>P</a:t>
            </a:r>
            <a:r>
              <a:rPr kumimoji="0" lang="en-US" sz="3200" b="0" i="1" u="none" strike="noStrike" kern="1200" cap="none" spc="0" normalizeH="0" baseline="-2500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Helvetica" charset="0"/>
                <a:ea typeface="MS PGothic" charset="0"/>
                <a:cs typeface="+mn-cs"/>
              </a:rPr>
              <a:t>i</a:t>
            </a:r>
            <a:r>
              <a:rPr kumimoji="0" lang="en-US" sz="3200" b="0" i="1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Helvetica" charset="0"/>
                <a:ea typeface="MS PGothic" charset="0"/>
                <a:cs typeface="+mn-cs"/>
              </a:rPr>
              <a:t> </a:t>
            </a:r>
            <a:r>
              <a:rPr kumimoji="0" lang="en-US" sz="32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Helvetica" charset="0"/>
                <a:ea typeface="MS PGothic" charset="0"/>
                <a:cs typeface="+mn-cs"/>
              </a:rPr>
              <a:t>requests instance of </a:t>
            </a:r>
            <a:r>
              <a:rPr kumimoji="0" lang="en-US" sz="3200" b="0" i="1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Helvetica" charset="0"/>
                <a:ea typeface="MS PGothic" charset="0"/>
                <a:cs typeface="+mn-cs"/>
              </a:rPr>
              <a:t>R</a:t>
            </a:r>
            <a:r>
              <a:rPr kumimoji="0" lang="en-US" sz="3200" b="0" i="1" u="none" strike="noStrike" kern="1200" cap="none" spc="0" normalizeH="0" baseline="-2500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Helvetica" charset="0"/>
                <a:ea typeface="MS PGothic" charset="0"/>
                <a:cs typeface="+mn-cs"/>
              </a:rPr>
              <a:t>j</a:t>
            </a:r>
            <a:endParaRPr kumimoji="0" lang="en-US" sz="3200" b="0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Helvetica" charset="0"/>
              <a:ea typeface="MS PGothic" charset="0"/>
              <a:cs typeface="+mn-cs"/>
            </a:endParaRPr>
          </a:p>
          <a:p>
            <a:pPr marL="342900" marR="0" lvl="0" indent="-342900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defRPr/>
            </a:pPr>
            <a:endParaRPr kumimoji="0" lang="en-US" sz="3200" b="0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Helvetica" charset="0"/>
              <a:ea typeface="MS PGothic" charset="0"/>
              <a:cs typeface="+mn-cs"/>
            </a:endParaRPr>
          </a:p>
          <a:p>
            <a:pPr marL="342900" marR="0" lvl="0" indent="-342900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Monotype Sorts" charset="0"/>
              <a:buNone/>
              <a:defRPr/>
            </a:pPr>
            <a:endParaRPr kumimoji="0" lang="en-US" sz="3200" b="0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Helvetica" charset="0"/>
              <a:ea typeface="MS PGothic" charset="0"/>
              <a:cs typeface="+mn-cs"/>
            </a:endParaRPr>
          </a:p>
          <a:p>
            <a:pPr marL="342900" marR="0" lvl="0" indent="-342900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defRPr/>
            </a:pPr>
            <a:r>
              <a:rPr kumimoji="0" lang="en-US" sz="3200" b="0" i="1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Helvetica" charset="0"/>
                <a:ea typeface="MS PGothic" charset="0"/>
                <a:cs typeface="+mn-cs"/>
              </a:rPr>
              <a:t>P</a:t>
            </a:r>
            <a:r>
              <a:rPr kumimoji="0" lang="en-US" sz="3200" b="0" i="1" u="none" strike="noStrike" kern="1200" cap="none" spc="0" normalizeH="0" baseline="-2500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Helvetica" charset="0"/>
                <a:ea typeface="MS PGothic" charset="0"/>
                <a:cs typeface="+mn-cs"/>
              </a:rPr>
              <a:t>i</a:t>
            </a:r>
            <a:r>
              <a:rPr kumimoji="0" lang="en-US" sz="32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Helvetica" charset="0"/>
                <a:ea typeface="MS PGothic" charset="0"/>
                <a:cs typeface="+mn-cs"/>
              </a:rPr>
              <a:t> is holding an instance of </a:t>
            </a:r>
            <a:r>
              <a:rPr kumimoji="0" lang="en-US" sz="3200" b="0" i="1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Helvetica" charset="0"/>
                <a:ea typeface="MS PGothic" charset="0"/>
                <a:cs typeface="+mn-cs"/>
              </a:rPr>
              <a:t>R</a:t>
            </a:r>
            <a:r>
              <a:rPr kumimoji="0" lang="en-US" sz="3200" b="0" i="1" u="none" strike="noStrike" kern="1200" cap="none" spc="0" normalizeH="0" baseline="-2500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Helvetica" charset="0"/>
                <a:ea typeface="MS PGothic" charset="0"/>
                <a:cs typeface="+mn-cs"/>
              </a:rPr>
              <a:t>j</a:t>
            </a:r>
            <a:endParaRPr kumimoji="0" lang="en-US" sz="3200" b="0" i="1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Helvetica" charset="0"/>
              <a:ea typeface="MS PGothic" charset="0"/>
              <a:cs typeface="+mn-cs"/>
            </a:endParaRPr>
          </a:p>
        </p:txBody>
      </p:sp>
      <p:sp>
        <p:nvSpPr>
          <p:cNvPr id="11" name="Oval 4"/>
          <p:cNvSpPr>
            <a:spLocks noChangeArrowheads="1"/>
          </p:cNvSpPr>
          <p:nvPr/>
        </p:nvSpPr>
        <p:spPr bwMode="auto">
          <a:xfrm>
            <a:off x="3923928" y="976983"/>
            <a:ext cx="464960" cy="495300"/>
          </a:xfrm>
          <a:prstGeom prst="ellipse">
            <a:avLst/>
          </a:prstGeom>
          <a:solidFill>
            <a:srgbClr val="CCECFF"/>
          </a:solidFill>
          <a:ln w="9525">
            <a:solidFill>
              <a:schemeClr val="tx1"/>
            </a:solidFill>
            <a:round/>
          </a:ln>
        </p:spPr>
        <p:txBody>
          <a:bodyPr wrap="none" anchor="ctr"/>
          <a:lstStyle/>
          <a:p>
            <a:endParaRPr lang="en-US"/>
          </a:p>
        </p:txBody>
      </p:sp>
      <p:grpSp>
        <p:nvGrpSpPr>
          <p:cNvPr id="13" name="Group 12"/>
          <p:cNvGrpSpPr/>
          <p:nvPr/>
        </p:nvGrpSpPr>
        <p:grpSpPr bwMode="auto">
          <a:xfrm>
            <a:off x="7185025" y="2060848"/>
            <a:ext cx="411311" cy="419100"/>
            <a:chOff x="2666" y="1966"/>
            <a:chExt cx="276" cy="264"/>
          </a:xfrm>
          <a:solidFill>
            <a:srgbClr val="CCECFF"/>
          </a:solidFill>
        </p:grpSpPr>
        <p:sp>
          <p:nvSpPr>
            <p:cNvPr id="14" name="Rectangle 7"/>
            <p:cNvSpPr>
              <a:spLocks noChangeArrowheads="1"/>
            </p:cNvSpPr>
            <p:nvPr/>
          </p:nvSpPr>
          <p:spPr bwMode="auto">
            <a:xfrm>
              <a:off x="2666" y="1966"/>
              <a:ext cx="276" cy="264"/>
            </a:xfrm>
            <a:prstGeom prst="rect">
              <a:avLst/>
            </a:prstGeom>
            <a:grpFill/>
            <a:ln w="9525">
              <a:solidFill>
                <a:schemeClr val="tx1"/>
              </a:solidFill>
              <a:miter lim="800000"/>
            </a:ln>
          </p:spPr>
          <p:txBody>
            <a:bodyPr wrap="none" anchor="ctr"/>
            <a:lstStyle>
              <a:lvl1pPr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MS PGothic" pitchFamily="34" charset="-128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MS PGothic" pitchFamily="34" charset="-128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MS PGothic" pitchFamily="34" charset="-128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MS PGothic" pitchFamily="34" charset="-128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MS PGothic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MS PGothic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MS PGothic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MS PGothic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MS PGothic" pitchFamily="34" charset="-128"/>
                </a:defRPr>
              </a:lvl9pPr>
            </a:lstStyle>
            <a:p>
              <a:pPr>
                <a:defRPr/>
              </a:pPr>
              <a:endParaRPr lang="en-US" altLang="en-US">
                <a:cs typeface="+mn-cs"/>
              </a:endParaRPr>
            </a:p>
          </p:txBody>
        </p:sp>
        <p:sp>
          <p:nvSpPr>
            <p:cNvPr id="15" name="Rectangle 8"/>
            <p:cNvSpPr>
              <a:spLocks noChangeArrowheads="1"/>
            </p:cNvSpPr>
            <p:nvPr/>
          </p:nvSpPr>
          <p:spPr bwMode="auto">
            <a:xfrm>
              <a:off x="2736" y="2026"/>
              <a:ext cx="47" cy="47"/>
            </a:xfrm>
            <a:prstGeom prst="rect">
              <a:avLst/>
            </a:prstGeom>
            <a:grpFill/>
            <a:ln w="9525">
              <a:solidFill>
                <a:schemeClr val="tx1"/>
              </a:solidFill>
              <a:miter lim="800000"/>
            </a:ln>
          </p:spPr>
          <p:txBody>
            <a:bodyPr wrap="none" anchor="ctr"/>
            <a:lstStyle>
              <a:lvl1pPr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MS PGothic" pitchFamily="34" charset="-128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MS PGothic" pitchFamily="34" charset="-128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MS PGothic" pitchFamily="34" charset="-128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MS PGothic" pitchFamily="34" charset="-128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MS PGothic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MS PGothic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MS PGothic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MS PGothic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MS PGothic" pitchFamily="34" charset="-128"/>
                </a:defRPr>
              </a:lvl9pPr>
            </a:lstStyle>
            <a:p>
              <a:pPr>
                <a:defRPr/>
              </a:pPr>
              <a:endParaRPr lang="en-US" altLang="en-US">
                <a:cs typeface="+mn-cs"/>
              </a:endParaRPr>
            </a:p>
          </p:txBody>
        </p:sp>
        <p:sp>
          <p:nvSpPr>
            <p:cNvPr id="16" name="Rectangle 9"/>
            <p:cNvSpPr>
              <a:spLocks noChangeArrowheads="1"/>
            </p:cNvSpPr>
            <p:nvPr/>
          </p:nvSpPr>
          <p:spPr bwMode="auto">
            <a:xfrm>
              <a:off x="2832" y="2026"/>
              <a:ext cx="47" cy="47"/>
            </a:xfrm>
            <a:prstGeom prst="rect">
              <a:avLst/>
            </a:prstGeom>
            <a:grpFill/>
            <a:ln w="9525">
              <a:solidFill>
                <a:schemeClr val="tx1"/>
              </a:solidFill>
              <a:miter lim="800000"/>
            </a:ln>
          </p:spPr>
          <p:txBody>
            <a:bodyPr wrap="none" anchor="ctr"/>
            <a:lstStyle>
              <a:lvl1pPr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MS PGothic" pitchFamily="34" charset="-128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MS PGothic" pitchFamily="34" charset="-128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MS PGothic" pitchFamily="34" charset="-128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MS PGothic" pitchFamily="34" charset="-128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MS PGothic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MS PGothic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MS PGothic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MS PGothic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MS PGothic" pitchFamily="34" charset="-128"/>
                </a:defRPr>
              </a:lvl9pPr>
            </a:lstStyle>
            <a:p>
              <a:pPr>
                <a:defRPr/>
              </a:pPr>
              <a:endParaRPr lang="en-US" altLang="en-US">
                <a:cs typeface="+mn-cs"/>
              </a:endParaRPr>
            </a:p>
          </p:txBody>
        </p:sp>
        <p:sp>
          <p:nvSpPr>
            <p:cNvPr id="17" name="Rectangle 10"/>
            <p:cNvSpPr>
              <a:spLocks noChangeArrowheads="1"/>
            </p:cNvSpPr>
            <p:nvPr/>
          </p:nvSpPr>
          <p:spPr bwMode="auto">
            <a:xfrm>
              <a:off x="2736" y="2108"/>
              <a:ext cx="47" cy="47"/>
            </a:xfrm>
            <a:prstGeom prst="rect">
              <a:avLst/>
            </a:prstGeom>
            <a:grpFill/>
            <a:ln w="9525">
              <a:solidFill>
                <a:schemeClr val="tx1"/>
              </a:solidFill>
              <a:miter lim="800000"/>
            </a:ln>
          </p:spPr>
          <p:txBody>
            <a:bodyPr wrap="none" anchor="ctr"/>
            <a:lstStyle>
              <a:lvl1pPr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MS PGothic" pitchFamily="34" charset="-128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MS PGothic" pitchFamily="34" charset="-128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MS PGothic" pitchFamily="34" charset="-128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MS PGothic" pitchFamily="34" charset="-128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MS PGothic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MS PGothic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MS PGothic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MS PGothic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MS PGothic" pitchFamily="34" charset="-128"/>
                </a:defRPr>
              </a:lvl9pPr>
            </a:lstStyle>
            <a:p>
              <a:pPr>
                <a:defRPr/>
              </a:pPr>
              <a:endParaRPr lang="en-US" altLang="en-US">
                <a:cs typeface="+mn-cs"/>
              </a:endParaRPr>
            </a:p>
          </p:txBody>
        </p:sp>
        <p:sp>
          <p:nvSpPr>
            <p:cNvPr id="18" name="Rectangle 11"/>
            <p:cNvSpPr>
              <a:spLocks noChangeArrowheads="1"/>
            </p:cNvSpPr>
            <p:nvPr/>
          </p:nvSpPr>
          <p:spPr bwMode="auto">
            <a:xfrm>
              <a:off x="2832" y="2108"/>
              <a:ext cx="47" cy="47"/>
            </a:xfrm>
            <a:prstGeom prst="rect">
              <a:avLst/>
            </a:prstGeom>
            <a:grpFill/>
            <a:ln w="9525">
              <a:solidFill>
                <a:schemeClr val="tx1"/>
              </a:solidFill>
              <a:miter lim="800000"/>
            </a:ln>
          </p:spPr>
          <p:txBody>
            <a:bodyPr wrap="none" anchor="ctr"/>
            <a:lstStyle>
              <a:lvl1pPr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MS PGothic" pitchFamily="34" charset="-128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MS PGothic" pitchFamily="34" charset="-128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MS PGothic" pitchFamily="34" charset="-128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MS PGothic" pitchFamily="34" charset="-128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MS PGothic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MS PGothic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MS PGothic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MS PGothic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MS PGothic" pitchFamily="34" charset="-128"/>
                </a:defRPr>
              </a:lvl9pPr>
            </a:lstStyle>
            <a:p>
              <a:pPr>
                <a:defRPr/>
              </a:pPr>
              <a:endParaRPr lang="en-US" altLang="en-US">
                <a:cs typeface="+mn-cs"/>
              </a:endParaRPr>
            </a:p>
          </p:txBody>
        </p:sp>
      </p:grpSp>
      <p:sp>
        <p:nvSpPr>
          <p:cNvPr id="19" name="Oval 6"/>
          <p:cNvSpPr>
            <a:spLocks noChangeArrowheads="1"/>
          </p:cNvSpPr>
          <p:nvPr/>
        </p:nvSpPr>
        <p:spPr bwMode="auto">
          <a:xfrm>
            <a:off x="5923140" y="3397920"/>
            <a:ext cx="464960" cy="495300"/>
          </a:xfrm>
          <a:prstGeom prst="ellipse">
            <a:avLst/>
          </a:prstGeom>
          <a:solidFill>
            <a:srgbClr val="CCECFF"/>
          </a:solidFill>
          <a:ln w="9525">
            <a:solidFill>
              <a:schemeClr val="tx1"/>
            </a:solidFill>
            <a:round/>
          </a:ln>
        </p:spPr>
        <p:txBody>
          <a:bodyPr wrap="none" anchor="ctr"/>
          <a:lstStyle/>
          <a:p>
            <a:pPr algn="ctr"/>
            <a:r>
              <a:rPr lang="en-US" i="1" dirty="0">
                <a:latin typeface="Helvetica" charset="0"/>
              </a:rPr>
              <a:t>P</a:t>
            </a:r>
            <a:r>
              <a:rPr lang="en-US" i="1" baseline="-25000" dirty="0">
                <a:latin typeface="Helvetica" charset="0"/>
              </a:rPr>
              <a:t>i</a:t>
            </a:r>
            <a:endParaRPr lang="en-US" i="1" dirty="0">
              <a:latin typeface="Helvetica" charset="0"/>
            </a:endParaRPr>
          </a:p>
        </p:txBody>
      </p:sp>
      <p:sp>
        <p:nvSpPr>
          <p:cNvPr id="20" name="Line 19"/>
          <p:cNvSpPr>
            <a:spLocks noChangeShapeType="1"/>
          </p:cNvSpPr>
          <p:nvPr/>
        </p:nvSpPr>
        <p:spPr bwMode="auto">
          <a:xfrm>
            <a:off x="6416295" y="3664620"/>
            <a:ext cx="286129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tailEnd type="triangle" w="med" len="med"/>
          </a:ln>
        </p:spPr>
        <p:txBody>
          <a:bodyPr wrap="none" anchor="ctr"/>
          <a:lstStyle/>
          <a:p>
            <a:endParaRPr lang="en-US"/>
          </a:p>
        </p:txBody>
      </p:sp>
      <p:grpSp>
        <p:nvGrpSpPr>
          <p:cNvPr id="21" name="Group 13"/>
          <p:cNvGrpSpPr/>
          <p:nvPr/>
        </p:nvGrpSpPr>
        <p:grpSpPr bwMode="auto">
          <a:xfrm>
            <a:off x="6751488" y="3461420"/>
            <a:ext cx="411311" cy="419100"/>
            <a:chOff x="2666" y="1966"/>
            <a:chExt cx="276" cy="264"/>
          </a:xfrm>
          <a:solidFill>
            <a:srgbClr val="CCECFF"/>
          </a:solidFill>
        </p:grpSpPr>
        <p:sp>
          <p:nvSpPr>
            <p:cNvPr id="22" name="Rectangle 14"/>
            <p:cNvSpPr>
              <a:spLocks noChangeArrowheads="1"/>
            </p:cNvSpPr>
            <p:nvPr/>
          </p:nvSpPr>
          <p:spPr bwMode="auto">
            <a:xfrm>
              <a:off x="2666" y="1966"/>
              <a:ext cx="276" cy="264"/>
            </a:xfrm>
            <a:prstGeom prst="rect">
              <a:avLst/>
            </a:prstGeom>
            <a:grpFill/>
            <a:ln w="9525">
              <a:solidFill>
                <a:schemeClr val="tx1"/>
              </a:solidFill>
              <a:miter lim="800000"/>
            </a:ln>
          </p:spPr>
          <p:txBody>
            <a:bodyPr wrap="none" anchor="ctr"/>
            <a:lstStyle>
              <a:lvl1pPr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MS PGothic" pitchFamily="34" charset="-128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MS PGothic" pitchFamily="34" charset="-128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MS PGothic" pitchFamily="34" charset="-128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MS PGothic" pitchFamily="34" charset="-128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MS PGothic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MS PGothic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MS PGothic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MS PGothic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MS PGothic" pitchFamily="34" charset="-128"/>
                </a:defRPr>
              </a:lvl9pPr>
            </a:lstStyle>
            <a:p>
              <a:pPr>
                <a:defRPr/>
              </a:pPr>
              <a:endParaRPr lang="en-US" altLang="en-US">
                <a:cs typeface="+mn-cs"/>
              </a:endParaRPr>
            </a:p>
          </p:txBody>
        </p:sp>
        <p:sp>
          <p:nvSpPr>
            <p:cNvPr id="23" name="Rectangle 15"/>
            <p:cNvSpPr>
              <a:spLocks noChangeArrowheads="1"/>
            </p:cNvSpPr>
            <p:nvPr/>
          </p:nvSpPr>
          <p:spPr bwMode="auto">
            <a:xfrm>
              <a:off x="2736" y="2026"/>
              <a:ext cx="47" cy="47"/>
            </a:xfrm>
            <a:prstGeom prst="rect">
              <a:avLst/>
            </a:prstGeom>
            <a:grpFill/>
            <a:ln w="9525">
              <a:solidFill>
                <a:schemeClr val="tx1"/>
              </a:solidFill>
              <a:miter lim="800000"/>
            </a:ln>
          </p:spPr>
          <p:txBody>
            <a:bodyPr wrap="none" anchor="ctr"/>
            <a:lstStyle>
              <a:lvl1pPr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MS PGothic" pitchFamily="34" charset="-128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MS PGothic" pitchFamily="34" charset="-128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MS PGothic" pitchFamily="34" charset="-128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MS PGothic" pitchFamily="34" charset="-128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MS PGothic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MS PGothic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MS PGothic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MS PGothic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MS PGothic" pitchFamily="34" charset="-128"/>
                </a:defRPr>
              </a:lvl9pPr>
            </a:lstStyle>
            <a:p>
              <a:pPr>
                <a:defRPr/>
              </a:pPr>
              <a:endParaRPr lang="en-US" altLang="en-US">
                <a:cs typeface="+mn-cs"/>
              </a:endParaRPr>
            </a:p>
          </p:txBody>
        </p:sp>
        <p:sp>
          <p:nvSpPr>
            <p:cNvPr id="24" name="Rectangle 16"/>
            <p:cNvSpPr>
              <a:spLocks noChangeArrowheads="1"/>
            </p:cNvSpPr>
            <p:nvPr/>
          </p:nvSpPr>
          <p:spPr bwMode="auto">
            <a:xfrm>
              <a:off x="2832" y="2026"/>
              <a:ext cx="47" cy="47"/>
            </a:xfrm>
            <a:prstGeom prst="rect">
              <a:avLst/>
            </a:prstGeom>
            <a:grpFill/>
            <a:ln w="9525">
              <a:solidFill>
                <a:schemeClr val="tx1"/>
              </a:solidFill>
              <a:miter lim="800000"/>
            </a:ln>
          </p:spPr>
          <p:txBody>
            <a:bodyPr wrap="none" anchor="ctr"/>
            <a:lstStyle>
              <a:lvl1pPr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MS PGothic" pitchFamily="34" charset="-128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MS PGothic" pitchFamily="34" charset="-128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MS PGothic" pitchFamily="34" charset="-128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MS PGothic" pitchFamily="34" charset="-128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MS PGothic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MS PGothic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MS PGothic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MS PGothic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MS PGothic" pitchFamily="34" charset="-128"/>
                </a:defRPr>
              </a:lvl9pPr>
            </a:lstStyle>
            <a:p>
              <a:pPr>
                <a:defRPr/>
              </a:pPr>
              <a:endParaRPr lang="en-US" altLang="en-US">
                <a:cs typeface="+mn-cs"/>
              </a:endParaRPr>
            </a:p>
          </p:txBody>
        </p:sp>
        <p:sp>
          <p:nvSpPr>
            <p:cNvPr id="25" name="Rectangle 17"/>
            <p:cNvSpPr>
              <a:spLocks noChangeArrowheads="1"/>
            </p:cNvSpPr>
            <p:nvPr/>
          </p:nvSpPr>
          <p:spPr bwMode="auto">
            <a:xfrm>
              <a:off x="2736" y="2108"/>
              <a:ext cx="47" cy="47"/>
            </a:xfrm>
            <a:prstGeom prst="rect">
              <a:avLst/>
            </a:prstGeom>
            <a:grpFill/>
            <a:ln w="9525">
              <a:solidFill>
                <a:schemeClr val="tx1"/>
              </a:solidFill>
              <a:miter lim="800000"/>
            </a:ln>
          </p:spPr>
          <p:txBody>
            <a:bodyPr wrap="none" anchor="ctr"/>
            <a:lstStyle>
              <a:lvl1pPr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MS PGothic" pitchFamily="34" charset="-128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MS PGothic" pitchFamily="34" charset="-128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MS PGothic" pitchFamily="34" charset="-128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MS PGothic" pitchFamily="34" charset="-128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MS PGothic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MS PGothic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MS PGothic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MS PGothic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MS PGothic" pitchFamily="34" charset="-128"/>
                </a:defRPr>
              </a:lvl9pPr>
            </a:lstStyle>
            <a:p>
              <a:pPr>
                <a:defRPr/>
              </a:pPr>
              <a:endParaRPr lang="en-US" altLang="en-US">
                <a:cs typeface="+mn-cs"/>
              </a:endParaRPr>
            </a:p>
          </p:txBody>
        </p:sp>
        <p:sp>
          <p:nvSpPr>
            <p:cNvPr id="26" name="Rectangle 18"/>
            <p:cNvSpPr>
              <a:spLocks noChangeArrowheads="1"/>
            </p:cNvSpPr>
            <p:nvPr/>
          </p:nvSpPr>
          <p:spPr bwMode="auto">
            <a:xfrm>
              <a:off x="2832" y="2108"/>
              <a:ext cx="47" cy="47"/>
            </a:xfrm>
            <a:prstGeom prst="rect">
              <a:avLst/>
            </a:prstGeom>
            <a:grpFill/>
            <a:ln w="9525">
              <a:solidFill>
                <a:schemeClr val="tx1"/>
              </a:solidFill>
              <a:miter lim="800000"/>
            </a:ln>
          </p:spPr>
          <p:txBody>
            <a:bodyPr wrap="none" anchor="ctr"/>
            <a:lstStyle>
              <a:lvl1pPr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MS PGothic" pitchFamily="34" charset="-128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MS PGothic" pitchFamily="34" charset="-128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MS PGothic" pitchFamily="34" charset="-128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MS PGothic" pitchFamily="34" charset="-128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MS PGothic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MS PGothic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MS PGothic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MS PGothic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MS PGothic" pitchFamily="34" charset="-128"/>
                </a:defRPr>
              </a:lvl9pPr>
            </a:lstStyle>
            <a:p>
              <a:pPr>
                <a:defRPr/>
              </a:pPr>
              <a:endParaRPr lang="en-US" altLang="en-US">
                <a:cs typeface="+mn-cs"/>
              </a:endParaRPr>
            </a:p>
          </p:txBody>
        </p:sp>
      </p:grpSp>
      <p:sp>
        <p:nvSpPr>
          <p:cNvPr id="45" name="Line 27"/>
          <p:cNvSpPr>
            <a:spLocks noChangeShapeType="1"/>
          </p:cNvSpPr>
          <p:nvPr/>
        </p:nvSpPr>
        <p:spPr bwMode="auto">
          <a:xfrm flipH="1">
            <a:off x="7043343" y="4821560"/>
            <a:ext cx="447077" cy="104775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tailEnd type="triangle" w="med" len="med"/>
          </a:ln>
        </p:spPr>
        <p:txBody>
          <a:bodyPr wrap="none" anchor="ctr"/>
          <a:lstStyle/>
          <a:p>
            <a:endParaRPr lang="en-US"/>
          </a:p>
        </p:txBody>
      </p:sp>
      <p:grpSp>
        <p:nvGrpSpPr>
          <p:cNvPr id="46" name="Group 21"/>
          <p:cNvGrpSpPr/>
          <p:nvPr/>
        </p:nvGrpSpPr>
        <p:grpSpPr bwMode="auto">
          <a:xfrm>
            <a:off x="7524328" y="4581128"/>
            <a:ext cx="411311" cy="419100"/>
            <a:chOff x="2666" y="1966"/>
            <a:chExt cx="276" cy="264"/>
          </a:xfrm>
          <a:solidFill>
            <a:srgbClr val="CCECFF"/>
          </a:solidFill>
        </p:grpSpPr>
        <p:sp>
          <p:nvSpPr>
            <p:cNvPr id="47" name="Rectangle 22"/>
            <p:cNvSpPr>
              <a:spLocks noChangeArrowheads="1"/>
            </p:cNvSpPr>
            <p:nvPr/>
          </p:nvSpPr>
          <p:spPr bwMode="auto">
            <a:xfrm>
              <a:off x="2666" y="1966"/>
              <a:ext cx="276" cy="264"/>
            </a:xfrm>
            <a:prstGeom prst="rect">
              <a:avLst/>
            </a:prstGeom>
            <a:grpFill/>
            <a:ln w="9525">
              <a:solidFill>
                <a:schemeClr val="tx1"/>
              </a:solidFill>
              <a:miter lim="800000"/>
            </a:ln>
          </p:spPr>
          <p:txBody>
            <a:bodyPr wrap="none" anchor="ctr"/>
            <a:lstStyle>
              <a:lvl1pPr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MS PGothic" pitchFamily="34" charset="-128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MS PGothic" pitchFamily="34" charset="-128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MS PGothic" pitchFamily="34" charset="-128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MS PGothic" pitchFamily="34" charset="-128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MS PGothic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MS PGothic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MS PGothic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MS PGothic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MS PGothic" pitchFamily="34" charset="-128"/>
                </a:defRPr>
              </a:lvl9pPr>
            </a:lstStyle>
            <a:p>
              <a:pPr>
                <a:defRPr/>
              </a:pPr>
              <a:endParaRPr lang="en-US" altLang="en-US">
                <a:cs typeface="+mn-cs"/>
              </a:endParaRPr>
            </a:p>
          </p:txBody>
        </p:sp>
        <p:sp>
          <p:nvSpPr>
            <p:cNvPr id="48" name="Rectangle 23"/>
            <p:cNvSpPr>
              <a:spLocks noChangeArrowheads="1"/>
            </p:cNvSpPr>
            <p:nvPr/>
          </p:nvSpPr>
          <p:spPr bwMode="auto">
            <a:xfrm>
              <a:off x="2736" y="2026"/>
              <a:ext cx="47" cy="47"/>
            </a:xfrm>
            <a:prstGeom prst="rect">
              <a:avLst/>
            </a:prstGeom>
            <a:grpFill/>
            <a:ln w="9525">
              <a:solidFill>
                <a:schemeClr val="tx1"/>
              </a:solidFill>
              <a:miter lim="800000"/>
            </a:ln>
          </p:spPr>
          <p:txBody>
            <a:bodyPr wrap="none" anchor="ctr"/>
            <a:lstStyle>
              <a:lvl1pPr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MS PGothic" pitchFamily="34" charset="-128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MS PGothic" pitchFamily="34" charset="-128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MS PGothic" pitchFamily="34" charset="-128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MS PGothic" pitchFamily="34" charset="-128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MS PGothic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MS PGothic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MS PGothic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MS PGothic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MS PGothic" pitchFamily="34" charset="-128"/>
                </a:defRPr>
              </a:lvl9pPr>
            </a:lstStyle>
            <a:p>
              <a:pPr>
                <a:defRPr/>
              </a:pPr>
              <a:endParaRPr lang="en-US" altLang="en-US">
                <a:cs typeface="+mn-cs"/>
              </a:endParaRPr>
            </a:p>
          </p:txBody>
        </p:sp>
        <p:sp>
          <p:nvSpPr>
            <p:cNvPr id="49" name="Rectangle 24"/>
            <p:cNvSpPr>
              <a:spLocks noChangeArrowheads="1"/>
            </p:cNvSpPr>
            <p:nvPr/>
          </p:nvSpPr>
          <p:spPr bwMode="auto">
            <a:xfrm>
              <a:off x="2832" y="2026"/>
              <a:ext cx="47" cy="47"/>
            </a:xfrm>
            <a:prstGeom prst="rect">
              <a:avLst/>
            </a:prstGeom>
            <a:grpFill/>
            <a:ln w="9525">
              <a:solidFill>
                <a:schemeClr val="tx1"/>
              </a:solidFill>
              <a:miter lim="800000"/>
            </a:ln>
          </p:spPr>
          <p:txBody>
            <a:bodyPr wrap="none" anchor="ctr"/>
            <a:lstStyle>
              <a:lvl1pPr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MS PGothic" pitchFamily="34" charset="-128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MS PGothic" pitchFamily="34" charset="-128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MS PGothic" pitchFamily="34" charset="-128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MS PGothic" pitchFamily="34" charset="-128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MS PGothic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MS PGothic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MS PGothic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MS PGothic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MS PGothic" pitchFamily="34" charset="-128"/>
                </a:defRPr>
              </a:lvl9pPr>
            </a:lstStyle>
            <a:p>
              <a:pPr>
                <a:defRPr/>
              </a:pPr>
              <a:endParaRPr lang="en-US" altLang="en-US">
                <a:cs typeface="+mn-cs"/>
              </a:endParaRPr>
            </a:p>
          </p:txBody>
        </p:sp>
        <p:sp>
          <p:nvSpPr>
            <p:cNvPr id="50" name="Rectangle 25"/>
            <p:cNvSpPr>
              <a:spLocks noChangeArrowheads="1"/>
            </p:cNvSpPr>
            <p:nvPr/>
          </p:nvSpPr>
          <p:spPr bwMode="auto">
            <a:xfrm>
              <a:off x="2736" y="2108"/>
              <a:ext cx="47" cy="47"/>
            </a:xfrm>
            <a:prstGeom prst="rect">
              <a:avLst/>
            </a:prstGeom>
            <a:grpFill/>
            <a:ln w="9525">
              <a:solidFill>
                <a:schemeClr val="tx1"/>
              </a:solidFill>
              <a:miter lim="800000"/>
            </a:ln>
          </p:spPr>
          <p:txBody>
            <a:bodyPr wrap="none" anchor="ctr"/>
            <a:lstStyle>
              <a:lvl1pPr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MS PGothic" pitchFamily="34" charset="-128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MS PGothic" pitchFamily="34" charset="-128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MS PGothic" pitchFamily="34" charset="-128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MS PGothic" pitchFamily="34" charset="-128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MS PGothic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MS PGothic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MS PGothic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MS PGothic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MS PGothic" pitchFamily="34" charset="-128"/>
                </a:defRPr>
              </a:lvl9pPr>
            </a:lstStyle>
            <a:p>
              <a:pPr>
                <a:defRPr/>
              </a:pPr>
              <a:endParaRPr lang="en-US" altLang="en-US">
                <a:cs typeface="+mn-cs"/>
              </a:endParaRPr>
            </a:p>
          </p:txBody>
        </p:sp>
        <p:sp>
          <p:nvSpPr>
            <p:cNvPr id="51" name="Rectangle 26"/>
            <p:cNvSpPr>
              <a:spLocks noChangeArrowheads="1"/>
            </p:cNvSpPr>
            <p:nvPr/>
          </p:nvSpPr>
          <p:spPr bwMode="auto">
            <a:xfrm>
              <a:off x="2832" y="2108"/>
              <a:ext cx="47" cy="47"/>
            </a:xfrm>
            <a:prstGeom prst="rect">
              <a:avLst/>
            </a:prstGeom>
            <a:grpFill/>
            <a:ln w="9525">
              <a:solidFill>
                <a:schemeClr val="tx1"/>
              </a:solidFill>
              <a:miter lim="800000"/>
            </a:ln>
          </p:spPr>
          <p:txBody>
            <a:bodyPr wrap="none" anchor="ctr"/>
            <a:lstStyle>
              <a:lvl1pPr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MS PGothic" pitchFamily="34" charset="-128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MS PGothic" pitchFamily="34" charset="-128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MS PGothic" pitchFamily="34" charset="-128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MS PGothic" pitchFamily="34" charset="-128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MS PGothic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MS PGothic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MS PGothic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MS PGothic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MS PGothic" pitchFamily="34" charset="-128"/>
                </a:defRPr>
              </a:lvl9pPr>
            </a:lstStyle>
            <a:p>
              <a:pPr>
                <a:defRPr/>
              </a:pPr>
              <a:endParaRPr lang="en-US" altLang="en-US">
                <a:cs typeface="+mn-cs"/>
              </a:endParaRPr>
            </a:p>
          </p:txBody>
        </p:sp>
      </p:grpSp>
      <p:sp>
        <p:nvSpPr>
          <p:cNvPr id="37" name="Slide Number Placeholder 3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t>82</a:t>
            </a:fld>
            <a:endParaRPr lang="en-US"/>
          </a:p>
        </p:txBody>
      </p:sp>
      <p:sp>
        <p:nvSpPr>
          <p:cNvPr id="2" name="Oval 1">
            <a:extLst>
              <a:ext uri="{FF2B5EF4-FFF2-40B4-BE49-F238E27FC236}">
                <a16:creationId xmlns:a16="http://schemas.microsoft.com/office/drawing/2014/main" id="{715CD162-62C0-35DB-06BD-E1FFE1B27937}"/>
              </a:ext>
            </a:extLst>
          </p:cNvPr>
          <p:cNvSpPr/>
          <p:nvPr/>
        </p:nvSpPr>
        <p:spPr>
          <a:xfrm>
            <a:off x="6416295" y="4677544"/>
            <a:ext cx="627048" cy="479644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dirty="0"/>
              <a:t>Pi</a:t>
            </a:r>
          </a:p>
        </p:txBody>
      </p:sp>
      <p:pic>
        <p:nvPicPr>
          <p:cNvPr id="3" name="Picture 2" descr="A black and red logo&#10;&#10;Description automatically generated">
            <a:extLst>
              <a:ext uri="{FF2B5EF4-FFF2-40B4-BE49-F238E27FC236}">
                <a16:creationId xmlns:a16="http://schemas.microsoft.com/office/drawing/2014/main" id="{2FF15A85-B1C4-CDDC-479E-1285320D1992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-27384"/>
            <a:ext cx="1657350" cy="710452"/>
          </a:xfrm>
          <a:prstGeom prst="rect">
            <a:avLst/>
          </a:prstGeom>
        </p:spPr>
      </p:pic>
      <p:sp>
        <p:nvSpPr>
          <p:cNvPr id="6" name="Title 1">
            <a:extLst>
              <a:ext uri="{FF2B5EF4-FFF2-40B4-BE49-F238E27FC236}">
                <a16:creationId xmlns:a16="http://schemas.microsoft.com/office/drawing/2014/main" id="{85BA87A2-15BC-D831-9F7D-CF6A4494444D}"/>
              </a:ext>
            </a:extLst>
          </p:cNvPr>
          <p:cNvSpPr txBox="1">
            <a:spLocks/>
          </p:cNvSpPr>
          <p:nvPr/>
        </p:nvSpPr>
        <p:spPr>
          <a:xfrm>
            <a:off x="1657350" y="35944"/>
            <a:ext cx="7379146" cy="595038"/>
          </a:xfrm>
          <a:prstGeom prst="rect">
            <a:avLst/>
          </a:prstGeom>
          <a:gradFill flip="none" rotWithShape="1">
            <a:gsLst>
              <a:gs pos="0">
                <a:srgbClr val="FF0000">
                  <a:tint val="66000"/>
                  <a:satMod val="160000"/>
                </a:srgbClr>
              </a:gs>
              <a:gs pos="50000">
                <a:srgbClr val="FF0000">
                  <a:tint val="44500"/>
                  <a:satMod val="160000"/>
                </a:srgbClr>
              </a:gs>
              <a:gs pos="100000">
                <a:srgbClr val="FF0000">
                  <a:tint val="23500"/>
                  <a:satMod val="160000"/>
                </a:srgbClr>
              </a:gs>
            </a:gsLst>
            <a:lin ang="0" scaled="1"/>
            <a:tileRect/>
          </a:gradFill>
        </p:spPr>
        <p:style>
          <a:lnRef idx="1">
            <a:schemeClr val="accent5"/>
          </a:lnRef>
          <a:fillRef idx="2">
            <a:schemeClr val="accent5"/>
          </a:fillRef>
          <a:effectRef idx="1">
            <a:schemeClr val="accent5"/>
          </a:effectRef>
          <a:fontRef idx="minor">
            <a:schemeClr val="dk1"/>
          </a:fontRef>
        </p:style>
        <p:txBody>
          <a:bodyPr vert="horz" lIns="68580" tIns="34290" rIns="68580" bIns="34290" rtlCol="0" anchor="ctr">
            <a:noAutofit/>
          </a:bodyPr>
          <a:lstStyle>
            <a:defPPr>
              <a:defRPr lang="en-US"/>
            </a:defPPr>
            <a:lvl1pPr algn="ctr">
              <a:spcBef>
                <a:spcPct val="0"/>
              </a:spcBef>
              <a:buNone/>
              <a:defRPr sz="2800"/>
            </a:lvl1pPr>
          </a:lstStyle>
          <a:p>
            <a:pPr>
              <a:defRPr/>
            </a:pPr>
            <a:r>
              <a:rPr lang="en-IN" sz="2400" dirty="0"/>
              <a:t>Resource-Allocation Graph</a:t>
            </a:r>
            <a:r>
              <a:rPr lang="en-IN" sz="2400" spc="-5" dirty="0"/>
              <a:t>(CO3)</a:t>
            </a:r>
            <a:endParaRPr lang="en-US" sz="2100" dirty="0"/>
          </a:p>
        </p:txBody>
      </p:sp>
    </p:spTree>
  </p:cSld>
  <p:clrMapOvr>
    <a:masterClrMapping/>
  </p:clrMapOvr>
  <p:transition>
    <p:dissolve/>
  </p:transition>
</p:sld>
</file>

<file path=ppt/slides/slide8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4566E27-69A9-450E-8B17-EB7DEF888DA2}" type="datetime3">
              <a:rPr lang="en-US" smtClean="0"/>
              <a:t>1 September 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2514600" y="6356350"/>
            <a:ext cx="5181600" cy="365125"/>
          </a:xfrm>
        </p:spPr>
        <p:txBody>
          <a:bodyPr/>
          <a:lstStyle/>
          <a:p>
            <a:r>
              <a:rPr lang="en-US"/>
              <a:t>Atul Garg           BCSE0303            Unit- III</a:t>
            </a:r>
            <a:endParaRPr lang="en-US" dirty="0"/>
          </a:p>
        </p:txBody>
      </p:sp>
      <p:pic>
        <p:nvPicPr>
          <p:cNvPr id="11" name="Picture 3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5287" t="925" r="25287" b="1530"/>
          <a:stretch>
            <a:fillRect/>
          </a:stretch>
        </p:blipFill>
        <p:spPr bwMode="auto">
          <a:xfrm>
            <a:off x="2139030" y="1124744"/>
            <a:ext cx="4665218" cy="4248473"/>
          </a:xfrm>
          <a:prstGeom prst="rect">
            <a:avLst/>
          </a:prstGeom>
          <a:noFill/>
          <a:ln w="38160">
            <a:solidFill>
              <a:srgbClr val="CC6600"/>
            </a:solidFill>
            <a:miter lim="800000"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7" name="TextBox 16"/>
          <p:cNvSpPr txBox="1"/>
          <p:nvPr/>
        </p:nvSpPr>
        <p:spPr>
          <a:xfrm>
            <a:off x="971600" y="5589240"/>
            <a:ext cx="701040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400" dirty="0">
                <a:latin typeface="Helvetica" charset="0"/>
                <a:cs typeface="Helvetica" charset="0"/>
              </a:rPr>
              <a:t>Resource allocation graph </a:t>
            </a:r>
          </a:p>
        </p:txBody>
      </p:sp>
      <p:sp>
        <p:nvSpPr>
          <p:cNvPr id="19" name="Slide Number Placeholder 1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t>83</a:t>
            </a:fld>
            <a:endParaRPr lang="en-US"/>
          </a:p>
        </p:txBody>
      </p:sp>
      <p:pic>
        <p:nvPicPr>
          <p:cNvPr id="2" name="Picture 1" descr="A black and red logo&#10;&#10;Description automatically generated">
            <a:extLst>
              <a:ext uri="{FF2B5EF4-FFF2-40B4-BE49-F238E27FC236}">
                <a16:creationId xmlns:a16="http://schemas.microsoft.com/office/drawing/2014/main" id="{FCFE574D-6031-EE12-2C5A-47A87BEA6376}"/>
              </a:ext>
            </a:extLst>
          </p:cNvPr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-27384"/>
            <a:ext cx="1657350" cy="710452"/>
          </a:xfrm>
          <a:prstGeom prst="rect">
            <a:avLst/>
          </a:prstGeom>
        </p:spPr>
      </p:pic>
      <p:sp>
        <p:nvSpPr>
          <p:cNvPr id="3" name="Title 1">
            <a:extLst>
              <a:ext uri="{FF2B5EF4-FFF2-40B4-BE49-F238E27FC236}">
                <a16:creationId xmlns:a16="http://schemas.microsoft.com/office/drawing/2014/main" id="{7E0CB874-B85F-D2F7-E192-11B7F70A712E}"/>
              </a:ext>
            </a:extLst>
          </p:cNvPr>
          <p:cNvSpPr txBox="1">
            <a:spLocks/>
          </p:cNvSpPr>
          <p:nvPr/>
        </p:nvSpPr>
        <p:spPr>
          <a:xfrm>
            <a:off x="1657350" y="0"/>
            <a:ext cx="7379146" cy="630981"/>
          </a:xfrm>
          <a:prstGeom prst="rect">
            <a:avLst/>
          </a:prstGeom>
          <a:gradFill flip="none" rotWithShape="1">
            <a:gsLst>
              <a:gs pos="0">
                <a:srgbClr val="FF0000">
                  <a:tint val="66000"/>
                  <a:satMod val="160000"/>
                </a:srgbClr>
              </a:gs>
              <a:gs pos="50000">
                <a:srgbClr val="FF0000">
                  <a:tint val="44500"/>
                  <a:satMod val="160000"/>
                </a:srgbClr>
              </a:gs>
              <a:gs pos="100000">
                <a:srgbClr val="FF0000">
                  <a:tint val="23500"/>
                  <a:satMod val="160000"/>
                </a:srgbClr>
              </a:gs>
            </a:gsLst>
            <a:lin ang="0" scaled="1"/>
            <a:tileRect/>
          </a:gradFill>
        </p:spPr>
        <p:style>
          <a:lnRef idx="1">
            <a:schemeClr val="accent5"/>
          </a:lnRef>
          <a:fillRef idx="2">
            <a:schemeClr val="accent5"/>
          </a:fillRef>
          <a:effectRef idx="1">
            <a:schemeClr val="accent5"/>
          </a:effectRef>
          <a:fontRef idx="minor">
            <a:schemeClr val="dk1"/>
          </a:fontRef>
        </p:style>
        <p:txBody>
          <a:bodyPr vert="horz" lIns="68580" tIns="34290" rIns="68580" bIns="34290" rtlCol="0" anchor="ctr">
            <a:noAutofit/>
          </a:bodyPr>
          <a:lstStyle>
            <a:defPPr>
              <a:defRPr lang="en-US"/>
            </a:defPPr>
            <a:lvl1pPr algn="ctr">
              <a:spcBef>
                <a:spcPct val="0"/>
              </a:spcBef>
              <a:buNone/>
              <a:defRPr sz="2800"/>
            </a:lvl1pPr>
          </a:lstStyle>
          <a:p>
            <a:pPr>
              <a:defRPr/>
            </a:pPr>
            <a:r>
              <a:rPr lang="en-IN" sz="2400" dirty="0"/>
              <a:t>Resource-Allocation Graph</a:t>
            </a:r>
            <a:r>
              <a:rPr lang="en-IN" sz="2400" spc="-5" dirty="0"/>
              <a:t>(CO3)</a:t>
            </a:r>
            <a:endParaRPr lang="en-US" sz="2100" dirty="0"/>
          </a:p>
        </p:txBody>
      </p:sp>
    </p:spTree>
  </p:cSld>
  <p:clrMapOvr>
    <a:masterClrMapping/>
  </p:clrMapOvr>
  <p:transition>
    <p:dissolve/>
  </p:transition>
</p:sld>
</file>

<file path=ppt/slides/slide8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71F15DF-8C3A-40C1-B310-817F36D0875F}" type="datetime3">
              <a:rPr lang="en-US" smtClean="0"/>
              <a:t>1 September 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2514600" y="6356350"/>
            <a:ext cx="5181600" cy="365125"/>
          </a:xfrm>
        </p:spPr>
        <p:txBody>
          <a:bodyPr/>
          <a:lstStyle/>
          <a:p>
            <a:r>
              <a:rPr lang="en-US"/>
              <a:t>Atul Garg           BCSE0303            Unit- III</a:t>
            </a:r>
            <a:endParaRPr lang="en-US" dirty="0"/>
          </a:p>
        </p:txBody>
      </p:sp>
      <p:grpSp>
        <p:nvGrpSpPr>
          <p:cNvPr id="14" name="Group 13"/>
          <p:cNvGrpSpPr/>
          <p:nvPr/>
        </p:nvGrpSpPr>
        <p:grpSpPr>
          <a:xfrm>
            <a:off x="3635896" y="981062"/>
            <a:ext cx="4533528" cy="4392154"/>
            <a:chOff x="6019800" y="1241425"/>
            <a:chExt cx="2897188" cy="4722812"/>
          </a:xfrm>
        </p:grpSpPr>
        <p:pic>
          <p:nvPicPr>
            <p:cNvPr id="15" name="Picture 2"/>
            <p:cNvPicPr>
              <a:picLocks noChangeAspect="1"/>
            </p:cNvPicPr>
            <p:nvPr/>
          </p:nvPicPr>
          <p:blipFill>
            <a:blip r:embed="rId3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25069" t="934" r="25282" b="1544"/>
            <a:stretch>
              <a:fillRect/>
            </a:stretch>
          </p:blipFill>
          <p:spPr bwMode="auto">
            <a:xfrm>
              <a:off x="6019800" y="1905000"/>
              <a:ext cx="2755900" cy="4059237"/>
            </a:xfrm>
            <a:prstGeom prst="rect">
              <a:avLst/>
            </a:prstGeom>
            <a:noFill/>
            <a:ln w="38160">
              <a:solidFill>
                <a:srgbClr val="CC6600"/>
              </a:solidFill>
              <a:miter lim="800000"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sp>
          <p:nvSpPr>
            <p:cNvPr id="16" name="Text Box 5"/>
            <p:cNvSpPr txBox="1">
              <a:spLocks noChangeArrowheads="1"/>
            </p:cNvSpPr>
            <p:nvPr/>
          </p:nvSpPr>
          <p:spPr bwMode="auto">
            <a:xfrm>
              <a:off x="6062663" y="1241425"/>
              <a:ext cx="2854325" cy="64928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tailEnd type="triangle" w="med" len="med"/>
                </a14:hiddenLine>
              </a:ext>
            </a:extLst>
          </p:spPr>
          <p:txBody>
            <a:bodyPr lIns="90000" tIns="46800" rIns="90000" bIns="46800">
              <a:spAutoFit/>
            </a:bodyPr>
            <a:lstStyle>
              <a:lvl1pPr>
                <a:lnSpc>
                  <a:spcPct val="95000"/>
                </a:lnSpc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2400">
                  <a:solidFill>
                    <a:schemeClr val="bg1"/>
                  </a:solidFill>
                  <a:latin typeface="Times New Roman" panose="02020603050405020304" pitchFamily="18" charset="0"/>
                  <a:ea typeface="Lucida Sans Unicode" panose="020B0602030504020204" pitchFamily="34" charset="0"/>
                  <a:cs typeface="Lucida Sans Unicode" panose="020B0602030504020204" pitchFamily="34" charset="0"/>
                </a:defRPr>
              </a:lvl1pPr>
              <a:lvl2pPr marL="742950" indent="-285750">
                <a:lnSpc>
                  <a:spcPct val="95000"/>
                </a:lnSpc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2400">
                  <a:solidFill>
                    <a:schemeClr val="bg1"/>
                  </a:solidFill>
                  <a:latin typeface="Times New Roman" panose="02020603050405020304" pitchFamily="18" charset="0"/>
                  <a:ea typeface="Lucida Sans Unicode" panose="020B0602030504020204" pitchFamily="34" charset="0"/>
                  <a:cs typeface="Lucida Sans Unicode" panose="020B0602030504020204" pitchFamily="34" charset="0"/>
                </a:defRPr>
              </a:lvl2pPr>
              <a:lvl3pPr marL="1143000" indent="-228600">
                <a:lnSpc>
                  <a:spcPct val="95000"/>
                </a:lnSpc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2400">
                  <a:solidFill>
                    <a:schemeClr val="bg1"/>
                  </a:solidFill>
                  <a:latin typeface="Times New Roman" panose="02020603050405020304" pitchFamily="18" charset="0"/>
                  <a:ea typeface="Lucida Sans Unicode" panose="020B0602030504020204" pitchFamily="34" charset="0"/>
                  <a:cs typeface="Lucida Sans Unicode" panose="020B0602030504020204" pitchFamily="34" charset="0"/>
                </a:defRPr>
              </a:lvl3pPr>
              <a:lvl4pPr marL="1600200" indent="-228600">
                <a:lnSpc>
                  <a:spcPct val="95000"/>
                </a:lnSpc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2400">
                  <a:solidFill>
                    <a:schemeClr val="bg1"/>
                  </a:solidFill>
                  <a:latin typeface="Times New Roman" panose="02020603050405020304" pitchFamily="18" charset="0"/>
                  <a:ea typeface="Lucida Sans Unicode" panose="020B0602030504020204" pitchFamily="34" charset="0"/>
                  <a:cs typeface="Lucida Sans Unicode" panose="020B0602030504020204" pitchFamily="34" charset="0"/>
                </a:defRPr>
              </a:lvl4pPr>
              <a:lvl5pPr marL="2057400" indent="-228600">
                <a:lnSpc>
                  <a:spcPct val="95000"/>
                </a:lnSpc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2400">
                  <a:solidFill>
                    <a:schemeClr val="bg1"/>
                  </a:solidFill>
                  <a:latin typeface="Times New Roman" panose="02020603050405020304" pitchFamily="18" charset="0"/>
                  <a:ea typeface="Lucida Sans Unicode" panose="020B0602030504020204" pitchFamily="34" charset="0"/>
                  <a:cs typeface="Lucida Sans Unicode" panose="020B0602030504020204" pitchFamily="34" charset="0"/>
                </a:defRPr>
              </a:lvl5pPr>
              <a:lvl6pPr marL="2514600" indent="-228600" defTabSz="457200" eaLnBrk="0" fontAlgn="base" hangingPunct="0">
                <a:lnSpc>
                  <a:spcPct val="95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2400">
                  <a:solidFill>
                    <a:schemeClr val="bg1"/>
                  </a:solidFill>
                  <a:latin typeface="Times New Roman" panose="02020603050405020304" pitchFamily="18" charset="0"/>
                  <a:ea typeface="Lucida Sans Unicode" panose="020B0602030504020204" pitchFamily="34" charset="0"/>
                  <a:cs typeface="Lucida Sans Unicode" panose="020B0602030504020204" pitchFamily="34" charset="0"/>
                </a:defRPr>
              </a:lvl6pPr>
              <a:lvl7pPr marL="2971800" indent="-228600" defTabSz="457200" eaLnBrk="0" fontAlgn="base" hangingPunct="0">
                <a:lnSpc>
                  <a:spcPct val="95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2400">
                  <a:solidFill>
                    <a:schemeClr val="bg1"/>
                  </a:solidFill>
                  <a:latin typeface="Times New Roman" panose="02020603050405020304" pitchFamily="18" charset="0"/>
                  <a:ea typeface="Lucida Sans Unicode" panose="020B0602030504020204" pitchFamily="34" charset="0"/>
                  <a:cs typeface="Lucida Sans Unicode" panose="020B0602030504020204" pitchFamily="34" charset="0"/>
                </a:defRPr>
              </a:lvl7pPr>
              <a:lvl8pPr marL="3429000" indent="-228600" defTabSz="457200" eaLnBrk="0" fontAlgn="base" hangingPunct="0">
                <a:lnSpc>
                  <a:spcPct val="95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2400">
                  <a:solidFill>
                    <a:schemeClr val="bg1"/>
                  </a:solidFill>
                  <a:latin typeface="Times New Roman" panose="02020603050405020304" pitchFamily="18" charset="0"/>
                  <a:ea typeface="Lucida Sans Unicode" panose="020B0602030504020204" pitchFamily="34" charset="0"/>
                  <a:cs typeface="Lucida Sans Unicode" panose="020B0602030504020204" pitchFamily="34" charset="0"/>
                </a:defRPr>
              </a:lvl8pPr>
              <a:lvl9pPr marL="3886200" indent="-228600" defTabSz="457200" eaLnBrk="0" fontAlgn="base" hangingPunct="0">
                <a:lnSpc>
                  <a:spcPct val="95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2400">
                  <a:solidFill>
                    <a:schemeClr val="bg1"/>
                  </a:solidFill>
                  <a:latin typeface="Times New Roman" panose="02020603050405020304" pitchFamily="18" charset="0"/>
                  <a:ea typeface="Lucida Sans Unicode" panose="020B0602030504020204" pitchFamily="34" charset="0"/>
                  <a:cs typeface="Lucida Sans Unicode" panose="020B0602030504020204" pitchFamily="34" charset="0"/>
                </a:defRPr>
              </a:lvl9pPr>
            </a:lstStyle>
            <a:p>
              <a:pPr>
                <a:lnSpc>
                  <a:spcPct val="100000"/>
                </a:lnSpc>
                <a:buFont typeface="Helvetica" charset="0"/>
                <a:buNone/>
              </a:pPr>
              <a:r>
                <a:rPr lang="en-GB" sz="1800" dirty="0">
                  <a:solidFill>
                    <a:srgbClr val="000000"/>
                  </a:solidFill>
                  <a:latin typeface="Helvetica" charset="0"/>
                </a:rPr>
                <a:t>After P</a:t>
              </a:r>
              <a:r>
                <a:rPr lang="en-GB" sz="1800" baseline="-25000" dirty="0">
                  <a:solidFill>
                    <a:srgbClr val="000000"/>
                  </a:solidFill>
                  <a:latin typeface="Helvetica" charset="0"/>
                </a:rPr>
                <a:t>3</a:t>
              </a:r>
              <a:r>
                <a:rPr lang="en-GB" sz="1800" dirty="0">
                  <a:solidFill>
                    <a:srgbClr val="000000"/>
                  </a:solidFill>
                  <a:latin typeface="Helvetica" charset="0"/>
                </a:rPr>
                <a:t> requested an instance of R</a:t>
              </a:r>
              <a:r>
                <a:rPr lang="en-GB" sz="1800" baseline="-25000" dirty="0">
                  <a:solidFill>
                    <a:srgbClr val="000000"/>
                  </a:solidFill>
                  <a:latin typeface="Helvetica" charset="0"/>
                </a:rPr>
                <a:t>2</a:t>
              </a:r>
            </a:p>
          </p:txBody>
        </p:sp>
      </p:grpSp>
      <p:sp>
        <p:nvSpPr>
          <p:cNvPr id="17" name="TextBox 16"/>
          <p:cNvSpPr txBox="1"/>
          <p:nvPr/>
        </p:nvSpPr>
        <p:spPr>
          <a:xfrm>
            <a:off x="971600" y="5589240"/>
            <a:ext cx="701040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400" dirty="0">
                <a:latin typeface="Helvetica" charset="0"/>
                <a:cs typeface="Helvetica" charset="0"/>
              </a:rPr>
              <a:t>A Cycle In the Graph May cause Deadlock </a:t>
            </a:r>
          </a:p>
        </p:txBody>
      </p:sp>
      <p:sp>
        <p:nvSpPr>
          <p:cNvPr id="19" name="Slide Number Placeholder 1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t>84</a:t>
            </a:fld>
            <a:endParaRPr lang="en-US"/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B6B3ECE3-C9DB-8DF5-7725-D639280FC0B8}"/>
              </a:ext>
            </a:extLst>
          </p:cNvPr>
          <p:cNvSpPr txBox="1"/>
          <p:nvPr/>
        </p:nvSpPr>
        <p:spPr>
          <a:xfrm>
            <a:off x="457200" y="1750164"/>
            <a:ext cx="2962672" cy="304698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400" dirty="0"/>
              <a:t>Cycle-1</a:t>
            </a:r>
          </a:p>
          <a:p>
            <a:endParaRPr lang="en-IN" sz="2400" dirty="0"/>
          </a:p>
          <a:p>
            <a:r>
              <a:rPr lang="en-IN" sz="2400" dirty="0"/>
              <a:t>P1</a:t>
            </a:r>
            <a:r>
              <a:rPr lang="en-IN" sz="2400" dirty="0">
                <a:sym typeface="Wingdings" panose="05000000000000000000" pitchFamily="2" charset="2"/>
              </a:rPr>
              <a:t>R1P2R3P3R2P1</a:t>
            </a:r>
          </a:p>
          <a:p>
            <a:endParaRPr lang="en-IN" sz="2400" dirty="0">
              <a:sym typeface="Wingdings" panose="05000000000000000000" pitchFamily="2" charset="2"/>
            </a:endParaRPr>
          </a:p>
          <a:p>
            <a:r>
              <a:rPr lang="en-IN" sz="2400" dirty="0">
                <a:sym typeface="Wingdings" panose="05000000000000000000" pitchFamily="2" charset="2"/>
              </a:rPr>
              <a:t>Cycle-2</a:t>
            </a:r>
          </a:p>
          <a:p>
            <a:endParaRPr lang="en-IN" sz="2400" dirty="0">
              <a:sym typeface="Wingdings" panose="05000000000000000000" pitchFamily="2" charset="2"/>
            </a:endParaRPr>
          </a:p>
          <a:p>
            <a:r>
              <a:rPr lang="en-IN" sz="2400" dirty="0">
                <a:sym typeface="Wingdings" panose="05000000000000000000" pitchFamily="2" charset="2"/>
              </a:rPr>
              <a:t>P2R3P3R2P2</a:t>
            </a:r>
            <a:endParaRPr lang="en-IN" sz="2400" dirty="0"/>
          </a:p>
        </p:txBody>
      </p:sp>
      <p:pic>
        <p:nvPicPr>
          <p:cNvPr id="3" name="Picture 2" descr="A black and red logo&#10;&#10;Description automatically generated">
            <a:extLst>
              <a:ext uri="{FF2B5EF4-FFF2-40B4-BE49-F238E27FC236}">
                <a16:creationId xmlns:a16="http://schemas.microsoft.com/office/drawing/2014/main" id="{37941D35-C465-58A8-0DD4-CDD38434B4B8}"/>
              </a:ext>
            </a:extLst>
          </p:cNvPr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-27384"/>
            <a:ext cx="1657350" cy="710452"/>
          </a:xfrm>
          <a:prstGeom prst="rect">
            <a:avLst/>
          </a:prstGeom>
        </p:spPr>
      </p:pic>
      <p:sp>
        <p:nvSpPr>
          <p:cNvPr id="6" name="Title 1">
            <a:extLst>
              <a:ext uri="{FF2B5EF4-FFF2-40B4-BE49-F238E27FC236}">
                <a16:creationId xmlns:a16="http://schemas.microsoft.com/office/drawing/2014/main" id="{05756FEE-FBB7-D71E-693E-25372C0131A8}"/>
              </a:ext>
            </a:extLst>
          </p:cNvPr>
          <p:cNvSpPr txBox="1">
            <a:spLocks/>
          </p:cNvSpPr>
          <p:nvPr/>
        </p:nvSpPr>
        <p:spPr>
          <a:xfrm>
            <a:off x="1475656" y="44624"/>
            <a:ext cx="7668344" cy="514349"/>
          </a:xfrm>
          <a:prstGeom prst="rect">
            <a:avLst/>
          </a:prstGeom>
          <a:gradFill flip="none" rotWithShape="1">
            <a:gsLst>
              <a:gs pos="0">
                <a:srgbClr val="FF0000">
                  <a:tint val="66000"/>
                  <a:satMod val="160000"/>
                </a:srgbClr>
              </a:gs>
              <a:gs pos="50000">
                <a:srgbClr val="FF0000">
                  <a:tint val="44500"/>
                  <a:satMod val="160000"/>
                </a:srgbClr>
              </a:gs>
              <a:gs pos="100000">
                <a:srgbClr val="FF0000">
                  <a:tint val="23500"/>
                  <a:satMod val="160000"/>
                </a:srgbClr>
              </a:gs>
            </a:gsLst>
            <a:lin ang="0" scaled="1"/>
            <a:tileRect/>
          </a:gradFill>
        </p:spPr>
        <p:style>
          <a:lnRef idx="1">
            <a:schemeClr val="accent5"/>
          </a:lnRef>
          <a:fillRef idx="2">
            <a:schemeClr val="accent5"/>
          </a:fillRef>
          <a:effectRef idx="1">
            <a:schemeClr val="accent5"/>
          </a:effectRef>
          <a:fontRef idx="minor">
            <a:schemeClr val="dk1"/>
          </a:fontRef>
        </p:style>
        <p:txBody>
          <a:bodyPr vert="horz" lIns="68580" tIns="34290" rIns="68580" bIns="34290" rtlCol="0" anchor="ctr">
            <a:noAutofit/>
          </a:bodyPr>
          <a:lstStyle>
            <a:defPPr>
              <a:defRPr lang="en-US"/>
            </a:defPPr>
            <a:lvl1pPr algn="ctr">
              <a:spcBef>
                <a:spcPct val="0"/>
              </a:spcBef>
              <a:buNone/>
              <a:defRPr sz="2800"/>
            </a:lvl1pPr>
          </a:lstStyle>
          <a:p>
            <a:pPr>
              <a:defRPr/>
            </a:pPr>
            <a:r>
              <a:rPr lang="en-GB" sz="2400" dirty="0"/>
              <a:t>Resource Allocation Graph With A Deadlock</a:t>
            </a:r>
            <a:r>
              <a:rPr lang="en-IN" sz="2400" spc="-5" dirty="0"/>
              <a:t>(C03)</a:t>
            </a:r>
            <a:endParaRPr lang="en-US" sz="2100" dirty="0"/>
          </a:p>
        </p:txBody>
      </p:sp>
    </p:spTree>
    <p:extLst>
      <p:ext uri="{BB962C8B-B14F-4D97-AF65-F5344CB8AC3E}">
        <p14:creationId xmlns:p14="http://schemas.microsoft.com/office/powerpoint/2010/main" val="592501806"/>
      </p:ext>
    </p:extLst>
  </p:cSld>
  <p:clrMapOvr>
    <a:masterClrMapping/>
  </p:clrMapOvr>
  <p:transition>
    <p:dissolv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8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9743C76-48CA-4AAE-8E4C-CFB8E9D6DFBF}" type="datetime3">
              <a:rPr lang="en-US" smtClean="0"/>
              <a:t>1 September 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2514600" y="6356350"/>
            <a:ext cx="5181600" cy="365125"/>
          </a:xfrm>
        </p:spPr>
        <p:txBody>
          <a:bodyPr/>
          <a:lstStyle/>
          <a:p>
            <a:r>
              <a:rPr lang="en-US"/>
              <a:t>Atul Garg           BCSE0303            Unit- III</a:t>
            </a:r>
            <a:endParaRPr lang="en-US" dirty="0"/>
          </a:p>
        </p:txBody>
      </p:sp>
      <p:sp>
        <p:nvSpPr>
          <p:cNvPr id="19" name="Slide Number Placeholder 1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t>85</a:t>
            </a:fld>
            <a:endParaRPr lang="en-US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C6065375-BC68-E59F-7573-1FB252703DA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20080" y="764704"/>
            <a:ext cx="7956376" cy="5391085"/>
          </a:xfrm>
          <a:prstGeom prst="rect">
            <a:avLst/>
          </a:prstGeom>
        </p:spPr>
      </p:pic>
      <p:pic>
        <p:nvPicPr>
          <p:cNvPr id="2" name="Picture 1" descr="A black and red logo&#10;&#10;Description automatically generated">
            <a:extLst>
              <a:ext uri="{FF2B5EF4-FFF2-40B4-BE49-F238E27FC236}">
                <a16:creationId xmlns:a16="http://schemas.microsoft.com/office/drawing/2014/main" id="{F41EDD1F-2467-5D53-B019-1F3FB1BCF78E}"/>
              </a:ext>
            </a:extLst>
          </p:cNvPr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-27384"/>
            <a:ext cx="1691680" cy="725168"/>
          </a:xfrm>
          <a:prstGeom prst="rect">
            <a:avLst/>
          </a:prstGeom>
        </p:spPr>
      </p:pic>
      <p:sp>
        <p:nvSpPr>
          <p:cNvPr id="6" name="Title 1">
            <a:extLst>
              <a:ext uri="{FF2B5EF4-FFF2-40B4-BE49-F238E27FC236}">
                <a16:creationId xmlns:a16="http://schemas.microsoft.com/office/drawing/2014/main" id="{22507D95-33E6-988E-4DAA-18D529CDCDD2}"/>
              </a:ext>
            </a:extLst>
          </p:cNvPr>
          <p:cNvSpPr txBox="1">
            <a:spLocks/>
          </p:cNvSpPr>
          <p:nvPr/>
        </p:nvSpPr>
        <p:spPr>
          <a:xfrm>
            <a:off x="1763688" y="0"/>
            <a:ext cx="7272808" cy="630981"/>
          </a:xfrm>
          <a:prstGeom prst="rect">
            <a:avLst/>
          </a:prstGeom>
          <a:gradFill flip="none" rotWithShape="1">
            <a:gsLst>
              <a:gs pos="0">
                <a:srgbClr val="FF0000">
                  <a:tint val="66000"/>
                  <a:satMod val="160000"/>
                </a:srgbClr>
              </a:gs>
              <a:gs pos="50000">
                <a:srgbClr val="FF0000">
                  <a:tint val="44500"/>
                  <a:satMod val="160000"/>
                </a:srgbClr>
              </a:gs>
              <a:gs pos="100000">
                <a:srgbClr val="FF0000">
                  <a:tint val="23500"/>
                  <a:satMod val="160000"/>
                </a:srgbClr>
              </a:gs>
            </a:gsLst>
            <a:lin ang="0" scaled="1"/>
            <a:tileRect/>
          </a:gradFill>
        </p:spPr>
        <p:style>
          <a:lnRef idx="1">
            <a:schemeClr val="accent5"/>
          </a:lnRef>
          <a:fillRef idx="2">
            <a:schemeClr val="accent5"/>
          </a:fillRef>
          <a:effectRef idx="1">
            <a:schemeClr val="accent5"/>
          </a:effectRef>
          <a:fontRef idx="minor">
            <a:schemeClr val="dk1"/>
          </a:fontRef>
        </p:style>
        <p:txBody>
          <a:bodyPr vert="horz" lIns="68580" tIns="34290" rIns="68580" bIns="34290" rtlCol="0" anchor="ctr">
            <a:noAutofit/>
          </a:bodyPr>
          <a:lstStyle>
            <a:defPPr>
              <a:defRPr lang="en-US"/>
            </a:defPPr>
            <a:lvl1pPr algn="ctr">
              <a:spcBef>
                <a:spcPct val="0"/>
              </a:spcBef>
              <a:buNone/>
              <a:defRPr sz="2800"/>
            </a:lvl1pPr>
          </a:lstStyle>
          <a:p>
            <a:pPr>
              <a:defRPr/>
            </a:pPr>
            <a:r>
              <a:rPr lang="en-GB" sz="2400" dirty="0"/>
              <a:t>Resource Allocation Graph </a:t>
            </a:r>
            <a:r>
              <a:rPr lang="en-IN" sz="2400" spc="-5" dirty="0"/>
              <a:t>(C03)</a:t>
            </a:r>
            <a:endParaRPr lang="en-US" sz="2100" dirty="0"/>
          </a:p>
        </p:txBody>
      </p:sp>
    </p:spTree>
    <p:extLst>
      <p:ext uri="{BB962C8B-B14F-4D97-AF65-F5344CB8AC3E}">
        <p14:creationId xmlns:p14="http://schemas.microsoft.com/office/powerpoint/2010/main" val="560114037"/>
      </p:ext>
    </p:extLst>
  </p:cSld>
  <p:clrMapOvr>
    <a:masterClrMapping/>
  </p:clrMapOvr>
  <p:transition>
    <p:dissolve/>
  </p:transition>
</p:sld>
</file>

<file path=ppt/slides/slide8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F29EBC1-9525-4DF8-AD20-6E30BBAD304A}" type="datetime3">
              <a:rPr lang="en-US" smtClean="0"/>
              <a:t>1 September 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2514600" y="6356350"/>
            <a:ext cx="5181600" cy="365125"/>
          </a:xfrm>
        </p:spPr>
        <p:txBody>
          <a:bodyPr/>
          <a:lstStyle/>
          <a:p>
            <a:r>
              <a:rPr lang="en-US"/>
              <a:t>Atul Garg           BCSE0303            Unit- III</a:t>
            </a:r>
            <a:endParaRPr lang="en-US" dirty="0"/>
          </a:p>
        </p:txBody>
      </p:sp>
      <p:sp>
        <p:nvSpPr>
          <p:cNvPr id="12" name="object 3"/>
          <p:cNvSpPr txBox="1"/>
          <p:nvPr/>
        </p:nvSpPr>
        <p:spPr>
          <a:xfrm>
            <a:off x="899592" y="692696"/>
            <a:ext cx="8129143" cy="3826047"/>
          </a:xfrm>
          <a:prstGeom prst="rect">
            <a:avLst/>
          </a:prstGeom>
        </p:spPr>
        <p:txBody>
          <a:bodyPr vert="horz" wrap="square" lIns="0" tIns="108585" rIns="0" bIns="0" rtlCol="0">
            <a:spAutoFit/>
          </a:bodyPr>
          <a:lstStyle/>
          <a:p>
            <a:pPr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600" dirty="0">
                <a:ea typeface="MS PGothic" charset="0"/>
              </a:rPr>
              <a:t>If graph contains no cycles </a:t>
            </a:r>
            <a:r>
              <a:rPr lang="en-US" sz="2600" dirty="0">
                <a:ea typeface="MS PGothic" charset="0"/>
                <a:sym typeface="Symbol" charset="0"/>
              </a:rPr>
              <a:t> no deadlock</a:t>
            </a:r>
          </a:p>
          <a:p>
            <a:pPr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600" dirty="0">
                <a:ea typeface="MS PGothic" charset="0"/>
                <a:sym typeface="Symbol" charset="0"/>
              </a:rPr>
              <a:t>If graph contains a cycle </a:t>
            </a:r>
          </a:p>
          <a:p>
            <a:pPr lvl="1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600" dirty="0">
                <a:ea typeface="MS PGothic" charset="0"/>
                <a:sym typeface="Symbol" charset="0"/>
              </a:rPr>
              <a:t>if only one instance per resource type, then deadlock</a:t>
            </a:r>
          </a:p>
          <a:p>
            <a:pPr lvl="1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600" dirty="0">
                <a:ea typeface="MS PGothic" charset="0"/>
                <a:sym typeface="Symbol" charset="0"/>
              </a:rPr>
              <a:t>if several instances per resource type, possibility of deadlock</a:t>
            </a:r>
          </a:p>
          <a:p>
            <a:pPr marL="12700">
              <a:lnSpc>
                <a:spcPct val="150000"/>
              </a:lnSpc>
              <a:spcBef>
                <a:spcPts val="855"/>
              </a:spcBef>
            </a:pPr>
            <a:endParaRPr sz="2600" dirty="0">
              <a:cs typeface="Arial" panose="020B0604020202020204"/>
            </a:endParaRPr>
          </a:p>
        </p:txBody>
      </p:sp>
      <p:sp>
        <p:nvSpPr>
          <p:cNvPr id="8" name="Slide Number Placeholder 7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t>86</a:t>
            </a:fld>
            <a:endParaRPr lang="en-US"/>
          </a:p>
        </p:txBody>
      </p:sp>
      <p:pic>
        <p:nvPicPr>
          <p:cNvPr id="2" name="Picture 1" descr="A black and red logo&#10;&#10;Description automatically generated">
            <a:extLst>
              <a:ext uri="{FF2B5EF4-FFF2-40B4-BE49-F238E27FC236}">
                <a16:creationId xmlns:a16="http://schemas.microsoft.com/office/drawing/2014/main" id="{294EF351-8B53-BAE3-12D6-E40CFB78EE0E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-27384"/>
            <a:ext cx="1657350" cy="710452"/>
          </a:xfrm>
          <a:prstGeom prst="rect">
            <a:avLst/>
          </a:prstGeom>
        </p:spPr>
      </p:pic>
      <p:sp>
        <p:nvSpPr>
          <p:cNvPr id="3" name="Title 1">
            <a:extLst>
              <a:ext uri="{FF2B5EF4-FFF2-40B4-BE49-F238E27FC236}">
                <a16:creationId xmlns:a16="http://schemas.microsoft.com/office/drawing/2014/main" id="{7462DF7B-2477-3D85-075D-27D1B2B82DC9}"/>
              </a:ext>
            </a:extLst>
          </p:cNvPr>
          <p:cNvSpPr txBox="1">
            <a:spLocks/>
          </p:cNvSpPr>
          <p:nvPr/>
        </p:nvSpPr>
        <p:spPr>
          <a:xfrm>
            <a:off x="1657349" y="0"/>
            <a:ext cx="7371385" cy="630981"/>
          </a:xfrm>
          <a:prstGeom prst="rect">
            <a:avLst/>
          </a:prstGeom>
          <a:gradFill flip="none" rotWithShape="1">
            <a:gsLst>
              <a:gs pos="0">
                <a:srgbClr val="FF0000">
                  <a:tint val="66000"/>
                  <a:satMod val="160000"/>
                </a:srgbClr>
              </a:gs>
              <a:gs pos="50000">
                <a:srgbClr val="FF0000">
                  <a:tint val="44500"/>
                  <a:satMod val="160000"/>
                </a:srgbClr>
              </a:gs>
              <a:gs pos="100000">
                <a:srgbClr val="FF0000">
                  <a:tint val="23500"/>
                  <a:satMod val="160000"/>
                </a:srgbClr>
              </a:gs>
            </a:gsLst>
            <a:lin ang="0" scaled="1"/>
            <a:tileRect/>
          </a:gradFill>
        </p:spPr>
        <p:style>
          <a:lnRef idx="1">
            <a:schemeClr val="accent5"/>
          </a:lnRef>
          <a:fillRef idx="2">
            <a:schemeClr val="accent5"/>
          </a:fillRef>
          <a:effectRef idx="1">
            <a:schemeClr val="accent5"/>
          </a:effectRef>
          <a:fontRef idx="minor">
            <a:schemeClr val="dk1"/>
          </a:fontRef>
        </p:style>
        <p:txBody>
          <a:bodyPr vert="horz" lIns="68580" tIns="34290" rIns="68580" bIns="34290" rtlCol="0" anchor="ctr">
            <a:noAutofit/>
          </a:bodyPr>
          <a:lstStyle>
            <a:defPPr>
              <a:defRPr lang="en-US"/>
            </a:defPPr>
            <a:lvl1pPr algn="ctr">
              <a:spcBef>
                <a:spcPct val="0"/>
              </a:spcBef>
              <a:buNone/>
              <a:defRPr sz="2800"/>
            </a:lvl1pPr>
          </a:lstStyle>
          <a:p>
            <a:pPr>
              <a:defRPr/>
            </a:pPr>
            <a:r>
              <a:rPr lang="en-IN" sz="2400" spc="-5" dirty="0"/>
              <a:t>Summary(C03)</a:t>
            </a:r>
            <a:endParaRPr lang="en-US" sz="2100" dirty="0"/>
          </a:p>
        </p:txBody>
      </p:sp>
    </p:spTree>
  </p:cSld>
  <p:clrMapOvr>
    <a:masterClrMapping/>
  </p:clrMapOvr>
  <p:transition>
    <p:dissolve/>
  </p:transition>
</p:sld>
</file>

<file path=ppt/slides/slide8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05C3680-65BF-480A-A8C8-A1FDB99004B7}" type="datetime3">
              <a:rPr lang="en-US" smtClean="0"/>
              <a:t>1 September 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2514600" y="6356350"/>
            <a:ext cx="5181600" cy="365125"/>
          </a:xfrm>
        </p:spPr>
        <p:txBody>
          <a:bodyPr/>
          <a:lstStyle/>
          <a:p>
            <a:r>
              <a:rPr lang="en-US"/>
              <a:t>Atul Garg           BCSE0303            Unit- III</a:t>
            </a:r>
            <a:endParaRPr lang="en-US" dirty="0"/>
          </a:p>
        </p:txBody>
      </p:sp>
      <p:sp>
        <p:nvSpPr>
          <p:cNvPr id="11" name="Rectangle 2"/>
          <p:cNvSpPr txBox="1">
            <a:spLocks noChangeArrowheads="1"/>
          </p:cNvSpPr>
          <p:nvPr/>
        </p:nvSpPr>
        <p:spPr>
          <a:xfrm>
            <a:off x="827584" y="836712"/>
            <a:ext cx="8004048" cy="4968552"/>
          </a:xfrm>
          <a:prstGeom prst="rect">
            <a:avLst/>
          </a:prstGeom>
        </p:spPr>
        <p:txBody>
          <a:bodyPr>
            <a:noAutofit/>
          </a:bodyPr>
          <a:lstStyle>
            <a:lvl1pPr marL="365760" indent="-283210" algn="l" rtl="0" eaLnBrk="1" latinLnBrk="0" hangingPunct="1">
              <a:lnSpc>
                <a:spcPct val="100000"/>
              </a:lnSpc>
              <a:spcBef>
                <a:spcPts val="600"/>
              </a:spcBef>
              <a:buClr>
                <a:schemeClr val="accent1"/>
              </a:buClr>
              <a:buSzPct val="80000"/>
              <a:buFont typeface="Wingdings 2" panose="05020102010507070707"/>
              <a:buChar char=""/>
              <a:defRPr kumimoji="0"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40080" indent="-237490" algn="l" rtl="0" eaLnBrk="1" latinLnBrk="0" hangingPunct="1">
              <a:lnSpc>
                <a:spcPct val="100000"/>
              </a:lnSpc>
              <a:spcBef>
                <a:spcPts val="550"/>
              </a:spcBef>
              <a:buClr>
                <a:schemeClr val="accent1"/>
              </a:buClr>
              <a:buFont typeface="Verdana" panose="020B0604030504040204"/>
              <a:buChar char="◦"/>
              <a:defRPr kumimoji="0"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887095" indent="-228600" algn="l" rtl="0" eaLnBrk="1" latinLnBrk="0" hangingPunct="1">
              <a:lnSpc>
                <a:spcPct val="100000"/>
              </a:lnSpc>
              <a:spcBef>
                <a:spcPct val="20000"/>
              </a:spcBef>
              <a:buClr>
                <a:schemeClr val="accent2"/>
              </a:buClr>
              <a:buFont typeface="Wingdings 2" panose="05020102010507070707"/>
              <a:buChar char=""/>
              <a:defRPr kumimoji="0"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097280" indent="-173990" algn="l" rtl="0" eaLnBrk="1" latinLnBrk="0" hangingPunct="1">
              <a:lnSpc>
                <a:spcPct val="100000"/>
              </a:lnSpc>
              <a:spcBef>
                <a:spcPct val="20000"/>
              </a:spcBef>
              <a:buClr>
                <a:schemeClr val="accent3"/>
              </a:buClr>
              <a:buFont typeface="Wingdings 2" panose="05020102010507070707"/>
              <a:buChar char=""/>
              <a:defRPr kumimoji="0"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298575" indent="-182880" algn="l" rtl="0" eaLnBrk="1" latinLnBrk="0" hangingPunct="1">
              <a:lnSpc>
                <a:spcPct val="100000"/>
              </a:lnSpc>
              <a:spcBef>
                <a:spcPct val="20000"/>
              </a:spcBef>
              <a:buClr>
                <a:schemeClr val="accent4"/>
              </a:buClr>
              <a:buFont typeface="Wingdings 2" panose="05020102010507070707"/>
              <a:buChar char=""/>
              <a:defRPr kumimoji="0"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508760" indent="-182880" algn="l" rtl="0" eaLnBrk="1" latinLnBrk="0" hangingPunct="1">
              <a:lnSpc>
                <a:spcPct val="100000"/>
              </a:lnSpc>
              <a:spcBef>
                <a:spcPct val="20000"/>
              </a:spcBef>
              <a:buClr>
                <a:schemeClr val="accent5"/>
              </a:buClr>
              <a:buFont typeface="Wingdings 2" panose="05020102010507070707"/>
              <a:buChar char=""/>
              <a:defRPr kumimoji="0"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718945" indent="-182880" algn="l" rtl="0" eaLnBrk="1" latinLnBrk="0" hangingPunct="1">
              <a:lnSpc>
                <a:spcPct val="100000"/>
              </a:lnSpc>
              <a:spcBef>
                <a:spcPct val="20000"/>
              </a:spcBef>
              <a:buClr>
                <a:schemeClr val="accent6"/>
              </a:buClr>
              <a:buFont typeface="Wingdings 2" panose="05020102010507070707"/>
              <a:buChar char=""/>
              <a:defRPr kumimoji="0"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1920240" indent="-182880" algn="l" rtl="0" eaLnBrk="1" latinLnBrk="0" hangingPunct="1">
              <a:lnSpc>
                <a:spcPct val="100000"/>
              </a:lnSpc>
              <a:spcBef>
                <a:spcPct val="20000"/>
              </a:spcBef>
              <a:buClr>
                <a:schemeClr val="accent6"/>
              </a:buClr>
              <a:buFont typeface="Wingdings 2" panose="05020102010507070707"/>
              <a:buChar char=""/>
              <a:defRPr kumimoji="0"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130425" indent="-182880" algn="l" rtl="0" eaLnBrk="1" latinLnBrk="0" hangingPunct="1">
              <a:lnSpc>
                <a:spcPct val="100000"/>
              </a:lnSpc>
              <a:spcBef>
                <a:spcPct val="20000"/>
              </a:spcBef>
              <a:buClr>
                <a:schemeClr val="accent6"/>
              </a:buClr>
              <a:buFont typeface="Wingdings 2" panose="05020102010507070707"/>
              <a:buChar char=""/>
              <a:defRPr kumimoji="0"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just">
              <a:spcBef>
                <a:spcPts val="700"/>
              </a:spcBef>
              <a:tabLst>
                <a:tab pos="911225" algn="l"/>
                <a:tab pos="1825625" algn="l"/>
                <a:tab pos="2740025" algn="l"/>
                <a:tab pos="3654425" algn="l"/>
                <a:tab pos="4568825" algn="l"/>
                <a:tab pos="5483225" algn="l"/>
                <a:tab pos="6397625" algn="l"/>
                <a:tab pos="7312025" algn="l"/>
                <a:tab pos="8226425" algn="l"/>
                <a:tab pos="9140825" algn="l"/>
                <a:tab pos="10055225" algn="l"/>
              </a:tabLst>
            </a:pPr>
            <a:r>
              <a:rPr lang="en-GB" sz="2200" b="1" dirty="0">
                <a:ea typeface="Lucida Sans Unicode" panose="020B0602030504020204" pitchFamily="34" charset="0"/>
              </a:rPr>
              <a:t>Prevention </a:t>
            </a:r>
            <a:r>
              <a:rPr lang="en-GB" sz="2200" dirty="0">
                <a:ea typeface="Lucida Sans Unicode" panose="020B0602030504020204" pitchFamily="34" charset="0"/>
              </a:rPr>
              <a:t>  </a:t>
            </a:r>
          </a:p>
          <a:p>
            <a:pPr lvl="1" algn="just">
              <a:spcBef>
                <a:spcPts val="700"/>
              </a:spcBef>
              <a:tabLst>
                <a:tab pos="911225" algn="l"/>
                <a:tab pos="1825625" algn="l"/>
                <a:tab pos="2740025" algn="l"/>
                <a:tab pos="3654425" algn="l"/>
                <a:tab pos="4568825" algn="l"/>
                <a:tab pos="5483225" algn="l"/>
                <a:tab pos="6397625" algn="l"/>
                <a:tab pos="7312025" algn="l"/>
                <a:tab pos="8226425" algn="l"/>
                <a:tab pos="9140825" algn="l"/>
                <a:tab pos="10055225" algn="l"/>
              </a:tabLst>
            </a:pPr>
            <a:r>
              <a:rPr lang="en-GB" sz="2200" dirty="0">
                <a:ea typeface="Lucida Sans Unicode" panose="020B0602030504020204" pitchFamily="34" charset="0"/>
              </a:rPr>
              <a:t>Ensure that the system will never enter a </a:t>
            </a:r>
            <a:r>
              <a:rPr lang="en-GB" sz="2200" u="sng" dirty="0">
                <a:ea typeface="Lucida Sans Unicode" panose="020B0602030504020204" pitchFamily="34" charset="0"/>
              </a:rPr>
              <a:t>deadlock</a:t>
            </a:r>
            <a:r>
              <a:rPr lang="en-GB" sz="2200" dirty="0">
                <a:ea typeface="Lucida Sans Unicode" panose="020B0602030504020204" pitchFamily="34" charset="0"/>
              </a:rPr>
              <a:t> state</a:t>
            </a:r>
          </a:p>
          <a:p>
            <a:pPr algn="just">
              <a:spcBef>
                <a:spcPts val="700"/>
              </a:spcBef>
              <a:tabLst>
                <a:tab pos="911225" algn="l"/>
                <a:tab pos="1825625" algn="l"/>
                <a:tab pos="2740025" algn="l"/>
                <a:tab pos="3654425" algn="l"/>
                <a:tab pos="4568825" algn="l"/>
                <a:tab pos="5483225" algn="l"/>
                <a:tab pos="6397625" algn="l"/>
                <a:tab pos="7312025" algn="l"/>
                <a:tab pos="8226425" algn="l"/>
                <a:tab pos="9140825" algn="l"/>
                <a:tab pos="10055225" algn="l"/>
              </a:tabLst>
            </a:pPr>
            <a:r>
              <a:rPr lang="en-GB" sz="2200" b="1" dirty="0">
                <a:ea typeface="Lucida Sans Unicode" panose="020B0602030504020204" pitchFamily="34" charset="0"/>
              </a:rPr>
              <a:t>Avoidance</a:t>
            </a:r>
          </a:p>
          <a:p>
            <a:pPr lvl="1" algn="just">
              <a:spcBef>
                <a:spcPts val="700"/>
              </a:spcBef>
              <a:tabLst>
                <a:tab pos="911225" algn="l"/>
                <a:tab pos="1825625" algn="l"/>
                <a:tab pos="2740025" algn="l"/>
                <a:tab pos="3654425" algn="l"/>
                <a:tab pos="4568825" algn="l"/>
                <a:tab pos="5483225" algn="l"/>
                <a:tab pos="6397625" algn="l"/>
                <a:tab pos="7312025" algn="l"/>
                <a:tab pos="8226425" algn="l"/>
                <a:tab pos="9140825" algn="l"/>
                <a:tab pos="10055225" algn="l"/>
              </a:tabLst>
            </a:pPr>
            <a:r>
              <a:rPr lang="en-GB" sz="2200" dirty="0">
                <a:ea typeface="Lucida Sans Unicode" panose="020B0602030504020204" pitchFamily="34" charset="0"/>
              </a:rPr>
              <a:t>Ensure that the system will never enter an </a:t>
            </a:r>
            <a:r>
              <a:rPr lang="en-GB" sz="2200" u="sng" dirty="0">
                <a:ea typeface="Lucida Sans Unicode" panose="020B0602030504020204" pitchFamily="34" charset="0"/>
              </a:rPr>
              <a:t>unsafe</a:t>
            </a:r>
            <a:r>
              <a:rPr lang="en-GB" sz="2200" dirty="0">
                <a:ea typeface="Lucida Sans Unicode" panose="020B0602030504020204" pitchFamily="34" charset="0"/>
              </a:rPr>
              <a:t> state</a:t>
            </a:r>
          </a:p>
          <a:p>
            <a:pPr algn="just">
              <a:spcBef>
                <a:spcPts val="700"/>
              </a:spcBef>
              <a:tabLst>
                <a:tab pos="911225" algn="l"/>
                <a:tab pos="1825625" algn="l"/>
                <a:tab pos="2740025" algn="l"/>
                <a:tab pos="3654425" algn="l"/>
                <a:tab pos="4568825" algn="l"/>
                <a:tab pos="5483225" algn="l"/>
                <a:tab pos="6397625" algn="l"/>
                <a:tab pos="7312025" algn="l"/>
                <a:tab pos="8226425" algn="l"/>
                <a:tab pos="9140825" algn="l"/>
                <a:tab pos="10055225" algn="l"/>
              </a:tabLst>
            </a:pPr>
            <a:r>
              <a:rPr lang="en-GB" sz="2200" b="1" dirty="0">
                <a:ea typeface="Lucida Sans Unicode" panose="020B0602030504020204" pitchFamily="34" charset="0"/>
              </a:rPr>
              <a:t>Detection</a:t>
            </a:r>
            <a:r>
              <a:rPr lang="en-GB" sz="2200" dirty="0">
                <a:ea typeface="Lucida Sans Unicode" panose="020B0602030504020204" pitchFamily="34" charset="0"/>
              </a:rPr>
              <a:t> </a:t>
            </a:r>
          </a:p>
          <a:p>
            <a:pPr lvl="1">
              <a:spcBef>
                <a:spcPts val="700"/>
              </a:spcBef>
              <a:tabLst>
                <a:tab pos="911225" algn="l"/>
                <a:tab pos="1825625" algn="l"/>
                <a:tab pos="2740025" algn="l"/>
                <a:tab pos="3654425" algn="l"/>
                <a:tab pos="4568825" algn="l"/>
                <a:tab pos="5483225" algn="l"/>
                <a:tab pos="6397625" algn="l"/>
                <a:tab pos="7312025" algn="l"/>
                <a:tab pos="8226425" algn="l"/>
                <a:tab pos="9140825" algn="l"/>
                <a:tab pos="10055225" algn="l"/>
              </a:tabLst>
            </a:pPr>
            <a:r>
              <a:rPr lang="en-GB" sz="2200" dirty="0">
                <a:ea typeface="Lucida Sans Unicode" panose="020B0602030504020204" pitchFamily="34" charset="0"/>
              </a:rPr>
              <a:t>Allow the system to enter a deadlock state and then recover</a:t>
            </a:r>
          </a:p>
          <a:p>
            <a:pPr algn="just">
              <a:spcBef>
                <a:spcPts val="700"/>
              </a:spcBef>
              <a:tabLst>
                <a:tab pos="911225" algn="l"/>
                <a:tab pos="1825625" algn="l"/>
                <a:tab pos="2740025" algn="l"/>
                <a:tab pos="3654425" algn="l"/>
                <a:tab pos="4568825" algn="l"/>
                <a:tab pos="5483225" algn="l"/>
                <a:tab pos="6397625" algn="l"/>
                <a:tab pos="7312025" algn="l"/>
                <a:tab pos="8226425" algn="l"/>
                <a:tab pos="9140825" algn="l"/>
                <a:tab pos="10055225" algn="l"/>
              </a:tabLst>
            </a:pPr>
            <a:r>
              <a:rPr lang="en-GB" sz="2200" b="1" dirty="0">
                <a:ea typeface="Lucida Sans Unicode" panose="020B0602030504020204" pitchFamily="34" charset="0"/>
              </a:rPr>
              <a:t>Do Nothing</a:t>
            </a:r>
            <a:r>
              <a:rPr lang="en-GB" sz="2200" dirty="0">
                <a:ea typeface="Lucida Sans Unicode" panose="020B0602030504020204" pitchFamily="34" charset="0"/>
              </a:rPr>
              <a:t>  </a:t>
            </a:r>
          </a:p>
          <a:p>
            <a:pPr lvl="1" algn="just">
              <a:spcBef>
                <a:spcPts val="700"/>
              </a:spcBef>
              <a:tabLst>
                <a:tab pos="911225" algn="l"/>
                <a:tab pos="1825625" algn="l"/>
                <a:tab pos="2740025" algn="l"/>
                <a:tab pos="3654425" algn="l"/>
                <a:tab pos="4568825" algn="l"/>
                <a:tab pos="5483225" algn="l"/>
                <a:tab pos="6397625" algn="l"/>
                <a:tab pos="7312025" algn="l"/>
                <a:tab pos="8226425" algn="l"/>
                <a:tab pos="9140825" algn="l"/>
                <a:tab pos="10055225" algn="l"/>
              </a:tabLst>
            </a:pPr>
            <a:r>
              <a:rPr lang="en-GB" sz="2200" dirty="0">
                <a:ea typeface="Lucida Sans Unicode" panose="020B0602030504020204" pitchFamily="34" charset="0"/>
              </a:rPr>
              <a:t>Ignore the problem and let the user or system administrator respond to the problem; used by most operating systems, including Windows and UNIX</a:t>
            </a:r>
          </a:p>
        </p:txBody>
      </p:sp>
      <p:sp>
        <p:nvSpPr>
          <p:cNvPr id="8" name="Slide Number Placeholder 7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t>87</a:t>
            </a:fld>
            <a:endParaRPr lang="en-US"/>
          </a:p>
        </p:txBody>
      </p:sp>
      <p:pic>
        <p:nvPicPr>
          <p:cNvPr id="2" name="Picture 1" descr="A black and red logo&#10;&#10;Description automatically generated">
            <a:extLst>
              <a:ext uri="{FF2B5EF4-FFF2-40B4-BE49-F238E27FC236}">
                <a16:creationId xmlns:a16="http://schemas.microsoft.com/office/drawing/2014/main" id="{21F3C32A-5CD5-337C-8A71-E4969FD289D0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-27384"/>
            <a:ext cx="1657350" cy="710452"/>
          </a:xfrm>
          <a:prstGeom prst="rect">
            <a:avLst/>
          </a:prstGeom>
        </p:spPr>
      </p:pic>
      <p:sp>
        <p:nvSpPr>
          <p:cNvPr id="3" name="Title 1">
            <a:extLst>
              <a:ext uri="{FF2B5EF4-FFF2-40B4-BE49-F238E27FC236}">
                <a16:creationId xmlns:a16="http://schemas.microsoft.com/office/drawing/2014/main" id="{DF1C0657-A9EF-3662-9DAC-3F0733E6B927}"/>
              </a:ext>
            </a:extLst>
          </p:cNvPr>
          <p:cNvSpPr txBox="1">
            <a:spLocks/>
          </p:cNvSpPr>
          <p:nvPr/>
        </p:nvSpPr>
        <p:spPr>
          <a:xfrm>
            <a:off x="1763688" y="44624"/>
            <a:ext cx="7380312" cy="514349"/>
          </a:xfrm>
          <a:prstGeom prst="rect">
            <a:avLst/>
          </a:prstGeom>
          <a:gradFill flip="none" rotWithShape="1">
            <a:gsLst>
              <a:gs pos="0">
                <a:srgbClr val="FF0000">
                  <a:tint val="66000"/>
                  <a:satMod val="160000"/>
                </a:srgbClr>
              </a:gs>
              <a:gs pos="50000">
                <a:srgbClr val="FF0000">
                  <a:tint val="44500"/>
                  <a:satMod val="160000"/>
                </a:srgbClr>
              </a:gs>
              <a:gs pos="100000">
                <a:srgbClr val="FF0000">
                  <a:tint val="23500"/>
                  <a:satMod val="160000"/>
                </a:srgbClr>
              </a:gs>
            </a:gsLst>
            <a:lin ang="0" scaled="1"/>
            <a:tileRect/>
          </a:gradFill>
        </p:spPr>
        <p:style>
          <a:lnRef idx="1">
            <a:schemeClr val="accent5"/>
          </a:lnRef>
          <a:fillRef idx="2">
            <a:schemeClr val="accent5"/>
          </a:fillRef>
          <a:effectRef idx="1">
            <a:schemeClr val="accent5"/>
          </a:effectRef>
          <a:fontRef idx="minor">
            <a:schemeClr val="dk1"/>
          </a:fontRef>
        </p:style>
        <p:txBody>
          <a:bodyPr vert="horz" lIns="68580" tIns="34290" rIns="68580" bIns="34290" rtlCol="0" anchor="ctr">
            <a:noAutofit/>
          </a:bodyPr>
          <a:lstStyle>
            <a:defPPr>
              <a:defRPr lang="en-US"/>
            </a:defPPr>
            <a:lvl1pPr algn="ctr">
              <a:spcBef>
                <a:spcPct val="0"/>
              </a:spcBef>
              <a:buNone/>
              <a:defRPr sz="2800"/>
            </a:lvl1pPr>
          </a:lstStyle>
          <a:p>
            <a:pPr>
              <a:defRPr/>
            </a:pPr>
            <a:r>
              <a:rPr lang="en-GB" sz="2400" dirty="0"/>
              <a:t>Methods for Handling Deadlocks(CO3)</a:t>
            </a:r>
            <a:endParaRPr lang="en-US" sz="2100" dirty="0"/>
          </a:p>
        </p:txBody>
      </p:sp>
    </p:spTree>
  </p:cSld>
  <p:clrMapOvr>
    <a:masterClrMapping/>
  </p:clrMapOvr>
  <p:transition>
    <p:dissolve/>
  </p:transition>
</p:sld>
</file>

<file path=ppt/slides/slide8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CB5D9B2-59B5-47C3-9552-F78EDA4071CE}" type="datetime3">
              <a:rPr lang="en-US" smtClean="0"/>
              <a:t>1 September 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2514600" y="6356350"/>
            <a:ext cx="5181600" cy="365125"/>
          </a:xfrm>
        </p:spPr>
        <p:txBody>
          <a:bodyPr/>
          <a:lstStyle/>
          <a:p>
            <a:r>
              <a:rPr lang="en-US"/>
              <a:t>Atul Garg           BCSE0303            Unit- III</a:t>
            </a:r>
            <a:endParaRPr lang="en-US" dirty="0"/>
          </a:p>
        </p:txBody>
      </p:sp>
      <p:sp>
        <p:nvSpPr>
          <p:cNvPr id="10" name="Rectangle 9"/>
          <p:cNvSpPr/>
          <p:nvPr/>
        </p:nvSpPr>
        <p:spPr>
          <a:xfrm>
            <a:off x="827584" y="764704"/>
            <a:ext cx="7920880" cy="525528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lvl="3">
              <a:spcBef>
                <a:spcPts val="1125"/>
              </a:spcBef>
              <a:buClr>
                <a:srgbClr val="000000"/>
              </a:buClr>
              <a:buSzPct val="100000"/>
              <a:buFont typeface="Arial" panose="020B0604020202020204" pitchFamily="34" charset="0"/>
              <a:buChar char="•"/>
            </a:pPr>
            <a:r>
              <a:rPr lang="en-GB" sz="2200" dirty="0">
                <a:cs typeface="Times New Roman" panose="02020603050405020304" pitchFamily="18" charset="0"/>
              </a:rPr>
              <a:t>To prevent deadlock, we can restrain the ways that a request can be made</a:t>
            </a:r>
          </a:p>
          <a:p>
            <a:pPr marL="0" lvl="3">
              <a:spcBef>
                <a:spcPts val="1125"/>
              </a:spcBef>
              <a:buClr>
                <a:srgbClr val="000000"/>
              </a:buClr>
              <a:buSzPct val="100000"/>
              <a:buFont typeface="Arial" panose="020B0604020202020204" pitchFamily="34" charset="0"/>
              <a:buChar char="•"/>
            </a:pPr>
            <a:r>
              <a:rPr lang="en-US" sz="2200" dirty="0">
                <a:cs typeface="Times New Roman" panose="02020603050405020304" pitchFamily="18" charset="0"/>
              </a:rPr>
              <a:t>Do not allow one of the four conditions to occur </a:t>
            </a:r>
          </a:p>
          <a:p>
            <a:pPr marL="0" lvl="3">
              <a:spcBef>
                <a:spcPts val="1125"/>
              </a:spcBef>
              <a:buClr>
                <a:srgbClr val="000000"/>
              </a:buClr>
              <a:buSzPct val="100000"/>
              <a:buFont typeface="Arial" panose="020B0604020202020204" pitchFamily="34" charset="0"/>
              <a:buChar char="•"/>
            </a:pPr>
            <a:r>
              <a:rPr lang="en-GB" sz="2200" dirty="0">
                <a:ea typeface="Lucida Sans Unicode" panose="020B0602030504020204" pitchFamily="34" charset="0"/>
                <a:cs typeface="Times New Roman" panose="02020603050405020304" pitchFamily="18" charset="0"/>
              </a:rPr>
              <a:t>Mutual </a:t>
            </a:r>
            <a:r>
              <a:rPr lang="en-GB" sz="2200" b="1" dirty="0">
                <a:ea typeface="Lucida Sans Unicode" panose="020B0602030504020204" pitchFamily="34" charset="0"/>
                <a:cs typeface="Times New Roman" panose="02020603050405020304" pitchFamily="18" charset="0"/>
              </a:rPr>
              <a:t>Exclusion :  </a:t>
            </a:r>
          </a:p>
          <a:p>
            <a:pPr algn="just"/>
            <a:endParaRPr lang="en-GB" sz="2200" dirty="0">
              <a:ea typeface="Lucida Sans Unicode" panose="020B0602030504020204" pitchFamily="34" charset="0"/>
              <a:cs typeface="Times New Roman" panose="02020603050405020304" pitchFamily="18" charset="0"/>
            </a:endParaRPr>
          </a:p>
          <a:p>
            <a:pPr marL="285750" indent="-285750" algn="just">
              <a:buFont typeface="Arial" panose="020B0604020202020204" pitchFamily="34" charset="0"/>
              <a:buChar char="•"/>
            </a:pPr>
            <a:r>
              <a:rPr lang="en-GB" sz="2200" dirty="0">
                <a:ea typeface="Lucida Sans Unicode" panose="020B0602030504020204" pitchFamily="34" charset="0"/>
                <a:cs typeface="Times New Roman" panose="02020603050405020304" pitchFamily="18" charset="0"/>
              </a:rPr>
              <a:t>if no resource were ever assigned to a single process  exclusively, we would never have deadlock.</a:t>
            </a:r>
          </a:p>
          <a:p>
            <a:pPr marL="285750" indent="-285750" algn="just">
              <a:buFont typeface="Arial" panose="020B0604020202020204" pitchFamily="34" charset="0"/>
              <a:buChar char="•"/>
            </a:pPr>
            <a:endParaRPr lang="en-GB" sz="2200" dirty="0">
              <a:ea typeface="Lucida Sans Unicode" panose="020B0602030504020204" pitchFamily="34" charset="0"/>
              <a:cs typeface="Times New Roman" panose="02020603050405020304" pitchFamily="18" charset="0"/>
            </a:endParaRPr>
          </a:p>
          <a:p>
            <a:pPr marL="285750" lvl="1" indent="-285750" algn="just">
              <a:buFont typeface="Arial" panose="020B0604020202020204" pitchFamily="34" charset="0"/>
              <a:buChar char="•"/>
            </a:pPr>
            <a:r>
              <a:rPr lang="en-US" sz="2200" dirty="0">
                <a:cs typeface="Times New Roman" panose="02020603050405020304" pitchFamily="18" charset="0"/>
              </a:rPr>
              <a:t>Shared entities (read only files) don't need mutual exclusion (and aren’t susceptible to deadlock.)</a:t>
            </a:r>
          </a:p>
          <a:p>
            <a:pPr marL="285750" lvl="1" indent="-285750" algn="just">
              <a:buFont typeface="Arial" panose="020B0604020202020204" pitchFamily="34" charset="0"/>
              <a:buChar char="•"/>
            </a:pPr>
            <a:endParaRPr lang="en-US" sz="2200" dirty="0">
              <a:cs typeface="Times New Roman" panose="02020603050405020304" pitchFamily="18" charset="0"/>
            </a:endParaRPr>
          </a:p>
          <a:p>
            <a:pPr marL="285750" lvl="1" indent="-285750" algn="just">
              <a:buFont typeface="Arial" panose="020B0604020202020204" pitchFamily="34" charset="0"/>
              <a:buChar char="•"/>
            </a:pPr>
            <a:r>
              <a:rPr lang="en-US" sz="2200" dirty="0">
                <a:cs typeface="Times New Roman" panose="02020603050405020304" pitchFamily="18" charset="0"/>
              </a:rPr>
              <a:t>Prevention not possible, since some devices are naturally non-sharable</a:t>
            </a:r>
          </a:p>
          <a:p>
            <a:pPr algn="ctr">
              <a:spcBef>
                <a:spcPts val="1125"/>
              </a:spcBef>
              <a:buClr>
                <a:srgbClr val="000000"/>
              </a:buClr>
              <a:buSzPct val="100000"/>
            </a:pPr>
            <a:endParaRPr lang="en-IN" sz="2200" dirty="0"/>
          </a:p>
        </p:txBody>
      </p:sp>
      <p:sp>
        <p:nvSpPr>
          <p:cNvPr id="8" name="Slide Number Placeholder 7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t>88</a:t>
            </a:fld>
            <a:endParaRPr lang="en-US"/>
          </a:p>
        </p:txBody>
      </p:sp>
      <p:pic>
        <p:nvPicPr>
          <p:cNvPr id="2" name="Picture 1" descr="A black and red logo&#10;&#10;Description automatically generated">
            <a:extLst>
              <a:ext uri="{FF2B5EF4-FFF2-40B4-BE49-F238E27FC236}">
                <a16:creationId xmlns:a16="http://schemas.microsoft.com/office/drawing/2014/main" id="{09F2F3B7-19B5-8B44-0E1B-17318B627141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-27384"/>
            <a:ext cx="1657350" cy="710452"/>
          </a:xfrm>
          <a:prstGeom prst="rect">
            <a:avLst/>
          </a:prstGeom>
        </p:spPr>
      </p:pic>
      <p:sp>
        <p:nvSpPr>
          <p:cNvPr id="3" name="Title 1">
            <a:extLst>
              <a:ext uri="{FF2B5EF4-FFF2-40B4-BE49-F238E27FC236}">
                <a16:creationId xmlns:a16="http://schemas.microsoft.com/office/drawing/2014/main" id="{307C25C4-EB91-98E6-8D73-7B9D50902C28}"/>
              </a:ext>
            </a:extLst>
          </p:cNvPr>
          <p:cNvSpPr txBox="1">
            <a:spLocks/>
          </p:cNvSpPr>
          <p:nvPr/>
        </p:nvSpPr>
        <p:spPr>
          <a:xfrm>
            <a:off x="2171700" y="116632"/>
            <a:ext cx="5829300" cy="514349"/>
          </a:xfrm>
          <a:prstGeom prst="rect">
            <a:avLst/>
          </a:prstGeom>
          <a:gradFill flip="none" rotWithShape="1">
            <a:gsLst>
              <a:gs pos="0">
                <a:srgbClr val="FF0000">
                  <a:tint val="66000"/>
                  <a:satMod val="160000"/>
                </a:srgbClr>
              </a:gs>
              <a:gs pos="50000">
                <a:srgbClr val="FF0000">
                  <a:tint val="44500"/>
                  <a:satMod val="160000"/>
                </a:srgbClr>
              </a:gs>
              <a:gs pos="100000">
                <a:srgbClr val="FF0000">
                  <a:tint val="23500"/>
                  <a:satMod val="160000"/>
                </a:srgbClr>
              </a:gs>
            </a:gsLst>
            <a:lin ang="0" scaled="1"/>
            <a:tileRect/>
          </a:gradFill>
        </p:spPr>
        <p:style>
          <a:lnRef idx="1">
            <a:schemeClr val="accent5"/>
          </a:lnRef>
          <a:fillRef idx="2">
            <a:schemeClr val="accent5"/>
          </a:fillRef>
          <a:effectRef idx="1">
            <a:schemeClr val="accent5"/>
          </a:effectRef>
          <a:fontRef idx="minor">
            <a:schemeClr val="dk1"/>
          </a:fontRef>
        </p:style>
        <p:txBody>
          <a:bodyPr vert="horz" lIns="68580" tIns="34290" rIns="68580" bIns="34290" rtlCol="0" anchor="ctr">
            <a:noAutofit/>
          </a:bodyPr>
          <a:lstStyle>
            <a:defPPr>
              <a:defRPr lang="en-US"/>
            </a:defPPr>
            <a:lvl1pPr algn="ctr">
              <a:spcBef>
                <a:spcPct val="0"/>
              </a:spcBef>
              <a:buNone/>
              <a:defRPr sz="2800"/>
            </a:lvl1pPr>
          </a:lstStyle>
          <a:p>
            <a:pPr>
              <a:defRPr/>
            </a:pPr>
            <a:r>
              <a:rPr lang="en-GB" sz="2400" dirty="0">
                <a:cs typeface="Times New Roman" panose="02020603050405020304" pitchFamily="18" charset="0"/>
              </a:rPr>
              <a:t>Deadlock Prevention</a:t>
            </a:r>
            <a:r>
              <a:rPr lang="en-IN" sz="2400" dirty="0"/>
              <a:t>(CO3)</a:t>
            </a:r>
            <a:endParaRPr lang="en-US" sz="2100" dirty="0"/>
          </a:p>
        </p:txBody>
      </p:sp>
    </p:spTree>
  </p:cSld>
  <p:clrMapOvr>
    <a:masterClrMapping/>
  </p:clrMapOvr>
  <p:transition>
    <p:dissolve/>
  </p:transition>
</p:sld>
</file>

<file path=ppt/slides/slide8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2062D14-60F9-4D45-A389-1614930A64DA}" type="datetime3">
              <a:rPr lang="en-US" smtClean="0"/>
              <a:t>1 September 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2514600" y="6356350"/>
            <a:ext cx="5181600" cy="365125"/>
          </a:xfrm>
        </p:spPr>
        <p:txBody>
          <a:bodyPr/>
          <a:lstStyle/>
          <a:p>
            <a:r>
              <a:rPr lang="en-US"/>
              <a:t>Atul Garg           BCSE0303            Unit- III</a:t>
            </a:r>
            <a:endParaRPr lang="en-US" dirty="0"/>
          </a:p>
        </p:txBody>
      </p:sp>
      <p:sp>
        <p:nvSpPr>
          <p:cNvPr id="10" name="Rectangle 9"/>
          <p:cNvSpPr/>
          <p:nvPr/>
        </p:nvSpPr>
        <p:spPr>
          <a:xfrm>
            <a:off x="755576" y="692696"/>
            <a:ext cx="7992888" cy="473636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just">
              <a:lnSpc>
                <a:spcPct val="150000"/>
              </a:lnSpc>
            </a:pPr>
            <a:r>
              <a:rPr lang="en-GB" sz="2400" b="1" dirty="0">
                <a:ea typeface="Lucida Sans Unicode" panose="020B0602030504020204" pitchFamily="34" charset="0"/>
                <a:cs typeface="Times New Roman" panose="02020603050405020304" pitchFamily="18" charset="0"/>
              </a:rPr>
              <a:t>Hold And Wait </a:t>
            </a:r>
            <a:r>
              <a:rPr lang="en-GB" sz="2400" dirty="0">
                <a:ea typeface="Lucida Sans Unicode" panose="020B0602030504020204" pitchFamily="34" charset="0"/>
                <a:cs typeface="Times New Roman" panose="02020603050405020304" pitchFamily="18" charset="0"/>
              </a:rPr>
              <a:t>:  </a:t>
            </a:r>
          </a:p>
          <a:p>
            <a:pPr>
              <a:lnSpc>
                <a:spcPct val="150000"/>
              </a:lnSpc>
              <a:tabLst>
                <a:tab pos="911225" algn="l"/>
                <a:tab pos="1825625" algn="l"/>
                <a:tab pos="2740025" algn="l"/>
                <a:tab pos="3654425" algn="l"/>
                <a:tab pos="4568825" algn="l"/>
                <a:tab pos="5483225" algn="l"/>
                <a:tab pos="6397625" algn="l"/>
                <a:tab pos="7312025" algn="l"/>
                <a:tab pos="8226425" algn="l"/>
                <a:tab pos="9140825" algn="l"/>
                <a:tab pos="10055225" algn="l"/>
              </a:tabLst>
            </a:pPr>
            <a:r>
              <a:rPr lang="en-GB" sz="2400" dirty="0">
                <a:ea typeface="Lucida Sans Unicode" panose="020B0602030504020204" pitchFamily="34" charset="0"/>
              </a:rPr>
              <a:t>we must guarantee that whenever a process requests a resource, it does not hold any other resources</a:t>
            </a:r>
          </a:p>
          <a:p>
            <a:pPr marL="800100" lvl="1" indent="-342900" algn="just">
              <a:lnSpc>
                <a:spcPct val="150000"/>
              </a:lnSpc>
              <a:spcBef>
                <a:spcPts val="700"/>
              </a:spcBef>
              <a:buFont typeface="Arial" panose="020B0604020202020204" pitchFamily="34" charset="0"/>
              <a:buChar char="•"/>
              <a:tabLst>
                <a:tab pos="911225" algn="l"/>
                <a:tab pos="1825625" algn="l"/>
                <a:tab pos="2740025" algn="l"/>
                <a:tab pos="3654425" algn="l"/>
                <a:tab pos="4568825" algn="l"/>
                <a:tab pos="5483225" algn="l"/>
                <a:tab pos="6397625" algn="l"/>
                <a:tab pos="7312025" algn="l"/>
                <a:tab pos="8226425" algn="l"/>
                <a:tab pos="9140825" algn="l"/>
                <a:tab pos="10055225" algn="l"/>
              </a:tabLst>
            </a:pPr>
            <a:r>
              <a:rPr lang="en-GB" sz="2400" dirty="0">
                <a:ea typeface="Lucida Sans Unicode" panose="020B0602030504020204" pitchFamily="34" charset="0"/>
              </a:rPr>
              <a:t>Require a process to request and be allocated all its resources before it begins execution</a:t>
            </a:r>
          </a:p>
          <a:p>
            <a:pPr marL="800100" lvl="1" indent="-342900" algn="just">
              <a:lnSpc>
                <a:spcPct val="150000"/>
              </a:lnSpc>
              <a:spcBef>
                <a:spcPts val="700"/>
              </a:spcBef>
              <a:buFont typeface="Arial" panose="020B0604020202020204" pitchFamily="34" charset="0"/>
              <a:buChar char="•"/>
              <a:tabLst>
                <a:tab pos="911225" algn="l"/>
                <a:tab pos="1825625" algn="l"/>
                <a:tab pos="2740025" algn="l"/>
                <a:tab pos="3654425" algn="l"/>
                <a:tab pos="4568825" algn="l"/>
                <a:tab pos="5483225" algn="l"/>
                <a:tab pos="6397625" algn="l"/>
                <a:tab pos="7312025" algn="l"/>
                <a:tab pos="8226425" algn="l"/>
                <a:tab pos="9140825" algn="l"/>
                <a:tab pos="10055225" algn="l"/>
              </a:tabLst>
            </a:pPr>
            <a:r>
              <a:rPr lang="en-GB" sz="2400" dirty="0">
                <a:ea typeface="Lucida Sans Unicode" panose="020B0602030504020204" pitchFamily="34" charset="0"/>
              </a:rPr>
              <a:t>allow a process to request resources only when the process has none</a:t>
            </a:r>
          </a:p>
          <a:p>
            <a:pPr lvl="1" algn="just">
              <a:lnSpc>
                <a:spcPct val="150000"/>
              </a:lnSpc>
              <a:spcBef>
                <a:spcPts val="700"/>
              </a:spcBef>
              <a:tabLst>
                <a:tab pos="911225" algn="l"/>
                <a:tab pos="1825625" algn="l"/>
                <a:tab pos="2740025" algn="l"/>
                <a:tab pos="3654425" algn="l"/>
                <a:tab pos="4568825" algn="l"/>
                <a:tab pos="5483225" algn="l"/>
                <a:tab pos="6397625" algn="l"/>
                <a:tab pos="7312025" algn="l"/>
                <a:tab pos="8226425" algn="l"/>
                <a:tab pos="9140825" algn="l"/>
                <a:tab pos="10055225" algn="l"/>
              </a:tabLst>
            </a:pPr>
            <a:r>
              <a:rPr lang="en-GB" sz="2400" dirty="0">
                <a:ea typeface="Lucida Sans Unicode" panose="020B0602030504020204" pitchFamily="34" charset="0"/>
              </a:rPr>
              <a:t>Result: Low resource utilization; starvation possible</a:t>
            </a:r>
            <a:r>
              <a:rPr lang="en-GB" sz="2400" dirty="0">
                <a:ea typeface="Lucida Sans Unicode" panose="020B0602030504020204" pitchFamily="34" charset="0"/>
                <a:cs typeface="Times New Roman" panose="02020603050405020304" pitchFamily="18" charset="0"/>
              </a:rPr>
              <a:t> </a:t>
            </a:r>
            <a:endParaRPr lang="en-IN" sz="2400" dirty="0"/>
          </a:p>
        </p:txBody>
      </p:sp>
      <p:sp>
        <p:nvSpPr>
          <p:cNvPr id="8" name="Slide Number Placeholder 7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t>89</a:t>
            </a:fld>
            <a:endParaRPr lang="en-US"/>
          </a:p>
        </p:txBody>
      </p:sp>
      <p:pic>
        <p:nvPicPr>
          <p:cNvPr id="2" name="Picture 1" descr="A black and red logo&#10;&#10;Description automatically generated">
            <a:extLst>
              <a:ext uri="{FF2B5EF4-FFF2-40B4-BE49-F238E27FC236}">
                <a16:creationId xmlns:a16="http://schemas.microsoft.com/office/drawing/2014/main" id="{B9B99184-5FE8-7D05-0768-71FB6F9A1C29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-27384"/>
            <a:ext cx="1657350" cy="710452"/>
          </a:xfrm>
          <a:prstGeom prst="rect">
            <a:avLst/>
          </a:prstGeom>
        </p:spPr>
      </p:pic>
      <p:sp>
        <p:nvSpPr>
          <p:cNvPr id="3" name="Title 1">
            <a:extLst>
              <a:ext uri="{FF2B5EF4-FFF2-40B4-BE49-F238E27FC236}">
                <a16:creationId xmlns:a16="http://schemas.microsoft.com/office/drawing/2014/main" id="{09EDC671-58DD-C284-45BC-C0DC58B0A2FA}"/>
              </a:ext>
            </a:extLst>
          </p:cNvPr>
          <p:cNvSpPr txBox="1">
            <a:spLocks/>
          </p:cNvSpPr>
          <p:nvPr/>
        </p:nvSpPr>
        <p:spPr>
          <a:xfrm>
            <a:off x="2171700" y="44624"/>
            <a:ext cx="5829300" cy="514349"/>
          </a:xfrm>
          <a:prstGeom prst="rect">
            <a:avLst/>
          </a:prstGeom>
          <a:gradFill flip="none" rotWithShape="1">
            <a:gsLst>
              <a:gs pos="0">
                <a:srgbClr val="FF0000">
                  <a:tint val="66000"/>
                  <a:satMod val="160000"/>
                </a:srgbClr>
              </a:gs>
              <a:gs pos="50000">
                <a:srgbClr val="FF0000">
                  <a:tint val="44500"/>
                  <a:satMod val="160000"/>
                </a:srgbClr>
              </a:gs>
              <a:gs pos="100000">
                <a:srgbClr val="FF0000">
                  <a:tint val="23500"/>
                  <a:satMod val="160000"/>
                </a:srgbClr>
              </a:gs>
            </a:gsLst>
            <a:lin ang="0" scaled="1"/>
            <a:tileRect/>
          </a:gradFill>
        </p:spPr>
        <p:style>
          <a:lnRef idx="1">
            <a:schemeClr val="accent5"/>
          </a:lnRef>
          <a:fillRef idx="2">
            <a:schemeClr val="accent5"/>
          </a:fillRef>
          <a:effectRef idx="1">
            <a:schemeClr val="accent5"/>
          </a:effectRef>
          <a:fontRef idx="minor">
            <a:schemeClr val="dk1"/>
          </a:fontRef>
        </p:style>
        <p:txBody>
          <a:bodyPr vert="horz" lIns="68580" tIns="34290" rIns="68580" bIns="34290" rtlCol="0" anchor="ctr">
            <a:noAutofit/>
          </a:bodyPr>
          <a:lstStyle>
            <a:defPPr>
              <a:defRPr lang="en-US"/>
            </a:defPPr>
            <a:lvl1pPr algn="ctr">
              <a:spcBef>
                <a:spcPct val="0"/>
              </a:spcBef>
              <a:buNone/>
              <a:defRPr sz="2800"/>
            </a:lvl1pPr>
          </a:lstStyle>
          <a:p>
            <a:pPr>
              <a:defRPr/>
            </a:pPr>
            <a:r>
              <a:rPr lang="en-GB" sz="2400" dirty="0">
                <a:cs typeface="Times New Roman" panose="02020603050405020304" pitchFamily="18" charset="0"/>
              </a:rPr>
              <a:t>Deadlock Prevention</a:t>
            </a:r>
            <a:r>
              <a:rPr lang="en-IN" sz="2400" dirty="0"/>
              <a:t>(CO3)</a:t>
            </a:r>
            <a:endParaRPr lang="en-US" sz="2100" dirty="0"/>
          </a:p>
        </p:txBody>
      </p:sp>
    </p:spTree>
  </p:cSld>
  <p:clrMapOvr>
    <a:masterClrMapping/>
  </p:clrMapOvr>
  <p:transition>
    <p:dissolve/>
  </p:transition>
</p:sld>
</file>

<file path=ppt/slides/slide9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601C6AE-38C1-4AF4-878F-668406B670AA}" type="datetime3">
              <a:rPr lang="en-US" smtClean="0"/>
              <a:t>1 September 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2514600" y="6356350"/>
            <a:ext cx="5181600" cy="365125"/>
          </a:xfrm>
        </p:spPr>
        <p:txBody>
          <a:bodyPr/>
          <a:lstStyle/>
          <a:p>
            <a:r>
              <a:rPr lang="en-US"/>
              <a:t>Atul Garg           BCSE0303            Unit- III</a:t>
            </a:r>
            <a:endParaRPr lang="en-US" dirty="0"/>
          </a:p>
        </p:txBody>
      </p:sp>
      <p:sp>
        <p:nvSpPr>
          <p:cNvPr id="10" name="Rectangle 9"/>
          <p:cNvSpPr/>
          <p:nvPr/>
        </p:nvSpPr>
        <p:spPr>
          <a:xfrm>
            <a:off x="539552" y="764705"/>
            <a:ext cx="8208912" cy="537070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just"/>
            <a:r>
              <a:rPr lang="en-GB" sz="2200" b="1" dirty="0">
                <a:ea typeface="Lucida Sans Unicode" panose="020B0602030504020204" pitchFamily="34" charset="0"/>
                <a:cs typeface="Times New Roman" panose="02020603050405020304" pitchFamily="18" charset="0"/>
              </a:rPr>
              <a:t>       No Preemption </a:t>
            </a:r>
            <a:r>
              <a:rPr lang="en-GB" sz="2200" dirty="0">
                <a:ea typeface="Lucida Sans Unicode" panose="020B0602030504020204" pitchFamily="34" charset="0"/>
                <a:cs typeface="Times New Roman" panose="02020603050405020304" pitchFamily="18" charset="0"/>
              </a:rPr>
              <a:t>:  </a:t>
            </a:r>
          </a:p>
          <a:p>
            <a:pPr marL="741680" lvl="1" indent="-284480" defTabSz="457200" eaLnBrk="0" fontAlgn="base" hangingPunct="0">
              <a:spcBef>
                <a:spcPts val="700"/>
              </a:spcBef>
              <a:spcAft>
                <a:spcPct val="0"/>
              </a:spcAft>
              <a:buClr>
                <a:srgbClr val="CC6600"/>
              </a:buClr>
              <a:buSzPct val="80000"/>
              <a:buFont typeface="Arial" panose="020B0604020202020204" pitchFamily="34" charset="0"/>
              <a:buChar char="•"/>
              <a:tabLst>
                <a:tab pos="911225" algn="l"/>
                <a:tab pos="1825625" algn="l"/>
                <a:tab pos="2740025" algn="l"/>
                <a:tab pos="3654425" algn="l"/>
                <a:tab pos="4568825" algn="l"/>
                <a:tab pos="5483225" algn="l"/>
                <a:tab pos="6397625" algn="l"/>
                <a:tab pos="7312025" algn="l"/>
                <a:tab pos="8226425" algn="l"/>
                <a:tab pos="9140825" algn="l"/>
                <a:tab pos="10055225" algn="l"/>
              </a:tabLst>
            </a:pPr>
            <a:r>
              <a:rPr lang="en-GB" sz="2200" kern="0" dirty="0">
                <a:solidFill>
                  <a:srgbClr val="000000"/>
                </a:solidFill>
                <a:ea typeface="Lucida Sans Unicode" panose="020B0602030504020204" pitchFamily="34" charset="0"/>
                <a:cs typeface="Lucida Sans Unicode"/>
              </a:rPr>
              <a:t>If a process that is holding some resources requests another resource that cannot be immediately allocated to it, then all resources currently being held are released</a:t>
            </a:r>
          </a:p>
          <a:p>
            <a:pPr marL="741680" lvl="1" indent="-284480" defTabSz="457200" eaLnBrk="0" fontAlgn="base" hangingPunct="0">
              <a:spcBef>
                <a:spcPts val="700"/>
              </a:spcBef>
              <a:spcAft>
                <a:spcPct val="0"/>
              </a:spcAft>
              <a:buClr>
                <a:srgbClr val="CC6600"/>
              </a:buClr>
              <a:buSzPct val="80000"/>
              <a:buFont typeface="Arial" panose="020B0604020202020204" pitchFamily="34" charset="0"/>
              <a:buChar char="•"/>
              <a:tabLst>
                <a:tab pos="911225" algn="l"/>
                <a:tab pos="1825625" algn="l"/>
                <a:tab pos="2740025" algn="l"/>
                <a:tab pos="3654425" algn="l"/>
                <a:tab pos="4568825" algn="l"/>
                <a:tab pos="5483225" algn="l"/>
                <a:tab pos="6397625" algn="l"/>
                <a:tab pos="7312025" algn="l"/>
                <a:tab pos="8226425" algn="l"/>
                <a:tab pos="9140825" algn="l"/>
                <a:tab pos="10055225" algn="l"/>
              </a:tabLst>
            </a:pPr>
            <a:r>
              <a:rPr lang="en-GB" sz="2200" kern="0" dirty="0">
                <a:solidFill>
                  <a:srgbClr val="000000"/>
                </a:solidFill>
                <a:ea typeface="Lucida Sans Unicode" panose="020B0602030504020204" pitchFamily="34" charset="0"/>
                <a:cs typeface="Lucida Sans Unicode"/>
              </a:rPr>
              <a:t>Pi </a:t>
            </a:r>
            <a:r>
              <a:rPr lang="en-GB" sz="2200" kern="0" dirty="0">
                <a:solidFill>
                  <a:srgbClr val="000000"/>
                </a:solidFill>
                <a:ea typeface="Lucida Sans Unicode" panose="020B0602030504020204" pitchFamily="34" charset="0"/>
                <a:cs typeface="Lucida Sans Unicode"/>
                <a:sym typeface="Wingdings" panose="05000000000000000000" pitchFamily="2" charset="2"/>
              </a:rPr>
              <a:t> </a:t>
            </a:r>
            <a:r>
              <a:rPr lang="en-GB" sz="2200" kern="0" dirty="0" err="1">
                <a:solidFill>
                  <a:srgbClr val="000000"/>
                </a:solidFill>
                <a:ea typeface="Lucida Sans Unicode" panose="020B0602030504020204" pitchFamily="34" charset="0"/>
                <a:cs typeface="Lucida Sans Unicode"/>
                <a:sym typeface="Wingdings" panose="05000000000000000000" pitchFamily="2" charset="2"/>
              </a:rPr>
              <a:t>Rj</a:t>
            </a:r>
            <a:r>
              <a:rPr lang="en-GB" sz="2200" kern="0" dirty="0">
                <a:solidFill>
                  <a:srgbClr val="000000"/>
                </a:solidFill>
                <a:ea typeface="Lucida Sans Unicode" panose="020B0602030504020204" pitchFamily="34" charset="0"/>
                <a:cs typeface="Lucida Sans Unicode"/>
                <a:sym typeface="Wingdings" panose="05000000000000000000" pitchFamily="2" charset="2"/>
              </a:rPr>
              <a:t>  </a:t>
            </a:r>
            <a:r>
              <a:rPr lang="en-GB" sz="2200" kern="0" dirty="0" err="1">
                <a:solidFill>
                  <a:srgbClr val="000000"/>
                </a:solidFill>
                <a:ea typeface="Lucida Sans Unicode" panose="020B0602030504020204" pitchFamily="34" charset="0"/>
                <a:cs typeface="Lucida Sans Unicode"/>
                <a:sym typeface="Wingdings" panose="05000000000000000000" pitchFamily="2" charset="2"/>
              </a:rPr>
              <a:t>Pj</a:t>
            </a:r>
            <a:r>
              <a:rPr lang="en-GB" sz="2200" kern="0" dirty="0">
                <a:solidFill>
                  <a:srgbClr val="000000"/>
                </a:solidFill>
                <a:ea typeface="Lucida Sans Unicode" panose="020B0602030504020204" pitchFamily="34" charset="0"/>
                <a:cs typeface="Lucida Sans Unicode"/>
                <a:sym typeface="Wingdings" panose="05000000000000000000" pitchFamily="2" charset="2"/>
              </a:rPr>
              <a:t>  </a:t>
            </a:r>
            <a:r>
              <a:rPr lang="en-GB" sz="2200" kern="0" dirty="0" err="1">
                <a:solidFill>
                  <a:srgbClr val="000000"/>
                </a:solidFill>
                <a:ea typeface="Lucida Sans Unicode" panose="020B0602030504020204" pitchFamily="34" charset="0"/>
                <a:cs typeface="Lucida Sans Unicode"/>
                <a:sym typeface="Wingdings" panose="05000000000000000000" pitchFamily="2" charset="2"/>
              </a:rPr>
              <a:t>Rk</a:t>
            </a:r>
            <a:endParaRPr lang="en-GB" sz="2200" kern="0" dirty="0">
              <a:solidFill>
                <a:srgbClr val="000000"/>
              </a:solidFill>
              <a:ea typeface="Lucida Sans Unicode" panose="020B0602030504020204" pitchFamily="34" charset="0"/>
              <a:cs typeface="Lucida Sans Unicode"/>
            </a:endParaRPr>
          </a:p>
          <a:p>
            <a:pPr marL="741680" lvl="1" indent="-284480" defTabSz="457200" eaLnBrk="0" fontAlgn="base" hangingPunct="0">
              <a:spcBef>
                <a:spcPts val="700"/>
              </a:spcBef>
              <a:spcAft>
                <a:spcPct val="0"/>
              </a:spcAft>
              <a:buClr>
                <a:srgbClr val="CC6600"/>
              </a:buClr>
              <a:buSzPct val="80000"/>
              <a:buFont typeface="Arial" panose="020B0604020202020204" pitchFamily="34" charset="0"/>
              <a:buChar char="•"/>
              <a:tabLst>
                <a:tab pos="911225" algn="l"/>
                <a:tab pos="1825625" algn="l"/>
                <a:tab pos="2740025" algn="l"/>
                <a:tab pos="3654425" algn="l"/>
                <a:tab pos="4568825" algn="l"/>
                <a:tab pos="5483225" algn="l"/>
                <a:tab pos="6397625" algn="l"/>
                <a:tab pos="7312025" algn="l"/>
                <a:tab pos="8226425" algn="l"/>
                <a:tab pos="9140825" algn="l"/>
                <a:tab pos="10055225" algn="l"/>
              </a:tabLst>
            </a:pPr>
            <a:r>
              <a:rPr lang="en-GB" sz="2200" kern="0" dirty="0">
                <a:solidFill>
                  <a:srgbClr val="000000"/>
                </a:solidFill>
                <a:ea typeface="Lucida Sans Unicode" panose="020B0602030504020204" pitchFamily="34" charset="0"/>
                <a:cs typeface="Lucida Sans Unicode"/>
              </a:rPr>
              <a:t>A process will be restarted only when it can regain its old resources, as well as the new ones that it is requesting.</a:t>
            </a:r>
          </a:p>
          <a:p>
            <a:pPr marL="741680" lvl="1" indent="-284480" defTabSz="457200" eaLnBrk="0" fontAlgn="base" hangingPunct="0">
              <a:spcBef>
                <a:spcPts val="700"/>
              </a:spcBef>
              <a:spcAft>
                <a:spcPct val="0"/>
              </a:spcAft>
              <a:buClr>
                <a:srgbClr val="CC6600"/>
              </a:buClr>
              <a:buSzPct val="80000"/>
              <a:buFont typeface="Arial" panose="020B0604020202020204" pitchFamily="34" charset="0"/>
              <a:buChar char="•"/>
              <a:tabLst>
                <a:tab pos="911225" algn="l"/>
                <a:tab pos="1825625" algn="l"/>
                <a:tab pos="2740025" algn="l"/>
                <a:tab pos="3654425" algn="l"/>
                <a:tab pos="4568825" algn="l"/>
                <a:tab pos="5483225" algn="l"/>
                <a:tab pos="6397625" algn="l"/>
                <a:tab pos="7312025" algn="l"/>
                <a:tab pos="8226425" algn="l"/>
                <a:tab pos="9140825" algn="l"/>
                <a:tab pos="10055225" algn="l"/>
              </a:tabLst>
            </a:pPr>
            <a:r>
              <a:rPr lang="en-US" sz="2200" dirty="0">
                <a:cs typeface="Times New Roman" panose="02020603050405020304" pitchFamily="18" charset="0"/>
              </a:rPr>
              <a:t>Allow preemption - if a needed resource is held by another process, which is also waiting on some resource, steal it. Otherwise wait.</a:t>
            </a:r>
          </a:p>
          <a:p>
            <a:pPr marL="741680" lvl="1" indent="-284480" defTabSz="457200" eaLnBrk="0" fontAlgn="base" hangingPunct="0">
              <a:spcBef>
                <a:spcPts val="700"/>
              </a:spcBef>
              <a:spcAft>
                <a:spcPct val="0"/>
              </a:spcAft>
              <a:buClr>
                <a:srgbClr val="CC6600"/>
              </a:buClr>
              <a:buSzPct val="80000"/>
              <a:tabLst>
                <a:tab pos="911225" algn="l"/>
                <a:tab pos="1825625" algn="l"/>
                <a:tab pos="2740025" algn="l"/>
                <a:tab pos="3654425" algn="l"/>
                <a:tab pos="4568825" algn="l"/>
                <a:tab pos="5483225" algn="l"/>
                <a:tab pos="6397625" algn="l"/>
                <a:tab pos="7312025" algn="l"/>
                <a:tab pos="8226425" algn="l"/>
                <a:tab pos="9140825" algn="l"/>
                <a:tab pos="10055225" algn="l"/>
              </a:tabLst>
            </a:pPr>
            <a:r>
              <a:rPr lang="en-US" sz="2200" b="1" dirty="0">
                <a:ea typeface="MS PGothic" charset="0"/>
              </a:rPr>
              <a:t>Circular Wait</a:t>
            </a:r>
            <a:r>
              <a:rPr lang="en-US" sz="2200" dirty="0">
                <a:ea typeface="MS PGothic" charset="0"/>
              </a:rPr>
              <a:t> :</a:t>
            </a:r>
          </a:p>
          <a:p>
            <a:pPr marL="741680" lvl="1" indent="-284480" defTabSz="457200" eaLnBrk="0" fontAlgn="base" hangingPunct="0">
              <a:spcBef>
                <a:spcPts val="700"/>
              </a:spcBef>
              <a:spcAft>
                <a:spcPct val="0"/>
              </a:spcAft>
              <a:buClr>
                <a:srgbClr val="CC6600"/>
              </a:buClr>
              <a:buSzPct val="80000"/>
              <a:buFont typeface="Arial" panose="020B0604020202020204" pitchFamily="34" charset="0"/>
              <a:buChar char="•"/>
              <a:tabLst>
                <a:tab pos="911225" algn="l"/>
                <a:tab pos="1825625" algn="l"/>
                <a:tab pos="2740025" algn="l"/>
                <a:tab pos="3654425" algn="l"/>
                <a:tab pos="4568825" algn="l"/>
                <a:tab pos="5483225" algn="l"/>
                <a:tab pos="6397625" algn="l"/>
                <a:tab pos="7312025" algn="l"/>
                <a:tab pos="8226425" algn="l"/>
                <a:tab pos="9140825" algn="l"/>
                <a:tab pos="10055225" algn="l"/>
              </a:tabLst>
            </a:pPr>
            <a:r>
              <a:rPr lang="en-US" sz="2200" dirty="0">
                <a:ea typeface="MS PGothic" charset="0"/>
              </a:rPr>
              <a:t>Impose a total ordering of all resource types, and require that each process requests resources in an increasing order of enumeration.</a:t>
            </a:r>
            <a:endParaRPr lang="en-IN" sz="2200" dirty="0"/>
          </a:p>
        </p:txBody>
      </p:sp>
      <p:sp>
        <p:nvSpPr>
          <p:cNvPr id="8" name="Slide Number Placeholder 7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t>90</a:t>
            </a:fld>
            <a:endParaRPr lang="en-US"/>
          </a:p>
        </p:txBody>
      </p:sp>
      <p:pic>
        <p:nvPicPr>
          <p:cNvPr id="2" name="Picture 1" descr="A black and red logo&#10;&#10;Description automatically generated">
            <a:extLst>
              <a:ext uri="{FF2B5EF4-FFF2-40B4-BE49-F238E27FC236}">
                <a16:creationId xmlns:a16="http://schemas.microsoft.com/office/drawing/2014/main" id="{47FC2B6D-AA32-A555-0B1B-A4B28B874840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-27384"/>
            <a:ext cx="1657350" cy="710452"/>
          </a:xfrm>
          <a:prstGeom prst="rect">
            <a:avLst/>
          </a:prstGeom>
        </p:spPr>
      </p:pic>
      <p:sp>
        <p:nvSpPr>
          <p:cNvPr id="3" name="Title 1">
            <a:extLst>
              <a:ext uri="{FF2B5EF4-FFF2-40B4-BE49-F238E27FC236}">
                <a16:creationId xmlns:a16="http://schemas.microsoft.com/office/drawing/2014/main" id="{862D7EE3-6141-D459-787B-FAC4ACAC6D77}"/>
              </a:ext>
            </a:extLst>
          </p:cNvPr>
          <p:cNvSpPr txBox="1">
            <a:spLocks/>
          </p:cNvSpPr>
          <p:nvPr/>
        </p:nvSpPr>
        <p:spPr>
          <a:xfrm>
            <a:off x="2171700" y="44624"/>
            <a:ext cx="5829300" cy="514349"/>
          </a:xfrm>
          <a:prstGeom prst="rect">
            <a:avLst/>
          </a:prstGeom>
          <a:gradFill flip="none" rotWithShape="1">
            <a:gsLst>
              <a:gs pos="0">
                <a:srgbClr val="FF0000">
                  <a:tint val="66000"/>
                  <a:satMod val="160000"/>
                </a:srgbClr>
              </a:gs>
              <a:gs pos="50000">
                <a:srgbClr val="FF0000">
                  <a:tint val="44500"/>
                  <a:satMod val="160000"/>
                </a:srgbClr>
              </a:gs>
              <a:gs pos="100000">
                <a:srgbClr val="FF0000">
                  <a:tint val="23500"/>
                  <a:satMod val="160000"/>
                </a:srgbClr>
              </a:gs>
            </a:gsLst>
            <a:lin ang="0" scaled="1"/>
            <a:tileRect/>
          </a:gradFill>
        </p:spPr>
        <p:style>
          <a:lnRef idx="1">
            <a:schemeClr val="accent5"/>
          </a:lnRef>
          <a:fillRef idx="2">
            <a:schemeClr val="accent5"/>
          </a:fillRef>
          <a:effectRef idx="1">
            <a:schemeClr val="accent5"/>
          </a:effectRef>
          <a:fontRef idx="minor">
            <a:schemeClr val="dk1"/>
          </a:fontRef>
        </p:style>
        <p:txBody>
          <a:bodyPr vert="horz" lIns="68580" tIns="34290" rIns="68580" bIns="34290" rtlCol="0" anchor="ctr">
            <a:noAutofit/>
          </a:bodyPr>
          <a:lstStyle>
            <a:defPPr>
              <a:defRPr lang="en-US"/>
            </a:defPPr>
            <a:lvl1pPr algn="ctr">
              <a:spcBef>
                <a:spcPct val="0"/>
              </a:spcBef>
              <a:buNone/>
              <a:defRPr sz="2800"/>
            </a:lvl1pPr>
          </a:lstStyle>
          <a:p>
            <a:pPr>
              <a:defRPr/>
            </a:pPr>
            <a:r>
              <a:rPr lang="en-GB" sz="2400" dirty="0">
                <a:cs typeface="Times New Roman" panose="02020603050405020304" pitchFamily="18" charset="0"/>
              </a:rPr>
              <a:t>Deadlock Prevention</a:t>
            </a:r>
            <a:r>
              <a:rPr lang="en-IN" sz="2400" dirty="0"/>
              <a:t>(CO3)</a:t>
            </a:r>
            <a:endParaRPr lang="en-US" sz="2100" dirty="0"/>
          </a:p>
        </p:txBody>
      </p:sp>
    </p:spTree>
  </p:cSld>
  <p:clrMapOvr>
    <a:masterClrMapping/>
  </p:clrMapOvr>
  <p:transition>
    <p:dissolve/>
  </p:transition>
</p:sld>
</file>

<file path=ppt/slides/slide9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27703DC-D88A-4BCA-9319-2D94736753BB}" type="datetime3">
              <a:rPr lang="en-US" smtClean="0"/>
              <a:t>1 September 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2514600" y="6356350"/>
            <a:ext cx="5181600" cy="365125"/>
          </a:xfrm>
        </p:spPr>
        <p:txBody>
          <a:bodyPr/>
          <a:lstStyle/>
          <a:p>
            <a:r>
              <a:rPr lang="en-US"/>
              <a:t>Atul Garg           BCSE0303            Unit- III</a:t>
            </a:r>
            <a:endParaRPr lang="en-US" dirty="0"/>
          </a:p>
        </p:txBody>
      </p:sp>
      <p:sp>
        <p:nvSpPr>
          <p:cNvPr id="10" name="Rectangle 9"/>
          <p:cNvSpPr/>
          <p:nvPr/>
        </p:nvSpPr>
        <p:spPr>
          <a:xfrm>
            <a:off x="817240" y="692696"/>
            <a:ext cx="7859216" cy="511819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200" dirty="0"/>
              <a:t>Requires that the system has some additional apriori information available.</a:t>
            </a:r>
          </a:p>
          <a:p>
            <a:pPr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200" dirty="0">
                <a:ea typeface="MS PGothic" charset="0"/>
              </a:rPr>
              <a:t>Simplest and most useful model requires that each process declare the maximum number of resources of each type that it may need.</a:t>
            </a:r>
          </a:p>
          <a:p>
            <a:pPr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200" dirty="0">
                <a:ea typeface="MS PGothic" charset="0"/>
              </a:rPr>
              <a:t>The deadlock-avoidance algorithm dynamically examines the resource-allocation state to ensure that there can never be a circular-wait condition.</a:t>
            </a:r>
          </a:p>
          <a:p>
            <a:pPr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200" dirty="0">
                <a:ea typeface="MS PGothic" charset="0"/>
              </a:rPr>
              <a:t>Resource-allocation state is defined by the number of available and allocated resources, and the maximum demands of the processes.</a:t>
            </a:r>
            <a:endParaRPr lang="en-IN" sz="2200" dirty="0"/>
          </a:p>
        </p:txBody>
      </p:sp>
      <p:sp>
        <p:nvSpPr>
          <p:cNvPr id="8" name="Slide Number Placeholder 7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t>91</a:t>
            </a:fld>
            <a:endParaRPr lang="en-US"/>
          </a:p>
        </p:txBody>
      </p:sp>
      <p:pic>
        <p:nvPicPr>
          <p:cNvPr id="2" name="Picture 1" descr="A black and red logo&#10;&#10;Description automatically generated">
            <a:extLst>
              <a:ext uri="{FF2B5EF4-FFF2-40B4-BE49-F238E27FC236}">
                <a16:creationId xmlns:a16="http://schemas.microsoft.com/office/drawing/2014/main" id="{CB4BAF75-3600-28A0-03B2-CA1F5717990F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-27384"/>
            <a:ext cx="1657350" cy="710452"/>
          </a:xfrm>
          <a:prstGeom prst="rect">
            <a:avLst/>
          </a:prstGeom>
        </p:spPr>
      </p:pic>
      <p:sp>
        <p:nvSpPr>
          <p:cNvPr id="3" name="Title 1">
            <a:extLst>
              <a:ext uri="{FF2B5EF4-FFF2-40B4-BE49-F238E27FC236}">
                <a16:creationId xmlns:a16="http://schemas.microsoft.com/office/drawing/2014/main" id="{99958BEF-6A5D-5BC8-957B-FF50D06A503F}"/>
              </a:ext>
            </a:extLst>
          </p:cNvPr>
          <p:cNvSpPr txBox="1">
            <a:spLocks/>
          </p:cNvSpPr>
          <p:nvPr/>
        </p:nvSpPr>
        <p:spPr>
          <a:xfrm>
            <a:off x="2171700" y="44624"/>
            <a:ext cx="5829300" cy="514349"/>
          </a:xfrm>
          <a:prstGeom prst="rect">
            <a:avLst/>
          </a:prstGeom>
          <a:gradFill flip="none" rotWithShape="1">
            <a:gsLst>
              <a:gs pos="0">
                <a:srgbClr val="FF0000">
                  <a:tint val="66000"/>
                  <a:satMod val="160000"/>
                </a:srgbClr>
              </a:gs>
              <a:gs pos="50000">
                <a:srgbClr val="FF0000">
                  <a:tint val="44500"/>
                  <a:satMod val="160000"/>
                </a:srgbClr>
              </a:gs>
              <a:gs pos="100000">
                <a:srgbClr val="FF0000">
                  <a:tint val="23500"/>
                  <a:satMod val="160000"/>
                </a:srgbClr>
              </a:gs>
            </a:gsLst>
            <a:lin ang="0" scaled="1"/>
            <a:tileRect/>
          </a:gradFill>
        </p:spPr>
        <p:style>
          <a:lnRef idx="1">
            <a:schemeClr val="accent5"/>
          </a:lnRef>
          <a:fillRef idx="2">
            <a:schemeClr val="accent5"/>
          </a:fillRef>
          <a:effectRef idx="1">
            <a:schemeClr val="accent5"/>
          </a:effectRef>
          <a:fontRef idx="minor">
            <a:schemeClr val="dk1"/>
          </a:fontRef>
        </p:style>
        <p:txBody>
          <a:bodyPr vert="horz" lIns="68580" tIns="34290" rIns="68580" bIns="34290" rtlCol="0" anchor="ctr">
            <a:noAutofit/>
          </a:bodyPr>
          <a:lstStyle>
            <a:defPPr>
              <a:defRPr lang="en-US"/>
            </a:defPPr>
            <a:lvl1pPr algn="ctr">
              <a:spcBef>
                <a:spcPct val="0"/>
              </a:spcBef>
              <a:buNone/>
              <a:defRPr sz="2800"/>
            </a:lvl1pPr>
          </a:lstStyle>
          <a:p>
            <a:pPr>
              <a:defRPr/>
            </a:pPr>
            <a:r>
              <a:rPr lang="en-IN" sz="2400" dirty="0"/>
              <a:t>Deadlock </a:t>
            </a:r>
            <a:r>
              <a:rPr lang="en-US" sz="2400" dirty="0"/>
              <a:t>Avoidance</a:t>
            </a:r>
            <a:r>
              <a:rPr lang="en-IN" sz="2400" dirty="0"/>
              <a:t>(CO3)</a:t>
            </a:r>
            <a:endParaRPr lang="en-US" sz="2100" dirty="0"/>
          </a:p>
        </p:txBody>
      </p:sp>
    </p:spTree>
  </p:cSld>
  <p:clrMapOvr>
    <a:masterClrMapping/>
  </p:clrMapOvr>
  <p:transition>
    <p:dissolve/>
  </p:transition>
</p:sld>
</file>

<file path=ppt/slides/slide9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CD654E5-0CCA-40B3-A319-9E4659C020DF}" type="datetime3">
              <a:rPr lang="en-US" smtClean="0"/>
              <a:t>1 September 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2514600" y="6356350"/>
            <a:ext cx="5181600" cy="365125"/>
          </a:xfrm>
        </p:spPr>
        <p:txBody>
          <a:bodyPr/>
          <a:lstStyle/>
          <a:p>
            <a:r>
              <a:rPr lang="en-US"/>
              <a:t>Atul Garg           BCSE0303            Unit- III</a:t>
            </a:r>
            <a:endParaRPr lang="en-US" dirty="0"/>
          </a:p>
        </p:txBody>
      </p:sp>
      <p:sp>
        <p:nvSpPr>
          <p:cNvPr id="10" name="Rectangle 9"/>
          <p:cNvSpPr/>
          <p:nvPr/>
        </p:nvSpPr>
        <p:spPr>
          <a:xfrm>
            <a:off x="971600" y="800120"/>
            <a:ext cx="7920880" cy="550920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buFont typeface="Arial" panose="020B0604020202020204" pitchFamily="34" charset="0"/>
              <a:buChar char="•"/>
            </a:pPr>
            <a:r>
              <a:rPr lang="en-US" sz="2200" dirty="0">
                <a:ea typeface="MS PGothic" charset="0"/>
              </a:rPr>
              <a:t>When a process requests an available resource, system must decide if immediate allocation leaves the system in a safe state</a:t>
            </a:r>
          </a:p>
          <a:p>
            <a:pPr>
              <a:buFont typeface="Arial" panose="020B0604020202020204" pitchFamily="34" charset="0"/>
              <a:buChar char="•"/>
            </a:pPr>
            <a:endParaRPr lang="en-US" sz="2200" dirty="0">
              <a:ea typeface="MS PGothic" charset="0"/>
            </a:endParaRPr>
          </a:p>
          <a:p>
            <a:pPr>
              <a:buFont typeface="Arial" panose="020B0604020202020204" pitchFamily="34" charset="0"/>
              <a:buChar char="•"/>
            </a:pPr>
            <a:r>
              <a:rPr lang="en-US" sz="2200" dirty="0">
                <a:ea typeface="MS PGothic" charset="0"/>
              </a:rPr>
              <a:t>System is in safe state if there exists a sequence &lt;</a:t>
            </a:r>
            <a:r>
              <a:rPr lang="en-US" sz="2200" i="1" dirty="0">
                <a:ea typeface="MS PGothic" charset="0"/>
              </a:rPr>
              <a:t>P</a:t>
            </a:r>
            <a:r>
              <a:rPr lang="en-US" sz="2200" i="1" baseline="-25000" dirty="0">
                <a:ea typeface="MS PGothic" charset="0"/>
              </a:rPr>
              <a:t>1</a:t>
            </a:r>
            <a:r>
              <a:rPr lang="en-US" sz="2200" i="1" dirty="0">
                <a:ea typeface="MS PGothic" charset="0"/>
              </a:rPr>
              <a:t>, P</a:t>
            </a:r>
            <a:r>
              <a:rPr lang="en-US" sz="2200" i="1" baseline="-25000" dirty="0">
                <a:ea typeface="MS PGothic" charset="0"/>
              </a:rPr>
              <a:t>2</a:t>
            </a:r>
            <a:r>
              <a:rPr lang="en-US" sz="2200" i="1" dirty="0">
                <a:ea typeface="MS PGothic" charset="0"/>
              </a:rPr>
              <a:t>, …, P</a:t>
            </a:r>
            <a:r>
              <a:rPr lang="en-US" sz="2200" i="1" baseline="-25000" dirty="0">
                <a:ea typeface="MS PGothic" charset="0"/>
              </a:rPr>
              <a:t>n</a:t>
            </a:r>
            <a:r>
              <a:rPr lang="en-US" sz="2200" dirty="0">
                <a:ea typeface="MS PGothic" charset="0"/>
              </a:rPr>
              <a:t>&gt; of all the  processes in the systems such that for each P</a:t>
            </a:r>
            <a:r>
              <a:rPr lang="en-US" sz="2200" baseline="-25000" dirty="0">
                <a:ea typeface="MS PGothic" charset="0"/>
              </a:rPr>
              <a:t>i</a:t>
            </a:r>
            <a:r>
              <a:rPr lang="en-US" sz="2200" dirty="0">
                <a:ea typeface="MS PGothic" charset="0"/>
              </a:rPr>
              <a:t>, the resources that P</a:t>
            </a:r>
            <a:r>
              <a:rPr lang="en-US" sz="2200" baseline="-25000" dirty="0">
                <a:ea typeface="MS PGothic" charset="0"/>
              </a:rPr>
              <a:t>i </a:t>
            </a:r>
            <a:r>
              <a:rPr lang="en-US" sz="2200" dirty="0">
                <a:ea typeface="MS PGothic" charset="0"/>
              </a:rPr>
              <a:t>can still request can be satisfied by currently available resources + resources held by all the </a:t>
            </a:r>
            <a:r>
              <a:rPr lang="en-US" sz="2200" i="1" dirty="0" err="1">
                <a:ea typeface="MS PGothic" charset="0"/>
              </a:rPr>
              <a:t>P</a:t>
            </a:r>
            <a:r>
              <a:rPr lang="en-US" sz="2200" i="1" baseline="-25000" dirty="0" err="1">
                <a:ea typeface="MS PGothic" charset="0"/>
              </a:rPr>
              <a:t>j</a:t>
            </a:r>
            <a:r>
              <a:rPr lang="en-US" sz="2200" dirty="0">
                <a:ea typeface="MS PGothic" charset="0"/>
              </a:rPr>
              <a:t>, with</a:t>
            </a:r>
            <a:r>
              <a:rPr lang="en-US" sz="2200" i="1" dirty="0">
                <a:ea typeface="MS PGothic" charset="0"/>
              </a:rPr>
              <a:t> j </a:t>
            </a:r>
            <a:r>
              <a:rPr lang="en-US" sz="2200" dirty="0">
                <a:ea typeface="MS PGothic" charset="0"/>
              </a:rPr>
              <a:t>&lt; </a:t>
            </a:r>
            <a:r>
              <a:rPr lang="en-US" sz="2200" i="1" dirty="0">
                <a:ea typeface="MS PGothic" charset="0"/>
              </a:rPr>
              <a:t>i</a:t>
            </a:r>
            <a:endParaRPr lang="en-US" sz="2200" dirty="0">
              <a:ea typeface="MS PGothic" charset="0"/>
            </a:endParaRPr>
          </a:p>
          <a:p>
            <a:r>
              <a:rPr lang="en-US" sz="2200" dirty="0">
                <a:ea typeface="MS PGothic" charset="0"/>
              </a:rPr>
              <a:t>That is:</a:t>
            </a:r>
          </a:p>
          <a:p>
            <a:pPr lvl="1">
              <a:buFont typeface="Arial" panose="020B0604020202020204" pitchFamily="34" charset="0"/>
              <a:buChar char="•"/>
            </a:pPr>
            <a:r>
              <a:rPr lang="en-US" sz="2200" dirty="0">
                <a:ea typeface="MS PGothic" charset="0"/>
              </a:rPr>
              <a:t>If P</a:t>
            </a:r>
            <a:r>
              <a:rPr lang="en-US" sz="2200" baseline="-25000" dirty="0">
                <a:ea typeface="MS PGothic" charset="0"/>
              </a:rPr>
              <a:t>i</a:t>
            </a:r>
            <a:r>
              <a:rPr lang="en-US" sz="2200" dirty="0">
                <a:ea typeface="MS PGothic" charset="0"/>
              </a:rPr>
              <a:t> resource needs are not immediately available, then </a:t>
            </a:r>
            <a:r>
              <a:rPr lang="en-US" sz="2200" i="1" dirty="0">
                <a:ea typeface="MS PGothic" charset="0"/>
              </a:rPr>
              <a:t>P</a:t>
            </a:r>
            <a:r>
              <a:rPr lang="en-US" sz="2200" i="1" baseline="-25000" dirty="0">
                <a:ea typeface="MS PGothic" charset="0"/>
              </a:rPr>
              <a:t>i</a:t>
            </a:r>
            <a:r>
              <a:rPr lang="en-US" sz="2200" dirty="0">
                <a:ea typeface="MS PGothic" charset="0"/>
              </a:rPr>
              <a:t> can wait until all </a:t>
            </a:r>
            <a:r>
              <a:rPr lang="en-US" sz="2200" i="1" dirty="0" err="1">
                <a:ea typeface="MS PGothic" charset="0"/>
              </a:rPr>
              <a:t>P</a:t>
            </a:r>
            <a:r>
              <a:rPr lang="en-US" sz="2200" i="1" baseline="-25000" dirty="0" err="1">
                <a:ea typeface="MS PGothic" charset="0"/>
              </a:rPr>
              <a:t>j</a:t>
            </a:r>
            <a:r>
              <a:rPr lang="en-US" sz="2200" i="1" dirty="0">
                <a:ea typeface="MS PGothic" charset="0"/>
              </a:rPr>
              <a:t> </a:t>
            </a:r>
            <a:r>
              <a:rPr lang="en-US" sz="2200" dirty="0">
                <a:ea typeface="MS PGothic" charset="0"/>
              </a:rPr>
              <a:t>have finished</a:t>
            </a:r>
          </a:p>
          <a:p>
            <a:pPr lvl="1">
              <a:buFont typeface="Arial" panose="020B0604020202020204" pitchFamily="34" charset="0"/>
              <a:buChar char="•"/>
            </a:pPr>
            <a:endParaRPr lang="en-US" sz="2200" dirty="0">
              <a:ea typeface="MS PGothic" charset="0"/>
            </a:endParaRPr>
          </a:p>
          <a:p>
            <a:pPr lvl="1">
              <a:buFont typeface="Arial" panose="020B0604020202020204" pitchFamily="34" charset="0"/>
              <a:buChar char="•"/>
            </a:pPr>
            <a:r>
              <a:rPr lang="en-US" sz="2200" dirty="0">
                <a:ea typeface="MS PGothic" charset="0"/>
              </a:rPr>
              <a:t>When </a:t>
            </a:r>
            <a:r>
              <a:rPr lang="en-US" sz="2200" i="1" dirty="0" err="1">
                <a:ea typeface="MS PGothic" charset="0"/>
              </a:rPr>
              <a:t>P</a:t>
            </a:r>
            <a:r>
              <a:rPr lang="en-US" sz="2200" i="1" baseline="-25000" dirty="0" err="1">
                <a:ea typeface="MS PGothic" charset="0"/>
              </a:rPr>
              <a:t>j</a:t>
            </a:r>
            <a:r>
              <a:rPr lang="en-US" sz="2200" dirty="0">
                <a:ea typeface="MS PGothic" charset="0"/>
              </a:rPr>
              <a:t> is finished, </a:t>
            </a:r>
            <a:r>
              <a:rPr lang="en-US" sz="2200" i="1" dirty="0">
                <a:ea typeface="MS PGothic" charset="0"/>
              </a:rPr>
              <a:t>P</a:t>
            </a:r>
            <a:r>
              <a:rPr lang="en-US" sz="2200" i="1" baseline="-25000" dirty="0">
                <a:ea typeface="MS PGothic" charset="0"/>
              </a:rPr>
              <a:t>i</a:t>
            </a:r>
            <a:r>
              <a:rPr lang="en-US" sz="2200" dirty="0">
                <a:ea typeface="MS PGothic" charset="0"/>
              </a:rPr>
              <a:t> can obtain needed resources, execute, return allocated resources, and terminate</a:t>
            </a:r>
          </a:p>
          <a:p>
            <a:pPr lvl="1">
              <a:buFont typeface="Arial" panose="020B0604020202020204" pitchFamily="34" charset="0"/>
              <a:buChar char="•"/>
            </a:pPr>
            <a:endParaRPr lang="en-US" sz="2200" dirty="0">
              <a:ea typeface="MS PGothic" charset="0"/>
            </a:endParaRPr>
          </a:p>
          <a:p>
            <a:pPr lvl="1">
              <a:buFont typeface="Arial" panose="020B0604020202020204" pitchFamily="34" charset="0"/>
              <a:buChar char="•"/>
            </a:pPr>
            <a:r>
              <a:rPr lang="en-US" sz="2200" dirty="0">
                <a:ea typeface="MS PGothic" charset="0"/>
              </a:rPr>
              <a:t>When </a:t>
            </a:r>
            <a:r>
              <a:rPr lang="en-US" sz="2200" i="1" dirty="0">
                <a:ea typeface="MS PGothic" charset="0"/>
              </a:rPr>
              <a:t>P</a:t>
            </a:r>
            <a:r>
              <a:rPr lang="en-US" sz="2200" i="1" baseline="-25000" dirty="0">
                <a:ea typeface="MS PGothic" charset="0"/>
              </a:rPr>
              <a:t>i</a:t>
            </a:r>
            <a:r>
              <a:rPr lang="en-US" sz="2200" dirty="0">
                <a:ea typeface="MS PGothic" charset="0"/>
              </a:rPr>
              <a:t> terminates, </a:t>
            </a:r>
            <a:r>
              <a:rPr lang="en-US" sz="2200" i="1" dirty="0">
                <a:ea typeface="MS PGothic" charset="0"/>
              </a:rPr>
              <a:t>P</a:t>
            </a:r>
            <a:r>
              <a:rPr lang="en-US" sz="2200" i="1" baseline="-25000" dirty="0">
                <a:ea typeface="MS PGothic" charset="0"/>
              </a:rPr>
              <a:t>i </a:t>
            </a:r>
            <a:r>
              <a:rPr lang="en-US" sz="2200" baseline="-25000" dirty="0">
                <a:ea typeface="MS PGothic" charset="0"/>
              </a:rPr>
              <a:t>+1</a:t>
            </a:r>
            <a:r>
              <a:rPr lang="en-US" sz="2200" dirty="0">
                <a:ea typeface="MS PGothic" charset="0"/>
              </a:rPr>
              <a:t> can obtain its needed resources, and so on</a:t>
            </a:r>
            <a:endParaRPr lang="en-IN" sz="2200" dirty="0"/>
          </a:p>
        </p:txBody>
      </p:sp>
      <p:sp>
        <p:nvSpPr>
          <p:cNvPr id="8" name="Slide Number Placeholder 7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t>92</a:t>
            </a:fld>
            <a:endParaRPr lang="en-US"/>
          </a:p>
        </p:txBody>
      </p:sp>
      <p:pic>
        <p:nvPicPr>
          <p:cNvPr id="2" name="Picture 1" descr="A black and red logo&#10;&#10;Description automatically generated">
            <a:extLst>
              <a:ext uri="{FF2B5EF4-FFF2-40B4-BE49-F238E27FC236}">
                <a16:creationId xmlns:a16="http://schemas.microsoft.com/office/drawing/2014/main" id="{72FFBB0D-C45D-8314-A502-CF7C08E0AC40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-27384"/>
            <a:ext cx="1657350" cy="710452"/>
          </a:xfrm>
          <a:prstGeom prst="rect">
            <a:avLst/>
          </a:prstGeom>
        </p:spPr>
      </p:pic>
      <p:sp>
        <p:nvSpPr>
          <p:cNvPr id="3" name="Title 1">
            <a:extLst>
              <a:ext uri="{FF2B5EF4-FFF2-40B4-BE49-F238E27FC236}">
                <a16:creationId xmlns:a16="http://schemas.microsoft.com/office/drawing/2014/main" id="{5DAE6A2A-2DCD-F5F1-566E-C3B31A6074EE}"/>
              </a:ext>
            </a:extLst>
          </p:cNvPr>
          <p:cNvSpPr txBox="1">
            <a:spLocks/>
          </p:cNvSpPr>
          <p:nvPr/>
        </p:nvSpPr>
        <p:spPr>
          <a:xfrm>
            <a:off x="2171700" y="44624"/>
            <a:ext cx="5829300" cy="514349"/>
          </a:xfrm>
          <a:prstGeom prst="rect">
            <a:avLst/>
          </a:prstGeom>
          <a:gradFill flip="none" rotWithShape="1">
            <a:gsLst>
              <a:gs pos="0">
                <a:srgbClr val="FF0000">
                  <a:tint val="66000"/>
                  <a:satMod val="160000"/>
                </a:srgbClr>
              </a:gs>
              <a:gs pos="50000">
                <a:srgbClr val="FF0000">
                  <a:tint val="44500"/>
                  <a:satMod val="160000"/>
                </a:srgbClr>
              </a:gs>
              <a:gs pos="100000">
                <a:srgbClr val="FF0000">
                  <a:tint val="23500"/>
                  <a:satMod val="160000"/>
                </a:srgbClr>
              </a:gs>
            </a:gsLst>
            <a:lin ang="0" scaled="1"/>
            <a:tileRect/>
          </a:gradFill>
        </p:spPr>
        <p:style>
          <a:lnRef idx="1">
            <a:schemeClr val="accent5"/>
          </a:lnRef>
          <a:fillRef idx="2">
            <a:schemeClr val="accent5"/>
          </a:fillRef>
          <a:effectRef idx="1">
            <a:schemeClr val="accent5"/>
          </a:effectRef>
          <a:fontRef idx="minor">
            <a:schemeClr val="dk1"/>
          </a:fontRef>
        </p:style>
        <p:txBody>
          <a:bodyPr vert="horz" lIns="68580" tIns="34290" rIns="68580" bIns="34290" rtlCol="0" anchor="ctr">
            <a:noAutofit/>
          </a:bodyPr>
          <a:lstStyle>
            <a:defPPr>
              <a:defRPr lang="en-US"/>
            </a:defPPr>
            <a:lvl1pPr algn="ctr">
              <a:spcBef>
                <a:spcPct val="0"/>
              </a:spcBef>
              <a:buNone/>
              <a:defRPr sz="2800"/>
            </a:lvl1pPr>
          </a:lstStyle>
          <a:p>
            <a:pPr>
              <a:defRPr/>
            </a:pPr>
            <a:r>
              <a:rPr lang="en-US" sz="2400" dirty="0">
                <a:latin typeface="Arial" panose="020B0604020202020204" pitchFamily="34" charset="0"/>
                <a:ea typeface="MS PGothic" charset="0"/>
              </a:rPr>
              <a:t>Safe State</a:t>
            </a:r>
            <a:r>
              <a:rPr lang="en-IN" sz="2400" dirty="0"/>
              <a:t>(CO3)</a:t>
            </a:r>
            <a:endParaRPr lang="en-US" sz="2100" dirty="0"/>
          </a:p>
        </p:txBody>
      </p:sp>
    </p:spTree>
  </p:cSld>
  <p:clrMapOvr>
    <a:masterClrMapping/>
  </p:clrMapOvr>
  <p:transition>
    <p:dissolve/>
  </p:transition>
</p:sld>
</file>

<file path=ppt/slides/slide9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3261487-75B6-46C9-9583-01DBE2AF6A2D}" type="datetime3">
              <a:rPr lang="en-US" smtClean="0"/>
              <a:t>1 September 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2514600" y="6356350"/>
            <a:ext cx="5181600" cy="365125"/>
          </a:xfrm>
        </p:spPr>
        <p:txBody>
          <a:bodyPr/>
          <a:lstStyle/>
          <a:p>
            <a:r>
              <a:rPr lang="en-US"/>
              <a:t>Atul Garg           BCSE0303            Unit- III</a:t>
            </a:r>
            <a:endParaRPr lang="en-US" dirty="0"/>
          </a:p>
        </p:txBody>
      </p:sp>
      <p:sp>
        <p:nvSpPr>
          <p:cNvPr id="10" name="Rectangle 9"/>
          <p:cNvSpPr/>
          <p:nvPr/>
        </p:nvSpPr>
        <p:spPr>
          <a:xfrm>
            <a:off x="395536" y="980728"/>
            <a:ext cx="8748464" cy="54771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endParaRPr lang="en-IN" sz="2200" dirty="0"/>
          </a:p>
        </p:txBody>
      </p:sp>
      <p:sp>
        <p:nvSpPr>
          <p:cNvPr id="11" name="Rectangle 10"/>
          <p:cNvSpPr/>
          <p:nvPr/>
        </p:nvSpPr>
        <p:spPr>
          <a:xfrm>
            <a:off x="971600" y="836712"/>
            <a:ext cx="7128792" cy="341632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400" dirty="0">
                <a:ea typeface="MS PGothic" charset="0"/>
              </a:rPr>
              <a:t>If a system is in safe state </a:t>
            </a:r>
            <a:r>
              <a:rPr lang="en-US" sz="2400" dirty="0">
                <a:ea typeface="MS PGothic" charset="0"/>
                <a:sym typeface="Symbol" charset="0"/>
              </a:rPr>
              <a:t> no deadlocks</a:t>
            </a:r>
            <a:br>
              <a:rPr lang="en-US" sz="2400" dirty="0">
                <a:ea typeface="MS PGothic" charset="0"/>
                <a:sym typeface="Symbol" charset="0"/>
              </a:rPr>
            </a:br>
            <a:endParaRPr lang="en-US" sz="2400" dirty="0">
              <a:ea typeface="MS PGothic" charset="0"/>
              <a:sym typeface="Symbol" charset="0"/>
            </a:endParaRPr>
          </a:p>
          <a:p>
            <a:pPr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400" dirty="0">
                <a:ea typeface="MS PGothic" charset="0"/>
                <a:sym typeface="Symbol" charset="0"/>
              </a:rPr>
              <a:t>If a system is in unsafe state  possibility of deadlock</a:t>
            </a:r>
            <a:br>
              <a:rPr lang="en-US" sz="2400" dirty="0">
                <a:ea typeface="MS PGothic" charset="0"/>
                <a:sym typeface="Symbol" charset="0"/>
              </a:rPr>
            </a:br>
            <a:endParaRPr lang="en-US" sz="2400" dirty="0">
              <a:ea typeface="MS PGothic" charset="0"/>
              <a:sym typeface="Symbol" charset="0"/>
            </a:endParaRPr>
          </a:p>
          <a:p>
            <a:pPr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400" dirty="0">
                <a:ea typeface="MS PGothic" charset="0"/>
                <a:sym typeface="Symbol" charset="0"/>
              </a:rPr>
              <a:t>Avoidance  ensure that a system will never enter an unsafe state.</a:t>
            </a:r>
          </a:p>
        </p:txBody>
      </p:sp>
      <p:sp>
        <p:nvSpPr>
          <p:cNvPr id="13" name="Slide Number Placeholder 1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t>93</a:t>
            </a:fld>
            <a:endParaRPr lang="en-US"/>
          </a:p>
        </p:txBody>
      </p:sp>
      <p:pic>
        <p:nvPicPr>
          <p:cNvPr id="2" name="Picture 1" descr="A black and red logo&#10;&#10;Description automatically generated">
            <a:extLst>
              <a:ext uri="{FF2B5EF4-FFF2-40B4-BE49-F238E27FC236}">
                <a16:creationId xmlns:a16="http://schemas.microsoft.com/office/drawing/2014/main" id="{14A53D59-FA20-8659-5665-280F204637F9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-27384"/>
            <a:ext cx="1657350" cy="710452"/>
          </a:xfrm>
          <a:prstGeom prst="rect">
            <a:avLst/>
          </a:prstGeom>
        </p:spPr>
      </p:pic>
      <p:sp>
        <p:nvSpPr>
          <p:cNvPr id="3" name="Title 1">
            <a:extLst>
              <a:ext uri="{FF2B5EF4-FFF2-40B4-BE49-F238E27FC236}">
                <a16:creationId xmlns:a16="http://schemas.microsoft.com/office/drawing/2014/main" id="{2872191C-3C4A-7EDA-AE90-B85C48A03550}"/>
              </a:ext>
            </a:extLst>
          </p:cNvPr>
          <p:cNvSpPr txBox="1">
            <a:spLocks/>
          </p:cNvSpPr>
          <p:nvPr/>
        </p:nvSpPr>
        <p:spPr>
          <a:xfrm>
            <a:off x="2171700" y="44624"/>
            <a:ext cx="5829300" cy="514349"/>
          </a:xfrm>
          <a:prstGeom prst="rect">
            <a:avLst/>
          </a:prstGeom>
          <a:gradFill flip="none" rotWithShape="1">
            <a:gsLst>
              <a:gs pos="0">
                <a:srgbClr val="FF0000">
                  <a:tint val="66000"/>
                  <a:satMod val="160000"/>
                </a:srgbClr>
              </a:gs>
              <a:gs pos="50000">
                <a:srgbClr val="FF0000">
                  <a:tint val="44500"/>
                  <a:satMod val="160000"/>
                </a:srgbClr>
              </a:gs>
              <a:gs pos="100000">
                <a:srgbClr val="FF0000">
                  <a:tint val="23500"/>
                  <a:satMod val="160000"/>
                </a:srgbClr>
              </a:gs>
            </a:gsLst>
            <a:lin ang="0" scaled="1"/>
            <a:tileRect/>
          </a:gradFill>
        </p:spPr>
        <p:style>
          <a:lnRef idx="1">
            <a:schemeClr val="accent5"/>
          </a:lnRef>
          <a:fillRef idx="2">
            <a:schemeClr val="accent5"/>
          </a:fillRef>
          <a:effectRef idx="1">
            <a:schemeClr val="accent5"/>
          </a:effectRef>
          <a:fontRef idx="minor">
            <a:schemeClr val="dk1"/>
          </a:fontRef>
        </p:style>
        <p:txBody>
          <a:bodyPr vert="horz" lIns="68580" tIns="34290" rIns="68580" bIns="34290" rtlCol="0" anchor="ctr">
            <a:noAutofit/>
          </a:bodyPr>
          <a:lstStyle>
            <a:defPPr>
              <a:defRPr lang="en-US"/>
            </a:defPPr>
            <a:lvl1pPr algn="ctr">
              <a:spcBef>
                <a:spcPct val="0"/>
              </a:spcBef>
              <a:buNone/>
              <a:defRPr sz="2800"/>
            </a:lvl1pPr>
          </a:lstStyle>
          <a:p>
            <a:pPr>
              <a:defRPr/>
            </a:pPr>
            <a:r>
              <a:rPr lang="en-US" sz="2400" dirty="0">
                <a:latin typeface="Arial" panose="020B0604020202020204" pitchFamily="34" charset="0"/>
                <a:ea typeface="MS PGothic" charset="0"/>
              </a:rPr>
              <a:t>Safe State</a:t>
            </a:r>
            <a:r>
              <a:rPr lang="en-IN" sz="2400" dirty="0"/>
              <a:t>(CO3)</a:t>
            </a:r>
            <a:endParaRPr lang="en-US" sz="2100" dirty="0"/>
          </a:p>
        </p:txBody>
      </p:sp>
    </p:spTree>
  </p:cSld>
  <p:clrMapOvr>
    <a:masterClrMapping/>
  </p:clrMapOvr>
  <p:transition>
    <p:dissolve/>
  </p:transition>
</p:sld>
</file>

<file path=ppt/slides/slide9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BE6BDFC-E80A-4C17-858A-D86DA4C81EDC}" type="datetime3">
              <a:rPr lang="en-US" smtClean="0"/>
              <a:t>1 September 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2514600" y="6356350"/>
            <a:ext cx="5181600" cy="365125"/>
          </a:xfrm>
        </p:spPr>
        <p:txBody>
          <a:bodyPr/>
          <a:lstStyle/>
          <a:p>
            <a:r>
              <a:rPr lang="en-US"/>
              <a:t>Atul Garg           BCSE0303            Unit- III</a:t>
            </a:r>
            <a:endParaRPr lang="en-US" dirty="0"/>
          </a:p>
        </p:txBody>
      </p:sp>
      <p:pic>
        <p:nvPicPr>
          <p:cNvPr id="12" name="Picture 4"/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3437" t="1572" r="13683" b="2194"/>
          <a:stretch>
            <a:fillRect/>
          </a:stretch>
        </p:blipFill>
        <p:spPr bwMode="auto">
          <a:xfrm>
            <a:off x="2483768" y="1196752"/>
            <a:ext cx="4022725" cy="3983038"/>
          </a:xfrm>
          <a:prstGeom prst="rect">
            <a:avLst/>
          </a:prstGeom>
          <a:noFill/>
          <a:ln>
            <a:noFill/>
          </a:ln>
        </p:spPr>
      </p:pic>
      <p:sp>
        <p:nvSpPr>
          <p:cNvPr id="8" name="Slide Number Placeholder 7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t>94</a:t>
            </a:fld>
            <a:endParaRPr lang="en-US"/>
          </a:p>
        </p:txBody>
      </p:sp>
      <p:pic>
        <p:nvPicPr>
          <p:cNvPr id="2" name="Picture 1" descr="A black and red logo&#10;&#10;Description automatically generated">
            <a:extLst>
              <a:ext uri="{FF2B5EF4-FFF2-40B4-BE49-F238E27FC236}">
                <a16:creationId xmlns:a16="http://schemas.microsoft.com/office/drawing/2014/main" id="{CEA945B8-D7B6-C8F9-FF5B-3F8FDB04A705}"/>
              </a:ext>
            </a:extLst>
          </p:cNvPr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-27384"/>
            <a:ext cx="1657350" cy="710452"/>
          </a:xfrm>
          <a:prstGeom prst="rect">
            <a:avLst/>
          </a:prstGeom>
        </p:spPr>
      </p:pic>
      <p:sp>
        <p:nvSpPr>
          <p:cNvPr id="3" name="Title 1">
            <a:extLst>
              <a:ext uri="{FF2B5EF4-FFF2-40B4-BE49-F238E27FC236}">
                <a16:creationId xmlns:a16="http://schemas.microsoft.com/office/drawing/2014/main" id="{3FBB9E14-CF2D-9002-31FC-CCE4BF54199F}"/>
              </a:ext>
            </a:extLst>
          </p:cNvPr>
          <p:cNvSpPr txBox="1">
            <a:spLocks/>
          </p:cNvSpPr>
          <p:nvPr/>
        </p:nvSpPr>
        <p:spPr>
          <a:xfrm>
            <a:off x="2171700" y="44624"/>
            <a:ext cx="5829300" cy="514349"/>
          </a:xfrm>
          <a:prstGeom prst="rect">
            <a:avLst/>
          </a:prstGeom>
          <a:gradFill flip="none" rotWithShape="1">
            <a:gsLst>
              <a:gs pos="0">
                <a:srgbClr val="FF0000">
                  <a:tint val="66000"/>
                  <a:satMod val="160000"/>
                </a:srgbClr>
              </a:gs>
              <a:gs pos="50000">
                <a:srgbClr val="FF0000">
                  <a:tint val="44500"/>
                  <a:satMod val="160000"/>
                </a:srgbClr>
              </a:gs>
              <a:gs pos="100000">
                <a:srgbClr val="FF0000">
                  <a:tint val="23500"/>
                  <a:satMod val="160000"/>
                </a:srgbClr>
              </a:gs>
            </a:gsLst>
            <a:lin ang="0" scaled="1"/>
            <a:tileRect/>
          </a:gradFill>
        </p:spPr>
        <p:style>
          <a:lnRef idx="1">
            <a:schemeClr val="accent5"/>
          </a:lnRef>
          <a:fillRef idx="2">
            <a:schemeClr val="accent5"/>
          </a:fillRef>
          <a:effectRef idx="1">
            <a:schemeClr val="accent5"/>
          </a:effectRef>
          <a:fontRef idx="minor">
            <a:schemeClr val="dk1"/>
          </a:fontRef>
        </p:style>
        <p:txBody>
          <a:bodyPr vert="horz" lIns="68580" tIns="34290" rIns="68580" bIns="34290" rtlCol="0" anchor="ctr">
            <a:noAutofit/>
          </a:bodyPr>
          <a:lstStyle>
            <a:defPPr>
              <a:defRPr lang="en-US"/>
            </a:defPPr>
            <a:lvl1pPr algn="ctr">
              <a:spcBef>
                <a:spcPct val="0"/>
              </a:spcBef>
              <a:buNone/>
              <a:defRPr sz="2800"/>
            </a:lvl1pPr>
          </a:lstStyle>
          <a:p>
            <a:pPr>
              <a:defRPr/>
            </a:pPr>
            <a:r>
              <a:rPr lang="en-US" sz="2400" dirty="0">
                <a:latin typeface="Arial" panose="020B0604020202020204" pitchFamily="34" charset="0"/>
                <a:ea typeface="MS PGothic" charset="0"/>
              </a:rPr>
              <a:t>Safe State</a:t>
            </a:r>
            <a:r>
              <a:rPr lang="en-IN" sz="2400" dirty="0"/>
              <a:t>(CO3)</a:t>
            </a:r>
            <a:endParaRPr lang="en-US" sz="2100" dirty="0"/>
          </a:p>
        </p:txBody>
      </p:sp>
    </p:spTree>
  </p:cSld>
  <p:clrMapOvr>
    <a:masterClrMapping/>
  </p:clrMapOvr>
  <p:transition>
    <p:dissolve/>
  </p:transition>
</p:sld>
</file>

<file path=ppt/slides/slide9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731089D-0266-4964-9D4E-57AAAB7A462C}" type="datetime3">
              <a:rPr lang="en-US" smtClean="0"/>
              <a:t>1 September 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2514600" y="6356350"/>
            <a:ext cx="5181600" cy="365125"/>
          </a:xfrm>
        </p:spPr>
        <p:txBody>
          <a:bodyPr/>
          <a:lstStyle/>
          <a:p>
            <a:r>
              <a:rPr lang="en-US"/>
              <a:t>Atul Garg           BCSE0303            Unit- III</a:t>
            </a:r>
            <a:endParaRPr lang="en-US" dirty="0"/>
          </a:p>
        </p:txBody>
      </p:sp>
      <p:sp>
        <p:nvSpPr>
          <p:cNvPr id="8" name="Slide Number Placeholder 7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t>95</a:t>
            </a:fld>
            <a:endParaRPr lang="en-US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359FBDEC-254F-995F-7446-840660BED1D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32048" y="764704"/>
            <a:ext cx="8388424" cy="5584350"/>
          </a:xfrm>
          <a:prstGeom prst="rect">
            <a:avLst/>
          </a:prstGeom>
        </p:spPr>
      </p:pic>
      <p:pic>
        <p:nvPicPr>
          <p:cNvPr id="2" name="Picture 1" descr="A black and red logo&#10;&#10;Description automatically generated">
            <a:extLst>
              <a:ext uri="{FF2B5EF4-FFF2-40B4-BE49-F238E27FC236}">
                <a16:creationId xmlns:a16="http://schemas.microsoft.com/office/drawing/2014/main" id="{D9CF47F9-F9F3-D186-C9A1-9E37C97F57B1}"/>
              </a:ext>
            </a:extLst>
          </p:cNvPr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-27384"/>
            <a:ext cx="1657350" cy="710452"/>
          </a:xfrm>
          <a:prstGeom prst="rect">
            <a:avLst/>
          </a:prstGeom>
        </p:spPr>
      </p:pic>
      <p:sp>
        <p:nvSpPr>
          <p:cNvPr id="6" name="Title 1">
            <a:extLst>
              <a:ext uri="{FF2B5EF4-FFF2-40B4-BE49-F238E27FC236}">
                <a16:creationId xmlns:a16="http://schemas.microsoft.com/office/drawing/2014/main" id="{36C0CE33-0EF1-709F-0CCE-9511F6486FB3}"/>
              </a:ext>
            </a:extLst>
          </p:cNvPr>
          <p:cNvSpPr txBox="1">
            <a:spLocks/>
          </p:cNvSpPr>
          <p:nvPr/>
        </p:nvSpPr>
        <p:spPr>
          <a:xfrm>
            <a:off x="2171700" y="44624"/>
            <a:ext cx="5829300" cy="514349"/>
          </a:xfrm>
          <a:prstGeom prst="rect">
            <a:avLst/>
          </a:prstGeom>
          <a:gradFill flip="none" rotWithShape="1">
            <a:gsLst>
              <a:gs pos="0">
                <a:srgbClr val="FF0000">
                  <a:tint val="66000"/>
                  <a:satMod val="160000"/>
                </a:srgbClr>
              </a:gs>
              <a:gs pos="50000">
                <a:srgbClr val="FF0000">
                  <a:tint val="44500"/>
                  <a:satMod val="160000"/>
                </a:srgbClr>
              </a:gs>
              <a:gs pos="100000">
                <a:srgbClr val="FF0000">
                  <a:tint val="23500"/>
                  <a:satMod val="160000"/>
                </a:srgbClr>
              </a:gs>
            </a:gsLst>
            <a:lin ang="0" scaled="1"/>
            <a:tileRect/>
          </a:gradFill>
        </p:spPr>
        <p:style>
          <a:lnRef idx="1">
            <a:schemeClr val="accent5"/>
          </a:lnRef>
          <a:fillRef idx="2">
            <a:schemeClr val="accent5"/>
          </a:fillRef>
          <a:effectRef idx="1">
            <a:schemeClr val="accent5"/>
          </a:effectRef>
          <a:fontRef idx="minor">
            <a:schemeClr val="dk1"/>
          </a:fontRef>
        </p:style>
        <p:txBody>
          <a:bodyPr vert="horz" lIns="68580" tIns="34290" rIns="68580" bIns="34290" rtlCol="0" anchor="ctr">
            <a:noAutofit/>
          </a:bodyPr>
          <a:lstStyle>
            <a:defPPr>
              <a:defRPr lang="en-US"/>
            </a:defPPr>
            <a:lvl1pPr algn="ctr">
              <a:spcBef>
                <a:spcPct val="0"/>
              </a:spcBef>
              <a:buNone/>
              <a:defRPr sz="2800"/>
            </a:lvl1pPr>
          </a:lstStyle>
          <a:p>
            <a:pPr>
              <a:defRPr/>
            </a:pPr>
            <a:r>
              <a:rPr lang="en-US" sz="2400" dirty="0">
                <a:latin typeface="Arial" panose="020B0604020202020204" pitchFamily="34" charset="0"/>
                <a:ea typeface="MS PGothic" charset="0"/>
              </a:rPr>
              <a:t>Safe State</a:t>
            </a:r>
            <a:r>
              <a:rPr lang="en-IN" sz="2400" dirty="0"/>
              <a:t>(CO3)</a:t>
            </a:r>
            <a:endParaRPr lang="en-US" sz="2100" dirty="0"/>
          </a:p>
        </p:txBody>
      </p:sp>
    </p:spTree>
    <p:extLst>
      <p:ext uri="{BB962C8B-B14F-4D97-AF65-F5344CB8AC3E}">
        <p14:creationId xmlns:p14="http://schemas.microsoft.com/office/powerpoint/2010/main" val="1678962898"/>
      </p:ext>
    </p:extLst>
  </p:cSld>
  <p:clrMapOvr>
    <a:masterClrMapping/>
  </p:clrMapOvr>
  <p:transition>
    <p:dissolve/>
  </p:transition>
</p:sld>
</file>

<file path=ppt/slides/slide9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A5211B4-58D0-4127-841C-5DB54C00722C}" type="datetime3">
              <a:rPr lang="en-US" smtClean="0"/>
              <a:t>1 September 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2514600" y="6356350"/>
            <a:ext cx="5181600" cy="365125"/>
          </a:xfrm>
        </p:spPr>
        <p:txBody>
          <a:bodyPr/>
          <a:lstStyle/>
          <a:p>
            <a:r>
              <a:rPr lang="en-US"/>
              <a:t>Atul Garg           BCSE0303            Unit- III</a:t>
            </a:r>
            <a:endParaRPr lang="en-US" dirty="0"/>
          </a:p>
        </p:txBody>
      </p:sp>
      <p:sp>
        <p:nvSpPr>
          <p:cNvPr id="10" name="Rectangle 9"/>
          <p:cNvSpPr/>
          <p:nvPr/>
        </p:nvSpPr>
        <p:spPr>
          <a:xfrm>
            <a:off x="899592" y="836712"/>
            <a:ext cx="7632848" cy="309315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  <a:buFont typeface="Arial" panose="020B0604020202020204" pitchFamily="34" charset="0"/>
              <a:buChar char="•"/>
              <a:tabLst>
                <a:tab pos="911225" algn="l"/>
                <a:tab pos="1825625" algn="l"/>
                <a:tab pos="2740025" algn="l"/>
                <a:tab pos="3654425" algn="l"/>
                <a:tab pos="4568825" algn="l"/>
                <a:tab pos="5483225" algn="l"/>
                <a:tab pos="6397625" algn="l"/>
                <a:tab pos="7312025" algn="l"/>
                <a:tab pos="8226425" algn="l"/>
                <a:tab pos="9140825" algn="l"/>
                <a:tab pos="10055225" algn="l"/>
              </a:tabLst>
            </a:pPr>
            <a:r>
              <a:rPr lang="en-GB" sz="2600" dirty="0">
                <a:ea typeface="Lucida Sans Unicode" panose="020B0602030504020204" pitchFamily="34" charset="0"/>
              </a:rPr>
              <a:t>For a </a:t>
            </a:r>
            <a:r>
              <a:rPr lang="en-GB" sz="2600" u="sng" dirty="0">
                <a:ea typeface="Lucida Sans Unicode" panose="020B0602030504020204" pitchFamily="34" charset="0"/>
              </a:rPr>
              <a:t>single</a:t>
            </a:r>
            <a:r>
              <a:rPr lang="en-GB" sz="2600" dirty="0">
                <a:ea typeface="Lucida Sans Unicode" panose="020B0602030504020204" pitchFamily="34" charset="0"/>
              </a:rPr>
              <a:t> instance of a resource type, use a resource-allocation graph</a:t>
            </a:r>
          </a:p>
          <a:p>
            <a:pPr>
              <a:lnSpc>
                <a:spcPct val="150000"/>
              </a:lnSpc>
              <a:buFont typeface="Arial" panose="020B0604020202020204" pitchFamily="34" charset="0"/>
              <a:buChar char="•"/>
              <a:tabLst>
                <a:tab pos="911225" algn="l"/>
                <a:tab pos="1825625" algn="l"/>
                <a:tab pos="2740025" algn="l"/>
                <a:tab pos="3654425" algn="l"/>
                <a:tab pos="4568825" algn="l"/>
                <a:tab pos="5483225" algn="l"/>
                <a:tab pos="6397625" algn="l"/>
                <a:tab pos="7312025" algn="l"/>
                <a:tab pos="8226425" algn="l"/>
                <a:tab pos="9140825" algn="l"/>
                <a:tab pos="10055225" algn="l"/>
              </a:tabLst>
            </a:pPr>
            <a:r>
              <a:rPr lang="en-GB" sz="2600" dirty="0">
                <a:ea typeface="Lucida Sans Unicode" panose="020B0602030504020204" pitchFamily="34" charset="0"/>
              </a:rPr>
              <a:t>For </a:t>
            </a:r>
            <a:r>
              <a:rPr lang="en-GB" sz="2600" u="sng" dirty="0">
                <a:ea typeface="Lucida Sans Unicode" panose="020B0602030504020204" pitchFamily="34" charset="0"/>
              </a:rPr>
              <a:t>multiple</a:t>
            </a:r>
            <a:r>
              <a:rPr lang="en-GB" sz="2600" dirty="0">
                <a:ea typeface="Lucida Sans Unicode" panose="020B0602030504020204" pitchFamily="34" charset="0"/>
              </a:rPr>
              <a:t> instances of a resource type, use the banker’s algorithm</a:t>
            </a:r>
          </a:p>
          <a:p>
            <a:pPr>
              <a:lnSpc>
                <a:spcPct val="150000"/>
              </a:lnSpc>
              <a:buFont typeface="Arial" panose="020B0604020202020204" pitchFamily="34" charset="0"/>
              <a:buChar char="•"/>
            </a:pPr>
            <a:endParaRPr lang="en-IN" sz="2600" dirty="0"/>
          </a:p>
        </p:txBody>
      </p:sp>
      <p:sp>
        <p:nvSpPr>
          <p:cNvPr id="8" name="Slide Number Placeholder 7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t>96</a:t>
            </a:fld>
            <a:endParaRPr lang="en-US"/>
          </a:p>
        </p:txBody>
      </p:sp>
      <p:pic>
        <p:nvPicPr>
          <p:cNvPr id="2" name="Picture 1" descr="A black and red logo&#10;&#10;Description automatically generated">
            <a:extLst>
              <a:ext uri="{FF2B5EF4-FFF2-40B4-BE49-F238E27FC236}">
                <a16:creationId xmlns:a16="http://schemas.microsoft.com/office/drawing/2014/main" id="{2BFC7D1E-92BA-6993-9B0A-AA4580D1D8D2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-27384"/>
            <a:ext cx="1657350" cy="710452"/>
          </a:xfrm>
          <a:prstGeom prst="rect">
            <a:avLst/>
          </a:prstGeom>
        </p:spPr>
      </p:pic>
      <p:sp>
        <p:nvSpPr>
          <p:cNvPr id="6" name="Title 1">
            <a:extLst>
              <a:ext uri="{FF2B5EF4-FFF2-40B4-BE49-F238E27FC236}">
                <a16:creationId xmlns:a16="http://schemas.microsoft.com/office/drawing/2014/main" id="{F8888225-0D49-CC6E-A6FB-D1981CC210DA}"/>
              </a:ext>
            </a:extLst>
          </p:cNvPr>
          <p:cNvSpPr txBox="1">
            <a:spLocks/>
          </p:cNvSpPr>
          <p:nvPr/>
        </p:nvSpPr>
        <p:spPr>
          <a:xfrm>
            <a:off x="2171700" y="44624"/>
            <a:ext cx="5829300" cy="514349"/>
          </a:xfrm>
          <a:prstGeom prst="rect">
            <a:avLst/>
          </a:prstGeom>
          <a:gradFill flip="none" rotWithShape="1">
            <a:gsLst>
              <a:gs pos="0">
                <a:srgbClr val="FF0000">
                  <a:tint val="66000"/>
                  <a:satMod val="160000"/>
                </a:srgbClr>
              </a:gs>
              <a:gs pos="50000">
                <a:srgbClr val="FF0000">
                  <a:tint val="44500"/>
                  <a:satMod val="160000"/>
                </a:srgbClr>
              </a:gs>
              <a:gs pos="100000">
                <a:srgbClr val="FF0000">
                  <a:tint val="23500"/>
                  <a:satMod val="160000"/>
                </a:srgbClr>
              </a:gs>
            </a:gsLst>
            <a:lin ang="0" scaled="1"/>
            <a:tileRect/>
          </a:gradFill>
        </p:spPr>
        <p:style>
          <a:lnRef idx="1">
            <a:schemeClr val="accent5"/>
          </a:lnRef>
          <a:fillRef idx="2">
            <a:schemeClr val="accent5"/>
          </a:fillRef>
          <a:effectRef idx="1">
            <a:schemeClr val="accent5"/>
          </a:effectRef>
          <a:fontRef idx="minor">
            <a:schemeClr val="dk1"/>
          </a:fontRef>
        </p:style>
        <p:txBody>
          <a:bodyPr vert="horz" lIns="68580" tIns="34290" rIns="68580" bIns="34290" rtlCol="0" anchor="ctr">
            <a:noAutofit/>
          </a:bodyPr>
          <a:lstStyle>
            <a:defPPr>
              <a:defRPr lang="en-US"/>
            </a:defPPr>
            <a:lvl1pPr algn="ctr">
              <a:spcBef>
                <a:spcPct val="0"/>
              </a:spcBef>
              <a:buNone/>
              <a:defRPr sz="2800"/>
            </a:lvl1pPr>
          </a:lstStyle>
          <a:p>
            <a:pPr>
              <a:defRPr/>
            </a:pPr>
            <a:r>
              <a:rPr lang="en-GB" sz="2400" dirty="0">
                <a:latin typeface="+mj-lt"/>
              </a:rPr>
              <a:t>Avoidance algorithms</a:t>
            </a:r>
            <a:r>
              <a:rPr lang="en-IN" sz="2400" dirty="0">
                <a:latin typeface="+mj-lt"/>
              </a:rPr>
              <a:t>(CO3)</a:t>
            </a:r>
            <a:endParaRPr lang="en-US" sz="2100" dirty="0"/>
          </a:p>
        </p:txBody>
      </p:sp>
    </p:spTree>
  </p:cSld>
  <p:clrMapOvr>
    <a:masterClrMapping/>
  </p:clrMapOvr>
  <p:transition>
    <p:dissolve/>
  </p:transition>
</p:sld>
</file>

<file path=ppt/slides/slide9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0600CA6-1887-4D0B-A707-910987B36BBB}" type="datetime3">
              <a:rPr lang="en-US" smtClean="0"/>
              <a:t>1 September 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2514600" y="6356350"/>
            <a:ext cx="5181600" cy="365125"/>
          </a:xfrm>
        </p:spPr>
        <p:txBody>
          <a:bodyPr/>
          <a:lstStyle/>
          <a:p>
            <a:r>
              <a:rPr lang="en-US"/>
              <a:t>Atul Garg           BCSE0303            Unit- III</a:t>
            </a:r>
            <a:endParaRPr lang="en-US" dirty="0"/>
          </a:p>
        </p:txBody>
      </p:sp>
      <p:sp>
        <p:nvSpPr>
          <p:cNvPr id="10" name="Rectangle 9"/>
          <p:cNvSpPr/>
          <p:nvPr/>
        </p:nvSpPr>
        <p:spPr>
          <a:xfrm>
            <a:off x="395536" y="980728"/>
            <a:ext cx="8748464" cy="54771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endParaRPr lang="en-IN" sz="2200" dirty="0"/>
          </a:p>
        </p:txBody>
      </p:sp>
      <p:pic>
        <p:nvPicPr>
          <p:cNvPr id="14" name="Picture 2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3802" t="604" r="13802" b="2141"/>
          <a:stretch>
            <a:fillRect/>
          </a:stretch>
        </p:blipFill>
        <p:spPr bwMode="auto">
          <a:xfrm>
            <a:off x="2195736" y="1484784"/>
            <a:ext cx="4267200" cy="4267200"/>
          </a:xfrm>
          <a:prstGeom prst="rect">
            <a:avLst/>
          </a:prstGeom>
          <a:noFill/>
          <a:ln w="38160">
            <a:solidFill>
              <a:srgbClr val="CC6600"/>
            </a:solidFill>
            <a:miter lim="800000"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5" name="Text Box 3"/>
          <p:cNvSpPr txBox="1">
            <a:spLocks noChangeArrowheads="1"/>
          </p:cNvSpPr>
          <p:nvPr/>
        </p:nvSpPr>
        <p:spPr bwMode="auto">
          <a:xfrm>
            <a:off x="6948264" y="2420888"/>
            <a:ext cx="1163638" cy="7762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tailEnd type="triangle" w="med" len="med"/>
              </a14:hiddenLine>
            </a:ext>
          </a:extLst>
        </p:spPr>
        <p:txBody>
          <a:bodyPr wrap="none" lIns="90000" tIns="45000" rIns="90000" bIns="45000"/>
          <a:lstStyle>
            <a:lvl1pPr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400">
                <a:solidFill>
                  <a:schemeClr val="bg1"/>
                </a:solidFill>
                <a:latin typeface="Times New Roman" panose="02020603050405020304" pitchFamily="18" charset="0"/>
                <a:ea typeface="Lucida Sans Unicode" panose="020B0602030504020204" pitchFamily="34" charset="0"/>
                <a:cs typeface="Lucida Sans Unicode" panose="020B0602030504020204" pitchFamily="34" charset="0"/>
              </a:defRPr>
            </a:lvl1pPr>
            <a:lvl2pPr marL="742950" indent="-285750"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400">
                <a:solidFill>
                  <a:schemeClr val="bg1"/>
                </a:solidFill>
                <a:latin typeface="Times New Roman" panose="02020603050405020304" pitchFamily="18" charset="0"/>
                <a:ea typeface="Lucida Sans Unicode" panose="020B0602030504020204" pitchFamily="34" charset="0"/>
                <a:cs typeface="Lucida Sans Unicode" panose="020B0602030504020204" pitchFamily="34" charset="0"/>
              </a:defRPr>
            </a:lvl2pPr>
            <a:lvl3pPr marL="1143000" indent="-228600"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400">
                <a:solidFill>
                  <a:schemeClr val="bg1"/>
                </a:solidFill>
                <a:latin typeface="Times New Roman" panose="02020603050405020304" pitchFamily="18" charset="0"/>
                <a:ea typeface="Lucida Sans Unicode" panose="020B0602030504020204" pitchFamily="34" charset="0"/>
                <a:cs typeface="Lucida Sans Unicode" panose="020B0602030504020204" pitchFamily="34" charset="0"/>
              </a:defRPr>
            </a:lvl3pPr>
            <a:lvl4pPr marL="1600200" indent="-228600"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400">
                <a:solidFill>
                  <a:schemeClr val="bg1"/>
                </a:solidFill>
                <a:latin typeface="Times New Roman" panose="02020603050405020304" pitchFamily="18" charset="0"/>
                <a:ea typeface="Lucida Sans Unicode" panose="020B0602030504020204" pitchFamily="34" charset="0"/>
                <a:cs typeface="Lucida Sans Unicode" panose="020B0602030504020204" pitchFamily="34" charset="0"/>
              </a:defRPr>
            </a:lvl4pPr>
            <a:lvl5pPr marL="2057400" indent="-228600"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400">
                <a:solidFill>
                  <a:schemeClr val="bg1"/>
                </a:solidFill>
                <a:latin typeface="Times New Roman" panose="02020603050405020304" pitchFamily="18" charset="0"/>
                <a:ea typeface="Lucida Sans Unicode" panose="020B0602030504020204" pitchFamily="34" charset="0"/>
                <a:cs typeface="Lucida Sans Unicode" panose="020B0602030504020204" pitchFamily="34" charset="0"/>
              </a:defRPr>
            </a:lvl5pPr>
            <a:lvl6pPr marL="2514600" indent="-228600" defTabSz="457200" eaLnBrk="0" fontAlgn="base" hangingPunct="0">
              <a:spcBef>
                <a:spcPct val="0"/>
              </a:spcBef>
              <a:spcAft>
                <a:spcPct val="0"/>
              </a:spcAft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400">
                <a:solidFill>
                  <a:schemeClr val="bg1"/>
                </a:solidFill>
                <a:latin typeface="Times New Roman" panose="02020603050405020304" pitchFamily="18" charset="0"/>
                <a:ea typeface="Lucida Sans Unicode" panose="020B0602030504020204" pitchFamily="34" charset="0"/>
                <a:cs typeface="Lucida Sans Unicode" panose="020B0602030504020204" pitchFamily="34" charset="0"/>
              </a:defRPr>
            </a:lvl6pPr>
            <a:lvl7pPr marL="2971800" indent="-228600" defTabSz="457200" eaLnBrk="0" fontAlgn="base" hangingPunct="0">
              <a:spcBef>
                <a:spcPct val="0"/>
              </a:spcBef>
              <a:spcAft>
                <a:spcPct val="0"/>
              </a:spcAft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400">
                <a:solidFill>
                  <a:schemeClr val="bg1"/>
                </a:solidFill>
                <a:latin typeface="Times New Roman" panose="02020603050405020304" pitchFamily="18" charset="0"/>
                <a:ea typeface="Lucida Sans Unicode" panose="020B0602030504020204" pitchFamily="34" charset="0"/>
                <a:cs typeface="Lucida Sans Unicode" panose="020B0602030504020204" pitchFamily="34" charset="0"/>
              </a:defRPr>
            </a:lvl7pPr>
            <a:lvl8pPr marL="3429000" indent="-228600" defTabSz="457200" eaLnBrk="0" fontAlgn="base" hangingPunct="0">
              <a:spcBef>
                <a:spcPct val="0"/>
              </a:spcBef>
              <a:spcAft>
                <a:spcPct val="0"/>
              </a:spcAft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400">
                <a:solidFill>
                  <a:schemeClr val="bg1"/>
                </a:solidFill>
                <a:latin typeface="Times New Roman" panose="02020603050405020304" pitchFamily="18" charset="0"/>
                <a:ea typeface="Lucida Sans Unicode" panose="020B0602030504020204" pitchFamily="34" charset="0"/>
                <a:cs typeface="Lucida Sans Unicode" panose="020B0602030504020204" pitchFamily="34" charset="0"/>
              </a:defRPr>
            </a:lvl8pPr>
            <a:lvl9pPr marL="3886200" indent="-228600" defTabSz="457200" eaLnBrk="0" fontAlgn="base" hangingPunct="0">
              <a:spcBef>
                <a:spcPct val="0"/>
              </a:spcBef>
              <a:spcAft>
                <a:spcPct val="0"/>
              </a:spcAft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400">
                <a:solidFill>
                  <a:schemeClr val="bg1"/>
                </a:solidFill>
                <a:latin typeface="Times New Roman" panose="02020603050405020304" pitchFamily="18" charset="0"/>
                <a:ea typeface="Lucida Sans Unicode" panose="020B0602030504020204" pitchFamily="34" charset="0"/>
                <a:cs typeface="Lucida Sans Unicode" panose="020B0602030504020204" pitchFamily="34" charset="0"/>
              </a:defRPr>
            </a:lvl9pPr>
          </a:lstStyle>
          <a:p>
            <a:pPr algn="ctr">
              <a:lnSpc>
                <a:spcPct val="95000"/>
              </a:lnSpc>
              <a:buClr>
                <a:srgbClr val="000000"/>
              </a:buClr>
              <a:buSzPct val="100000"/>
              <a:buFont typeface="Times New Roman" panose="02020603050405020304" pitchFamily="18" charset="0"/>
              <a:buNone/>
            </a:pPr>
            <a:r>
              <a:rPr lang="en-GB" dirty="0">
                <a:solidFill>
                  <a:srgbClr val="000000"/>
                </a:solidFill>
              </a:rPr>
              <a:t>Request</a:t>
            </a:r>
          </a:p>
          <a:p>
            <a:pPr algn="ctr">
              <a:lnSpc>
                <a:spcPct val="95000"/>
              </a:lnSpc>
              <a:buClr>
                <a:srgbClr val="000000"/>
              </a:buClr>
              <a:buSzPct val="100000"/>
              <a:buFont typeface="Times New Roman" panose="02020603050405020304" pitchFamily="18" charset="0"/>
              <a:buNone/>
            </a:pPr>
            <a:r>
              <a:rPr lang="en-GB" dirty="0">
                <a:solidFill>
                  <a:srgbClr val="000000"/>
                </a:solidFill>
              </a:rPr>
              <a:t>edge</a:t>
            </a:r>
          </a:p>
        </p:txBody>
      </p:sp>
      <p:sp>
        <p:nvSpPr>
          <p:cNvPr id="16" name="Text Box 5"/>
          <p:cNvSpPr txBox="1">
            <a:spLocks noChangeArrowheads="1"/>
          </p:cNvSpPr>
          <p:nvPr/>
        </p:nvSpPr>
        <p:spPr bwMode="auto">
          <a:xfrm>
            <a:off x="228600" y="2060848"/>
            <a:ext cx="1636713" cy="7762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tailEnd type="triangle" w="med" len="med"/>
              </a14:hiddenLine>
            </a:ext>
          </a:extLst>
        </p:spPr>
        <p:txBody>
          <a:bodyPr wrap="none" lIns="90000" tIns="45000" rIns="90000" bIns="45000"/>
          <a:lstStyle>
            <a:lvl1pPr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400">
                <a:solidFill>
                  <a:schemeClr val="bg1"/>
                </a:solidFill>
                <a:latin typeface="Times New Roman" panose="02020603050405020304" pitchFamily="18" charset="0"/>
                <a:ea typeface="Lucida Sans Unicode" panose="020B0602030504020204" pitchFamily="34" charset="0"/>
                <a:cs typeface="Lucida Sans Unicode" panose="020B0602030504020204" pitchFamily="34" charset="0"/>
              </a:defRPr>
            </a:lvl1pPr>
            <a:lvl2pPr marL="742950" indent="-285750"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400">
                <a:solidFill>
                  <a:schemeClr val="bg1"/>
                </a:solidFill>
                <a:latin typeface="Times New Roman" panose="02020603050405020304" pitchFamily="18" charset="0"/>
                <a:ea typeface="Lucida Sans Unicode" panose="020B0602030504020204" pitchFamily="34" charset="0"/>
                <a:cs typeface="Lucida Sans Unicode" panose="020B0602030504020204" pitchFamily="34" charset="0"/>
              </a:defRPr>
            </a:lvl2pPr>
            <a:lvl3pPr marL="1143000" indent="-228600"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400">
                <a:solidFill>
                  <a:schemeClr val="bg1"/>
                </a:solidFill>
                <a:latin typeface="Times New Roman" panose="02020603050405020304" pitchFamily="18" charset="0"/>
                <a:ea typeface="Lucida Sans Unicode" panose="020B0602030504020204" pitchFamily="34" charset="0"/>
                <a:cs typeface="Lucida Sans Unicode" panose="020B0602030504020204" pitchFamily="34" charset="0"/>
              </a:defRPr>
            </a:lvl3pPr>
            <a:lvl4pPr marL="1600200" indent="-228600"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400">
                <a:solidFill>
                  <a:schemeClr val="bg1"/>
                </a:solidFill>
                <a:latin typeface="Times New Roman" panose="02020603050405020304" pitchFamily="18" charset="0"/>
                <a:ea typeface="Lucida Sans Unicode" panose="020B0602030504020204" pitchFamily="34" charset="0"/>
                <a:cs typeface="Lucida Sans Unicode" panose="020B0602030504020204" pitchFamily="34" charset="0"/>
              </a:defRPr>
            </a:lvl4pPr>
            <a:lvl5pPr marL="2057400" indent="-228600"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400">
                <a:solidFill>
                  <a:schemeClr val="bg1"/>
                </a:solidFill>
                <a:latin typeface="Times New Roman" panose="02020603050405020304" pitchFamily="18" charset="0"/>
                <a:ea typeface="Lucida Sans Unicode" panose="020B0602030504020204" pitchFamily="34" charset="0"/>
                <a:cs typeface="Lucida Sans Unicode" panose="020B0602030504020204" pitchFamily="34" charset="0"/>
              </a:defRPr>
            </a:lvl5pPr>
            <a:lvl6pPr marL="2514600" indent="-228600" defTabSz="457200" eaLnBrk="0" fontAlgn="base" hangingPunct="0">
              <a:spcBef>
                <a:spcPct val="0"/>
              </a:spcBef>
              <a:spcAft>
                <a:spcPct val="0"/>
              </a:spcAft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400">
                <a:solidFill>
                  <a:schemeClr val="bg1"/>
                </a:solidFill>
                <a:latin typeface="Times New Roman" panose="02020603050405020304" pitchFamily="18" charset="0"/>
                <a:ea typeface="Lucida Sans Unicode" panose="020B0602030504020204" pitchFamily="34" charset="0"/>
                <a:cs typeface="Lucida Sans Unicode" panose="020B0602030504020204" pitchFamily="34" charset="0"/>
              </a:defRPr>
            </a:lvl6pPr>
            <a:lvl7pPr marL="2971800" indent="-228600" defTabSz="457200" eaLnBrk="0" fontAlgn="base" hangingPunct="0">
              <a:spcBef>
                <a:spcPct val="0"/>
              </a:spcBef>
              <a:spcAft>
                <a:spcPct val="0"/>
              </a:spcAft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400">
                <a:solidFill>
                  <a:schemeClr val="bg1"/>
                </a:solidFill>
                <a:latin typeface="Times New Roman" panose="02020603050405020304" pitchFamily="18" charset="0"/>
                <a:ea typeface="Lucida Sans Unicode" panose="020B0602030504020204" pitchFamily="34" charset="0"/>
                <a:cs typeface="Lucida Sans Unicode" panose="020B0602030504020204" pitchFamily="34" charset="0"/>
              </a:defRPr>
            </a:lvl7pPr>
            <a:lvl8pPr marL="3429000" indent="-228600" defTabSz="457200" eaLnBrk="0" fontAlgn="base" hangingPunct="0">
              <a:spcBef>
                <a:spcPct val="0"/>
              </a:spcBef>
              <a:spcAft>
                <a:spcPct val="0"/>
              </a:spcAft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400">
                <a:solidFill>
                  <a:schemeClr val="bg1"/>
                </a:solidFill>
                <a:latin typeface="Times New Roman" panose="02020603050405020304" pitchFamily="18" charset="0"/>
                <a:ea typeface="Lucida Sans Unicode" panose="020B0602030504020204" pitchFamily="34" charset="0"/>
                <a:cs typeface="Lucida Sans Unicode" panose="020B0602030504020204" pitchFamily="34" charset="0"/>
              </a:defRPr>
            </a:lvl8pPr>
            <a:lvl9pPr marL="3886200" indent="-228600" defTabSz="457200" eaLnBrk="0" fontAlgn="base" hangingPunct="0">
              <a:spcBef>
                <a:spcPct val="0"/>
              </a:spcBef>
              <a:spcAft>
                <a:spcPct val="0"/>
              </a:spcAft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400">
                <a:solidFill>
                  <a:schemeClr val="bg1"/>
                </a:solidFill>
                <a:latin typeface="Times New Roman" panose="02020603050405020304" pitchFamily="18" charset="0"/>
                <a:ea typeface="Lucida Sans Unicode" panose="020B0602030504020204" pitchFamily="34" charset="0"/>
                <a:cs typeface="Lucida Sans Unicode" panose="020B0602030504020204" pitchFamily="34" charset="0"/>
              </a:defRPr>
            </a:lvl9pPr>
          </a:lstStyle>
          <a:p>
            <a:pPr algn="ctr">
              <a:lnSpc>
                <a:spcPct val="95000"/>
              </a:lnSpc>
              <a:buClr>
                <a:srgbClr val="000000"/>
              </a:buClr>
              <a:buSzPct val="100000"/>
              <a:buFont typeface="Times New Roman" panose="02020603050405020304" pitchFamily="18" charset="0"/>
              <a:buNone/>
            </a:pPr>
            <a:r>
              <a:rPr lang="en-GB" dirty="0">
                <a:solidFill>
                  <a:srgbClr val="000000"/>
                </a:solidFill>
              </a:rPr>
              <a:t>Assignment</a:t>
            </a:r>
          </a:p>
          <a:p>
            <a:pPr algn="ctr">
              <a:lnSpc>
                <a:spcPct val="95000"/>
              </a:lnSpc>
              <a:buClr>
                <a:srgbClr val="000000"/>
              </a:buClr>
              <a:buSzPct val="100000"/>
              <a:buFont typeface="Times New Roman" panose="02020603050405020304" pitchFamily="18" charset="0"/>
              <a:buNone/>
            </a:pPr>
            <a:r>
              <a:rPr lang="en-GB" dirty="0">
                <a:solidFill>
                  <a:srgbClr val="000000"/>
                </a:solidFill>
              </a:rPr>
              <a:t>edge</a:t>
            </a:r>
          </a:p>
        </p:txBody>
      </p:sp>
      <p:sp>
        <p:nvSpPr>
          <p:cNvPr id="17" name="Line 7"/>
          <p:cNvSpPr>
            <a:spLocks noChangeShapeType="1"/>
          </p:cNvSpPr>
          <p:nvPr/>
        </p:nvSpPr>
        <p:spPr bwMode="auto">
          <a:xfrm flipH="1">
            <a:off x="5652120" y="2708920"/>
            <a:ext cx="1296988" cy="228600"/>
          </a:xfrm>
          <a:prstGeom prst="line">
            <a:avLst/>
          </a:prstGeom>
          <a:noFill/>
          <a:ln w="9525">
            <a:solidFill>
              <a:srgbClr val="000000"/>
            </a:solidFill>
            <a:rou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8" name="Line 8"/>
          <p:cNvSpPr>
            <a:spLocks noChangeShapeType="1"/>
          </p:cNvSpPr>
          <p:nvPr/>
        </p:nvSpPr>
        <p:spPr bwMode="auto">
          <a:xfrm>
            <a:off x="1907704" y="2348880"/>
            <a:ext cx="1371600" cy="457200"/>
          </a:xfrm>
          <a:prstGeom prst="line">
            <a:avLst/>
          </a:prstGeom>
          <a:noFill/>
          <a:ln w="9525">
            <a:solidFill>
              <a:srgbClr val="000000"/>
            </a:solidFill>
            <a:rou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9" name="Text Box 4"/>
          <p:cNvSpPr txBox="1">
            <a:spLocks noChangeArrowheads="1"/>
          </p:cNvSpPr>
          <p:nvPr/>
        </p:nvSpPr>
        <p:spPr bwMode="auto">
          <a:xfrm>
            <a:off x="983779" y="4581128"/>
            <a:ext cx="923925" cy="7762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tailEnd type="triangle" w="med" len="med"/>
              </a14:hiddenLine>
            </a:ext>
          </a:extLst>
        </p:spPr>
        <p:txBody>
          <a:bodyPr wrap="none" lIns="90000" tIns="45000" rIns="90000" bIns="45000"/>
          <a:lstStyle>
            <a:lvl1pPr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400">
                <a:solidFill>
                  <a:schemeClr val="bg1"/>
                </a:solidFill>
                <a:latin typeface="Times New Roman" panose="02020603050405020304" pitchFamily="18" charset="0"/>
                <a:ea typeface="Lucida Sans Unicode" panose="020B0602030504020204" pitchFamily="34" charset="0"/>
                <a:cs typeface="Lucida Sans Unicode" panose="020B0602030504020204" pitchFamily="34" charset="0"/>
              </a:defRPr>
            </a:lvl1pPr>
            <a:lvl2pPr marL="742950" indent="-285750"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400">
                <a:solidFill>
                  <a:schemeClr val="bg1"/>
                </a:solidFill>
                <a:latin typeface="Times New Roman" panose="02020603050405020304" pitchFamily="18" charset="0"/>
                <a:ea typeface="Lucida Sans Unicode" panose="020B0602030504020204" pitchFamily="34" charset="0"/>
                <a:cs typeface="Lucida Sans Unicode" panose="020B0602030504020204" pitchFamily="34" charset="0"/>
              </a:defRPr>
            </a:lvl2pPr>
            <a:lvl3pPr marL="1143000" indent="-228600"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400">
                <a:solidFill>
                  <a:schemeClr val="bg1"/>
                </a:solidFill>
                <a:latin typeface="Times New Roman" panose="02020603050405020304" pitchFamily="18" charset="0"/>
                <a:ea typeface="Lucida Sans Unicode" panose="020B0602030504020204" pitchFamily="34" charset="0"/>
                <a:cs typeface="Lucida Sans Unicode" panose="020B0602030504020204" pitchFamily="34" charset="0"/>
              </a:defRPr>
            </a:lvl3pPr>
            <a:lvl4pPr marL="1600200" indent="-228600"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400">
                <a:solidFill>
                  <a:schemeClr val="bg1"/>
                </a:solidFill>
                <a:latin typeface="Times New Roman" panose="02020603050405020304" pitchFamily="18" charset="0"/>
                <a:ea typeface="Lucida Sans Unicode" panose="020B0602030504020204" pitchFamily="34" charset="0"/>
                <a:cs typeface="Lucida Sans Unicode" panose="020B0602030504020204" pitchFamily="34" charset="0"/>
              </a:defRPr>
            </a:lvl4pPr>
            <a:lvl5pPr marL="2057400" indent="-228600"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400">
                <a:solidFill>
                  <a:schemeClr val="bg1"/>
                </a:solidFill>
                <a:latin typeface="Times New Roman" panose="02020603050405020304" pitchFamily="18" charset="0"/>
                <a:ea typeface="Lucida Sans Unicode" panose="020B0602030504020204" pitchFamily="34" charset="0"/>
                <a:cs typeface="Lucida Sans Unicode" panose="020B0602030504020204" pitchFamily="34" charset="0"/>
              </a:defRPr>
            </a:lvl5pPr>
            <a:lvl6pPr marL="2514600" indent="-228600" defTabSz="457200" eaLnBrk="0" fontAlgn="base" hangingPunct="0">
              <a:spcBef>
                <a:spcPct val="0"/>
              </a:spcBef>
              <a:spcAft>
                <a:spcPct val="0"/>
              </a:spcAft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400">
                <a:solidFill>
                  <a:schemeClr val="bg1"/>
                </a:solidFill>
                <a:latin typeface="Times New Roman" panose="02020603050405020304" pitchFamily="18" charset="0"/>
                <a:ea typeface="Lucida Sans Unicode" panose="020B0602030504020204" pitchFamily="34" charset="0"/>
                <a:cs typeface="Lucida Sans Unicode" panose="020B0602030504020204" pitchFamily="34" charset="0"/>
              </a:defRPr>
            </a:lvl6pPr>
            <a:lvl7pPr marL="2971800" indent="-228600" defTabSz="457200" eaLnBrk="0" fontAlgn="base" hangingPunct="0">
              <a:spcBef>
                <a:spcPct val="0"/>
              </a:spcBef>
              <a:spcAft>
                <a:spcPct val="0"/>
              </a:spcAft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400">
                <a:solidFill>
                  <a:schemeClr val="bg1"/>
                </a:solidFill>
                <a:latin typeface="Times New Roman" panose="02020603050405020304" pitchFamily="18" charset="0"/>
                <a:ea typeface="Lucida Sans Unicode" panose="020B0602030504020204" pitchFamily="34" charset="0"/>
                <a:cs typeface="Lucida Sans Unicode" panose="020B0602030504020204" pitchFamily="34" charset="0"/>
              </a:defRPr>
            </a:lvl7pPr>
            <a:lvl8pPr marL="3429000" indent="-228600" defTabSz="457200" eaLnBrk="0" fontAlgn="base" hangingPunct="0">
              <a:spcBef>
                <a:spcPct val="0"/>
              </a:spcBef>
              <a:spcAft>
                <a:spcPct val="0"/>
              </a:spcAft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400">
                <a:solidFill>
                  <a:schemeClr val="bg1"/>
                </a:solidFill>
                <a:latin typeface="Times New Roman" panose="02020603050405020304" pitchFamily="18" charset="0"/>
                <a:ea typeface="Lucida Sans Unicode" panose="020B0602030504020204" pitchFamily="34" charset="0"/>
                <a:cs typeface="Lucida Sans Unicode" panose="020B0602030504020204" pitchFamily="34" charset="0"/>
              </a:defRPr>
            </a:lvl8pPr>
            <a:lvl9pPr marL="3886200" indent="-228600" defTabSz="457200" eaLnBrk="0" fontAlgn="base" hangingPunct="0">
              <a:spcBef>
                <a:spcPct val="0"/>
              </a:spcBef>
              <a:spcAft>
                <a:spcPct val="0"/>
              </a:spcAft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400">
                <a:solidFill>
                  <a:schemeClr val="bg1"/>
                </a:solidFill>
                <a:latin typeface="Times New Roman" panose="02020603050405020304" pitchFamily="18" charset="0"/>
                <a:ea typeface="Lucida Sans Unicode" panose="020B0602030504020204" pitchFamily="34" charset="0"/>
                <a:cs typeface="Lucida Sans Unicode" panose="020B0602030504020204" pitchFamily="34" charset="0"/>
              </a:defRPr>
            </a:lvl9pPr>
          </a:lstStyle>
          <a:p>
            <a:pPr algn="ctr">
              <a:lnSpc>
                <a:spcPct val="95000"/>
              </a:lnSpc>
              <a:buClr>
                <a:srgbClr val="000000"/>
              </a:buClr>
              <a:buSzPct val="100000"/>
              <a:buFont typeface="Times New Roman" panose="02020603050405020304" pitchFamily="18" charset="0"/>
              <a:buNone/>
            </a:pPr>
            <a:r>
              <a:rPr lang="en-GB" dirty="0">
                <a:solidFill>
                  <a:srgbClr val="000000"/>
                </a:solidFill>
              </a:rPr>
              <a:t>Claim</a:t>
            </a:r>
          </a:p>
          <a:p>
            <a:pPr algn="ctr">
              <a:lnSpc>
                <a:spcPct val="95000"/>
              </a:lnSpc>
              <a:buClr>
                <a:srgbClr val="000000"/>
              </a:buClr>
              <a:buSzPct val="100000"/>
              <a:buFont typeface="Times New Roman" panose="02020603050405020304" pitchFamily="18" charset="0"/>
              <a:buNone/>
            </a:pPr>
            <a:r>
              <a:rPr lang="en-GB" dirty="0">
                <a:solidFill>
                  <a:srgbClr val="000000"/>
                </a:solidFill>
              </a:rPr>
              <a:t>edge</a:t>
            </a:r>
          </a:p>
        </p:txBody>
      </p:sp>
      <p:sp>
        <p:nvSpPr>
          <p:cNvPr id="20" name="Line 6"/>
          <p:cNvSpPr>
            <a:spLocks noChangeShapeType="1"/>
          </p:cNvSpPr>
          <p:nvPr/>
        </p:nvSpPr>
        <p:spPr bwMode="auto">
          <a:xfrm flipV="1">
            <a:off x="1835696" y="4437112"/>
            <a:ext cx="1444625" cy="460375"/>
          </a:xfrm>
          <a:prstGeom prst="line">
            <a:avLst/>
          </a:prstGeom>
          <a:noFill/>
          <a:ln w="9525">
            <a:solidFill>
              <a:srgbClr val="000000"/>
            </a:solidFill>
            <a:rou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21" name="Text Box 5"/>
          <p:cNvSpPr txBox="1">
            <a:spLocks noChangeArrowheads="1"/>
          </p:cNvSpPr>
          <p:nvPr/>
        </p:nvSpPr>
        <p:spPr bwMode="auto">
          <a:xfrm>
            <a:off x="6732240" y="4581128"/>
            <a:ext cx="1636713" cy="7762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tailEnd type="triangle" w="med" len="med"/>
              </a14:hiddenLine>
            </a:ext>
          </a:extLst>
        </p:spPr>
        <p:txBody>
          <a:bodyPr wrap="none" lIns="90000" tIns="45000" rIns="90000" bIns="45000"/>
          <a:lstStyle>
            <a:lvl1pPr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400">
                <a:solidFill>
                  <a:schemeClr val="bg1"/>
                </a:solidFill>
                <a:latin typeface="Times New Roman" panose="02020603050405020304" pitchFamily="18" charset="0"/>
                <a:ea typeface="Lucida Sans Unicode" panose="020B0602030504020204" pitchFamily="34" charset="0"/>
                <a:cs typeface="Lucida Sans Unicode" panose="020B0602030504020204" pitchFamily="34" charset="0"/>
              </a:defRPr>
            </a:lvl1pPr>
            <a:lvl2pPr marL="742950" indent="-285750"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400">
                <a:solidFill>
                  <a:schemeClr val="bg1"/>
                </a:solidFill>
                <a:latin typeface="Times New Roman" panose="02020603050405020304" pitchFamily="18" charset="0"/>
                <a:ea typeface="Lucida Sans Unicode" panose="020B0602030504020204" pitchFamily="34" charset="0"/>
                <a:cs typeface="Lucida Sans Unicode" panose="020B0602030504020204" pitchFamily="34" charset="0"/>
              </a:defRPr>
            </a:lvl2pPr>
            <a:lvl3pPr marL="1143000" indent="-228600"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400">
                <a:solidFill>
                  <a:schemeClr val="bg1"/>
                </a:solidFill>
                <a:latin typeface="Times New Roman" panose="02020603050405020304" pitchFamily="18" charset="0"/>
                <a:ea typeface="Lucida Sans Unicode" panose="020B0602030504020204" pitchFamily="34" charset="0"/>
                <a:cs typeface="Lucida Sans Unicode" panose="020B0602030504020204" pitchFamily="34" charset="0"/>
              </a:defRPr>
            </a:lvl3pPr>
            <a:lvl4pPr marL="1600200" indent="-228600"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400">
                <a:solidFill>
                  <a:schemeClr val="bg1"/>
                </a:solidFill>
                <a:latin typeface="Times New Roman" panose="02020603050405020304" pitchFamily="18" charset="0"/>
                <a:ea typeface="Lucida Sans Unicode" panose="020B0602030504020204" pitchFamily="34" charset="0"/>
                <a:cs typeface="Lucida Sans Unicode" panose="020B0602030504020204" pitchFamily="34" charset="0"/>
              </a:defRPr>
            </a:lvl4pPr>
            <a:lvl5pPr marL="2057400" indent="-228600"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400">
                <a:solidFill>
                  <a:schemeClr val="bg1"/>
                </a:solidFill>
                <a:latin typeface="Times New Roman" panose="02020603050405020304" pitchFamily="18" charset="0"/>
                <a:ea typeface="Lucida Sans Unicode" panose="020B0602030504020204" pitchFamily="34" charset="0"/>
                <a:cs typeface="Lucida Sans Unicode" panose="020B0602030504020204" pitchFamily="34" charset="0"/>
              </a:defRPr>
            </a:lvl5pPr>
            <a:lvl6pPr marL="2514600" indent="-228600" defTabSz="457200" eaLnBrk="0" fontAlgn="base" hangingPunct="0">
              <a:spcBef>
                <a:spcPct val="0"/>
              </a:spcBef>
              <a:spcAft>
                <a:spcPct val="0"/>
              </a:spcAft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400">
                <a:solidFill>
                  <a:schemeClr val="bg1"/>
                </a:solidFill>
                <a:latin typeface="Times New Roman" panose="02020603050405020304" pitchFamily="18" charset="0"/>
                <a:ea typeface="Lucida Sans Unicode" panose="020B0602030504020204" pitchFamily="34" charset="0"/>
                <a:cs typeface="Lucida Sans Unicode" panose="020B0602030504020204" pitchFamily="34" charset="0"/>
              </a:defRPr>
            </a:lvl6pPr>
            <a:lvl7pPr marL="2971800" indent="-228600" defTabSz="457200" eaLnBrk="0" fontAlgn="base" hangingPunct="0">
              <a:spcBef>
                <a:spcPct val="0"/>
              </a:spcBef>
              <a:spcAft>
                <a:spcPct val="0"/>
              </a:spcAft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400">
                <a:solidFill>
                  <a:schemeClr val="bg1"/>
                </a:solidFill>
                <a:latin typeface="Times New Roman" panose="02020603050405020304" pitchFamily="18" charset="0"/>
                <a:ea typeface="Lucida Sans Unicode" panose="020B0602030504020204" pitchFamily="34" charset="0"/>
                <a:cs typeface="Lucida Sans Unicode" panose="020B0602030504020204" pitchFamily="34" charset="0"/>
              </a:defRPr>
            </a:lvl7pPr>
            <a:lvl8pPr marL="3429000" indent="-228600" defTabSz="457200" eaLnBrk="0" fontAlgn="base" hangingPunct="0">
              <a:spcBef>
                <a:spcPct val="0"/>
              </a:spcBef>
              <a:spcAft>
                <a:spcPct val="0"/>
              </a:spcAft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400">
                <a:solidFill>
                  <a:schemeClr val="bg1"/>
                </a:solidFill>
                <a:latin typeface="Times New Roman" panose="02020603050405020304" pitchFamily="18" charset="0"/>
                <a:ea typeface="Lucida Sans Unicode" panose="020B0602030504020204" pitchFamily="34" charset="0"/>
                <a:cs typeface="Lucida Sans Unicode" panose="020B0602030504020204" pitchFamily="34" charset="0"/>
              </a:defRPr>
            </a:lvl8pPr>
            <a:lvl9pPr marL="3886200" indent="-228600" defTabSz="457200" eaLnBrk="0" fontAlgn="base" hangingPunct="0">
              <a:spcBef>
                <a:spcPct val="0"/>
              </a:spcBef>
              <a:spcAft>
                <a:spcPct val="0"/>
              </a:spcAft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400">
                <a:solidFill>
                  <a:schemeClr val="bg1"/>
                </a:solidFill>
                <a:latin typeface="Times New Roman" panose="02020603050405020304" pitchFamily="18" charset="0"/>
                <a:ea typeface="Lucida Sans Unicode" panose="020B0602030504020204" pitchFamily="34" charset="0"/>
                <a:cs typeface="Lucida Sans Unicode" panose="020B0602030504020204" pitchFamily="34" charset="0"/>
              </a:defRPr>
            </a:lvl9pPr>
          </a:lstStyle>
          <a:p>
            <a:pPr algn="ctr">
              <a:lnSpc>
                <a:spcPct val="95000"/>
              </a:lnSpc>
              <a:buClr>
                <a:srgbClr val="000000"/>
              </a:buClr>
              <a:buSzPct val="100000"/>
              <a:buFont typeface="Times New Roman" panose="02020603050405020304" pitchFamily="18" charset="0"/>
              <a:buNone/>
            </a:pPr>
            <a:r>
              <a:rPr lang="en-GB" dirty="0">
                <a:solidFill>
                  <a:schemeClr val="tx1"/>
                </a:solidFill>
              </a:rPr>
              <a:t>Claim</a:t>
            </a:r>
          </a:p>
          <a:p>
            <a:pPr algn="ctr">
              <a:lnSpc>
                <a:spcPct val="95000"/>
              </a:lnSpc>
              <a:buClr>
                <a:srgbClr val="000000"/>
              </a:buClr>
              <a:buSzPct val="100000"/>
              <a:buFont typeface="Times New Roman" panose="02020603050405020304" pitchFamily="18" charset="0"/>
              <a:buNone/>
            </a:pPr>
            <a:r>
              <a:rPr lang="en-GB" dirty="0">
                <a:solidFill>
                  <a:schemeClr val="tx1"/>
                </a:solidFill>
              </a:rPr>
              <a:t>edge</a:t>
            </a:r>
          </a:p>
        </p:txBody>
      </p:sp>
      <p:sp>
        <p:nvSpPr>
          <p:cNvPr id="22" name="Line 7"/>
          <p:cNvSpPr>
            <a:spLocks noChangeShapeType="1"/>
          </p:cNvSpPr>
          <p:nvPr/>
        </p:nvSpPr>
        <p:spPr bwMode="auto">
          <a:xfrm flipH="1" flipV="1">
            <a:off x="5580112" y="4365104"/>
            <a:ext cx="1146175" cy="460375"/>
          </a:xfrm>
          <a:prstGeom prst="line">
            <a:avLst/>
          </a:prstGeom>
          <a:noFill/>
          <a:ln w="9525">
            <a:solidFill>
              <a:schemeClr val="accent2"/>
            </a:solidFill>
            <a:rou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24" name="Slide Number Placeholder 2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t>97</a:t>
            </a:fld>
            <a:endParaRPr lang="en-US"/>
          </a:p>
        </p:txBody>
      </p:sp>
      <p:pic>
        <p:nvPicPr>
          <p:cNvPr id="2" name="Picture 1" descr="A black and red logo&#10;&#10;Description automatically generated">
            <a:extLst>
              <a:ext uri="{FF2B5EF4-FFF2-40B4-BE49-F238E27FC236}">
                <a16:creationId xmlns:a16="http://schemas.microsoft.com/office/drawing/2014/main" id="{F46DEB3C-12B8-79EE-A730-372D2A88ADBC}"/>
              </a:ext>
            </a:extLst>
          </p:cNvPr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-27384"/>
            <a:ext cx="1657350" cy="710452"/>
          </a:xfrm>
          <a:prstGeom prst="rect">
            <a:avLst/>
          </a:prstGeom>
        </p:spPr>
      </p:pic>
      <p:sp>
        <p:nvSpPr>
          <p:cNvPr id="3" name="Title 1">
            <a:extLst>
              <a:ext uri="{FF2B5EF4-FFF2-40B4-BE49-F238E27FC236}">
                <a16:creationId xmlns:a16="http://schemas.microsoft.com/office/drawing/2014/main" id="{651D739F-EFFB-581F-21DA-3D8AFBF2CB93}"/>
              </a:ext>
            </a:extLst>
          </p:cNvPr>
          <p:cNvSpPr txBox="1">
            <a:spLocks/>
          </p:cNvSpPr>
          <p:nvPr/>
        </p:nvSpPr>
        <p:spPr>
          <a:xfrm>
            <a:off x="2051720" y="44624"/>
            <a:ext cx="6432748" cy="514349"/>
          </a:xfrm>
          <a:prstGeom prst="rect">
            <a:avLst/>
          </a:prstGeom>
          <a:gradFill flip="none" rotWithShape="1">
            <a:gsLst>
              <a:gs pos="0">
                <a:srgbClr val="FF0000">
                  <a:tint val="66000"/>
                  <a:satMod val="160000"/>
                </a:srgbClr>
              </a:gs>
              <a:gs pos="50000">
                <a:srgbClr val="FF0000">
                  <a:tint val="44500"/>
                  <a:satMod val="160000"/>
                </a:srgbClr>
              </a:gs>
              <a:gs pos="100000">
                <a:srgbClr val="FF0000">
                  <a:tint val="23500"/>
                  <a:satMod val="160000"/>
                </a:srgbClr>
              </a:gs>
            </a:gsLst>
            <a:lin ang="0" scaled="1"/>
            <a:tileRect/>
          </a:gradFill>
        </p:spPr>
        <p:style>
          <a:lnRef idx="1">
            <a:schemeClr val="accent5"/>
          </a:lnRef>
          <a:fillRef idx="2">
            <a:schemeClr val="accent5"/>
          </a:fillRef>
          <a:effectRef idx="1">
            <a:schemeClr val="accent5"/>
          </a:effectRef>
          <a:fontRef idx="minor">
            <a:schemeClr val="dk1"/>
          </a:fontRef>
        </p:style>
        <p:txBody>
          <a:bodyPr vert="horz" lIns="68580" tIns="34290" rIns="68580" bIns="34290" rtlCol="0" anchor="ctr">
            <a:noAutofit/>
          </a:bodyPr>
          <a:lstStyle>
            <a:defPPr>
              <a:defRPr lang="en-US"/>
            </a:defPPr>
            <a:lvl1pPr algn="ctr">
              <a:spcBef>
                <a:spcPct val="0"/>
              </a:spcBef>
              <a:buNone/>
              <a:defRPr sz="2800"/>
            </a:lvl1pPr>
          </a:lstStyle>
          <a:p>
            <a:pPr>
              <a:defRPr/>
            </a:pPr>
            <a:r>
              <a:rPr lang="en-GB" sz="2400" dirty="0">
                <a:latin typeface="+mj-lt"/>
              </a:rPr>
              <a:t>Resource-Allocation Graph with Claim Edges</a:t>
            </a:r>
            <a:r>
              <a:rPr lang="en-IN" sz="2400" dirty="0">
                <a:latin typeface="+mj-lt"/>
              </a:rPr>
              <a:t>(CO3)</a:t>
            </a:r>
            <a:endParaRPr lang="en-US" sz="2100" dirty="0"/>
          </a:p>
        </p:txBody>
      </p:sp>
    </p:spTree>
  </p:cSld>
  <p:clrMapOvr>
    <a:masterClrMapping/>
  </p:clrMapOvr>
  <p:transition>
    <p:dissolve/>
  </p:transition>
</p:sld>
</file>

<file path=ppt/slides/slide9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B269F96-AB81-489C-BBA3-9DD555EE0A10}" type="datetime3">
              <a:rPr lang="en-US" smtClean="0"/>
              <a:t>1 September 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2514600" y="6356350"/>
            <a:ext cx="5181600" cy="365125"/>
          </a:xfrm>
        </p:spPr>
        <p:txBody>
          <a:bodyPr/>
          <a:lstStyle/>
          <a:p>
            <a:r>
              <a:rPr lang="en-US"/>
              <a:t>Atul Garg           BCSE0303            Unit- III</a:t>
            </a:r>
            <a:endParaRPr lang="en-US" dirty="0"/>
          </a:p>
        </p:txBody>
      </p:sp>
      <p:sp>
        <p:nvSpPr>
          <p:cNvPr id="12" name="Slide Number Placeholder 4"/>
          <p:cNvSpPr txBox="1"/>
          <p:nvPr/>
        </p:nvSpPr>
        <p:spPr>
          <a:xfrm>
            <a:off x="8613648" y="6305550"/>
            <a:ext cx="457200" cy="476250"/>
          </a:xfrm>
          <a:prstGeom prst="rect">
            <a:avLst/>
          </a:prstGeom>
        </p:spPr>
        <p:txBody>
          <a:bodyPr vert="horz" lIns="91440" tIns="45720" rIns="91440" bIns="45720" rtlCol="0" anchor="ctr"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schemeClr val="tx1">
                  <a:tint val="75000"/>
                </a:scheme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pic>
        <p:nvPicPr>
          <p:cNvPr id="14" name="Picture 2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3499" t="1407" r="13721" b="851"/>
          <a:stretch>
            <a:fillRect/>
          </a:stretch>
        </p:blipFill>
        <p:spPr bwMode="auto">
          <a:xfrm>
            <a:off x="2407072" y="1517272"/>
            <a:ext cx="4259263" cy="4289425"/>
          </a:xfrm>
          <a:prstGeom prst="rect">
            <a:avLst/>
          </a:prstGeom>
          <a:noFill/>
          <a:ln w="38160">
            <a:solidFill>
              <a:srgbClr val="CC6600"/>
            </a:solidFill>
            <a:miter lim="800000"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5" name="Text Box 3"/>
          <p:cNvSpPr txBox="1">
            <a:spLocks noChangeArrowheads="1"/>
          </p:cNvSpPr>
          <p:nvPr/>
        </p:nvSpPr>
        <p:spPr bwMode="auto">
          <a:xfrm>
            <a:off x="484807" y="1950841"/>
            <a:ext cx="1636713" cy="7762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tailEnd type="triangle" w="med" len="med"/>
              </a14:hiddenLine>
            </a:ext>
          </a:extLst>
        </p:spPr>
        <p:txBody>
          <a:bodyPr wrap="none" lIns="90000" tIns="45000" rIns="90000" bIns="45000"/>
          <a:lstStyle>
            <a:lvl1pPr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400">
                <a:solidFill>
                  <a:schemeClr val="bg1"/>
                </a:solidFill>
                <a:latin typeface="Times New Roman" panose="02020603050405020304" pitchFamily="18" charset="0"/>
                <a:ea typeface="Lucida Sans Unicode" panose="020B0602030504020204" pitchFamily="34" charset="0"/>
                <a:cs typeface="Lucida Sans Unicode" panose="020B0602030504020204" pitchFamily="34" charset="0"/>
              </a:defRPr>
            </a:lvl1pPr>
            <a:lvl2pPr marL="742950" indent="-285750"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400">
                <a:solidFill>
                  <a:schemeClr val="bg1"/>
                </a:solidFill>
                <a:latin typeface="Times New Roman" panose="02020603050405020304" pitchFamily="18" charset="0"/>
                <a:ea typeface="Lucida Sans Unicode" panose="020B0602030504020204" pitchFamily="34" charset="0"/>
                <a:cs typeface="Lucida Sans Unicode" panose="020B0602030504020204" pitchFamily="34" charset="0"/>
              </a:defRPr>
            </a:lvl2pPr>
            <a:lvl3pPr marL="1143000" indent="-228600"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400">
                <a:solidFill>
                  <a:schemeClr val="bg1"/>
                </a:solidFill>
                <a:latin typeface="Times New Roman" panose="02020603050405020304" pitchFamily="18" charset="0"/>
                <a:ea typeface="Lucida Sans Unicode" panose="020B0602030504020204" pitchFamily="34" charset="0"/>
                <a:cs typeface="Lucida Sans Unicode" panose="020B0602030504020204" pitchFamily="34" charset="0"/>
              </a:defRPr>
            </a:lvl3pPr>
            <a:lvl4pPr marL="1600200" indent="-228600"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400">
                <a:solidFill>
                  <a:schemeClr val="bg1"/>
                </a:solidFill>
                <a:latin typeface="Times New Roman" panose="02020603050405020304" pitchFamily="18" charset="0"/>
                <a:ea typeface="Lucida Sans Unicode" panose="020B0602030504020204" pitchFamily="34" charset="0"/>
                <a:cs typeface="Lucida Sans Unicode" panose="020B0602030504020204" pitchFamily="34" charset="0"/>
              </a:defRPr>
            </a:lvl4pPr>
            <a:lvl5pPr marL="2057400" indent="-228600"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400">
                <a:solidFill>
                  <a:schemeClr val="bg1"/>
                </a:solidFill>
                <a:latin typeface="Times New Roman" panose="02020603050405020304" pitchFamily="18" charset="0"/>
                <a:ea typeface="Lucida Sans Unicode" panose="020B0602030504020204" pitchFamily="34" charset="0"/>
                <a:cs typeface="Lucida Sans Unicode" panose="020B0602030504020204" pitchFamily="34" charset="0"/>
              </a:defRPr>
            </a:lvl5pPr>
            <a:lvl6pPr marL="2514600" indent="-228600" defTabSz="457200" eaLnBrk="0" fontAlgn="base" hangingPunct="0">
              <a:spcBef>
                <a:spcPct val="0"/>
              </a:spcBef>
              <a:spcAft>
                <a:spcPct val="0"/>
              </a:spcAft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400">
                <a:solidFill>
                  <a:schemeClr val="bg1"/>
                </a:solidFill>
                <a:latin typeface="Times New Roman" panose="02020603050405020304" pitchFamily="18" charset="0"/>
                <a:ea typeface="Lucida Sans Unicode" panose="020B0602030504020204" pitchFamily="34" charset="0"/>
                <a:cs typeface="Lucida Sans Unicode" panose="020B0602030504020204" pitchFamily="34" charset="0"/>
              </a:defRPr>
            </a:lvl6pPr>
            <a:lvl7pPr marL="2971800" indent="-228600" defTabSz="457200" eaLnBrk="0" fontAlgn="base" hangingPunct="0">
              <a:spcBef>
                <a:spcPct val="0"/>
              </a:spcBef>
              <a:spcAft>
                <a:spcPct val="0"/>
              </a:spcAft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400">
                <a:solidFill>
                  <a:schemeClr val="bg1"/>
                </a:solidFill>
                <a:latin typeface="Times New Roman" panose="02020603050405020304" pitchFamily="18" charset="0"/>
                <a:ea typeface="Lucida Sans Unicode" panose="020B0602030504020204" pitchFamily="34" charset="0"/>
                <a:cs typeface="Lucida Sans Unicode" panose="020B0602030504020204" pitchFamily="34" charset="0"/>
              </a:defRPr>
            </a:lvl7pPr>
            <a:lvl8pPr marL="3429000" indent="-228600" defTabSz="457200" eaLnBrk="0" fontAlgn="base" hangingPunct="0">
              <a:spcBef>
                <a:spcPct val="0"/>
              </a:spcBef>
              <a:spcAft>
                <a:spcPct val="0"/>
              </a:spcAft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400">
                <a:solidFill>
                  <a:schemeClr val="bg1"/>
                </a:solidFill>
                <a:latin typeface="Times New Roman" panose="02020603050405020304" pitchFamily="18" charset="0"/>
                <a:ea typeface="Lucida Sans Unicode" panose="020B0602030504020204" pitchFamily="34" charset="0"/>
                <a:cs typeface="Lucida Sans Unicode" panose="020B0602030504020204" pitchFamily="34" charset="0"/>
              </a:defRPr>
            </a:lvl8pPr>
            <a:lvl9pPr marL="3886200" indent="-228600" defTabSz="457200" eaLnBrk="0" fontAlgn="base" hangingPunct="0">
              <a:spcBef>
                <a:spcPct val="0"/>
              </a:spcBef>
              <a:spcAft>
                <a:spcPct val="0"/>
              </a:spcAft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400">
                <a:solidFill>
                  <a:schemeClr val="bg1"/>
                </a:solidFill>
                <a:latin typeface="Times New Roman" panose="02020603050405020304" pitchFamily="18" charset="0"/>
                <a:ea typeface="Lucida Sans Unicode" panose="020B0602030504020204" pitchFamily="34" charset="0"/>
                <a:cs typeface="Lucida Sans Unicode" panose="020B0602030504020204" pitchFamily="34" charset="0"/>
              </a:defRPr>
            </a:lvl9pPr>
          </a:lstStyle>
          <a:p>
            <a:pPr algn="ctr">
              <a:lnSpc>
                <a:spcPct val="95000"/>
              </a:lnSpc>
              <a:buClr>
                <a:srgbClr val="000000"/>
              </a:buClr>
              <a:buSzPct val="100000"/>
              <a:buFont typeface="Times New Roman" panose="02020603050405020304" pitchFamily="18" charset="0"/>
              <a:buNone/>
            </a:pPr>
            <a:r>
              <a:rPr lang="en-GB" dirty="0">
                <a:solidFill>
                  <a:srgbClr val="000000"/>
                </a:solidFill>
              </a:rPr>
              <a:t>Assignment</a:t>
            </a:r>
          </a:p>
          <a:p>
            <a:pPr algn="ctr">
              <a:lnSpc>
                <a:spcPct val="95000"/>
              </a:lnSpc>
              <a:buClr>
                <a:srgbClr val="000000"/>
              </a:buClr>
              <a:buSzPct val="100000"/>
              <a:buFont typeface="Times New Roman" panose="02020603050405020304" pitchFamily="18" charset="0"/>
              <a:buNone/>
            </a:pPr>
            <a:r>
              <a:rPr lang="en-GB" dirty="0">
                <a:solidFill>
                  <a:srgbClr val="000000"/>
                </a:solidFill>
              </a:rPr>
              <a:t>edge</a:t>
            </a:r>
          </a:p>
        </p:txBody>
      </p:sp>
      <p:sp>
        <p:nvSpPr>
          <p:cNvPr id="16" name="Text Box 4"/>
          <p:cNvSpPr txBox="1">
            <a:spLocks noChangeArrowheads="1"/>
          </p:cNvSpPr>
          <p:nvPr/>
        </p:nvSpPr>
        <p:spPr bwMode="auto">
          <a:xfrm>
            <a:off x="7092280" y="2212209"/>
            <a:ext cx="1163638" cy="7762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tailEnd type="triangle" w="med" len="med"/>
              </a14:hiddenLine>
            </a:ext>
          </a:extLst>
        </p:spPr>
        <p:txBody>
          <a:bodyPr wrap="none" lIns="90000" tIns="45000" rIns="90000" bIns="45000"/>
          <a:lstStyle>
            <a:lvl1pPr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400">
                <a:solidFill>
                  <a:schemeClr val="bg1"/>
                </a:solidFill>
                <a:latin typeface="Times New Roman" panose="02020603050405020304" pitchFamily="18" charset="0"/>
                <a:ea typeface="Lucida Sans Unicode" panose="020B0602030504020204" pitchFamily="34" charset="0"/>
                <a:cs typeface="Lucida Sans Unicode" panose="020B0602030504020204" pitchFamily="34" charset="0"/>
              </a:defRPr>
            </a:lvl1pPr>
            <a:lvl2pPr marL="742950" indent="-285750"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400">
                <a:solidFill>
                  <a:schemeClr val="bg1"/>
                </a:solidFill>
                <a:latin typeface="Times New Roman" panose="02020603050405020304" pitchFamily="18" charset="0"/>
                <a:ea typeface="Lucida Sans Unicode" panose="020B0602030504020204" pitchFamily="34" charset="0"/>
                <a:cs typeface="Lucida Sans Unicode" panose="020B0602030504020204" pitchFamily="34" charset="0"/>
              </a:defRPr>
            </a:lvl2pPr>
            <a:lvl3pPr marL="1143000" indent="-228600"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400">
                <a:solidFill>
                  <a:schemeClr val="bg1"/>
                </a:solidFill>
                <a:latin typeface="Times New Roman" panose="02020603050405020304" pitchFamily="18" charset="0"/>
                <a:ea typeface="Lucida Sans Unicode" panose="020B0602030504020204" pitchFamily="34" charset="0"/>
                <a:cs typeface="Lucida Sans Unicode" panose="020B0602030504020204" pitchFamily="34" charset="0"/>
              </a:defRPr>
            </a:lvl3pPr>
            <a:lvl4pPr marL="1600200" indent="-228600"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400">
                <a:solidFill>
                  <a:schemeClr val="bg1"/>
                </a:solidFill>
                <a:latin typeface="Times New Roman" panose="02020603050405020304" pitchFamily="18" charset="0"/>
                <a:ea typeface="Lucida Sans Unicode" panose="020B0602030504020204" pitchFamily="34" charset="0"/>
                <a:cs typeface="Lucida Sans Unicode" panose="020B0602030504020204" pitchFamily="34" charset="0"/>
              </a:defRPr>
            </a:lvl4pPr>
            <a:lvl5pPr marL="2057400" indent="-228600"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400">
                <a:solidFill>
                  <a:schemeClr val="bg1"/>
                </a:solidFill>
                <a:latin typeface="Times New Roman" panose="02020603050405020304" pitchFamily="18" charset="0"/>
                <a:ea typeface="Lucida Sans Unicode" panose="020B0602030504020204" pitchFamily="34" charset="0"/>
                <a:cs typeface="Lucida Sans Unicode" panose="020B0602030504020204" pitchFamily="34" charset="0"/>
              </a:defRPr>
            </a:lvl5pPr>
            <a:lvl6pPr marL="2514600" indent="-228600" defTabSz="457200" eaLnBrk="0" fontAlgn="base" hangingPunct="0">
              <a:spcBef>
                <a:spcPct val="0"/>
              </a:spcBef>
              <a:spcAft>
                <a:spcPct val="0"/>
              </a:spcAft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400">
                <a:solidFill>
                  <a:schemeClr val="bg1"/>
                </a:solidFill>
                <a:latin typeface="Times New Roman" panose="02020603050405020304" pitchFamily="18" charset="0"/>
                <a:ea typeface="Lucida Sans Unicode" panose="020B0602030504020204" pitchFamily="34" charset="0"/>
                <a:cs typeface="Lucida Sans Unicode" panose="020B0602030504020204" pitchFamily="34" charset="0"/>
              </a:defRPr>
            </a:lvl6pPr>
            <a:lvl7pPr marL="2971800" indent="-228600" defTabSz="457200" eaLnBrk="0" fontAlgn="base" hangingPunct="0">
              <a:spcBef>
                <a:spcPct val="0"/>
              </a:spcBef>
              <a:spcAft>
                <a:spcPct val="0"/>
              </a:spcAft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400">
                <a:solidFill>
                  <a:schemeClr val="bg1"/>
                </a:solidFill>
                <a:latin typeface="Times New Roman" panose="02020603050405020304" pitchFamily="18" charset="0"/>
                <a:ea typeface="Lucida Sans Unicode" panose="020B0602030504020204" pitchFamily="34" charset="0"/>
                <a:cs typeface="Lucida Sans Unicode" panose="020B0602030504020204" pitchFamily="34" charset="0"/>
              </a:defRPr>
            </a:lvl7pPr>
            <a:lvl8pPr marL="3429000" indent="-228600" defTabSz="457200" eaLnBrk="0" fontAlgn="base" hangingPunct="0">
              <a:spcBef>
                <a:spcPct val="0"/>
              </a:spcBef>
              <a:spcAft>
                <a:spcPct val="0"/>
              </a:spcAft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400">
                <a:solidFill>
                  <a:schemeClr val="bg1"/>
                </a:solidFill>
                <a:latin typeface="Times New Roman" panose="02020603050405020304" pitchFamily="18" charset="0"/>
                <a:ea typeface="Lucida Sans Unicode" panose="020B0602030504020204" pitchFamily="34" charset="0"/>
                <a:cs typeface="Lucida Sans Unicode" panose="020B0602030504020204" pitchFamily="34" charset="0"/>
              </a:defRPr>
            </a:lvl8pPr>
            <a:lvl9pPr marL="3886200" indent="-228600" defTabSz="457200" eaLnBrk="0" fontAlgn="base" hangingPunct="0">
              <a:spcBef>
                <a:spcPct val="0"/>
              </a:spcBef>
              <a:spcAft>
                <a:spcPct val="0"/>
              </a:spcAft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400">
                <a:solidFill>
                  <a:schemeClr val="bg1"/>
                </a:solidFill>
                <a:latin typeface="Times New Roman" panose="02020603050405020304" pitchFamily="18" charset="0"/>
                <a:ea typeface="Lucida Sans Unicode" panose="020B0602030504020204" pitchFamily="34" charset="0"/>
                <a:cs typeface="Lucida Sans Unicode" panose="020B0602030504020204" pitchFamily="34" charset="0"/>
              </a:defRPr>
            </a:lvl9pPr>
          </a:lstStyle>
          <a:p>
            <a:pPr algn="ctr">
              <a:lnSpc>
                <a:spcPct val="95000"/>
              </a:lnSpc>
              <a:buClr>
                <a:srgbClr val="000000"/>
              </a:buClr>
              <a:buSzPct val="100000"/>
              <a:buFont typeface="Times New Roman" panose="02020603050405020304" pitchFamily="18" charset="0"/>
              <a:buNone/>
            </a:pPr>
            <a:r>
              <a:rPr lang="en-GB" dirty="0">
                <a:solidFill>
                  <a:srgbClr val="000000"/>
                </a:solidFill>
              </a:rPr>
              <a:t>Request</a:t>
            </a:r>
          </a:p>
          <a:p>
            <a:pPr algn="ctr">
              <a:lnSpc>
                <a:spcPct val="95000"/>
              </a:lnSpc>
              <a:buClr>
                <a:srgbClr val="000000"/>
              </a:buClr>
              <a:buSzPct val="100000"/>
              <a:buFont typeface="Times New Roman" panose="02020603050405020304" pitchFamily="18" charset="0"/>
              <a:buNone/>
            </a:pPr>
            <a:r>
              <a:rPr lang="en-GB" dirty="0">
                <a:solidFill>
                  <a:srgbClr val="000000"/>
                </a:solidFill>
              </a:rPr>
              <a:t>edge</a:t>
            </a:r>
          </a:p>
        </p:txBody>
      </p:sp>
      <p:sp>
        <p:nvSpPr>
          <p:cNvPr id="17" name="Text Box 5"/>
          <p:cNvSpPr txBox="1">
            <a:spLocks noChangeArrowheads="1"/>
          </p:cNvSpPr>
          <p:nvPr/>
        </p:nvSpPr>
        <p:spPr bwMode="auto">
          <a:xfrm>
            <a:off x="7015584" y="4300440"/>
            <a:ext cx="1636713" cy="7762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tailEnd type="triangle" w="med" len="med"/>
              </a14:hiddenLine>
            </a:ext>
          </a:extLst>
        </p:spPr>
        <p:txBody>
          <a:bodyPr wrap="none" lIns="90000" tIns="45000" rIns="90000" bIns="45000"/>
          <a:lstStyle>
            <a:lvl1pPr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400">
                <a:solidFill>
                  <a:schemeClr val="bg1"/>
                </a:solidFill>
                <a:latin typeface="Times New Roman" panose="02020603050405020304" pitchFamily="18" charset="0"/>
                <a:ea typeface="Lucida Sans Unicode" panose="020B0602030504020204" pitchFamily="34" charset="0"/>
                <a:cs typeface="Lucida Sans Unicode" panose="020B0602030504020204" pitchFamily="34" charset="0"/>
              </a:defRPr>
            </a:lvl1pPr>
            <a:lvl2pPr marL="742950" indent="-285750"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400">
                <a:solidFill>
                  <a:schemeClr val="bg1"/>
                </a:solidFill>
                <a:latin typeface="Times New Roman" panose="02020603050405020304" pitchFamily="18" charset="0"/>
                <a:ea typeface="Lucida Sans Unicode" panose="020B0602030504020204" pitchFamily="34" charset="0"/>
                <a:cs typeface="Lucida Sans Unicode" panose="020B0602030504020204" pitchFamily="34" charset="0"/>
              </a:defRPr>
            </a:lvl2pPr>
            <a:lvl3pPr marL="1143000" indent="-228600"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400">
                <a:solidFill>
                  <a:schemeClr val="bg1"/>
                </a:solidFill>
                <a:latin typeface="Times New Roman" panose="02020603050405020304" pitchFamily="18" charset="0"/>
                <a:ea typeface="Lucida Sans Unicode" panose="020B0602030504020204" pitchFamily="34" charset="0"/>
                <a:cs typeface="Lucida Sans Unicode" panose="020B0602030504020204" pitchFamily="34" charset="0"/>
              </a:defRPr>
            </a:lvl3pPr>
            <a:lvl4pPr marL="1600200" indent="-228600"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400">
                <a:solidFill>
                  <a:schemeClr val="bg1"/>
                </a:solidFill>
                <a:latin typeface="Times New Roman" panose="02020603050405020304" pitchFamily="18" charset="0"/>
                <a:ea typeface="Lucida Sans Unicode" panose="020B0602030504020204" pitchFamily="34" charset="0"/>
                <a:cs typeface="Lucida Sans Unicode" panose="020B0602030504020204" pitchFamily="34" charset="0"/>
              </a:defRPr>
            </a:lvl4pPr>
            <a:lvl5pPr marL="2057400" indent="-228600"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400">
                <a:solidFill>
                  <a:schemeClr val="bg1"/>
                </a:solidFill>
                <a:latin typeface="Times New Roman" panose="02020603050405020304" pitchFamily="18" charset="0"/>
                <a:ea typeface="Lucida Sans Unicode" panose="020B0602030504020204" pitchFamily="34" charset="0"/>
                <a:cs typeface="Lucida Sans Unicode" panose="020B0602030504020204" pitchFamily="34" charset="0"/>
              </a:defRPr>
            </a:lvl5pPr>
            <a:lvl6pPr marL="2514600" indent="-228600" defTabSz="457200" eaLnBrk="0" fontAlgn="base" hangingPunct="0">
              <a:spcBef>
                <a:spcPct val="0"/>
              </a:spcBef>
              <a:spcAft>
                <a:spcPct val="0"/>
              </a:spcAft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400">
                <a:solidFill>
                  <a:schemeClr val="bg1"/>
                </a:solidFill>
                <a:latin typeface="Times New Roman" panose="02020603050405020304" pitchFamily="18" charset="0"/>
                <a:ea typeface="Lucida Sans Unicode" panose="020B0602030504020204" pitchFamily="34" charset="0"/>
                <a:cs typeface="Lucida Sans Unicode" panose="020B0602030504020204" pitchFamily="34" charset="0"/>
              </a:defRPr>
            </a:lvl6pPr>
            <a:lvl7pPr marL="2971800" indent="-228600" defTabSz="457200" eaLnBrk="0" fontAlgn="base" hangingPunct="0">
              <a:spcBef>
                <a:spcPct val="0"/>
              </a:spcBef>
              <a:spcAft>
                <a:spcPct val="0"/>
              </a:spcAft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400">
                <a:solidFill>
                  <a:schemeClr val="bg1"/>
                </a:solidFill>
                <a:latin typeface="Times New Roman" panose="02020603050405020304" pitchFamily="18" charset="0"/>
                <a:ea typeface="Lucida Sans Unicode" panose="020B0602030504020204" pitchFamily="34" charset="0"/>
                <a:cs typeface="Lucida Sans Unicode" panose="020B0602030504020204" pitchFamily="34" charset="0"/>
              </a:defRPr>
            </a:lvl7pPr>
            <a:lvl8pPr marL="3429000" indent="-228600" defTabSz="457200" eaLnBrk="0" fontAlgn="base" hangingPunct="0">
              <a:spcBef>
                <a:spcPct val="0"/>
              </a:spcBef>
              <a:spcAft>
                <a:spcPct val="0"/>
              </a:spcAft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400">
                <a:solidFill>
                  <a:schemeClr val="bg1"/>
                </a:solidFill>
                <a:latin typeface="Times New Roman" panose="02020603050405020304" pitchFamily="18" charset="0"/>
                <a:ea typeface="Lucida Sans Unicode" panose="020B0602030504020204" pitchFamily="34" charset="0"/>
                <a:cs typeface="Lucida Sans Unicode" panose="020B0602030504020204" pitchFamily="34" charset="0"/>
              </a:defRPr>
            </a:lvl8pPr>
            <a:lvl9pPr marL="3886200" indent="-228600" defTabSz="457200" eaLnBrk="0" fontAlgn="base" hangingPunct="0">
              <a:spcBef>
                <a:spcPct val="0"/>
              </a:spcBef>
              <a:spcAft>
                <a:spcPct val="0"/>
              </a:spcAft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400">
                <a:solidFill>
                  <a:schemeClr val="bg1"/>
                </a:solidFill>
                <a:latin typeface="Times New Roman" panose="02020603050405020304" pitchFamily="18" charset="0"/>
                <a:ea typeface="Lucida Sans Unicode" panose="020B0602030504020204" pitchFamily="34" charset="0"/>
                <a:cs typeface="Lucida Sans Unicode" panose="020B0602030504020204" pitchFamily="34" charset="0"/>
              </a:defRPr>
            </a:lvl9pPr>
          </a:lstStyle>
          <a:p>
            <a:pPr algn="ctr">
              <a:lnSpc>
                <a:spcPct val="95000"/>
              </a:lnSpc>
              <a:buClr>
                <a:srgbClr val="000000"/>
              </a:buClr>
              <a:buSzPct val="100000"/>
              <a:buFont typeface="Times New Roman" panose="02020603050405020304" pitchFamily="18" charset="0"/>
              <a:buNone/>
            </a:pPr>
            <a:r>
              <a:rPr lang="en-GB" dirty="0">
                <a:solidFill>
                  <a:schemeClr val="tx1"/>
                </a:solidFill>
              </a:rPr>
              <a:t>Assignment</a:t>
            </a:r>
          </a:p>
          <a:p>
            <a:pPr algn="ctr">
              <a:lnSpc>
                <a:spcPct val="95000"/>
              </a:lnSpc>
              <a:buClr>
                <a:srgbClr val="000000"/>
              </a:buClr>
              <a:buSzPct val="100000"/>
              <a:buFont typeface="Times New Roman" panose="02020603050405020304" pitchFamily="18" charset="0"/>
              <a:buNone/>
            </a:pPr>
            <a:r>
              <a:rPr lang="en-GB" dirty="0">
                <a:solidFill>
                  <a:schemeClr val="tx1"/>
                </a:solidFill>
              </a:rPr>
              <a:t>edge</a:t>
            </a:r>
          </a:p>
        </p:txBody>
      </p:sp>
      <p:sp>
        <p:nvSpPr>
          <p:cNvPr id="18" name="Line 6"/>
          <p:cNvSpPr>
            <a:spLocks noChangeShapeType="1"/>
          </p:cNvSpPr>
          <p:nvPr/>
        </p:nvSpPr>
        <p:spPr bwMode="auto">
          <a:xfrm flipH="1">
            <a:off x="5652120" y="2636912"/>
            <a:ext cx="1374775" cy="228600"/>
          </a:xfrm>
          <a:prstGeom prst="line">
            <a:avLst/>
          </a:prstGeom>
          <a:noFill/>
          <a:ln w="9525">
            <a:solidFill>
              <a:srgbClr val="000000"/>
            </a:solidFill>
            <a:rou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9" name="Line 7"/>
          <p:cNvSpPr>
            <a:spLocks noChangeShapeType="1"/>
          </p:cNvSpPr>
          <p:nvPr/>
        </p:nvSpPr>
        <p:spPr bwMode="auto">
          <a:xfrm flipH="1" flipV="1">
            <a:off x="5863456" y="4068616"/>
            <a:ext cx="1146175" cy="460375"/>
          </a:xfrm>
          <a:prstGeom prst="line">
            <a:avLst/>
          </a:prstGeom>
          <a:noFill/>
          <a:ln w="9525">
            <a:solidFill>
              <a:schemeClr val="accent2"/>
            </a:solidFill>
            <a:rou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20" name="Line 8"/>
          <p:cNvSpPr>
            <a:spLocks noChangeShapeType="1"/>
          </p:cNvSpPr>
          <p:nvPr/>
        </p:nvSpPr>
        <p:spPr bwMode="auto">
          <a:xfrm>
            <a:off x="2195736" y="2348880"/>
            <a:ext cx="1371600" cy="228600"/>
          </a:xfrm>
          <a:prstGeom prst="line">
            <a:avLst/>
          </a:prstGeom>
          <a:noFill/>
          <a:ln w="9525">
            <a:solidFill>
              <a:srgbClr val="000000"/>
            </a:solidFill>
            <a:rou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21" name="Text Box 4"/>
          <p:cNvSpPr txBox="1">
            <a:spLocks noChangeArrowheads="1"/>
          </p:cNvSpPr>
          <p:nvPr/>
        </p:nvSpPr>
        <p:spPr bwMode="auto">
          <a:xfrm>
            <a:off x="1123107" y="4617841"/>
            <a:ext cx="923925" cy="7762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tailEnd type="triangle" w="med" len="med"/>
              </a14:hiddenLine>
            </a:ext>
          </a:extLst>
        </p:spPr>
        <p:txBody>
          <a:bodyPr wrap="none" lIns="90000" tIns="45000" rIns="90000" bIns="45000"/>
          <a:lstStyle>
            <a:lvl1pPr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400">
                <a:solidFill>
                  <a:schemeClr val="bg1"/>
                </a:solidFill>
                <a:latin typeface="Times New Roman" panose="02020603050405020304" pitchFamily="18" charset="0"/>
                <a:ea typeface="Lucida Sans Unicode" panose="020B0602030504020204" pitchFamily="34" charset="0"/>
                <a:cs typeface="Lucida Sans Unicode" panose="020B0602030504020204" pitchFamily="34" charset="0"/>
              </a:defRPr>
            </a:lvl1pPr>
            <a:lvl2pPr marL="742950" indent="-285750"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400">
                <a:solidFill>
                  <a:schemeClr val="bg1"/>
                </a:solidFill>
                <a:latin typeface="Times New Roman" panose="02020603050405020304" pitchFamily="18" charset="0"/>
                <a:ea typeface="Lucida Sans Unicode" panose="020B0602030504020204" pitchFamily="34" charset="0"/>
                <a:cs typeface="Lucida Sans Unicode" panose="020B0602030504020204" pitchFamily="34" charset="0"/>
              </a:defRPr>
            </a:lvl2pPr>
            <a:lvl3pPr marL="1143000" indent="-228600"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400">
                <a:solidFill>
                  <a:schemeClr val="bg1"/>
                </a:solidFill>
                <a:latin typeface="Times New Roman" panose="02020603050405020304" pitchFamily="18" charset="0"/>
                <a:ea typeface="Lucida Sans Unicode" panose="020B0602030504020204" pitchFamily="34" charset="0"/>
                <a:cs typeface="Lucida Sans Unicode" panose="020B0602030504020204" pitchFamily="34" charset="0"/>
              </a:defRPr>
            </a:lvl3pPr>
            <a:lvl4pPr marL="1600200" indent="-228600"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400">
                <a:solidFill>
                  <a:schemeClr val="bg1"/>
                </a:solidFill>
                <a:latin typeface="Times New Roman" panose="02020603050405020304" pitchFamily="18" charset="0"/>
                <a:ea typeface="Lucida Sans Unicode" panose="020B0602030504020204" pitchFamily="34" charset="0"/>
                <a:cs typeface="Lucida Sans Unicode" panose="020B0602030504020204" pitchFamily="34" charset="0"/>
              </a:defRPr>
            </a:lvl4pPr>
            <a:lvl5pPr marL="2057400" indent="-228600"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400">
                <a:solidFill>
                  <a:schemeClr val="bg1"/>
                </a:solidFill>
                <a:latin typeface="Times New Roman" panose="02020603050405020304" pitchFamily="18" charset="0"/>
                <a:ea typeface="Lucida Sans Unicode" panose="020B0602030504020204" pitchFamily="34" charset="0"/>
                <a:cs typeface="Lucida Sans Unicode" panose="020B0602030504020204" pitchFamily="34" charset="0"/>
              </a:defRPr>
            </a:lvl5pPr>
            <a:lvl6pPr marL="2514600" indent="-228600" defTabSz="457200" eaLnBrk="0" fontAlgn="base" hangingPunct="0">
              <a:spcBef>
                <a:spcPct val="0"/>
              </a:spcBef>
              <a:spcAft>
                <a:spcPct val="0"/>
              </a:spcAft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400">
                <a:solidFill>
                  <a:schemeClr val="bg1"/>
                </a:solidFill>
                <a:latin typeface="Times New Roman" panose="02020603050405020304" pitchFamily="18" charset="0"/>
                <a:ea typeface="Lucida Sans Unicode" panose="020B0602030504020204" pitchFamily="34" charset="0"/>
                <a:cs typeface="Lucida Sans Unicode" panose="020B0602030504020204" pitchFamily="34" charset="0"/>
              </a:defRPr>
            </a:lvl6pPr>
            <a:lvl7pPr marL="2971800" indent="-228600" defTabSz="457200" eaLnBrk="0" fontAlgn="base" hangingPunct="0">
              <a:spcBef>
                <a:spcPct val="0"/>
              </a:spcBef>
              <a:spcAft>
                <a:spcPct val="0"/>
              </a:spcAft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400">
                <a:solidFill>
                  <a:schemeClr val="bg1"/>
                </a:solidFill>
                <a:latin typeface="Times New Roman" panose="02020603050405020304" pitchFamily="18" charset="0"/>
                <a:ea typeface="Lucida Sans Unicode" panose="020B0602030504020204" pitchFamily="34" charset="0"/>
                <a:cs typeface="Lucida Sans Unicode" panose="020B0602030504020204" pitchFamily="34" charset="0"/>
              </a:defRPr>
            </a:lvl7pPr>
            <a:lvl8pPr marL="3429000" indent="-228600" defTabSz="457200" eaLnBrk="0" fontAlgn="base" hangingPunct="0">
              <a:spcBef>
                <a:spcPct val="0"/>
              </a:spcBef>
              <a:spcAft>
                <a:spcPct val="0"/>
              </a:spcAft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400">
                <a:solidFill>
                  <a:schemeClr val="bg1"/>
                </a:solidFill>
                <a:latin typeface="Times New Roman" panose="02020603050405020304" pitchFamily="18" charset="0"/>
                <a:ea typeface="Lucida Sans Unicode" panose="020B0602030504020204" pitchFamily="34" charset="0"/>
                <a:cs typeface="Lucida Sans Unicode" panose="020B0602030504020204" pitchFamily="34" charset="0"/>
              </a:defRPr>
            </a:lvl8pPr>
            <a:lvl9pPr marL="3886200" indent="-228600" defTabSz="457200" eaLnBrk="0" fontAlgn="base" hangingPunct="0">
              <a:spcBef>
                <a:spcPct val="0"/>
              </a:spcBef>
              <a:spcAft>
                <a:spcPct val="0"/>
              </a:spcAft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400">
                <a:solidFill>
                  <a:schemeClr val="bg1"/>
                </a:solidFill>
                <a:latin typeface="Times New Roman" panose="02020603050405020304" pitchFamily="18" charset="0"/>
                <a:ea typeface="Lucida Sans Unicode" panose="020B0602030504020204" pitchFamily="34" charset="0"/>
                <a:cs typeface="Lucida Sans Unicode" panose="020B0602030504020204" pitchFamily="34" charset="0"/>
              </a:defRPr>
            </a:lvl9pPr>
          </a:lstStyle>
          <a:p>
            <a:pPr algn="ctr">
              <a:lnSpc>
                <a:spcPct val="95000"/>
              </a:lnSpc>
              <a:buClr>
                <a:srgbClr val="000000"/>
              </a:buClr>
              <a:buSzPct val="100000"/>
              <a:buFont typeface="Times New Roman" panose="02020603050405020304" pitchFamily="18" charset="0"/>
              <a:buNone/>
            </a:pPr>
            <a:r>
              <a:rPr lang="en-GB" dirty="0">
                <a:solidFill>
                  <a:srgbClr val="000000"/>
                </a:solidFill>
              </a:rPr>
              <a:t>Claim</a:t>
            </a:r>
          </a:p>
          <a:p>
            <a:pPr algn="ctr">
              <a:lnSpc>
                <a:spcPct val="95000"/>
              </a:lnSpc>
              <a:buClr>
                <a:srgbClr val="000000"/>
              </a:buClr>
              <a:buSzPct val="100000"/>
              <a:buFont typeface="Times New Roman" panose="02020603050405020304" pitchFamily="18" charset="0"/>
              <a:buNone/>
            </a:pPr>
            <a:r>
              <a:rPr lang="en-GB" dirty="0">
                <a:solidFill>
                  <a:srgbClr val="000000"/>
                </a:solidFill>
              </a:rPr>
              <a:t>edge</a:t>
            </a:r>
          </a:p>
        </p:txBody>
      </p:sp>
      <p:sp>
        <p:nvSpPr>
          <p:cNvPr id="22" name="Line 6"/>
          <p:cNvSpPr>
            <a:spLocks noChangeShapeType="1"/>
          </p:cNvSpPr>
          <p:nvPr/>
        </p:nvSpPr>
        <p:spPr bwMode="auto">
          <a:xfrm flipV="1">
            <a:off x="2047032" y="4212632"/>
            <a:ext cx="1292225" cy="612775"/>
          </a:xfrm>
          <a:prstGeom prst="line">
            <a:avLst/>
          </a:prstGeom>
          <a:noFill/>
          <a:ln w="9525">
            <a:solidFill>
              <a:srgbClr val="000000"/>
            </a:solidFill>
            <a:rou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24" name="Slide Number Placeholder 2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t>98</a:t>
            </a:fld>
            <a:endParaRPr lang="en-US"/>
          </a:p>
        </p:txBody>
      </p:sp>
      <p:pic>
        <p:nvPicPr>
          <p:cNvPr id="2" name="Picture 1" descr="A black and red logo&#10;&#10;Description automatically generated">
            <a:extLst>
              <a:ext uri="{FF2B5EF4-FFF2-40B4-BE49-F238E27FC236}">
                <a16:creationId xmlns:a16="http://schemas.microsoft.com/office/drawing/2014/main" id="{EED2C39B-9B5D-4EBB-A874-A82453EAACBC}"/>
              </a:ext>
            </a:extLst>
          </p:cNvPr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-27384"/>
            <a:ext cx="1657350" cy="710452"/>
          </a:xfrm>
          <a:prstGeom prst="rect">
            <a:avLst/>
          </a:prstGeom>
        </p:spPr>
      </p:pic>
      <p:sp>
        <p:nvSpPr>
          <p:cNvPr id="3" name="Title 1">
            <a:extLst>
              <a:ext uri="{FF2B5EF4-FFF2-40B4-BE49-F238E27FC236}">
                <a16:creationId xmlns:a16="http://schemas.microsoft.com/office/drawing/2014/main" id="{60660E15-0824-C12C-71FB-2B2D0986F34E}"/>
              </a:ext>
            </a:extLst>
          </p:cNvPr>
          <p:cNvSpPr txBox="1">
            <a:spLocks/>
          </p:cNvSpPr>
          <p:nvPr/>
        </p:nvSpPr>
        <p:spPr>
          <a:xfrm>
            <a:off x="2171700" y="44624"/>
            <a:ext cx="6288732" cy="514349"/>
          </a:xfrm>
          <a:prstGeom prst="rect">
            <a:avLst/>
          </a:prstGeom>
          <a:gradFill flip="none" rotWithShape="1">
            <a:gsLst>
              <a:gs pos="0">
                <a:srgbClr val="FF0000">
                  <a:tint val="66000"/>
                  <a:satMod val="160000"/>
                </a:srgbClr>
              </a:gs>
              <a:gs pos="50000">
                <a:srgbClr val="FF0000">
                  <a:tint val="44500"/>
                  <a:satMod val="160000"/>
                </a:srgbClr>
              </a:gs>
              <a:gs pos="100000">
                <a:srgbClr val="FF0000">
                  <a:tint val="23500"/>
                  <a:satMod val="160000"/>
                </a:srgbClr>
              </a:gs>
            </a:gsLst>
            <a:lin ang="0" scaled="1"/>
            <a:tileRect/>
          </a:gradFill>
        </p:spPr>
        <p:style>
          <a:lnRef idx="1">
            <a:schemeClr val="accent5"/>
          </a:lnRef>
          <a:fillRef idx="2">
            <a:schemeClr val="accent5"/>
          </a:fillRef>
          <a:effectRef idx="1">
            <a:schemeClr val="accent5"/>
          </a:effectRef>
          <a:fontRef idx="minor">
            <a:schemeClr val="dk1"/>
          </a:fontRef>
        </p:style>
        <p:txBody>
          <a:bodyPr vert="horz" lIns="68580" tIns="34290" rIns="68580" bIns="34290" rtlCol="0" anchor="ctr">
            <a:noAutofit/>
          </a:bodyPr>
          <a:lstStyle>
            <a:defPPr>
              <a:defRPr lang="en-US"/>
            </a:defPPr>
            <a:lvl1pPr algn="ctr">
              <a:spcBef>
                <a:spcPct val="0"/>
              </a:spcBef>
              <a:buNone/>
              <a:defRPr sz="2800"/>
            </a:lvl1pPr>
          </a:lstStyle>
          <a:p>
            <a:pPr>
              <a:defRPr/>
            </a:pPr>
            <a:r>
              <a:rPr lang="en-GB" sz="2400" dirty="0"/>
              <a:t>Unsafe State In Resource-Allocation Graph</a:t>
            </a:r>
            <a:r>
              <a:rPr lang="en-IN" sz="2400" dirty="0"/>
              <a:t> (CO3)</a:t>
            </a:r>
            <a:endParaRPr lang="en-US" sz="2100" dirty="0"/>
          </a:p>
        </p:txBody>
      </p:sp>
    </p:spTree>
  </p:cSld>
  <p:clrMapOvr>
    <a:masterClrMapping/>
  </p:clrMapOvr>
  <p:transition>
    <p:dissolve/>
  </p:transition>
</p:sld>
</file>

<file path=ppt/slides/slide9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2900F31-280E-43DE-BD0E-6B62D2414449}" type="datetime3">
              <a:rPr lang="en-US" smtClean="0"/>
              <a:t>1 September 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2514600" y="6356350"/>
            <a:ext cx="5181600" cy="365125"/>
          </a:xfrm>
        </p:spPr>
        <p:txBody>
          <a:bodyPr/>
          <a:lstStyle/>
          <a:p>
            <a:r>
              <a:rPr lang="en-US"/>
              <a:t>Atul Garg           BCSE0303            Unit- III</a:t>
            </a:r>
            <a:endParaRPr lang="en-US" dirty="0"/>
          </a:p>
        </p:txBody>
      </p:sp>
      <p:sp>
        <p:nvSpPr>
          <p:cNvPr id="10" name="Rectangle 9"/>
          <p:cNvSpPr/>
          <p:nvPr/>
        </p:nvSpPr>
        <p:spPr>
          <a:xfrm>
            <a:off x="899592" y="764704"/>
            <a:ext cx="7920880" cy="309315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  <a:buFont typeface="Arial" panose="020B0604020202020204" pitchFamily="34" charset="0"/>
              <a:buChar char="•"/>
              <a:tabLst>
                <a:tab pos="911225" algn="l"/>
                <a:tab pos="1825625" algn="l"/>
                <a:tab pos="2740025" algn="l"/>
                <a:tab pos="3654425" algn="l"/>
                <a:tab pos="4568825" algn="l"/>
                <a:tab pos="5483225" algn="l"/>
                <a:tab pos="6397625" algn="l"/>
                <a:tab pos="7312025" algn="l"/>
                <a:tab pos="8226425" algn="l"/>
                <a:tab pos="9140825" algn="l"/>
                <a:tab pos="10055225" algn="l"/>
              </a:tabLst>
            </a:pPr>
            <a:r>
              <a:rPr lang="en-GB" sz="2600" dirty="0">
                <a:ea typeface="Lucida Sans Unicode" panose="020B0602030504020204" pitchFamily="34" charset="0"/>
              </a:rPr>
              <a:t>Suppose that process</a:t>
            </a:r>
            <a:r>
              <a:rPr lang="en-GB" sz="2600" i="1" dirty="0">
                <a:ea typeface="Lucida Sans Unicode" panose="020B0602030504020204" pitchFamily="34" charset="0"/>
              </a:rPr>
              <a:t> P</a:t>
            </a:r>
            <a:r>
              <a:rPr lang="en-GB" sz="2600" i="1" baseline="-25000" dirty="0">
                <a:ea typeface="Lucida Sans Unicode" panose="020B0602030504020204" pitchFamily="34" charset="0"/>
              </a:rPr>
              <a:t>i</a:t>
            </a:r>
            <a:r>
              <a:rPr lang="en-GB" sz="2600" dirty="0">
                <a:ea typeface="Lucida Sans Unicode" panose="020B0602030504020204" pitchFamily="34" charset="0"/>
              </a:rPr>
              <a:t> requests a resource </a:t>
            </a:r>
            <a:r>
              <a:rPr lang="en-GB" sz="2600" i="1" dirty="0" err="1">
                <a:ea typeface="Lucida Sans Unicode" panose="020B0602030504020204" pitchFamily="34" charset="0"/>
              </a:rPr>
              <a:t>R</a:t>
            </a:r>
            <a:r>
              <a:rPr lang="en-GB" sz="2600" i="1" baseline="-25000" dirty="0" err="1">
                <a:ea typeface="Lucida Sans Unicode" panose="020B0602030504020204" pitchFamily="34" charset="0"/>
              </a:rPr>
              <a:t>j</a:t>
            </a:r>
            <a:endParaRPr lang="en-GB" sz="2600" i="1" baseline="-25000" dirty="0">
              <a:ea typeface="Lucida Sans Unicode" panose="020B0602030504020204" pitchFamily="34" charset="0"/>
            </a:endParaRPr>
          </a:p>
          <a:p>
            <a:pPr algn="just">
              <a:lnSpc>
                <a:spcPct val="150000"/>
              </a:lnSpc>
              <a:buFont typeface="Arial" panose="020B0604020202020204" pitchFamily="34" charset="0"/>
              <a:buChar char="•"/>
              <a:tabLst>
                <a:tab pos="911225" algn="l"/>
                <a:tab pos="1825625" algn="l"/>
                <a:tab pos="2740025" algn="l"/>
                <a:tab pos="3654425" algn="l"/>
                <a:tab pos="4568825" algn="l"/>
                <a:tab pos="5483225" algn="l"/>
                <a:tab pos="6397625" algn="l"/>
                <a:tab pos="7312025" algn="l"/>
                <a:tab pos="8226425" algn="l"/>
                <a:tab pos="9140825" algn="l"/>
                <a:tab pos="10055225" algn="l"/>
              </a:tabLst>
            </a:pPr>
            <a:r>
              <a:rPr lang="en-GB" sz="2600" dirty="0">
                <a:ea typeface="Lucida Sans Unicode" panose="020B0602030504020204" pitchFamily="34" charset="0"/>
              </a:rPr>
              <a:t>The request can be granted only if converting the </a:t>
            </a:r>
            <a:r>
              <a:rPr lang="en-GB" sz="2600" u="sng" dirty="0">
                <a:ea typeface="Lucida Sans Unicode" panose="020B0602030504020204" pitchFamily="34" charset="0"/>
              </a:rPr>
              <a:t>request edge</a:t>
            </a:r>
            <a:r>
              <a:rPr lang="en-GB" sz="2600" dirty="0">
                <a:ea typeface="Lucida Sans Unicode" panose="020B0602030504020204" pitchFamily="34" charset="0"/>
              </a:rPr>
              <a:t> to an </a:t>
            </a:r>
            <a:r>
              <a:rPr lang="en-GB" sz="2600" u="sng" dirty="0">
                <a:ea typeface="Lucida Sans Unicode" panose="020B0602030504020204" pitchFamily="34" charset="0"/>
              </a:rPr>
              <a:t>assignment edge</a:t>
            </a:r>
            <a:r>
              <a:rPr lang="en-GB" sz="2600" dirty="0">
                <a:ea typeface="Lucida Sans Unicode" panose="020B0602030504020204" pitchFamily="34" charset="0"/>
              </a:rPr>
              <a:t> does not result in the formation of a </a:t>
            </a:r>
            <a:r>
              <a:rPr lang="en-GB" sz="2600" u="sng" dirty="0">
                <a:ea typeface="Lucida Sans Unicode" panose="020B0602030504020204" pitchFamily="34" charset="0"/>
              </a:rPr>
              <a:t>cycle</a:t>
            </a:r>
            <a:r>
              <a:rPr lang="en-GB" sz="2600" dirty="0">
                <a:ea typeface="Lucida Sans Unicode" panose="020B0602030504020204" pitchFamily="34" charset="0"/>
              </a:rPr>
              <a:t> in the resource allocation graph</a:t>
            </a:r>
          </a:p>
          <a:p>
            <a:pPr>
              <a:lnSpc>
                <a:spcPct val="150000"/>
              </a:lnSpc>
            </a:pPr>
            <a:endParaRPr lang="en-IN" sz="2600" dirty="0"/>
          </a:p>
        </p:txBody>
      </p:sp>
      <p:sp>
        <p:nvSpPr>
          <p:cNvPr id="8" name="Slide Number Placeholder 7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t>99</a:t>
            </a:fld>
            <a:endParaRPr lang="en-US"/>
          </a:p>
        </p:txBody>
      </p:sp>
      <p:pic>
        <p:nvPicPr>
          <p:cNvPr id="2" name="Picture 1" descr="A black and red logo&#10;&#10;Description automatically generated">
            <a:extLst>
              <a:ext uri="{FF2B5EF4-FFF2-40B4-BE49-F238E27FC236}">
                <a16:creationId xmlns:a16="http://schemas.microsoft.com/office/drawing/2014/main" id="{0E410E73-50DD-823C-9D7C-5A76FB77A0EE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-27384"/>
            <a:ext cx="1657350" cy="710452"/>
          </a:xfrm>
          <a:prstGeom prst="rect">
            <a:avLst/>
          </a:prstGeom>
        </p:spPr>
      </p:pic>
      <p:sp>
        <p:nvSpPr>
          <p:cNvPr id="3" name="Title 1">
            <a:extLst>
              <a:ext uri="{FF2B5EF4-FFF2-40B4-BE49-F238E27FC236}">
                <a16:creationId xmlns:a16="http://schemas.microsoft.com/office/drawing/2014/main" id="{0DC49C69-27B0-9F0D-75C7-B3E107CF83F1}"/>
              </a:ext>
            </a:extLst>
          </p:cNvPr>
          <p:cNvSpPr txBox="1">
            <a:spLocks/>
          </p:cNvSpPr>
          <p:nvPr/>
        </p:nvSpPr>
        <p:spPr>
          <a:xfrm>
            <a:off x="2123728" y="44624"/>
            <a:ext cx="5829300" cy="514349"/>
          </a:xfrm>
          <a:prstGeom prst="rect">
            <a:avLst/>
          </a:prstGeom>
          <a:gradFill flip="none" rotWithShape="1">
            <a:gsLst>
              <a:gs pos="0">
                <a:srgbClr val="FF0000">
                  <a:tint val="66000"/>
                  <a:satMod val="160000"/>
                </a:srgbClr>
              </a:gs>
              <a:gs pos="50000">
                <a:srgbClr val="FF0000">
                  <a:tint val="44500"/>
                  <a:satMod val="160000"/>
                </a:srgbClr>
              </a:gs>
              <a:gs pos="100000">
                <a:srgbClr val="FF0000">
                  <a:tint val="23500"/>
                  <a:satMod val="160000"/>
                </a:srgbClr>
              </a:gs>
            </a:gsLst>
            <a:lin ang="0" scaled="1"/>
            <a:tileRect/>
          </a:gradFill>
        </p:spPr>
        <p:style>
          <a:lnRef idx="1">
            <a:schemeClr val="accent5"/>
          </a:lnRef>
          <a:fillRef idx="2">
            <a:schemeClr val="accent5"/>
          </a:fillRef>
          <a:effectRef idx="1">
            <a:schemeClr val="accent5"/>
          </a:effectRef>
          <a:fontRef idx="minor">
            <a:schemeClr val="dk1"/>
          </a:fontRef>
        </p:style>
        <p:txBody>
          <a:bodyPr vert="horz" lIns="68580" tIns="34290" rIns="68580" bIns="34290" rtlCol="0" anchor="ctr">
            <a:noAutofit/>
          </a:bodyPr>
          <a:lstStyle>
            <a:defPPr>
              <a:defRPr lang="en-US"/>
            </a:defPPr>
            <a:lvl1pPr algn="ctr">
              <a:spcBef>
                <a:spcPct val="0"/>
              </a:spcBef>
              <a:buNone/>
              <a:defRPr sz="2800"/>
            </a:lvl1pPr>
          </a:lstStyle>
          <a:p>
            <a:pPr>
              <a:defRPr/>
            </a:pPr>
            <a:r>
              <a:rPr lang="en-GB" sz="2400" dirty="0"/>
              <a:t>Resource-Allocation Graph Algorithm</a:t>
            </a:r>
            <a:r>
              <a:rPr lang="en-IN" sz="2400" dirty="0"/>
              <a:t>(CO3)</a:t>
            </a:r>
            <a:endParaRPr lang="en-US" sz="2100" dirty="0"/>
          </a:p>
        </p:txBody>
      </p:sp>
    </p:spTree>
  </p:cSld>
  <p:clrMapOvr>
    <a:masterClrMapping/>
  </p:clrMapOvr>
  <p:transition>
    <p:dissolve/>
  </p:transition>
</p:sld>
</file>

<file path=ppt/slides/slide10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D24F6F4-CAE8-41A5-8684-3B0D580B2ABA}" type="datetime3">
              <a:rPr lang="en-US" smtClean="0"/>
              <a:t>1 September 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2514600" y="6356350"/>
            <a:ext cx="5181600" cy="365125"/>
          </a:xfrm>
        </p:spPr>
        <p:txBody>
          <a:bodyPr/>
          <a:lstStyle/>
          <a:p>
            <a:r>
              <a:rPr lang="en-US"/>
              <a:t>Atul Garg           BCSE0303            Unit- III</a:t>
            </a:r>
            <a:endParaRPr lang="en-US" dirty="0"/>
          </a:p>
        </p:txBody>
      </p:sp>
      <p:sp>
        <p:nvSpPr>
          <p:cNvPr id="10" name="Rectangle 9"/>
          <p:cNvSpPr/>
          <p:nvPr/>
        </p:nvSpPr>
        <p:spPr>
          <a:xfrm>
            <a:off x="1115616" y="980728"/>
            <a:ext cx="7344816" cy="423141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600" dirty="0">
                <a:ea typeface="MS PGothic" charset="0"/>
              </a:rPr>
              <a:t>Multiple instances</a:t>
            </a:r>
          </a:p>
          <a:p>
            <a:pPr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600" dirty="0">
                <a:ea typeface="MS PGothic" charset="0"/>
              </a:rPr>
              <a:t>Each process must apriori claim maximum use</a:t>
            </a:r>
          </a:p>
          <a:p>
            <a:pPr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600" dirty="0">
                <a:ea typeface="MS PGothic" charset="0"/>
              </a:rPr>
              <a:t>When a process requests a resource it may have to wait  </a:t>
            </a:r>
          </a:p>
          <a:p>
            <a:pPr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600" dirty="0">
                <a:ea typeface="MS PGothic" charset="0"/>
              </a:rPr>
              <a:t>When a process gets all its resources it must return them in a finite amount of time</a:t>
            </a:r>
          </a:p>
          <a:p>
            <a:pPr>
              <a:lnSpc>
                <a:spcPct val="150000"/>
              </a:lnSpc>
              <a:buFont typeface="Arial" panose="020B0604020202020204" pitchFamily="34" charset="0"/>
              <a:buChar char="•"/>
            </a:pPr>
            <a:endParaRPr lang="en-IN" sz="2600" dirty="0"/>
          </a:p>
        </p:txBody>
      </p:sp>
      <p:sp>
        <p:nvSpPr>
          <p:cNvPr id="8" name="Slide Number Placeholder 7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t>100</a:t>
            </a:fld>
            <a:endParaRPr lang="en-US"/>
          </a:p>
        </p:txBody>
      </p:sp>
      <p:pic>
        <p:nvPicPr>
          <p:cNvPr id="2" name="Picture 1" descr="A black and red logo&#10;&#10;Description automatically generated">
            <a:extLst>
              <a:ext uri="{FF2B5EF4-FFF2-40B4-BE49-F238E27FC236}">
                <a16:creationId xmlns:a16="http://schemas.microsoft.com/office/drawing/2014/main" id="{2F29D2F9-B6BA-35E1-BB8D-9E1B24F445AC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-27384"/>
            <a:ext cx="1657350" cy="710452"/>
          </a:xfrm>
          <a:prstGeom prst="rect">
            <a:avLst/>
          </a:prstGeom>
        </p:spPr>
      </p:pic>
      <p:sp>
        <p:nvSpPr>
          <p:cNvPr id="3" name="Title 1">
            <a:extLst>
              <a:ext uri="{FF2B5EF4-FFF2-40B4-BE49-F238E27FC236}">
                <a16:creationId xmlns:a16="http://schemas.microsoft.com/office/drawing/2014/main" id="{35877A1D-AA53-0EAB-2E36-D929D2FD11EE}"/>
              </a:ext>
            </a:extLst>
          </p:cNvPr>
          <p:cNvSpPr txBox="1">
            <a:spLocks/>
          </p:cNvSpPr>
          <p:nvPr/>
        </p:nvSpPr>
        <p:spPr>
          <a:xfrm>
            <a:off x="2171700" y="116632"/>
            <a:ext cx="5829300" cy="514349"/>
          </a:xfrm>
          <a:prstGeom prst="rect">
            <a:avLst/>
          </a:prstGeom>
          <a:gradFill flip="none" rotWithShape="1">
            <a:gsLst>
              <a:gs pos="0">
                <a:srgbClr val="FF0000">
                  <a:tint val="66000"/>
                  <a:satMod val="160000"/>
                </a:srgbClr>
              </a:gs>
              <a:gs pos="50000">
                <a:srgbClr val="FF0000">
                  <a:tint val="44500"/>
                  <a:satMod val="160000"/>
                </a:srgbClr>
              </a:gs>
              <a:gs pos="100000">
                <a:srgbClr val="FF0000">
                  <a:tint val="23500"/>
                  <a:satMod val="160000"/>
                </a:srgbClr>
              </a:gs>
            </a:gsLst>
            <a:lin ang="0" scaled="1"/>
            <a:tileRect/>
          </a:gradFill>
        </p:spPr>
        <p:style>
          <a:lnRef idx="1">
            <a:schemeClr val="accent5"/>
          </a:lnRef>
          <a:fillRef idx="2">
            <a:schemeClr val="accent5"/>
          </a:fillRef>
          <a:effectRef idx="1">
            <a:schemeClr val="accent5"/>
          </a:effectRef>
          <a:fontRef idx="minor">
            <a:schemeClr val="dk1"/>
          </a:fontRef>
        </p:style>
        <p:txBody>
          <a:bodyPr vert="horz" lIns="68580" tIns="34290" rIns="68580" bIns="34290" rtlCol="0" anchor="ctr">
            <a:noAutofit/>
          </a:bodyPr>
          <a:lstStyle>
            <a:defPPr>
              <a:defRPr lang="en-US"/>
            </a:defPPr>
            <a:lvl1pPr algn="ctr">
              <a:spcBef>
                <a:spcPct val="0"/>
              </a:spcBef>
              <a:buNone/>
              <a:defRPr sz="2800"/>
            </a:lvl1pPr>
          </a:lstStyle>
          <a:p>
            <a:pPr>
              <a:defRPr/>
            </a:pPr>
            <a:r>
              <a:rPr lang="en-US" sz="2400" dirty="0">
                <a:latin typeface="+mj-lt"/>
                <a:ea typeface="MS PGothic" charset="0"/>
              </a:rPr>
              <a:t>Banker’s Algorithm</a:t>
            </a:r>
            <a:r>
              <a:rPr lang="en-IN" sz="2400" dirty="0">
                <a:latin typeface="+mj-lt"/>
              </a:rPr>
              <a:t>(CO3)</a:t>
            </a:r>
            <a:endParaRPr lang="en-US" sz="2100" dirty="0"/>
          </a:p>
        </p:txBody>
      </p:sp>
    </p:spTree>
  </p:cSld>
  <p:clrMapOvr>
    <a:masterClrMapping/>
  </p:clrMapOvr>
  <p:transition>
    <p:dissolve/>
  </p:transition>
</p:sld>
</file>

<file path=ppt/slides/slide10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A21B294-76BA-46BE-A933-A2E547E813B2}" type="datetime3">
              <a:rPr lang="en-US" smtClean="0"/>
              <a:t>1 September 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2514600" y="6356350"/>
            <a:ext cx="5181600" cy="365125"/>
          </a:xfrm>
        </p:spPr>
        <p:txBody>
          <a:bodyPr/>
          <a:lstStyle/>
          <a:p>
            <a:r>
              <a:rPr lang="en-US"/>
              <a:t>Atul Garg           BCSE0303            Unit- III</a:t>
            </a:r>
            <a:endParaRPr lang="en-US" dirty="0"/>
          </a:p>
        </p:txBody>
      </p:sp>
      <p:sp>
        <p:nvSpPr>
          <p:cNvPr id="10" name="Rectangle 9"/>
          <p:cNvSpPr/>
          <p:nvPr/>
        </p:nvSpPr>
        <p:spPr>
          <a:xfrm>
            <a:off x="755576" y="764704"/>
            <a:ext cx="8136904" cy="438068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tabLst>
                <a:tab pos="911225" algn="l"/>
                <a:tab pos="1825625" algn="l"/>
                <a:tab pos="2740025" algn="l"/>
                <a:tab pos="3654425" algn="l"/>
                <a:tab pos="4568825" algn="l"/>
                <a:tab pos="5483225" algn="l"/>
                <a:tab pos="6397625" algn="l"/>
                <a:tab pos="7312025" algn="l"/>
                <a:tab pos="8226425" algn="l"/>
                <a:tab pos="9140825" algn="l"/>
                <a:tab pos="10055225" algn="l"/>
              </a:tabLst>
            </a:pPr>
            <a:r>
              <a:rPr lang="en-GB" sz="2200" dirty="0"/>
              <a:t>Let n = number of processes, and m = number of resource types.</a:t>
            </a:r>
          </a:p>
          <a:p>
            <a:pPr>
              <a:tabLst>
                <a:tab pos="911225" algn="l"/>
                <a:tab pos="1825625" algn="l"/>
                <a:tab pos="2740025" algn="l"/>
                <a:tab pos="3654425" algn="l"/>
                <a:tab pos="4568825" algn="l"/>
                <a:tab pos="5483225" algn="l"/>
                <a:tab pos="6397625" algn="l"/>
                <a:tab pos="7312025" algn="l"/>
                <a:tab pos="8226425" algn="l"/>
                <a:tab pos="9140825" algn="l"/>
                <a:tab pos="10055225" algn="l"/>
              </a:tabLst>
            </a:pPr>
            <a:r>
              <a:rPr lang="en-GB" sz="2200" dirty="0"/>
              <a:t> </a:t>
            </a:r>
          </a:p>
          <a:p>
            <a:pPr>
              <a:buFont typeface="Arial" panose="020B0604020202020204" pitchFamily="34" charset="0"/>
              <a:buChar char="•"/>
              <a:tabLst>
                <a:tab pos="911225" algn="l"/>
                <a:tab pos="1825625" algn="l"/>
                <a:tab pos="2740025" algn="l"/>
                <a:tab pos="3654425" algn="l"/>
                <a:tab pos="4568825" algn="l"/>
                <a:tab pos="5483225" algn="l"/>
                <a:tab pos="6397625" algn="l"/>
                <a:tab pos="7312025" algn="l"/>
                <a:tab pos="8226425" algn="l"/>
                <a:tab pos="9140825" algn="l"/>
                <a:tab pos="10055225" algn="l"/>
              </a:tabLst>
            </a:pPr>
            <a:r>
              <a:rPr lang="en-GB" sz="2200" b="1" dirty="0">
                <a:ea typeface="Lucida Sans Unicode" panose="020B0602030504020204" pitchFamily="34" charset="0"/>
              </a:rPr>
              <a:t>Available</a:t>
            </a:r>
            <a:r>
              <a:rPr lang="en-GB" sz="2200" dirty="0">
                <a:ea typeface="Lucida Sans Unicode" panose="020B0602030504020204" pitchFamily="34" charset="0"/>
              </a:rPr>
              <a:t>:  Vector of length m. If available [j] = k, there are k instances of resource type </a:t>
            </a:r>
            <a:r>
              <a:rPr lang="en-GB" sz="2200" dirty="0" err="1">
                <a:ea typeface="Lucida Sans Unicode" panose="020B0602030504020204" pitchFamily="34" charset="0"/>
              </a:rPr>
              <a:t>R</a:t>
            </a:r>
            <a:r>
              <a:rPr lang="en-GB" sz="2200" baseline="-25000" dirty="0" err="1">
                <a:ea typeface="Lucida Sans Unicode" panose="020B0602030504020204" pitchFamily="34" charset="0"/>
              </a:rPr>
              <a:t>j</a:t>
            </a:r>
            <a:r>
              <a:rPr lang="en-GB" sz="2200" baseline="-25000" dirty="0">
                <a:ea typeface="Lucida Sans Unicode" panose="020B0602030504020204" pitchFamily="34" charset="0"/>
              </a:rPr>
              <a:t>  </a:t>
            </a:r>
            <a:r>
              <a:rPr lang="en-GB" sz="2200" dirty="0">
                <a:ea typeface="Lucida Sans Unicode" panose="020B0602030504020204" pitchFamily="34" charset="0"/>
              </a:rPr>
              <a:t>available.</a:t>
            </a:r>
          </a:p>
          <a:p>
            <a:pPr>
              <a:buFont typeface="Arial" panose="020B0604020202020204" pitchFamily="34" charset="0"/>
              <a:buChar char="•"/>
              <a:tabLst>
                <a:tab pos="911225" algn="l"/>
                <a:tab pos="1825625" algn="l"/>
                <a:tab pos="2740025" algn="l"/>
                <a:tab pos="3654425" algn="l"/>
                <a:tab pos="4568825" algn="l"/>
                <a:tab pos="5483225" algn="l"/>
                <a:tab pos="6397625" algn="l"/>
                <a:tab pos="7312025" algn="l"/>
                <a:tab pos="8226425" algn="l"/>
                <a:tab pos="9140825" algn="l"/>
                <a:tab pos="10055225" algn="l"/>
              </a:tabLst>
            </a:pPr>
            <a:endParaRPr lang="en-GB" sz="2200" dirty="0">
              <a:ea typeface="Lucida Sans Unicode" panose="020B0602030504020204" pitchFamily="34" charset="0"/>
            </a:endParaRPr>
          </a:p>
          <a:p>
            <a:pPr>
              <a:buFont typeface="Arial" panose="020B0604020202020204" pitchFamily="34" charset="0"/>
              <a:buChar char="•"/>
              <a:tabLst>
                <a:tab pos="911225" algn="l"/>
                <a:tab pos="1825625" algn="l"/>
                <a:tab pos="2740025" algn="l"/>
                <a:tab pos="3654425" algn="l"/>
                <a:tab pos="4568825" algn="l"/>
                <a:tab pos="5483225" algn="l"/>
                <a:tab pos="6397625" algn="l"/>
                <a:tab pos="7312025" algn="l"/>
                <a:tab pos="8226425" algn="l"/>
                <a:tab pos="9140825" algn="l"/>
                <a:tab pos="10055225" algn="l"/>
              </a:tabLst>
            </a:pPr>
            <a:r>
              <a:rPr lang="en-GB" sz="2200" b="1" dirty="0">
                <a:ea typeface="Lucida Sans Unicode" panose="020B0602030504020204" pitchFamily="34" charset="0"/>
              </a:rPr>
              <a:t>Max</a:t>
            </a:r>
            <a:r>
              <a:rPr lang="en-GB" sz="2200" dirty="0">
                <a:ea typeface="Lucida Sans Unicode" panose="020B0602030504020204" pitchFamily="34" charset="0"/>
              </a:rPr>
              <a:t>: n x m matrix.  If Max [</a:t>
            </a:r>
            <a:r>
              <a:rPr lang="en-GB" sz="2200" dirty="0" err="1">
                <a:ea typeface="Lucida Sans Unicode" panose="020B0602030504020204" pitchFamily="34" charset="0"/>
              </a:rPr>
              <a:t>i,j</a:t>
            </a:r>
            <a:r>
              <a:rPr lang="en-GB" sz="2200" dirty="0">
                <a:ea typeface="Lucida Sans Unicode" panose="020B0602030504020204" pitchFamily="34" charset="0"/>
              </a:rPr>
              <a:t>] = k, then process P</a:t>
            </a:r>
            <a:r>
              <a:rPr lang="en-GB" sz="2200" baseline="-25000" dirty="0">
                <a:ea typeface="Lucida Sans Unicode" panose="020B0602030504020204" pitchFamily="34" charset="0"/>
              </a:rPr>
              <a:t>i</a:t>
            </a:r>
            <a:r>
              <a:rPr lang="en-GB" sz="2200" dirty="0">
                <a:ea typeface="Lucida Sans Unicode" panose="020B0602030504020204" pitchFamily="34" charset="0"/>
              </a:rPr>
              <a:t> may request at most k instances of resource type </a:t>
            </a:r>
            <a:r>
              <a:rPr lang="en-GB" sz="2200" dirty="0" err="1">
                <a:ea typeface="Lucida Sans Unicode" panose="020B0602030504020204" pitchFamily="34" charset="0"/>
              </a:rPr>
              <a:t>R</a:t>
            </a:r>
            <a:r>
              <a:rPr lang="en-GB" sz="2200" baseline="-25000" dirty="0" err="1">
                <a:ea typeface="Lucida Sans Unicode" panose="020B0602030504020204" pitchFamily="34" charset="0"/>
              </a:rPr>
              <a:t>j</a:t>
            </a:r>
            <a:r>
              <a:rPr lang="en-GB" sz="2200" dirty="0">
                <a:ea typeface="Lucida Sans Unicode" panose="020B0602030504020204" pitchFamily="34" charset="0"/>
              </a:rPr>
              <a:t>.</a:t>
            </a:r>
          </a:p>
          <a:p>
            <a:pPr>
              <a:buFont typeface="Arial" panose="020B0604020202020204" pitchFamily="34" charset="0"/>
              <a:buChar char="•"/>
              <a:tabLst>
                <a:tab pos="911225" algn="l"/>
                <a:tab pos="1825625" algn="l"/>
                <a:tab pos="2740025" algn="l"/>
                <a:tab pos="3654425" algn="l"/>
                <a:tab pos="4568825" algn="l"/>
                <a:tab pos="5483225" algn="l"/>
                <a:tab pos="6397625" algn="l"/>
                <a:tab pos="7312025" algn="l"/>
                <a:tab pos="8226425" algn="l"/>
                <a:tab pos="9140825" algn="l"/>
                <a:tab pos="10055225" algn="l"/>
              </a:tabLst>
            </a:pPr>
            <a:endParaRPr lang="en-GB" sz="2200" dirty="0">
              <a:ea typeface="Lucida Sans Unicode" panose="020B0602030504020204" pitchFamily="34" charset="0"/>
            </a:endParaRPr>
          </a:p>
          <a:p>
            <a:pPr>
              <a:buFont typeface="Arial" panose="020B0604020202020204" pitchFamily="34" charset="0"/>
              <a:buChar char="•"/>
              <a:tabLst>
                <a:tab pos="911225" algn="l"/>
                <a:tab pos="1825625" algn="l"/>
                <a:tab pos="2740025" algn="l"/>
                <a:tab pos="3654425" algn="l"/>
                <a:tab pos="4568825" algn="l"/>
                <a:tab pos="5483225" algn="l"/>
                <a:tab pos="6397625" algn="l"/>
                <a:tab pos="7312025" algn="l"/>
                <a:tab pos="8226425" algn="l"/>
                <a:tab pos="9140825" algn="l"/>
                <a:tab pos="10055225" algn="l"/>
              </a:tabLst>
            </a:pPr>
            <a:r>
              <a:rPr lang="en-GB" sz="2200" b="1" dirty="0">
                <a:ea typeface="Lucida Sans Unicode" panose="020B0602030504020204" pitchFamily="34" charset="0"/>
              </a:rPr>
              <a:t>Allocation</a:t>
            </a:r>
            <a:r>
              <a:rPr lang="en-GB" sz="2200" dirty="0">
                <a:ea typeface="Lucida Sans Unicode" panose="020B0602030504020204" pitchFamily="34" charset="0"/>
              </a:rPr>
              <a:t>:  n x m matrix.  If Allocation[</a:t>
            </a:r>
            <a:r>
              <a:rPr lang="en-GB" sz="2200" dirty="0" err="1">
                <a:ea typeface="Lucida Sans Unicode" panose="020B0602030504020204" pitchFamily="34" charset="0"/>
              </a:rPr>
              <a:t>i,j</a:t>
            </a:r>
            <a:r>
              <a:rPr lang="en-GB" sz="2200" dirty="0">
                <a:ea typeface="Lucida Sans Unicode" panose="020B0602030504020204" pitchFamily="34" charset="0"/>
              </a:rPr>
              <a:t>] = k then P</a:t>
            </a:r>
            <a:r>
              <a:rPr lang="en-GB" sz="2200" baseline="-25000" dirty="0">
                <a:ea typeface="Lucida Sans Unicode" panose="020B0602030504020204" pitchFamily="34" charset="0"/>
              </a:rPr>
              <a:t>i</a:t>
            </a:r>
            <a:r>
              <a:rPr lang="en-GB" sz="2200" dirty="0">
                <a:ea typeface="Lucida Sans Unicode" panose="020B0602030504020204" pitchFamily="34" charset="0"/>
              </a:rPr>
              <a:t> is currently allocated k instances of </a:t>
            </a:r>
            <a:r>
              <a:rPr lang="en-GB" sz="2200" dirty="0" err="1">
                <a:ea typeface="Lucida Sans Unicode" panose="020B0602030504020204" pitchFamily="34" charset="0"/>
              </a:rPr>
              <a:t>R</a:t>
            </a:r>
            <a:r>
              <a:rPr lang="en-GB" sz="2200" baseline="-25000" dirty="0" err="1">
                <a:ea typeface="Lucida Sans Unicode" panose="020B0602030504020204" pitchFamily="34" charset="0"/>
              </a:rPr>
              <a:t>j</a:t>
            </a:r>
            <a:r>
              <a:rPr lang="en-GB" sz="2200" baseline="-25000" dirty="0">
                <a:ea typeface="Lucida Sans Unicode" panose="020B0602030504020204" pitchFamily="34" charset="0"/>
              </a:rPr>
              <a:t>.</a:t>
            </a:r>
          </a:p>
          <a:p>
            <a:pPr>
              <a:buFont typeface="Arial" panose="020B0604020202020204" pitchFamily="34" charset="0"/>
              <a:buChar char="•"/>
              <a:tabLst>
                <a:tab pos="911225" algn="l"/>
                <a:tab pos="1825625" algn="l"/>
                <a:tab pos="2740025" algn="l"/>
                <a:tab pos="3654425" algn="l"/>
                <a:tab pos="4568825" algn="l"/>
                <a:tab pos="5483225" algn="l"/>
                <a:tab pos="6397625" algn="l"/>
                <a:tab pos="7312025" algn="l"/>
                <a:tab pos="8226425" algn="l"/>
                <a:tab pos="9140825" algn="l"/>
                <a:tab pos="10055225" algn="l"/>
              </a:tabLst>
            </a:pPr>
            <a:endParaRPr lang="en-GB" sz="2200" baseline="-25000" dirty="0">
              <a:ea typeface="Lucida Sans Unicode" panose="020B0602030504020204" pitchFamily="34" charset="0"/>
            </a:endParaRPr>
          </a:p>
          <a:p>
            <a:pPr>
              <a:buFont typeface="Arial" panose="020B0604020202020204" pitchFamily="34" charset="0"/>
              <a:buChar char="•"/>
              <a:tabLst>
                <a:tab pos="911225" algn="l"/>
                <a:tab pos="1825625" algn="l"/>
                <a:tab pos="2740025" algn="l"/>
                <a:tab pos="3654425" algn="l"/>
                <a:tab pos="4568825" algn="l"/>
                <a:tab pos="5483225" algn="l"/>
                <a:tab pos="6397625" algn="l"/>
                <a:tab pos="7312025" algn="l"/>
                <a:tab pos="8226425" algn="l"/>
                <a:tab pos="9140825" algn="l"/>
                <a:tab pos="10055225" algn="l"/>
              </a:tabLst>
            </a:pPr>
            <a:r>
              <a:rPr lang="en-GB" sz="2200" b="1" dirty="0">
                <a:ea typeface="Lucida Sans Unicode" panose="020B0602030504020204" pitchFamily="34" charset="0"/>
              </a:rPr>
              <a:t>Need</a:t>
            </a:r>
            <a:r>
              <a:rPr lang="en-GB" sz="2200" dirty="0">
                <a:ea typeface="Lucida Sans Unicode" panose="020B0602030504020204" pitchFamily="34" charset="0"/>
              </a:rPr>
              <a:t>:  n x m matrix. If Need[</a:t>
            </a:r>
            <a:r>
              <a:rPr lang="en-GB" sz="2200" dirty="0" err="1">
                <a:ea typeface="Lucida Sans Unicode" panose="020B0602030504020204" pitchFamily="34" charset="0"/>
              </a:rPr>
              <a:t>i,j</a:t>
            </a:r>
            <a:r>
              <a:rPr lang="en-GB" sz="2200" dirty="0">
                <a:ea typeface="Lucida Sans Unicode" panose="020B0602030504020204" pitchFamily="34" charset="0"/>
              </a:rPr>
              <a:t>] = k, then P</a:t>
            </a:r>
            <a:r>
              <a:rPr lang="en-GB" sz="2200" baseline="-25000" dirty="0">
                <a:ea typeface="Lucida Sans Unicode" panose="020B0602030504020204" pitchFamily="34" charset="0"/>
              </a:rPr>
              <a:t>i</a:t>
            </a:r>
            <a:r>
              <a:rPr lang="en-GB" sz="2200" dirty="0">
                <a:ea typeface="Lucida Sans Unicode" panose="020B0602030504020204" pitchFamily="34" charset="0"/>
              </a:rPr>
              <a:t> may need k more instances of </a:t>
            </a:r>
            <a:r>
              <a:rPr lang="en-GB" sz="2200" dirty="0" err="1">
                <a:ea typeface="Lucida Sans Unicode" panose="020B0602030504020204" pitchFamily="34" charset="0"/>
              </a:rPr>
              <a:t>R</a:t>
            </a:r>
            <a:r>
              <a:rPr lang="en-GB" sz="2200" baseline="-25000" dirty="0" err="1">
                <a:ea typeface="Lucida Sans Unicode" panose="020B0602030504020204" pitchFamily="34" charset="0"/>
              </a:rPr>
              <a:t>j</a:t>
            </a:r>
            <a:r>
              <a:rPr lang="en-GB" sz="2200" baseline="-25000" dirty="0">
                <a:ea typeface="Lucida Sans Unicode" panose="020B0602030504020204" pitchFamily="34" charset="0"/>
              </a:rPr>
              <a:t> </a:t>
            </a:r>
            <a:r>
              <a:rPr lang="en-GB" sz="2200" dirty="0">
                <a:ea typeface="Lucida Sans Unicode" panose="020B0602030504020204" pitchFamily="34" charset="0"/>
              </a:rPr>
              <a:t>to complete its task.</a:t>
            </a:r>
            <a:endParaRPr lang="en-IN" sz="2200" dirty="0"/>
          </a:p>
        </p:txBody>
      </p:sp>
      <p:sp>
        <p:nvSpPr>
          <p:cNvPr id="8" name="Slide Number Placeholder 7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t>101</a:t>
            </a:fld>
            <a:endParaRPr lang="en-US"/>
          </a:p>
        </p:txBody>
      </p:sp>
      <p:pic>
        <p:nvPicPr>
          <p:cNvPr id="2" name="Picture 1" descr="A black and red logo&#10;&#10;Description automatically generated">
            <a:extLst>
              <a:ext uri="{FF2B5EF4-FFF2-40B4-BE49-F238E27FC236}">
                <a16:creationId xmlns:a16="http://schemas.microsoft.com/office/drawing/2014/main" id="{31F6C4C5-88B9-8F9B-133A-F51CF3157F31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-27384"/>
            <a:ext cx="1657350" cy="710452"/>
          </a:xfrm>
          <a:prstGeom prst="rect">
            <a:avLst/>
          </a:prstGeom>
        </p:spPr>
      </p:pic>
      <p:sp>
        <p:nvSpPr>
          <p:cNvPr id="3" name="Title 1">
            <a:extLst>
              <a:ext uri="{FF2B5EF4-FFF2-40B4-BE49-F238E27FC236}">
                <a16:creationId xmlns:a16="http://schemas.microsoft.com/office/drawing/2014/main" id="{9BA6A86E-EC1F-59C2-F07D-F7E0542835F0}"/>
              </a:ext>
            </a:extLst>
          </p:cNvPr>
          <p:cNvSpPr txBox="1">
            <a:spLocks/>
          </p:cNvSpPr>
          <p:nvPr/>
        </p:nvSpPr>
        <p:spPr>
          <a:xfrm>
            <a:off x="2171700" y="44624"/>
            <a:ext cx="6360740" cy="514349"/>
          </a:xfrm>
          <a:prstGeom prst="rect">
            <a:avLst/>
          </a:prstGeom>
          <a:gradFill flip="none" rotWithShape="1">
            <a:gsLst>
              <a:gs pos="0">
                <a:srgbClr val="FF0000">
                  <a:tint val="66000"/>
                  <a:satMod val="160000"/>
                </a:srgbClr>
              </a:gs>
              <a:gs pos="50000">
                <a:srgbClr val="FF0000">
                  <a:tint val="44500"/>
                  <a:satMod val="160000"/>
                </a:srgbClr>
              </a:gs>
              <a:gs pos="100000">
                <a:srgbClr val="FF0000">
                  <a:tint val="23500"/>
                  <a:satMod val="160000"/>
                </a:srgbClr>
              </a:gs>
            </a:gsLst>
            <a:lin ang="0" scaled="1"/>
            <a:tileRect/>
          </a:gradFill>
        </p:spPr>
        <p:style>
          <a:lnRef idx="1">
            <a:schemeClr val="accent5"/>
          </a:lnRef>
          <a:fillRef idx="2">
            <a:schemeClr val="accent5"/>
          </a:fillRef>
          <a:effectRef idx="1">
            <a:schemeClr val="accent5"/>
          </a:effectRef>
          <a:fontRef idx="minor">
            <a:schemeClr val="dk1"/>
          </a:fontRef>
        </p:style>
        <p:txBody>
          <a:bodyPr vert="horz" lIns="68580" tIns="34290" rIns="68580" bIns="34290" rtlCol="0" anchor="ctr">
            <a:noAutofit/>
          </a:bodyPr>
          <a:lstStyle>
            <a:defPPr>
              <a:defRPr lang="en-US"/>
            </a:defPPr>
            <a:lvl1pPr algn="ctr">
              <a:spcBef>
                <a:spcPct val="0"/>
              </a:spcBef>
              <a:buNone/>
              <a:defRPr sz="2800"/>
            </a:lvl1pPr>
          </a:lstStyle>
          <a:p>
            <a:pPr>
              <a:defRPr/>
            </a:pPr>
            <a:endParaRPr lang="en-GB" sz="2400" dirty="0"/>
          </a:p>
          <a:p>
            <a:pPr>
              <a:defRPr/>
            </a:pPr>
            <a:r>
              <a:rPr lang="en-GB" sz="2400" dirty="0"/>
              <a:t>Data Structures for the Banker’s Algorithm </a:t>
            </a:r>
            <a:r>
              <a:rPr lang="en-IN" sz="2400" dirty="0"/>
              <a:t>(CO3)</a:t>
            </a:r>
            <a:endParaRPr kumimoji="0" lang="en-US" sz="2400" b="0" i="0" u="none" strike="noStrike" kern="1200" cap="none" spc="0" normalizeH="0" baseline="0" noProof="0" dirty="0">
              <a:ln>
                <a:noFill/>
              </a:ln>
              <a:solidFill>
                <a:schemeClr val="dk1"/>
              </a:solidFill>
              <a:effectLst/>
              <a:uLnTx/>
              <a:uFillTx/>
              <a:ea typeface="+mn-ea"/>
              <a:cs typeface="+mn-cs"/>
            </a:endParaRPr>
          </a:p>
          <a:p>
            <a:pPr>
              <a:defRPr/>
            </a:pPr>
            <a:endParaRPr lang="en-US" sz="2100" dirty="0"/>
          </a:p>
        </p:txBody>
      </p:sp>
    </p:spTree>
  </p:cSld>
  <p:clrMapOvr>
    <a:masterClrMapping/>
  </p:clrMapOvr>
  <p:transition>
    <p:dissolve/>
  </p:transition>
</p:sld>
</file>

<file path=ppt/slides/slide10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5FF14BA-2EA8-4668-9138-7606516F2A06}" type="datetime3">
              <a:rPr lang="en-US" smtClean="0"/>
              <a:t>1 September 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2514600" y="6356350"/>
            <a:ext cx="5181600" cy="365125"/>
          </a:xfrm>
        </p:spPr>
        <p:txBody>
          <a:bodyPr/>
          <a:lstStyle/>
          <a:p>
            <a:r>
              <a:rPr lang="en-US"/>
              <a:t>Atul Garg           BCSE0303            Unit- III</a:t>
            </a:r>
            <a:endParaRPr lang="en-US" dirty="0"/>
          </a:p>
        </p:txBody>
      </p:sp>
      <p:sp>
        <p:nvSpPr>
          <p:cNvPr id="10" name="Rectangle 9"/>
          <p:cNvSpPr/>
          <p:nvPr/>
        </p:nvSpPr>
        <p:spPr>
          <a:xfrm>
            <a:off x="899592" y="692696"/>
            <a:ext cx="7704856" cy="574311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  <a:buFont typeface="Monotype Sorts" charset="0"/>
              <a:buNone/>
            </a:pPr>
            <a:r>
              <a:rPr lang="en-US" sz="2400" dirty="0">
                <a:ea typeface="MS PGothic" charset="0"/>
              </a:rPr>
              <a:t>1.Let </a:t>
            </a:r>
            <a:r>
              <a:rPr lang="en-US" sz="2400" dirty="0">
                <a:solidFill>
                  <a:srgbClr val="000000"/>
                </a:solidFill>
                <a:ea typeface="MS PGothic" charset="0"/>
              </a:rPr>
              <a:t>Work </a:t>
            </a:r>
            <a:r>
              <a:rPr lang="en-US" sz="2400" dirty="0">
                <a:ea typeface="MS PGothic" charset="0"/>
              </a:rPr>
              <a:t>and </a:t>
            </a:r>
            <a:r>
              <a:rPr lang="en-US" sz="2400" dirty="0">
                <a:solidFill>
                  <a:srgbClr val="000000"/>
                </a:solidFill>
                <a:ea typeface="MS PGothic" charset="0"/>
              </a:rPr>
              <a:t>Finish </a:t>
            </a:r>
            <a:r>
              <a:rPr lang="en-US" sz="2400" dirty="0">
                <a:ea typeface="MS PGothic" charset="0"/>
              </a:rPr>
              <a:t>be vectors of length m and n, respectively.  </a:t>
            </a:r>
          </a:p>
          <a:p>
            <a:pPr>
              <a:lnSpc>
                <a:spcPct val="90000"/>
              </a:lnSpc>
              <a:buFont typeface="Monotype Sorts" charset="0"/>
              <a:buNone/>
            </a:pPr>
            <a:r>
              <a:rPr lang="en-US" sz="2400" dirty="0">
                <a:ea typeface="MS PGothic" charset="0"/>
              </a:rPr>
              <a:t>Initialize:</a:t>
            </a:r>
          </a:p>
          <a:p>
            <a:pPr>
              <a:lnSpc>
                <a:spcPct val="90000"/>
              </a:lnSpc>
              <a:buFont typeface="Monotype Sorts" charset="0"/>
              <a:buNone/>
            </a:pPr>
            <a:r>
              <a:rPr lang="en-US" sz="2400" dirty="0">
                <a:ea typeface="MS PGothic" charset="0"/>
              </a:rPr>
              <a:t>	Work = Available</a:t>
            </a:r>
          </a:p>
          <a:p>
            <a:pPr>
              <a:lnSpc>
                <a:spcPct val="90000"/>
              </a:lnSpc>
              <a:buFont typeface="Monotype Sorts" charset="0"/>
              <a:buNone/>
            </a:pPr>
            <a:r>
              <a:rPr lang="en-US" sz="2400" dirty="0">
                <a:ea typeface="MS PGothic" charset="0"/>
              </a:rPr>
              <a:t>	Finish [</a:t>
            </a:r>
            <a:r>
              <a:rPr lang="en-US" sz="2400" dirty="0" err="1">
                <a:ea typeface="MS PGothic" charset="0"/>
              </a:rPr>
              <a:t>i</a:t>
            </a:r>
            <a:r>
              <a:rPr lang="en-US" sz="2400" dirty="0">
                <a:ea typeface="MS PGothic" charset="0"/>
              </a:rPr>
              <a:t>] = false for </a:t>
            </a:r>
            <a:r>
              <a:rPr lang="en-US" sz="2400" dirty="0" err="1">
                <a:ea typeface="MS PGothic" charset="0"/>
              </a:rPr>
              <a:t>i</a:t>
            </a:r>
            <a:r>
              <a:rPr lang="en-US" sz="2400" dirty="0">
                <a:ea typeface="MS PGothic" charset="0"/>
              </a:rPr>
              <a:t> = 0, 1, …, n- 1</a:t>
            </a:r>
          </a:p>
          <a:p>
            <a:pPr marL="1543050" lvl="3" indent="-342900">
              <a:lnSpc>
                <a:spcPct val="90000"/>
              </a:lnSpc>
              <a:buFontTx/>
              <a:buNone/>
            </a:pPr>
            <a:endParaRPr lang="en-US" sz="2400" dirty="0">
              <a:ea typeface="MS PGothic" charset="0"/>
            </a:endParaRPr>
          </a:p>
          <a:p>
            <a:pPr>
              <a:lnSpc>
                <a:spcPct val="90000"/>
              </a:lnSpc>
              <a:buFont typeface="Monotype Sorts" charset="0"/>
              <a:buNone/>
            </a:pPr>
            <a:r>
              <a:rPr lang="en-US" sz="2400" dirty="0">
                <a:ea typeface="MS PGothic" charset="0"/>
              </a:rPr>
              <a:t>2.Find an </a:t>
            </a:r>
            <a:r>
              <a:rPr lang="en-US" sz="2400" dirty="0" err="1">
                <a:ea typeface="MS PGothic" charset="0"/>
              </a:rPr>
              <a:t>i</a:t>
            </a:r>
            <a:r>
              <a:rPr lang="en-US" sz="2400" dirty="0">
                <a:ea typeface="MS PGothic" charset="0"/>
              </a:rPr>
              <a:t> such that both: </a:t>
            </a:r>
          </a:p>
          <a:p>
            <a:pPr marL="800100" lvl="1" indent="-342900">
              <a:lnSpc>
                <a:spcPct val="90000"/>
              </a:lnSpc>
              <a:buFont typeface="Monotype Sorts" charset="0"/>
              <a:buNone/>
            </a:pPr>
            <a:r>
              <a:rPr lang="en-US" sz="2400" dirty="0">
                <a:ea typeface="MS PGothic" charset="0"/>
              </a:rPr>
              <a:t>	(a) Finish [</a:t>
            </a:r>
            <a:r>
              <a:rPr lang="en-US" sz="2400" dirty="0" err="1">
                <a:ea typeface="MS PGothic" charset="0"/>
              </a:rPr>
              <a:t>i</a:t>
            </a:r>
            <a:r>
              <a:rPr lang="en-US" sz="2400" dirty="0">
                <a:ea typeface="MS PGothic" charset="0"/>
              </a:rPr>
              <a:t>] = false</a:t>
            </a:r>
          </a:p>
          <a:p>
            <a:pPr marL="800100" lvl="1" indent="-342900">
              <a:lnSpc>
                <a:spcPct val="90000"/>
              </a:lnSpc>
              <a:buFont typeface="Monotype Sorts" charset="0"/>
              <a:buNone/>
            </a:pPr>
            <a:r>
              <a:rPr lang="en-US" sz="2400" dirty="0">
                <a:ea typeface="MS PGothic" charset="0"/>
              </a:rPr>
              <a:t>	(b) </a:t>
            </a:r>
            <a:r>
              <a:rPr lang="en-US" sz="2400" dirty="0" err="1">
                <a:ea typeface="MS PGothic" charset="0"/>
              </a:rPr>
              <a:t>Need</a:t>
            </a:r>
            <a:r>
              <a:rPr lang="en-US" sz="2400" baseline="-25000" dirty="0" err="1">
                <a:ea typeface="MS PGothic" charset="0"/>
              </a:rPr>
              <a:t>i</a:t>
            </a:r>
            <a:r>
              <a:rPr lang="en-US" sz="2400" dirty="0">
                <a:ea typeface="MS PGothic" charset="0"/>
              </a:rPr>
              <a:t> </a:t>
            </a:r>
            <a:r>
              <a:rPr lang="en-US" sz="2400" dirty="0">
                <a:ea typeface="MS PGothic" charset="0"/>
                <a:sym typeface="Symbol" charset="0"/>
              </a:rPr>
              <a:t> Work</a:t>
            </a:r>
          </a:p>
          <a:p>
            <a:pPr marL="800100" lvl="1" indent="-342900">
              <a:lnSpc>
                <a:spcPct val="90000"/>
              </a:lnSpc>
              <a:buFont typeface="Monotype Sorts" charset="0"/>
              <a:buNone/>
            </a:pPr>
            <a:r>
              <a:rPr lang="en-US" sz="2400" dirty="0">
                <a:ea typeface="MS PGothic" charset="0"/>
                <a:sym typeface="Symbol" charset="0"/>
              </a:rPr>
              <a:t>	If no such </a:t>
            </a:r>
            <a:r>
              <a:rPr lang="en-US" sz="2400" dirty="0" err="1">
                <a:ea typeface="MS PGothic" charset="0"/>
                <a:sym typeface="Symbol" charset="0"/>
              </a:rPr>
              <a:t>i</a:t>
            </a:r>
            <a:r>
              <a:rPr lang="en-US" sz="2400" dirty="0">
                <a:ea typeface="MS PGothic" charset="0"/>
                <a:sym typeface="Symbol" charset="0"/>
              </a:rPr>
              <a:t> exists, go to step 4</a:t>
            </a:r>
          </a:p>
          <a:p>
            <a:pPr marL="800100" lvl="1" indent="-342900">
              <a:lnSpc>
                <a:spcPct val="90000"/>
              </a:lnSpc>
              <a:buFont typeface="Monotype Sorts" charset="0"/>
              <a:buNone/>
            </a:pPr>
            <a:endParaRPr lang="en-US" sz="2400" dirty="0">
              <a:ea typeface="MS PGothic" charset="0"/>
              <a:sym typeface="Symbol" charset="0"/>
            </a:endParaRPr>
          </a:p>
          <a:p>
            <a:pPr>
              <a:lnSpc>
                <a:spcPct val="90000"/>
              </a:lnSpc>
              <a:buFont typeface="Monotype Sorts" charset="0"/>
              <a:buNone/>
            </a:pPr>
            <a:r>
              <a:rPr lang="en-US" sz="2400" dirty="0">
                <a:ea typeface="MS PGothic" charset="0"/>
              </a:rPr>
              <a:t>3.  Work = Work + </a:t>
            </a:r>
            <a:r>
              <a:rPr lang="en-US" sz="2400" dirty="0" err="1">
                <a:ea typeface="MS PGothic" charset="0"/>
              </a:rPr>
              <a:t>Allocation</a:t>
            </a:r>
            <a:r>
              <a:rPr lang="en-US" sz="2400" baseline="-25000" dirty="0" err="1">
                <a:ea typeface="MS PGothic" charset="0"/>
              </a:rPr>
              <a:t>i</a:t>
            </a:r>
            <a:br>
              <a:rPr lang="en-US" sz="2400" dirty="0">
                <a:ea typeface="MS PGothic" charset="0"/>
              </a:rPr>
            </a:br>
            <a:r>
              <a:rPr lang="en-US" sz="2400" dirty="0">
                <a:ea typeface="MS PGothic" charset="0"/>
              </a:rPr>
              <a:t>	Finish[</a:t>
            </a:r>
            <a:r>
              <a:rPr lang="en-US" sz="2400" dirty="0" err="1">
                <a:ea typeface="MS PGothic" charset="0"/>
              </a:rPr>
              <a:t>i</a:t>
            </a:r>
            <a:r>
              <a:rPr lang="en-US" sz="2400" dirty="0">
                <a:ea typeface="MS PGothic" charset="0"/>
              </a:rPr>
              <a:t>] = true</a:t>
            </a:r>
            <a:br>
              <a:rPr lang="en-US" sz="2400" dirty="0">
                <a:ea typeface="MS PGothic" charset="0"/>
              </a:rPr>
            </a:br>
            <a:r>
              <a:rPr lang="en-US" sz="2400" dirty="0">
                <a:ea typeface="MS PGothic" charset="0"/>
              </a:rPr>
              <a:t>	go to step 2</a:t>
            </a:r>
          </a:p>
          <a:p>
            <a:pPr>
              <a:lnSpc>
                <a:spcPct val="90000"/>
              </a:lnSpc>
            </a:pPr>
            <a:endParaRPr lang="en-US" sz="2400" dirty="0">
              <a:ea typeface="MS PGothic" charset="0"/>
            </a:endParaRPr>
          </a:p>
          <a:p>
            <a:pPr>
              <a:lnSpc>
                <a:spcPct val="90000"/>
              </a:lnSpc>
              <a:buFont typeface="Monotype Sorts" charset="0"/>
              <a:buNone/>
            </a:pPr>
            <a:r>
              <a:rPr lang="en-US" sz="2400" dirty="0">
                <a:ea typeface="MS PGothic" charset="0"/>
              </a:rPr>
              <a:t>4.If Finish [</a:t>
            </a:r>
            <a:r>
              <a:rPr lang="en-US" sz="2400" dirty="0" err="1">
                <a:ea typeface="MS PGothic" charset="0"/>
              </a:rPr>
              <a:t>i</a:t>
            </a:r>
            <a:r>
              <a:rPr lang="en-US" sz="2400" dirty="0">
                <a:ea typeface="MS PGothic" charset="0"/>
              </a:rPr>
              <a:t>] == true for all </a:t>
            </a:r>
            <a:r>
              <a:rPr lang="en-US" sz="2400" dirty="0" err="1">
                <a:ea typeface="MS PGothic" charset="0"/>
              </a:rPr>
              <a:t>i</a:t>
            </a:r>
            <a:r>
              <a:rPr lang="en-US" sz="2400" dirty="0">
                <a:ea typeface="MS PGothic" charset="0"/>
              </a:rPr>
              <a:t>, then the system is in a safe state</a:t>
            </a:r>
          </a:p>
        </p:txBody>
      </p:sp>
      <p:sp>
        <p:nvSpPr>
          <p:cNvPr id="8" name="Slide Number Placeholder 7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t>102</a:t>
            </a:fld>
            <a:endParaRPr lang="en-US"/>
          </a:p>
        </p:txBody>
      </p:sp>
      <p:pic>
        <p:nvPicPr>
          <p:cNvPr id="2" name="Picture 1" descr="A black and red logo&#10;&#10;Description automatically generated">
            <a:extLst>
              <a:ext uri="{FF2B5EF4-FFF2-40B4-BE49-F238E27FC236}">
                <a16:creationId xmlns:a16="http://schemas.microsoft.com/office/drawing/2014/main" id="{B1DFF889-D933-8236-F290-E4973F92D344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-27384"/>
            <a:ext cx="1657350" cy="710452"/>
          </a:xfrm>
          <a:prstGeom prst="rect">
            <a:avLst/>
          </a:prstGeom>
        </p:spPr>
      </p:pic>
      <p:sp>
        <p:nvSpPr>
          <p:cNvPr id="3" name="Title 1">
            <a:extLst>
              <a:ext uri="{FF2B5EF4-FFF2-40B4-BE49-F238E27FC236}">
                <a16:creationId xmlns:a16="http://schemas.microsoft.com/office/drawing/2014/main" id="{4F03A00D-1325-0375-BBDE-A5F106FD0617}"/>
              </a:ext>
            </a:extLst>
          </p:cNvPr>
          <p:cNvSpPr txBox="1">
            <a:spLocks/>
          </p:cNvSpPr>
          <p:nvPr/>
        </p:nvSpPr>
        <p:spPr>
          <a:xfrm>
            <a:off x="2171700" y="116632"/>
            <a:ext cx="5829300" cy="514349"/>
          </a:xfrm>
          <a:prstGeom prst="rect">
            <a:avLst/>
          </a:prstGeom>
          <a:gradFill flip="none" rotWithShape="1">
            <a:gsLst>
              <a:gs pos="0">
                <a:srgbClr val="FF0000">
                  <a:tint val="66000"/>
                  <a:satMod val="160000"/>
                </a:srgbClr>
              </a:gs>
              <a:gs pos="50000">
                <a:srgbClr val="FF0000">
                  <a:tint val="44500"/>
                  <a:satMod val="160000"/>
                </a:srgbClr>
              </a:gs>
              <a:gs pos="100000">
                <a:srgbClr val="FF0000">
                  <a:tint val="23500"/>
                  <a:satMod val="160000"/>
                </a:srgbClr>
              </a:gs>
            </a:gsLst>
            <a:lin ang="0" scaled="1"/>
            <a:tileRect/>
          </a:gradFill>
        </p:spPr>
        <p:style>
          <a:lnRef idx="1">
            <a:schemeClr val="accent5"/>
          </a:lnRef>
          <a:fillRef idx="2">
            <a:schemeClr val="accent5"/>
          </a:fillRef>
          <a:effectRef idx="1">
            <a:schemeClr val="accent5"/>
          </a:effectRef>
          <a:fontRef idx="minor">
            <a:schemeClr val="dk1"/>
          </a:fontRef>
        </p:style>
        <p:txBody>
          <a:bodyPr vert="horz" lIns="68580" tIns="34290" rIns="68580" bIns="34290" rtlCol="0" anchor="ctr">
            <a:noAutofit/>
          </a:bodyPr>
          <a:lstStyle>
            <a:defPPr>
              <a:defRPr lang="en-US"/>
            </a:defPPr>
            <a:lvl1pPr algn="ctr">
              <a:spcBef>
                <a:spcPct val="0"/>
              </a:spcBef>
              <a:buNone/>
              <a:defRPr sz="2800"/>
            </a:lvl1pPr>
          </a:lstStyle>
          <a:p>
            <a:pPr>
              <a:defRPr/>
            </a:pPr>
            <a:r>
              <a:rPr lang="en-US" sz="2400" dirty="0">
                <a:latin typeface="+mj-lt"/>
                <a:ea typeface="MS PGothic" charset="0"/>
              </a:rPr>
              <a:t>Safety Algorithm</a:t>
            </a:r>
            <a:r>
              <a:rPr lang="en-IN" sz="2400" dirty="0">
                <a:latin typeface="+mj-lt"/>
              </a:rPr>
              <a:t>(CO3)</a:t>
            </a:r>
            <a:endParaRPr lang="en-US" sz="2100" dirty="0"/>
          </a:p>
        </p:txBody>
      </p:sp>
    </p:spTree>
  </p:cSld>
  <p:clrMapOvr>
    <a:masterClrMapping/>
  </p:clrMapOvr>
  <p:transition>
    <p:dissolve/>
  </p:transition>
</p:sld>
</file>

<file path=ppt/slides/slide10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22293D1-A1D0-4441-968C-D7B579470A5F}" type="datetime3">
              <a:rPr lang="en-US" smtClean="0"/>
              <a:t>1 September 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2514600" y="6356350"/>
            <a:ext cx="5181600" cy="365125"/>
          </a:xfrm>
        </p:spPr>
        <p:txBody>
          <a:bodyPr/>
          <a:lstStyle/>
          <a:p>
            <a:r>
              <a:rPr lang="en-US"/>
              <a:t>Atul Garg           BCSE0303            Unit- III</a:t>
            </a:r>
            <a:endParaRPr lang="en-US" dirty="0"/>
          </a:p>
        </p:txBody>
      </p:sp>
      <p:sp>
        <p:nvSpPr>
          <p:cNvPr id="10" name="Rectangle 9"/>
          <p:cNvSpPr/>
          <p:nvPr/>
        </p:nvSpPr>
        <p:spPr>
          <a:xfrm>
            <a:off x="899592" y="764704"/>
            <a:ext cx="7488832" cy="505779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buFont typeface="Monotype Sorts" charset="0"/>
              <a:buNone/>
            </a:pPr>
            <a:r>
              <a:rPr lang="en-US" sz="2200" i="1" dirty="0">
                <a:latin typeface="Helvetica" charset="0"/>
                <a:ea typeface="MS PGothic" charset="0"/>
              </a:rPr>
              <a:t> </a:t>
            </a:r>
            <a:r>
              <a:rPr lang="en-US" sz="2200" b="1" dirty="0" err="1">
                <a:ea typeface="MS PGothic" charset="0"/>
              </a:rPr>
              <a:t>Request</a:t>
            </a:r>
            <a:r>
              <a:rPr lang="en-US" sz="2200" b="1" baseline="-25000" dirty="0" err="1">
                <a:ea typeface="MS PGothic" charset="0"/>
              </a:rPr>
              <a:t>i</a:t>
            </a:r>
            <a:r>
              <a:rPr lang="en-US" sz="2200" dirty="0">
                <a:ea typeface="MS PGothic" charset="0"/>
              </a:rPr>
              <a:t> = request vector for process </a:t>
            </a:r>
            <a:r>
              <a:rPr lang="en-US" sz="2200" b="1" dirty="0">
                <a:ea typeface="MS PGothic" charset="0"/>
              </a:rPr>
              <a:t>P</a:t>
            </a:r>
            <a:r>
              <a:rPr lang="en-US" sz="2200" b="1" baseline="-25000" dirty="0">
                <a:ea typeface="MS PGothic" charset="0"/>
              </a:rPr>
              <a:t>i</a:t>
            </a:r>
            <a:r>
              <a:rPr lang="en-US" sz="2200" dirty="0">
                <a:ea typeface="MS PGothic" charset="0"/>
              </a:rPr>
              <a:t>.  If </a:t>
            </a:r>
            <a:r>
              <a:rPr lang="en-US" sz="2200" b="1" dirty="0" err="1">
                <a:ea typeface="MS PGothic" charset="0"/>
              </a:rPr>
              <a:t>Request</a:t>
            </a:r>
            <a:r>
              <a:rPr lang="en-US" sz="2200" b="1" baseline="-25000" dirty="0" err="1">
                <a:ea typeface="MS PGothic" charset="0"/>
              </a:rPr>
              <a:t>i</a:t>
            </a:r>
            <a:r>
              <a:rPr lang="en-US" sz="2200" b="1" baseline="-25000" dirty="0">
                <a:ea typeface="MS PGothic" charset="0"/>
              </a:rPr>
              <a:t> </a:t>
            </a:r>
            <a:r>
              <a:rPr lang="en-US" sz="2200" b="1" dirty="0">
                <a:ea typeface="MS PGothic" charset="0"/>
              </a:rPr>
              <a:t>[j] = k </a:t>
            </a:r>
            <a:r>
              <a:rPr lang="en-US" sz="2200" dirty="0">
                <a:ea typeface="MS PGothic" charset="0"/>
              </a:rPr>
              <a:t>then process </a:t>
            </a:r>
            <a:r>
              <a:rPr lang="en-US" sz="2200" b="1" dirty="0">
                <a:ea typeface="MS PGothic" charset="0"/>
              </a:rPr>
              <a:t>P</a:t>
            </a:r>
            <a:r>
              <a:rPr lang="en-US" sz="2200" b="1" baseline="-25000" dirty="0">
                <a:ea typeface="MS PGothic" charset="0"/>
              </a:rPr>
              <a:t>i</a:t>
            </a:r>
            <a:r>
              <a:rPr lang="en-US" sz="2200" dirty="0">
                <a:ea typeface="MS PGothic" charset="0"/>
              </a:rPr>
              <a:t> wants </a:t>
            </a:r>
            <a:r>
              <a:rPr lang="en-US" sz="2200" b="1" dirty="0">
                <a:ea typeface="MS PGothic" charset="0"/>
              </a:rPr>
              <a:t>k</a:t>
            </a:r>
            <a:r>
              <a:rPr lang="en-US" sz="2200" dirty="0">
                <a:ea typeface="MS PGothic" charset="0"/>
              </a:rPr>
              <a:t> instances of resource type </a:t>
            </a:r>
            <a:r>
              <a:rPr lang="en-US" sz="2200" b="1" dirty="0">
                <a:ea typeface="MS PGothic" charset="0"/>
              </a:rPr>
              <a:t>R</a:t>
            </a:r>
            <a:r>
              <a:rPr lang="en-US" sz="2200" b="1" baseline="-25000" dirty="0">
                <a:ea typeface="MS PGothic" charset="0"/>
              </a:rPr>
              <a:t>j</a:t>
            </a:r>
          </a:p>
          <a:p>
            <a:pPr>
              <a:buFont typeface="Monotype Sorts" charset="0"/>
              <a:buNone/>
            </a:pPr>
            <a:endParaRPr lang="en-US" sz="2200" b="1" baseline="-25000" dirty="0">
              <a:ea typeface="MS PGothic" charset="0"/>
            </a:endParaRPr>
          </a:p>
          <a:p>
            <a:pPr lvl="1">
              <a:buFont typeface="Monotype Sorts" charset="0"/>
              <a:buNone/>
            </a:pPr>
            <a:r>
              <a:rPr lang="en-US" sz="2200" dirty="0">
                <a:ea typeface="MS PGothic" charset="0"/>
              </a:rPr>
              <a:t>1.	If </a:t>
            </a:r>
            <a:r>
              <a:rPr lang="en-US" sz="2200" b="1" dirty="0" err="1">
                <a:ea typeface="MS PGothic" charset="0"/>
              </a:rPr>
              <a:t>Request</a:t>
            </a:r>
            <a:r>
              <a:rPr lang="en-US" sz="2200" b="1" baseline="-25000" dirty="0" err="1">
                <a:ea typeface="MS PGothic" charset="0"/>
              </a:rPr>
              <a:t>i</a:t>
            </a:r>
            <a:r>
              <a:rPr lang="en-US" sz="2200" b="1" dirty="0">
                <a:ea typeface="MS PGothic" charset="0"/>
              </a:rPr>
              <a:t> </a:t>
            </a:r>
            <a:r>
              <a:rPr lang="en-US" sz="2200" b="1" dirty="0">
                <a:ea typeface="MS PGothic" charset="0"/>
                <a:sym typeface="Symbol" charset="0"/>
              </a:rPr>
              <a:t> </a:t>
            </a:r>
            <a:r>
              <a:rPr lang="en-US" sz="2200" b="1" dirty="0" err="1">
                <a:ea typeface="MS PGothic" charset="0"/>
                <a:sym typeface="Symbol" charset="0"/>
              </a:rPr>
              <a:t>Need</a:t>
            </a:r>
            <a:r>
              <a:rPr lang="en-US" sz="2200" b="1" baseline="-25000" dirty="0" err="1">
                <a:ea typeface="MS PGothic" charset="0"/>
                <a:sym typeface="Symbol" charset="0"/>
              </a:rPr>
              <a:t>i</a:t>
            </a:r>
            <a:r>
              <a:rPr lang="en-US" sz="2200" b="1" dirty="0">
                <a:ea typeface="MS PGothic" charset="0"/>
                <a:sym typeface="Symbol" charset="0"/>
              </a:rPr>
              <a:t> </a:t>
            </a:r>
            <a:r>
              <a:rPr lang="en-US" sz="2200" dirty="0">
                <a:ea typeface="MS PGothic" charset="0"/>
                <a:sym typeface="Symbol" charset="0"/>
              </a:rPr>
              <a:t>go to step 2.  Otherwise, raise error condition, since process has exceeded its maximum claim</a:t>
            </a:r>
          </a:p>
          <a:p>
            <a:pPr lvl="1">
              <a:buFont typeface="Monotype Sorts" charset="0"/>
              <a:buNone/>
            </a:pPr>
            <a:r>
              <a:rPr lang="en-US" sz="2200" dirty="0">
                <a:ea typeface="MS PGothic" charset="0"/>
                <a:sym typeface="Symbol" charset="0"/>
              </a:rPr>
              <a:t>2.	If </a:t>
            </a:r>
            <a:r>
              <a:rPr lang="en-US" sz="2200" b="1" dirty="0" err="1">
                <a:ea typeface="MS PGothic" charset="0"/>
              </a:rPr>
              <a:t>Request</a:t>
            </a:r>
            <a:r>
              <a:rPr lang="en-US" sz="2200" b="1" baseline="-25000" dirty="0" err="1">
                <a:ea typeface="MS PGothic" charset="0"/>
              </a:rPr>
              <a:t>i</a:t>
            </a:r>
            <a:r>
              <a:rPr lang="en-US" sz="2200" b="1" dirty="0">
                <a:ea typeface="MS PGothic" charset="0"/>
              </a:rPr>
              <a:t> </a:t>
            </a:r>
            <a:r>
              <a:rPr lang="en-US" sz="2200" b="1" dirty="0">
                <a:ea typeface="MS PGothic" charset="0"/>
                <a:sym typeface="Symbol" charset="0"/>
              </a:rPr>
              <a:t> Available</a:t>
            </a:r>
            <a:r>
              <a:rPr lang="en-US" sz="2200" dirty="0">
                <a:ea typeface="MS PGothic" charset="0"/>
                <a:sym typeface="Symbol" charset="0"/>
              </a:rPr>
              <a:t>, go to step 3.  Otherwise </a:t>
            </a:r>
            <a:r>
              <a:rPr lang="en-US" sz="2200" b="1" dirty="0">
                <a:ea typeface="MS PGothic" charset="0"/>
                <a:sym typeface="Symbol" charset="0"/>
              </a:rPr>
              <a:t>P</a:t>
            </a:r>
            <a:r>
              <a:rPr lang="en-US" sz="2200" b="1" baseline="-25000" dirty="0">
                <a:ea typeface="MS PGothic" charset="0"/>
                <a:sym typeface="Symbol" charset="0"/>
              </a:rPr>
              <a:t>i</a:t>
            </a:r>
            <a:r>
              <a:rPr lang="en-US" sz="2200" dirty="0">
                <a:ea typeface="MS PGothic" charset="0"/>
                <a:sym typeface="Symbol" charset="0"/>
              </a:rPr>
              <a:t>  must wait, since resources are not available</a:t>
            </a:r>
          </a:p>
          <a:p>
            <a:pPr lvl="1">
              <a:buFont typeface="Monotype Sorts" charset="0"/>
              <a:buNone/>
            </a:pPr>
            <a:r>
              <a:rPr lang="en-US" sz="2200" dirty="0">
                <a:ea typeface="MS PGothic" charset="0"/>
                <a:sym typeface="Symbol" charset="0"/>
              </a:rPr>
              <a:t>3.	Pretend to allocate requested resources to </a:t>
            </a:r>
            <a:r>
              <a:rPr lang="en-US" sz="2200" b="1" dirty="0">
                <a:ea typeface="MS PGothic" charset="0"/>
                <a:sym typeface="Symbol" charset="0"/>
              </a:rPr>
              <a:t>P</a:t>
            </a:r>
            <a:r>
              <a:rPr lang="en-US" sz="2200" b="1" baseline="-25000" dirty="0">
                <a:ea typeface="MS PGothic" charset="0"/>
                <a:sym typeface="Symbol" charset="0"/>
              </a:rPr>
              <a:t>i</a:t>
            </a:r>
            <a:r>
              <a:rPr lang="en-US" sz="2200" dirty="0">
                <a:ea typeface="MS PGothic" charset="0"/>
                <a:sym typeface="Symbol" charset="0"/>
              </a:rPr>
              <a:t> by modifying the state as follows:</a:t>
            </a:r>
          </a:p>
          <a:p>
            <a:pPr lvl="3">
              <a:buFontTx/>
              <a:buNone/>
            </a:pPr>
            <a:r>
              <a:rPr lang="en-US" sz="2200" dirty="0">
                <a:ea typeface="MS PGothic" charset="0"/>
                <a:sym typeface="Symbol" charset="0"/>
              </a:rPr>
              <a:t>		</a:t>
            </a:r>
            <a:r>
              <a:rPr lang="en-US" sz="2200" b="1" dirty="0">
                <a:ea typeface="MS PGothic" charset="0"/>
                <a:sym typeface="Symbol" charset="0"/>
              </a:rPr>
              <a:t>Available = Available  – </a:t>
            </a:r>
            <a:r>
              <a:rPr lang="en-US" sz="2200" b="1" dirty="0" err="1">
                <a:ea typeface="MS PGothic" charset="0"/>
                <a:sym typeface="Symbol" charset="0"/>
              </a:rPr>
              <a:t>Request</a:t>
            </a:r>
            <a:r>
              <a:rPr lang="en-US" sz="2200" b="1" baseline="-25000" dirty="0" err="1">
                <a:ea typeface="MS PGothic" charset="0"/>
                <a:sym typeface="Symbol" charset="0"/>
              </a:rPr>
              <a:t>i</a:t>
            </a:r>
            <a:r>
              <a:rPr lang="en-US" sz="2200" b="1" dirty="0">
                <a:ea typeface="MS PGothic" charset="0"/>
                <a:sym typeface="Symbol" charset="0"/>
              </a:rPr>
              <a:t>;</a:t>
            </a:r>
          </a:p>
          <a:p>
            <a:pPr lvl="3">
              <a:buFontTx/>
              <a:buNone/>
            </a:pPr>
            <a:r>
              <a:rPr lang="en-US" sz="2200" b="1" dirty="0">
                <a:ea typeface="MS PGothic" charset="0"/>
                <a:sym typeface="Symbol" charset="0"/>
              </a:rPr>
              <a:t>		</a:t>
            </a:r>
            <a:r>
              <a:rPr lang="en-US" sz="2200" b="1" dirty="0" err="1">
                <a:ea typeface="MS PGothic" charset="0"/>
                <a:sym typeface="Symbol" charset="0"/>
              </a:rPr>
              <a:t>Allocation</a:t>
            </a:r>
            <a:r>
              <a:rPr lang="en-US" sz="2200" b="1" baseline="-25000" dirty="0" err="1">
                <a:ea typeface="MS PGothic" charset="0"/>
                <a:sym typeface="Symbol" charset="0"/>
              </a:rPr>
              <a:t>i</a:t>
            </a:r>
            <a:r>
              <a:rPr lang="en-US" sz="2200" b="1" baseline="-25000" dirty="0">
                <a:ea typeface="MS PGothic" charset="0"/>
                <a:sym typeface="Symbol" charset="0"/>
              </a:rPr>
              <a:t> </a:t>
            </a:r>
            <a:r>
              <a:rPr lang="en-US" sz="2200" b="1" dirty="0">
                <a:ea typeface="MS PGothic" charset="0"/>
                <a:sym typeface="Symbol" charset="0"/>
              </a:rPr>
              <a:t>= </a:t>
            </a:r>
            <a:r>
              <a:rPr lang="en-US" sz="2200" b="1" dirty="0" err="1">
                <a:ea typeface="MS PGothic" charset="0"/>
                <a:sym typeface="Symbol" charset="0"/>
              </a:rPr>
              <a:t>Allocation</a:t>
            </a:r>
            <a:r>
              <a:rPr lang="en-US" sz="2200" b="1" baseline="-25000" dirty="0" err="1">
                <a:ea typeface="MS PGothic" charset="0"/>
                <a:sym typeface="Symbol" charset="0"/>
              </a:rPr>
              <a:t>i</a:t>
            </a:r>
            <a:r>
              <a:rPr lang="en-US" sz="2200" b="1" dirty="0">
                <a:ea typeface="MS PGothic" charset="0"/>
                <a:sym typeface="Symbol" charset="0"/>
              </a:rPr>
              <a:t> + </a:t>
            </a:r>
            <a:r>
              <a:rPr lang="en-US" sz="2200" b="1" dirty="0" err="1">
                <a:ea typeface="MS PGothic" charset="0"/>
                <a:sym typeface="Symbol" charset="0"/>
              </a:rPr>
              <a:t>Request</a:t>
            </a:r>
            <a:r>
              <a:rPr lang="en-US" sz="2200" b="1" baseline="-25000" dirty="0" err="1">
                <a:ea typeface="MS PGothic" charset="0"/>
                <a:sym typeface="Symbol" charset="0"/>
              </a:rPr>
              <a:t>i</a:t>
            </a:r>
            <a:r>
              <a:rPr lang="en-US" sz="2200" b="1" dirty="0">
                <a:ea typeface="MS PGothic" charset="0"/>
                <a:sym typeface="Symbol" charset="0"/>
              </a:rPr>
              <a:t>;</a:t>
            </a:r>
          </a:p>
          <a:p>
            <a:pPr lvl="3">
              <a:buFontTx/>
              <a:buNone/>
            </a:pPr>
            <a:r>
              <a:rPr lang="en-US" sz="2200" b="1" dirty="0">
                <a:ea typeface="MS PGothic" charset="0"/>
                <a:sym typeface="Symbol" charset="0"/>
              </a:rPr>
              <a:t>		</a:t>
            </a:r>
            <a:r>
              <a:rPr lang="en-US" sz="2200" b="1" dirty="0" err="1">
                <a:ea typeface="MS PGothic" charset="0"/>
                <a:sym typeface="Symbol" charset="0"/>
              </a:rPr>
              <a:t>Need</a:t>
            </a:r>
            <a:r>
              <a:rPr lang="en-US" sz="2200" b="1" baseline="-25000" dirty="0" err="1">
                <a:ea typeface="MS PGothic" charset="0"/>
                <a:sym typeface="Symbol" charset="0"/>
              </a:rPr>
              <a:t>i</a:t>
            </a:r>
            <a:r>
              <a:rPr lang="en-US" sz="2200" b="1" dirty="0">
                <a:ea typeface="MS PGothic" charset="0"/>
                <a:sym typeface="Symbol" charset="0"/>
              </a:rPr>
              <a:t> = </a:t>
            </a:r>
            <a:r>
              <a:rPr lang="en-US" sz="2200" b="1" dirty="0" err="1">
                <a:ea typeface="MS PGothic" charset="0"/>
                <a:sym typeface="Symbol" charset="0"/>
              </a:rPr>
              <a:t>Need</a:t>
            </a:r>
            <a:r>
              <a:rPr lang="en-US" sz="2200" b="1" baseline="-25000" dirty="0" err="1">
                <a:ea typeface="MS PGothic" charset="0"/>
                <a:sym typeface="Symbol" charset="0"/>
              </a:rPr>
              <a:t>i</a:t>
            </a:r>
            <a:r>
              <a:rPr lang="en-US" sz="2200" b="1" dirty="0">
                <a:ea typeface="MS PGothic" charset="0"/>
                <a:sym typeface="Symbol" charset="0"/>
              </a:rPr>
              <a:t> – </a:t>
            </a:r>
            <a:r>
              <a:rPr lang="en-US" sz="2200" b="1" dirty="0" err="1">
                <a:ea typeface="MS PGothic" charset="0"/>
                <a:sym typeface="Symbol" charset="0"/>
              </a:rPr>
              <a:t>Request</a:t>
            </a:r>
            <a:r>
              <a:rPr lang="en-US" sz="2200" b="1" baseline="-25000" dirty="0" err="1">
                <a:ea typeface="MS PGothic" charset="0"/>
                <a:sym typeface="Symbol" charset="0"/>
              </a:rPr>
              <a:t>i</a:t>
            </a:r>
            <a:r>
              <a:rPr lang="en-US" sz="2200" b="1" dirty="0">
                <a:ea typeface="MS PGothic" charset="0"/>
                <a:sym typeface="Symbol" charset="0"/>
              </a:rPr>
              <a:t>;</a:t>
            </a:r>
          </a:p>
          <a:p>
            <a:pPr lvl="2">
              <a:buClr>
                <a:srgbClr val="CC6600"/>
              </a:buClr>
              <a:buSzPct val="80000"/>
              <a:buFont typeface="Arial" panose="020B0604020202020204" pitchFamily="34" charset="0"/>
              <a:buChar char="•"/>
            </a:pPr>
            <a:r>
              <a:rPr lang="en-US" sz="2200" dirty="0">
                <a:ea typeface="MS PGothic" charset="0"/>
                <a:sym typeface="Symbol" charset="0"/>
              </a:rPr>
              <a:t>If safe  the resources are allocated to </a:t>
            </a:r>
            <a:r>
              <a:rPr lang="en-US" sz="2200" b="1" dirty="0">
                <a:ea typeface="MS PGothic" charset="0"/>
                <a:sym typeface="Symbol" charset="0"/>
              </a:rPr>
              <a:t>P</a:t>
            </a:r>
            <a:r>
              <a:rPr lang="en-US" sz="2200" b="1" baseline="-25000" dirty="0">
                <a:ea typeface="MS PGothic" charset="0"/>
                <a:sym typeface="Symbol" charset="0"/>
              </a:rPr>
              <a:t>i</a:t>
            </a:r>
          </a:p>
          <a:p>
            <a:pPr lvl="2">
              <a:buClr>
                <a:srgbClr val="CC6600"/>
              </a:buClr>
              <a:buSzPct val="80000"/>
              <a:buFont typeface="Arial" panose="020B0604020202020204" pitchFamily="34" charset="0"/>
              <a:buChar char="•"/>
            </a:pPr>
            <a:r>
              <a:rPr lang="en-US" sz="2200" dirty="0">
                <a:ea typeface="MS PGothic" charset="0"/>
                <a:sym typeface="Symbol" charset="0"/>
              </a:rPr>
              <a:t>If unsafe  </a:t>
            </a:r>
            <a:r>
              <a:rPr lang="en-US" sz="2200" b="1" dirty="0">
                <a:ea typeface="MS PGothic" charset="0"/>
                <a:sym typeface="Symbol" charset="0"/>
              </a:rPr>
              <a:t>P</a:t>
            </a:r>
            <a:r>
              <a:rPr lang="en-US" sz="2200" b="1" baseline="-25000" dirty="0">
                <a:ea typeface="MS PGothic" charset="0"/>
                <a:sym typeface="Symbol" charset="0"/>
              </a:rPr>
              <a:t>i</a:t>
            </a:r>
            <a:r>
              <a:rPr lang="en-US" sz="2200" dirty="0">
                <a:ea typeface="MS PGothic" charset="0"/>
                <a:sym typeface="Symbol" charset="0"/>
              </a:rPr>
              <a:t> must wait, and the old resource-allocation state is restored</a:t>
            </a:r>
            <a:endParaRPr lang="en-IN" sz="2200" dirty="0"/>
          </a:p>
        </p:txBody>
      </p:sp>
      <p:sp>
        <p:nvSpPr>
          <p:cNvPr id="8" name="Slide Number Placeholder 7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t>103</a:t>
            </a:fld>
            <a:endParaRPr lang="en-US"/>
          </a:p>
        </p:txBody>
      </p:sp>
      <p:pic>
        <p:nvPicPr>
          <p:cNvPr id="2" name="Picture 1" descr="A black and red logo&#10;&#10;Description automatically generated">
            <a:extLst>
              <a:ext uri="{FF2B5EF4-FFF2-40B4-BE49-F238E27FC236}">
                <a16:creationId xmlns:a16="http://schemas.microsoft.com/office/drawing/2014/main" id="{F46FEE37-19ED-989C-A386-F5FECED6D23F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-27384"/>
            <a:ext cx="1657350" cy="710452"/>
          </a:xfrm>
          <a:prstGeom prst="rect">
            <a:avLst/>
          </a:prstGeom>
        </p:spPr>
      </p:pic>
      <p:sp>
        <p:nvSpPr>
          <p:cNvPr id="3" name="Title 1">
            <a:extLst>
              <a:ext uri="{FF2B5EF4-FFF2-40B4-BE49-F238E27FC236}">
                <a16:creationId xmlns:a16="http://schemas.microsoft.com/office/drawing/2014/main" id="{187DE628-3EAC-99FC-FE18-A408F87573E8}"/>
              </a:ext>
            </a:extLst>
          </p:cNvPr>
          <p:cNvSpPr txBox="1">
            <a:spLocks/>
          </p:cNvSpPr>
          <p:nvPr/>
        </p:nvSpPr>
        <p:spPr>
          <a:xfrm>
            <a:off x="1907704" y="44624"/>
            <a:ext cx="6792788" cy="514349"/>
          </a:xfrm>
          <a:prstGeom prst="rect">
            <a:avLst/>
          </a:prstGeom>
          <a:gradFill flip="none" rotWithShape="1">
            <a:gsLst>
              <a:gs pos="0">
                <a:srgbClr val="FF0000">
                  <a:tint val="66000"/>
                  <a:satMod val="160000"/>
                </a:srgbClr>
              </a:gs>
              <a:gs pos="50000">
                <a:srgbClr val="FF0000">
                  <a:tint val="44500"/>
                  <a:satMod val="160000"/>
                </a:srgbClr>
              </a:gs>
              <a:gs pos="100000">
                <a:srgbClr val="FF0000">
                  <a:tint val="23500"/>
                  <a:satMod val="160000"/>
                </a:srgbClr>
              </a:gs>
            </a:gsLst>
            <a:lin ang="0" scaled="1"/>
            <a:tileRect/>
          </a:gradFill>
        </p:spPr>
        <p:style>
          <a:lnRef idx="1">
            <a:schemeClr val="accent5"/>
          </a:lnRef>
          <a:fillRef idx="2">
            <a:schemeClr val="accent5"/>
          </a:fillRef>
          <a:effectRef idx="1">
            <a:schemeClr val="accent5"/>
          </a:effectRef>
          <a:fontRef idx="minor">
            <a:schemeClr val="dk1"/>
          </a:fontRef>
        </p:style>
        <p:txBody>
          <a:bodyPr vert="horz" lIns="68580" tIns="34290" rIns="68580" bIns="34290" rtlCol="0" anchor="ctr">
            <a:noAutofit/>
          </a:bodyPr>
          <a:lstStyle>
            <a:defPPr>
              <a:defRPr lang="en-US"/>
            </a:defPPr>
            <a:lvl1pPr algn="ctr">
              <a:spcBef>
                <a:spcPct val="0"/>
              </a:spcBef>
              <a:buNone/>
              <a:defRPr sz="2800"/>
            </a:lvl1pPr>
          </a:lstStyle>
          <a:p>
            <a:pPr>
              <a:defRPr/>
            </a:pPr>
            <a:r>
              <a:rPr lang="en-US" sz="2400" dirty="0">
                <a:latin typeface="Arial" panose="020B0604020202020204" pitchFamily="34" charset="0"/>
                <a:ea typeface="MS PGothic" charset="0"/>
              </a:rPr>
              <a:t>Resource-Request Algorithm for Process </a:t>
            </a:r>
            <a:r>
              <a:rPr lang="en-US" sz="2400" i="1" dirty="0">
                <a:latin typeface="Arial" panose="020B0604020202020204" pitchFamily="34" charset="0"/>
                <a:ea typeface="MS PGothic" charset="0"/>
              </a:rPr>
              <a:t>P</a:t>
            </a:r>
            <a:r>
              <a:rPr lang="en-US" sz="2400" i="1" baseline="-25000" dirty="0">
                <a:latin typeface="Arial" panose="020B0604020202020204" pitchFamily="34" charset="0"/>
                <a:ea typeface="MS PGothic" charset="0"/>
              </a:rPr>
              <a:t>i</a:t>
            </a:r>
            <a:r>
              <a:rPr lang="en-IN" sz="2400" dirty="0"/>
              <a:t>(CO3)</a:t>
            </a:r>
            <a:endParaRPr lang="en-US" sz="2100" dirty="0"/>
          </a:p>
        </p:txBody>
      </p:sp>
    </p:spTree>
  </p:cSld>
  <p:clrMapOvr>
    <a:masterClrMapping/>
  </p:clrMapOvr>
  <p:transition>
    <p:dissolve/>
  </p:transition>
</p:sld>
</file>

<file path=ppt/slides/slide10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1E96A69-3FFA-43B1-BCC0-8B8A024BB150}" type="datetime3">
              <a:rPr lang="en-US" smtClean="0"/>
              <a:t>1 September 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2514600" y="6356350"/>
            <a:ext cx="5181600" cy="365125"/>
          </a:xfrm>
        </p:spPr>
        <p:txBody>
          <a:bodyPr/>
          <a:lstStyle/>
          <a:p>
            <a:r>
              <a:rPr lang="en-US"/>
              <a:t>Atul Garg           BCSE0303            Unit- III</a:t>
            </a:r>
            <a:endParaRPr lang="en-US" dirty="0"/>
          </a:p>
        </p:txBody>
      </p:sp>
      <p:sp>
        <p:nvSpPr>
          <p:cNvPr id="10" name="Rectangle 9"/>
          <p:cNvSpPr/>
          <p:nvPr/>
        </p:nvSpPr>
        <p:spPr>
          <a:xfrm>
            <a:off x="395536" y="980728"/>
            <a:ext cx="8748464" cy="54771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endParaRPr lang="en-IN" sz="2200" dirty="0"/>
          </a:p>
        </p:txBody>
      </p:sp>
      <p:sp>
        <p:nvSpPr>
          <p:cNvPr id="14" name="Rectangle 3"/>
          <p:cNvSpPr txBox="1">
            <a:spLocks noChangeArrowheads="1"/>
          </p:cNvSpPr>
          <p:nvPr/>
        </p:nvSpPr>
        <p:spPr>
          <a:xfrm>
            <a:off x="827584" y="764704"/>
            <a:ext cx="7920880" cy="4415954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/>
          <a:p>
            <a:pPr marL="342900" marR="0" lvl="0" indent="-342900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>
                <a:tab pos="1371600" algn="l"/>
                <a:tab pos="2395220" algn="ctr"/>
                <a:tab pos="3594100" algn="ctr"/>
                <a:tab pos="4805045" algn="ctr"/>
              </a:tabLst>
              <a:defRPr/>
            </a:pP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ea typeface="MS PGothic" charset="0"/>
                <a:cs typeface="+mn-cs"/>
              </a:rPr>
              <a:t>5 processes </a:t>
            </a:r>
            <a:r>
              <a:rPr kumimoji="0" lang="en-US" sz="2400" b="0" i="1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ea typeface="MS PGothic" charset="0"/>
                <a:cs typeface="+mn-cs"/>
              </a:rPr>
              <a:t>P</a:t>
            </a:r>
            <a:r>
              <a:rPr kumimoji="0" lang="en-US" sz="2400" b="0" i="0" u="none" strike="noStrike" kern="1200" cap="none" spc="0" normalizeH="0" baseline="-2500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ea typeface="MS PGothic" charset="0"/>
                <a:cs typeface="+mn-cs"/>
              </a:rPr>
              <a:t>0  </a:t>
            </a: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ea typeface="MS PGothic" charset="0"/>
                <a:cs typeface="+mn-cs"/>
              </a:rPr>
              <a:t>through </a:t>
            </a:r>
            <a:r>
              <a:rPr kumimoji="0" lang="en-US" sz="2400" b="0" i="1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ea typeface="MS PGothic" charset="0"/>
                <a:cs typeface="+mn-cs"/>
              </a:rPr>
              <a:t>P</a:t>
            </a:r>
            <a:r>
              <a:rPr kumimoji="0" lang="en-US" sz="2400" b="0" i="0" u="none" strike="noStrike" kern="1200" cap="none" spc="0" normalizeH="0" baseline="-2500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ea typeface="MS PGothic" charset="0"/>
                <a:cs typeface="+mn-cs"/>
              </a:rPr>
              <a:t>4</a:t>
            </a: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ea typeface="MS PGothic" charset="0"/>
                <a:cs typeface="+mn-cs"/>
              </a:rPr>
              <a:t>; </a:t>
            </a:r>
          </a:p>
          <a:p>
            <a:pPr marL="342900" marR="0" lvl="0" indent="-342900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Monotype Sorts" charset="0"/>
              <a:buNone/>
              <a:tabLst>
                <a:tab pos="1371600" algn="l"/>
                <a:tab pos="2395220" algn="ctr"/>
                <a:tab pos="3594100" algn="ctr"/>
                <a:tab pos="4805045" algn="ctr"/>
              </a:tabLst>
              <a:defRPr/>
            </a:pP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ea typeface="MS PGothic" charset="0"/>
                <a:cs typeface="+mn-cs"/>
              </a:rPr>
              <a:t>      3 resource types:</a:t>
            </a:r>
          </a:p>
          <a:p>
            <a:pPr marL="342900" marR="0" lvl="0" indent="-342900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Monotype Sorts" charset="0"/>
              <a:buNone/>
              <a:tabLst>
                <a:tab pos="1371600" algn="l"/>
                <a:tab pos="2395220" algn="ctr"/>
                <a:tab pos="3594100" algn="ctr"/>
                <a:tab pos="4805045" algn="ctr"/>
              </a:tabLst>
              <a:defRPr/>
            </a:pP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ea typeface="MS PGothic" charset="0"/>
                <a:cs typeface="+mn-cs"/>
              </a:rPr>
              <a:t>              </a:t>
            </a:r>
            <a:r>
              <a:rPr kumimoji="0" lang="en-US" sz="2400" b="0" i="1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ea typeface="MS PGothic" charset="0"/>
                <a:cs typeface="+mn-cs"/>
              </a:rPr>
              <a:t>A</a:t>
            </a: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ea typeface="MS PGothic" charset="0"/>
                <a:cs typeface="+mn-cs"/>
              </a:rPr>
              <a:t> (10 instances),  </a:t>
            </a:r>
            <a:r>
              <a:rPr kumimoji="0" lang="en-US" sz="2400" b="0" i="1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ea typeface="MS PGothic" charset="0"/>
                <a:cs typeface="+mn-cs"/>
              </a:rPr>
              <a:t>B</a:t>
            </a: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ea typeface="MS PGothic" charset="0"/>
                <a:cs typeface="+mn-cs"/>
              </a:rPr>
              <a:t> (5 instances), and </a:t>
            </a:r>
            <a:r>
              <a:rPr kumimoji="0" lang="en-US" sz="2400" b="0" i="1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ea typeface="MS PGothic" charset="0"/>
                <a:cs typeface="+mn-cs"/>
              </a:rPr>
              <a:t>C</a:t>
            </a: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ea typeface="MS PGothic" charset="0"/>
                <a:cs typeface="+mn-cs"/>
              </a:rPr>
              <a:t> (7 instances)</a:t>
            </a:r>
          </a:p>
          <a:p>
            <a:pPr marL="342900" marR="0" lvl="0" indent="-342900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>
                <a:tab pos="1371600" algn="l"/>
                <a:tab pos="2395220" algn="ctr"/>
                <a:tab pos="3594100" algn="ctr"/>
                <a:tab pos="4805045" algn="ctr"/>
              </a:tabLst>
              <a:defRPr/>
            </a:pP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ea typeface="MS PGothic" charset="0"/>
                <a:cs typeface="+mn-cs"/>
              </a:rPr>
              <a:t>Snapshot at time </a:t>
            </a:r>
            <a:r>
              <a:rPr kumimoji="0" lang="en-US" sz="2400" b="0" i="1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ea typeface="MS PGothic" charset="0"/>
                <a:cs typeface="+mn-cs"/>
              </a:rPr>
              <a:t>T</a:t>
            </a:r>
            <a:r>
              <a:rPr kumimoji="0" lang="en-US" sz="2400" b="0" i="0" u="none" strike="noStrike" kern="1200" cap="none" spc="0" normalizeH="0" baseline="-2500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ea typeface="MS PGothic" charset="0"/>
                <a:cs typeface="+mn-cs"/>
              </a:rPr>
              <a:t>0</a:t>
            </a: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ea typeface="MS PGothic" charset="0"/>
                <a:cs typeface="+mn-cs"/>
              </a:rPr>
              <a:t>:</a:t>
            </a:r>
          </a:p>
          <a:p>
            <a:pPr marL="342900" marR="0" lvl="0" indent="-342900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Monotype Sorts" charset="0"/>
              <a:buNone/>
              <a:tabLst>
                <a:tab pos="1371600" algn="l"/>
                <a:tab pos="2395220" algn="ctr"/>
                <a:tab pos="3594100" algn="ctr"/>
                <a:tab pos="4805045" algn="ctr"/>
              </a:tabLst>
              <a:defRPr/>
            </a:pP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ea typeface="MS PGothic" charset="0"/>
                <a:cs typeface="+mn-cs"/>
              </a:rPr>
              <a:t>			</a:t>
            </a:r>
            <a:r>
              <a:rPr kumimoji="0" lang="en-US" sz="2400" b="0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ea typeface="MS PGothic" charset="0"/>
                <a:cs typeface="+mn-cs"/>
              </a:rPr>
              <a:t>Allocation	  Max	Available</a:t>
            </a:r>
          </a:p>
          <a:p>
            <a:pPr marL="342900" marR="0" lvl="0" indent="-342900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Monotype Sorts" charset="0"/>
              <a:buNone/>
              <a:tabLst>
                <a:tab pos="1371600" algn="l"/>
                <a:tab pos="2395220" algn="ctr"/>
                <a:tab pos="3594100" algn="ctr"/>
                <a:tab pos="4805045" algn="ctr"/>
              </a:tabLst>
              <a:defRPr/>
            </a:pPr>
            <a:r>
              <a:rPr kumimoji="0" lang="en-US" sz="2400" b="0" i="1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ea typeface="MS PGothic" charset="0"/>
                <a:cs typeface="+mn-cs"/>
              </a:rPr>
              <a:t>			A B C	       A B C 	A B C</a:t>
            </a:r>
          </a:p>
          <a:p>
            <a:pPr marL="342900" marR="0" lvl="0" indent="-342900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Monotype Sorts" charset="0"/>
              <a:buNone/>
              <a:tabLst>
                <a:tab pos="1371600" algn="l"/>
                <a:tab pos="2395220" algn="ctr"/>
                <a:tab pos="3594100" algn="ctr"/>
                <a:tab pos="4805045" algn="ctr"/>
              </a:tabLst>
              <a:defRPr/>
            </a:pP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ea typeface="MS PGothic" charset="0"/>
                <a:cs typeface="+mn-cs"/>
              </a:rPr>
              <a:t>		</a:t>
            </a:r>
            <a:r>
              <a:rPr kumimoji="0" lang="en-US" sz="2400" b="0" i="1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ea typeface="MS PGothic" charset="0"/>
                <a:cs typeface="+mn-cs"/>
              </a:rPr>
              <a:t>P</a:t>
            </a:r>
            <a:r>
              <a:rPr kumimoji="0" lang="en-US" sz="2400" b="0" i="0" u="none" strike="noStrike" kern="1200" cap="none" spc="0" normalizeH="0" baseline="-2500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ea typeface="MS PGothic" charset="0"/>
                <a:cs typeface="+mn-cs"/>
              </a:rPr>
              <a:t>0	</a:t>
            </a: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ea typeface="MS PGothic" charset="0"/>
                <a:cs typeface="+mn-cs"/>
              </a:rPr>
              <a:t>0 1 0	       7 5 3 	3 3 2</a:t>
            </a:r>
          </a:p>
          <a:p>
            <a:pPr marL="342900" marR="0" lvl="0" indent="-342900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Monotype Sorts" charset="0"/>
              <a:buNone/>
              <a:tabLst>
                <a:tab pos="1371600" algn="l"/>
                <a:tab pos="2395220" algn="ctr"/>
                <a:tab pos="3594100" algn="ctr"/>
                <a:tab pos="4805045" algn="ctr"/>
              </a:tabLst>
              <a:defRPr/>
            </a:pP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ea typeface="MS PGothic" charset="0"/>
                <a:cs typeface="+mn-cs"/>
              </a:rPr>
              <a:t>		</a:t>
            </a:r>
            <a:r>
              <a:rPr kumimoji="0" lang="en-US" sz="2400" b="0" i="1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ea typeface="MS PGothic" charset="0"/>
                <a:cs typeface="+mn-cs"/>
              </a:rPr>
              <a:t>P</a:t>
            </a:r>
            <a:r>
              <a:rPr kumimoji="0" lang="en-US" sz="2400" b="0" i="0" u="none" strike="noStrike" kern="1200" cap="none" spc="0" normalizeH="0" baseline="-2500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ea typeface="MS PGothic" charset="0"/>
                <a:cs typeface="+mn-cs"/>
              </a:rPr>
              <a:t>1	 </a:t>
            </a: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ea typeface="MS PGothic" charset="0"/>
                <a:cs typeface="+mn-cs"/>
              </a:rPr>
              <a:t>2 0 0 	        3 2 2  </a:t>
            </a:r>
          </a:p>
          <a:p>
            <a:pPr marL="342900" marR="0" lvl="0" indent="-342900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Monotype Sorts" charset="0"/>
              <a:buNone/>
              <a:tabLst>
                <a:tab pos="1371600" algn="l"/>
                <a:tab pos="2395220" algn="ctr"/>
                <a:tab pos="3594100" algn="ctr"/>
                <a:tab pos="4805045" algn="ctr"/>
              </a:tabLst>
              <a:defRPr/>
            </a:pP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ea typeface="MS PGothic" charset="0"/>
                <a:cs typeface="+mn-cs"/>
              </a:rPr>
              <a:t>		</a:t>
            </a:r>
            <a:r>
              <a:rPr kumimoji="0" lang="en-US" sz="2400" b="0" i="1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ea typeface="MS PGothic" charset="0"/>
                <a:cs typeface="+mn-cs"/>
              </a:rPr>
              <a:t>P</a:t>
            </a:r>
            <a:r>
              <a:rPr kumimoji="0" lang="en-US" sz="2400" b="0" i="0" u="none" strike="noStrike" kern="1200" cap="none" spc="0" normalizeH="0" baseline="-2500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ea typeface="MS PGothic" charset="0"/>
                <a:cs typeface="+mn-cs"/>
              </a:rPr>
              <a:t>2</a:t>
            </a: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ea typeface="MS PGothic" charset="0"/>
                <a:cs typeface="+mn-cs"/>
              </a:rPr>
              <a:t>	 3 0 2 	      9 0 2</a:t>
            </a:r>
          </a:p>
          <a:p>
            <a:pPr marL="342900" marR="0" lvl="0" indent="-342900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Monotype Sorts" charset="0"/>
              <a:buNone/>
              <a:tabLst>
                <a:tab pos="1371600" algn="l"/>
                <a:tab pos="2395220" algn="ctr"/>
                <a:tab pos="3594100" algn="ctr"/>
                <a:tab pos="4805045" algn="ctr"/>
              </a:tabLst>
              <a:defRPr/>
            </a:pP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ea typeface="MS PGothic" charset="0"/>
                <a:cs typeface="+mn-cs"/>
              </a:rPr>
              <a:t>		</a:t>
            </a:r>
            <a:r>
              <a:rPr kumimoji="0" lang="en-US" sz="2400" b="0" i="1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ea typeface="MS PGothic" charset="0"/>
                <a:cs typeface="+mn-cs"/>
              </a:rPr>
              <a:t>P</a:t>
            </a:r>
            <a:r>
              <a:rPr kumimoji="0" lang="en-US" sz="2400" b="0" i="0" u="none" strike="noStrike" kern="1200" cap="none" spc="0" normalizeH="0" baseline="-2500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ea typeface="MS PGothic" charset="0"/>
                <a:cs typeface="+mn-cs"/>
              </a:rPr>
              <a:t>3</a:t>
            </a: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ea typeface="MS PGothic" charset="0"/>
                <a:cs typeface="+mn-cs"/>
              </a:rPr>
              <a:t>	 2 1 1 	      2 2 2</a:t>
            </a:r>
          </a:p>
          <a:p>
            <a:pPr marL="342900" marR="0" lvl="0" indent="-342900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Monotype Sorts" charset="0"/>
              <a:buNone/>
              <a:tabLst>
                <a:tab pos="1371600" algn="l"/>
                <a:tab pos="2395220" algn="ctr"/>
                <a:tab pos="3594100" algn="ctr"/>
                <a:tab pos="4805045" algn="ctr"/>
              </a:tabLst>
              <a:defRPr/>
            </a:pP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ea typeface="MS PGothic" charset="0"/>
                <a:cs typeface="+mn-cs"/>
              </a:rPr>
              <a:t>		</a:t>
            </a:r>
            <a:r>
              <a:rPr kumimoji="0" lang="en-US" sz="2400" b="0" i="1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ea typeface="MS PGothic" charset="0"/>
                <a:cs typeface="+mn-cs"/>
              </a:rPr>
              <a:t>P</a:t>
            </a:r>
            <a:r>
              <a:rPr kumimoji="0" lang="en-US" sz="2400" b="0" i="0" u="none" strike="noStrike" kern="1200" cap="none" spc="0" normalizeH="0" baseline="-2500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ea typeface="MS PGothic" charset="0"/>
                <a:cs typeface="+mn-cs"/>
              </a:rPr>
              <a:t>4</a:t>
            </a: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ea typeface="MS PGothic" charset="0"/>
                <a:cs typeface="+mn-cs"/>
              </a:rPr>
              <a:t>	0 0 2	        4 3 3  		</a:t>
            </a:r>
          </a:p>
        </p:txBody>
      </p:sp>
      <p:sp>
        <p:nvSpPr>
          <p:cNvPr id="12" name="Slide Number Placeholder 1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t>104</a:t>
            </a:fld>
            <a:endParaRPr lang="en-US"/>
          </a:p>
        </p:txBody>
      </p:sp>
      <p:pic>
        <p:nvPicPr>
          <p:cNvPr id="2" name="Picture 1" descr="A black and red logo&#10;&#10;Description automatically generated">
            <a:extLst>
              <a:ext uri="{FF2B5EF4-FFF2-40B4-BE49-F238E27FC236}">
                <a16:creationId xmlns:a16="http://schemas.microsoft.com/office/drawing/2014/main" id="{82C7E0B5-CDDC-4C8C-A577-724A1571777D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-27384"/>
            <a:ext cx="1657350" cy="710452"/>
          </a:xfrm>
          <a:prstGeom prst="rect">
            <a:avLst/>
          </a:prstGeom>
        </p:spPr>
      </p:pic>
      <p:sp>
        <p:nvSpPr>
          <p:cNvPr id="3" name="Title 1">
            <a:extLst>
              <a:ext uri="{FF2B5EF4-FFF2-40B4-BE49-F238E27FC236}">
                <a16:creationId xmlns:a16="http://schemas.microsoft.com/office/drawing/2014/main" id="{D40A878B-5D44-53E4-1480-FC521C4DED17}"/>
              </a:ext>
            </a:extLst>
          </p:cNvPr>
          <p:cNvSpPr txBox="1">
            <a:spLocks/>
          </p:cNvSpPr>
          <p:nvPr/>
        </p:nvSpPr>
        <p:spPr>
          <a:xfrm>
            <a:off x="2171700" y="44624"/>
            <a:ext cx="5829300" cy="514349"/>
          </a:xfrm>
          <a:prstGeom prst="rect">
            <a:avLst/>
          </a:prstGeom>
          <a:gradFill flip="none" rotWithShape="1">
            <a:gsLst>
              <a:gs pos="0">
                <a:srgbClr val="FF0000">
                  <a:tint val="66000"/>
                  <a:satMod val="160000"/>
                </a:srgbClr>
              </a:gs>
              <a:gs pos="50000">
                <a:srgbClr val="FF0000">
                  <a:tint val="44500"/>
                  <a:satMod val="160000"/>
                </a:srgbClr>
              </a:gs>
              <a:gs pos="100000">
                <a:srgbClr val="FF0000">
                  <a:tint val="23500"/>
                  <a:satMod val="160000"/>
                </a:srgbClr>
              </a:gs>
            </a:gsLst>
            <a:lin ang="0" scaled="1"/>
            <a:tileRect/>
          </a:gradFill>
        </p:spPr>
        <p:style>
          <a:lnRef idx="1">
            <a:schemeClr val="accent5"/>
          </a:lnRef>
          <a:fillRef idx="2">
            <a:schemeClr val="accent5"/>
          </a:fillRef>
          <a:effectRef idx="1">
            <a:schemeClr val="accent5"/>
          </a:effectRef>
          <a:fontRef idx="minor">
            <a:schemeClr val="dk1"/>
          </a:fontRef>
        </p:style>
        <p:txBody>
          <a:bodyPr vert="horz" lIns="68580" tIns="34290" rIns="68580" bIns="34290" rtlCol="0" anchor="ctr">
            <a:noAutofit/>
          </a:bodyPr>
          <a:lstStyle>
            <a:defPPr>
              <a:defRPr lang="en-US"/>
            </a:defPPr>
            <a:lvl1pPr algn="ctr">
              <a:spcBef>
                <a:spcPct val="0"/>
              </a:spcBef>
              <a:buNone/>
              <a:defRPr sz="2800"/>
            </a:lvl1pPr>
          </a:lstStyle>
          <a:p>
            <a:pPr>
              <a:defRPr/>
            </a:pPr>
            <a:r>
              <a:rPr lang="en-US" sz="2400" dirty="0">
                <a:latin typeface="+mj-lt"/>
                <a:ea typeface="MS PGothic" charset="0"/>
              </a:rPr>
              <a:t>Example of Banker</a:t>
            </a:r>
            <a:r>
              <a:rPr lang="ja-JP" altLang="en-US" sz="2400" dirty="0">
                <a:latin typeface="+mj-lt"/>
                <a:ea typeface="MS PGothic" charset="0"/>
              </a:rPr>
              <a:t>’</a:t>
            </a:r>
            <a:r>
              <a:rPr lang="en-US" altLang="ja-JP" sz="2400" dirty="0">
                <a:latin typeface="+mj-lt"/>
                <a:ea typeface="MS PGothic" charset="0"/>
              </a:rPr>
              <a:t>s Algorithm(</a:t>
            </a:r>
            <a:r>
              <a:rPr lang="en-IN" sz="2400" dirty="0">
                <a:latin typeface="+mj-lt"/>
              </a:rPr>
              <a:t>CO3)</a:t>
            </a:r>
            <a:endParaRPr lang="en-US" sz="2100" dirty="0"/>
          </a:p>
        </p:txBody>
      </p:sp>
    </p:spTree>
  </p:cSld>
  <p:clrMapOvr>
    <a:masterClrMapping/>
  </p:clrMapOvr>
  <p:transition>
    <p:dissolve/>
  </p:transition>
</p:sld>
</file>

<file path=ppt/slides/slide10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88A604E-2F52-4928-B10A-653D00E3C4CD}" type="datetime3">
              <a:rPr lang="en-US" smtClean="0"/>
              <a:t>1 September 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2514600" y="6356350"/>
            <a:ext cx="5181600" cy="365125"/>
          </a:xfrm>
        </p:spPr>
        <p:txBody>
          <a:bodyPr/>
          <a:lstStyle/>
          <a:p>
            <a:r>
              <a:rPr lang="en-US"/>
              <a:t>Atul Garg           BCSE0303            Unit- III</a:t>
            </a:r>
            <a:endParaRPr lang="en-US" dirty="0"/>
          </a:p>
        </p:txBody>
      </p:sp>
      <p:sp>
        <p:nvSpPr>
          <p:cNvPr id="13" name="Rectangle 3"/>
          <p:cNvSpPr txBox="1">
            <a:spLocks noChangeArrowheads="1"/>
          </p:cNvSpPr>
          <p:nvPr/>
        </p:nvSpPr>
        <p:spPr>
          <a:xfrm>
            <a:off x="1043608" y="836712"/>
            <a:ext cx="7719391" cy="4419600"/>
          </a:xfrm>
          <a:prstGeom prst="rect">
            <a:avLst/>
          </a:prstGeom>
        </p:spPr>
        <p:txBody>
          <a:bodyPr vert="horz" lIns="91440" tIns="45720" rIns="91440" bIns="45720" rtlCol="0">
            <a:normAutofit fontScale="70000" lnSpcReduction="20000"/>
          </a:bodyPr>
          <a:lstStyle/>
          <a:p>
            <a:pPr marL="342900" marR="0" lvl="0" indent="-342900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>
                <a:tab pos="2452370" algn="l"/>
                <a:tab pos="3492500" algn="ctr"/>
              </a:tabLst>
              <a:defRPr/>
            </a:pPr>
            <a:r>
              <a:rPr kumimoji="0" lang="en-US" sz="32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ea typeface="MS PGothic" charset="0"/>
                <a:cs typeface="+mn-cs"/>
              </a:rPr>
              <a:t>The content of the matrix </a:t>
            </a:r>
            <a:r>
              <a:rPr kumimoji="0" lang="en-US" sz="3200" b="1" i="1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ea typeface="MS PGothic" charset="0"/>
                <a:cs typeface="+mn-cs"/>
              </a:rPr>
              <a:t>Need</a:t>
            </a:r>
            <a:r>
              <a:rPr kumimoji="0" lang="en-US" sz="32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ea typeface="MS PGothic" charset="0"/>
                <a:cs typeface="+mn-cs"/>
              </a:rPr>
              <a:t> is defined to be </a:t>
            </a:r>
            <a:r>
              <a:rPr kumimoji="0" lang="en-US" sz="3200" b="1" i="1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ea typeface="MS PGothic" charset="0"/>
                <a:cs typeface="+mn-cs"/>
              </a:rPr>
              <a:t>Max</a:t>
            </a:r>
            <a:r>
              <a:rPr kumimoji="0" lang="en-US" sz="3200" b="1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ea typeface="MS PGothic" charset="0"/>
                <a:cs typeface="+mn-cs"/>
              </a:rPr>
              <a:t> – </a:t>
            </a:r>
            <a:r>
              <a:rPr kumimoji="0" lang="en-US" sz="3200" b="1" i="1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ea typeface="MS PGothic" charset="0"/>
                <a:cs typeface="+mn-cs"/>
              </a:rPr>
              <a:t>Allocation</a:t>
            </a:r>
            <a:endParaRPr kumimoji="0" lang="en-US" sz="3200" b="1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ea typeface="MS PGothic" charset="0"/>
              <a:cs typeface="+mn-cs"/>
            </a:endParaRPr>
          </a:p>
          <a:p>
            <a:pPr marL="342900" marR="0" lvl="0" indent="-342900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Monotype Sorts" charset="0"/>
              <a:buNone/>
              <a:tabLst>
                <a:tab pos="2452370" algn="l"/>
                <a:tab pos="3492500" algn="ctr"/>
              </a:tabLst>
              <a:defRPr/>
            </a:pPr>
            <a:endParaRPr kumimoji="0" lang="en-US" sz="3200" b="0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ea typeface="MS PGothic" charset="0"/>
              <a:cs typeface="+mn-cs"/>
            </a:endParaRPr>
          </a:p>
          <a:p>
            <a:pPr marL="342900" marR="0" lvl="0" indent="-342900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Monotype Sorts" charset="0"/>
              <a:buNone/>
              <a:tabLst>
                <a:tab pos="2452370" algn="l"/>
                <a:tab pos="3492500" algn="ctr"/>
              </a:tabLst>
              <a:defRPr/>
            </a:pPr>
            <a:r>
              <a:rPr kumimoji="0" lang="en-US" sz="32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ea typeface="MS PGothic" charset="0"/>
                <a:cs typeface="+mn-cs"/>
              </a:rPr>
              <a:t>			</a:t>
            </a:r>
            <a:r>
              <a:rPr kumimoji="0" lang="en-US" sz="3200" b="0" i="1" u="sng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ea typeface="MS PGothic" charset="0"/>
                <a:cs typeface="+mn-cs"/>
              </a:rPr>
              <a:t>Need</a:t>
            </a:r>
            <a:endParaRPr kumimoji="0" lang="en-US" sz="3200" b="0" i="0" u="sng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ea typeface="MS PGothic" charset="0"/>
              <a:cs typeface="+mn-cs"/>
            </a:endParaRPr>
          </a:p>
          <a:p>
            <a:pPr marL="342900" marR="0" lvl="0" indent="-342900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Monotype Sorts" charset="0"/>
              <a:buNone/>
              <a:tabLst>
                <a:tab pos="2452370" algn="l"/>
                <a:tab pos="3492500" algn="ctr"/>
              </a:tabLst>
              <a:defRPr/>
            </a:pPr>
            <a:r>
              <a:rPr kumimoji="0" lang="en-US" sz="32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ea typeface="MS PGothic" charset="0"/>
                <a:cs typeface="+mn-cs"/>
              </a:rPr>
              <a:t>			</a:t>
            </a:r>
            <a:r>
              <a:rPr kumimoji="0" lang="en-US" sz="3200" b="0" i="1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ea typeface="MS PGothic" charset="0"/>
                <a:cs typeface="+mn-cs"/>
              </a:rPr>
              <a:t>A B C</a:t>
            </a:r>
          </a:p>
          <a:p>
            <a:pPr marL="342900" marR="0" lvl="0" indent="-342900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Monotype Sorts" charset="0"/>
              <a:buNone/>
              <a:tabLst>
                <a:tab pos="2452370" algn="l"/>
                <a:tab pos="3492500" algn="ctr"/>
              </a:tabLst>
              <a:defRPr/>
            </a:pPr>
            <a:r>
              <a:rPr kumimoji="0" lang="en-US" sz="32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ea typeface="MS PGothic" charset="0"/>
                <a:cs typeface="+mn-cs"/>
              </a:rPr>
              <a:t>		 </a:t>
            </a:r>
            <a:r>
              <a:rPr kumimoji="0" lang="en-US" sz="3200" b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ea typeface="MS PGothic" charset="0"/>
                <a:cs typeface="+mn-cs"/>
              </a:rPr>
              <a:t>P</a:t>
            </a:r>
            <a:r>
              <a:rPr kumimoji="0" lang="en-US" sz="3200" b="0" u="none" strike="noStrike" kern="1200" cap="none" spc="0" normalizeH="0" baseline="-2500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ea typeface="MS PGothic" charset="0"/>
                <a:cs typeface="+mn-cs"/>
              </a:rPr>
              <a:t>0	</a:t>
            </a:r>
            <a:r>
              <a:rPr kumimoji="0" lang="en-US" sz="3200" b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ea typeface="MS PGothic" charset="0"/>
                <a:cs typeface="+mn-cs"/>
              </a:rPr>
              <a:t>7 4 3 </a:t>
            </a:r>
          </a:p>
          <a:p>
            <a:pPr marL="342900" marR="0" lvl="0" indent="-342900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Monotype Sorts" charset="0"/>
              <a:buNone/>
              <a:tabLst>
                <a:tab pos="2452370" algn="l"/>
                <a:tab pos="3492500" algn="ctr"/>
              </a:tabLst>
              <a:defRPr/>
            </a:pPr>
            <a:r>
              <a:rPr kumimoji="0" lang="en-US" sz="3200" b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ea typeface="MS PGothic" charset="0"/>
                <a:cs typeface="+mn-cs"/>
              </a:rPr>
              <a:t>		 P</a:t>
            </a:r>
            <a:r>
              <a:rPr kumimoji="0" lang="en-US" sz="3200" b="0" u="none" strike="noStrike" kern="1200" cap="none" spc="0" normalizeH="0" baseline="-2500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ea typeface="MS PGothic" charset="0"/>
                <a:cs typeface="+mn-cs"/>
              </a:rPr>
              <a:t>1	</a:t>
            </a:r>
            <a:r>
              <a:rPr kumimoji="0" lang="en-US" sz="3200" b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ea typeface="MS PGothic" charset="0"/>
                <a:cs typeface="+mn-cs"/>
              </a:rPr>
              <a:t>1 2 2 </a:t>
            </a:r>
          </a:p>
          <a:p>
            <a:pPr marL="342900" marR="0" lvl="0" indent="-342900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Monotype Sorts" charset="0"/>
              <a:buNone/>
              <a:tabLst>
                <a:tab pos="2452370" algn="l"/>
                <a:tab pos="3492500" algn="ctr"/>
              </a:tabLst>
              <a:defRPr/>
            </a:pPr>
            <a:r>
              <a:rPr kumimoji="0" lang="en-US" sz="3200" b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ea typeface="MS PGothic" charset="0"/>
                <a:cs typeface="+mn-cs"/>
              </a:rPr>
              <a:t>		 P</a:t>
            </a:r>
            <a:r>
              <a:rPr kumimoji="0" lang="en-US" sz="3200" b="0" u="none" strike="noStrike" kern="1200" cap="none" spc="0" normalizeH="0" baseline="-2500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ea typeface="MS PGothic" charset="0"/>
                <a:cs typeface="+mn-cs"/>
              </a:rPr>
              <a:t>2</a:t>
            </a:r>
            <a:r>
              <a:rPr kumimoji="0" lang="en-US" sz="3200" b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ea typeface="MS PGothic" charset="0"/>
                <a:cs typeface="+mn-cs"/>
              </a:rPr>
              <a:t>	6 0 0 </a:t>
            </a:r>
          </a:p>
          <a:p>
            <a:pPr marL="342900" marR="0" lvl="0" indent="-342900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Monotype Sorts" charset="0"/>
              <a:buNone/>
              <a:tabLst>
                <a:tab pos="2452370" algn="l"/>
                <a:tab pos="3492500" algn="ctr"/>
              </a:tabLst>
              <a:defRPr/>
            </a:pPr>
            <a:r>
              <a:rPr kumimoji="0" lang="en-US" sz="3200" b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ea typeface="MS PGothic" charset="0"/>
                <a:cs typeface="+mn-cs"/>
              </a:rPr>
              <a:t>		 P</a:t>
            </a:r>
            <a:r>
              <a:rPr kumimoji="0" lang="en-US" sz="3200" b="0" u="none" strike="noStrike" kern="1200" cap="none" spc="0" normalizeH="0" baseline="-2500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ea typeface="MS PGothic" charset="0"/>
                <a:cs typeface="+mn-cs"/>
              </a:rPr>
              <a:t>3</a:t>
            </a:r>
            <a:r>
              <a:rPr kumimoji="0" lang="en-US" sz="3200" b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ea typeface="MS PGothic" charset="0"/>
                <a:cs typeface="+mn-cs"/>
              </a:rPr>
              <a:t>	0 1 1</a:t>
            </a:r>
          </a:p>
          <a:p>
            <a:pPr marL="342900" marR="0" lvl="0" indent="-342900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Monotype Sorts" charset="0"/>
              <a:buNone/>
              <a:tabLst>
                <a:tab pos="2452370" algn="l"/>
                <a:tab pos="3492500" algn="ctr"/>
              </a:tabLst>
              <a:defRPr/>
            </a:pPr>
            <a:r>
              <a:rPr kumimoji="0" lang="en-US" sz="3200" b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ea typeface="MS PGothic" charset="0"/>
                <a:cs typeface="+mn-cs"/>
              </a:rPr>
              <a:t>		 P</a:t>
            </a:r>
            <a:r>
              <a:rPr kumimoji="0" lang="en-US" sz="3200" b="0" u="none" strike="noStrike" kern="1200" cap="none" spc="0" normalizeH="0" baseline="-2500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ea typeface="MS PGothic" charset="0"/>
                <a:cs typeface="+mn-cs"/>
              </a:rPr>
              <a:t>4</a:t>
            </a:r>
            <a:r>
              <a:rPr kumimoji="0" lang="en-US" sz="3200" b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ea typeface="MS PGothic" charset="0"/>
                <a:cs typeface="+mn-cs"/>
              </a:rPr>
              <a:t>	4 3 1 </a:t>
            </a:r>
            <a:br>
              <a:rPr kumimoji="0" lang="en-US" sz="3200" b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ea typeface="MS PGothic" charset="0"/>
                <a:cs typeface="+mn-cs"/>
              </a:rPr>
            </a:br>
            <a:endParaRPr kumimoji="0" lang="en-US" sz="3200" b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ea typeface="MS PGothic" charset="0"/>
              <a:cs typeface="+mn-cs"/>
            </a:endParaRPr>
          </a:p>
          <a:p>
            <a:pPr marL="342900" marR="0" lvl="0" indent="-342900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>
                <a:tab pos="2452370" algn="l"/>
                <a:tab pos="3492500" algn="ctr"/>
              </a:tabLst>
              <a:defRPr/>
            </a:pPr>
            <a:r>
              <a:rPr kumimoji="0" lang="en-US" sz="32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ea typeface="MS PGothic" charset="0"/>
                <a:cs typeface="+mn-cs"/>
              </a:rPr>
              <a:t>The system is in a safe state since the sequence &lt; </a:t>
            </a:r>
            <a:r>
              <a:rPr kumimoji="0" lang="en-US" sz="3200" b="0" i="1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ea typeface="MS PGothic" charset="0"/>
                <a:cs typeface="+mn-cs"/>
              </a:rPr>
              <a:t>P</a:t>
            </a:r>
            <a:r>
              <a:rPr kumimoji="0" lang="en-US" sz="3200" b="0" i="0" u="none" strike="noStrike" kern="1200" cap="none" spc="0" normalizeH="0" baseline="-2500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ea typeface="MS PGothic" charset="0"/>
                <a:cs typeface="+mn-cs"/>
              </a:rPr>
              <a:t>1</a:t>
            </a:r>
            <a:r>
              <a:rPr kumimoji="0" lang="en-US" sz="32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ea typeface="MS PGothic" charset="0"/>
                <a:cs typeface="+mn-cs"/>
              </a:rPr>
              <a:t>, </a:t>
            </a:r>
            <a:r>
              <a:rPr kumimoji="0" lang="en-US" sz="3200" b="0" i="1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ea typeface="MS PGothic" charset="0"/>
                <a:cs typeface="+mn-cs"/>
              </a:rPr>
              <a:t>P</a:t>
            </a:r>
            <a:r>
              <a:rPr kumimoji="0" lang="en-US" sz="3200" b="0" i="0" u="none" strike="noStrike" kern="1200" cap="none" spc="0" normalizeH="0" baseline="-2500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ea typeface="MS PGothic" charset="0"/>
                <a:cs typeface="+mn-cs"/>
              </a:rPr>
              <a:t>3</a:t>
            </a:r>
            <a:r>
              <a:rPr kumimoji="0" lang="en-US" sz="32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ea typeface="MS PGothic" charset="0"/>
                <a:cs typeface="+mn-cs"/>
              </a:rPr>
              <a:t>, </a:t>
            </a:r>
            <a:r>
              <a:rPr kumimoji="0" lang="en-US" sz="3200" b="0" i="1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ea typeface="MS PGothic" charset="0"/>
                <a:cs typeface="+mn-cs"/>
              </a:rPr>
              <a:t>P</a:t>
            </a:r>
            <a:r>
              <a:rPr kumimoji="0" lang="en-US" sz="3200" b="0" i="0" u="none" strike="noStrike" kern="1200" cap="none" spc="0" normalizeH="0" baseline="-2500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ea typeface="MS PGothic" charset="0"/>
                <a:cs typeface="+mn-cs"/>
              </a:rPr>
              <a:t>4</a:t>
            </a:r>
            <a:r>
              <a:rPr kumimoji="0" lang="en-US" sz="32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ea typeface="MS PGothic" charset="0"/>
                <a:cs typeface="+mn-cs"/>
              </a:rPr>
              <a:t>, </a:t>
            </a:r>
            <a:r>
              <a:rPr kumimoji="0" lang="en-US" sz="3200" b="0" i="1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ea typeface="MS PGothic" charset="0"/>
                <a:cs typeface="+mn-cs"/>
              </a:rPr>
              <a:t>P</a:t>
            </a:r>
            <a:r>
              <a:rPr kumimoji="0" lang="en-US" sz="3200" b="0" i="0" u="none" strike="noStrike" kern="1200" cap="none" spc="0" normalizeH="0" baseline="-2500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ea typeface="MS PGothic" charset="0"/>
                <a:cs typeface="+mn-cs"/>
              </a:rPr>
              <a:t>2</a:t>
            </a:r>
            <a:r>
              <a:rPr kumimoji="0" lang="en-US" sz="32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ea typeface="MS PGothic" charset="0"/>
                <a:cs typeface="+mn-cs"/>
              </a:rPr>
              <a:t>, </a:t>
            </a:r>
            <a:r>
              <a:rPr kumimoji="0" lang="en-US" sz="3200" b="0" i="1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ea typeface="MS PGothic" charset="0"/>
                <a:cs typeface="+mn-cs"/>
              </a:rPr>
              <a:t>P</a:t>
            </a:r>
            <a:r>
              <a:rPr kumimoji="0" lang="en-US" sz="3200" b="0" i="0" u="none" strike="noStrike" kern="1200" cap="none" spc="0" normalizeH="0" baseline="-2500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ea typeface="MS PGothic" charset="0"/>
                <a:cs typeface="+mn-cs"/>
              </a:rPr>
              <a:t>0</a:t>
            </a:r>
            <a:r>
              <a:rPr kumimoji="0" lang="en-US" sz="32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ea typeface="MS PGothic" charset="0"/>
                <a:cs typeface="+mn-cs"/>
              </a:rPr>
              <a:t>&gt; satisfies safety criteria</a:t>
            </a:r>
            <a:endParaRPr kumimoji="0" lang="en-US" sz="3200" b="0" i="0" u="none" strike="noStrike" kern="1200" cap="none" spc="0" normalizeH="0" baseline="-2500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ea typeface="MS PGothic" charset="0"/>
              <a:cs typeface="+mn-cs"/>
            </a:endParaRPr>
          </a:p>
        </p:txBody>
      </p:sp>
      <p:sp>
        <p:nvSpPr>
          <p:cNvPr id="8" name="Slide Number Placeholder 7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t>105</a:t>
            </a:fld>
            <a:endParaRPr lang="en-US"/>
          </a:p>
        </p:txBody>
      </p:sp>
      <p:pic>
        <p:nvPicPr>
          <p:cNvPr id="2" name="Picture 1" descr="A black and red logo&#10;&#10;Description automatically generated">
            <a:extLst>
              <a:ext uri="{FF2B5EF4-FFF2-40B4-BE49-F238E27FC236}">
                <a16:creationId xmlns:a16="http://schemas.microsoft.com/office/drawing/2014/main" id="{C25C89E7-C37F-0EC0-C1D7-0DF106D331C8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-27384"/>
            <a:ext cx="1657350" cy="710452"/>
          </a:xfrm>
          <a:prstGeom prst="rect">
            <a:avLst/>
          </a:prstGeom>
        </p:spPr>
      </p:pic>
      <p:sp>
        <p:nvSpPr>
          <p:cNvPr id="3" name="Title 1">
            <a:extLst>
              <a:ext uri="{FF2B5EF4-FFF2-40B4-BE49-F238E27FC236}">
                <a16:creationId xmlns:a16="http://schemas.microsoft.com/office/drawing/2014/main" id="{AAB6E7C0-9C43-6E21-AE89-E59BF2A0B058}"/>
              </a:ext>
            </a:extLst>
          </p:cNvPr>
          <p:cNvSpPr txBox="1">
            <a:spLocks/>
          </p:cNvSpPr>
          <p:nvPr/>
        </p:nvSpPr>
        <p:spPr>
          <a:xfrm>
            <a:off x="2171700" y="44624"/>
            <a:ext cx="5829300" cy="514349"/>
          </a:xfrm>
          <a:prstGeom prst="rect">
            <a:avLst/>
          </a:prstGeom>
          <a:gradFill flip="none" rotWithShape="1">
            <a:gsLst>
              <a:gs pos="0">
                <a:srgbClr val="FF0000">
                  <a:tint val="66000"/>
                  <a:satMod val="160000"/>
                </a:srgbClr>
              </a:gs>
              <a:gs pos="50000">
                <a:srgbClr val="FF0000">
                  <a:tint val="44500"/>
                  <a:satMod val="160000"/>
                </a:srgbClr>
              </a:gs>
              <a:gs pos="100000">
                <a:srgbClr val="FF0000">
                  <a:tint val="23500"/>
                  <a:satMod val="160000"/>
                </a:srgbClr>
              </a:gs>
            </a:gsLst>
            <a:lin ang="0" scaled="1"/>
            <a:tileRect/>
          </a:gradFill>
        </p:spPr>
        <p:style>
          <a:lnRef idx="1">
            <a:schemeClr val="accent5"/>
          </a:lnRef>
          <a:fillRef idx="2">
            <a:schemeClr val="accent5"/>
          </a:fillRef>
          <a:effectRef idx="1">
            <a:schemeClr val="accent5"/>
          </a:effectRef>
          <a:fontRef idx="minor">
            <a:schemeClr val="dk1"/>
          </a:fontRef>
        </p:style>
        <p:txBody>
          <a:bodyPr vert="horz" lIns="68580" tIns="34290" rIns="68580" bIns="34290" rtlCol="0" anchor="ctr">
            <a:noAutofit/>
          </a:bodyPr>
          <a:lstStyle>
            <a:defPPr>
              <a:defRPr lang="en-US"/>
            </a:defPPr>
            <a:lvl1pPr algn="ctr">
              <a:spcBef>
                <a:spcPct val="0"/>
              </a:spcBef>
              <a:buNone/>
              <a:defRPr sz="2800"/>
            </a:lvl1pPr>
          </a:lstStyle>
          <a:p>
            <a:pPr>
              <a:defRPr/>
            </a:pPr>
            <a:r>
              <a:rPr lang="en-US" sz="2400" dirty="0">
                <a:latin typeface="Arial" panose="020B0604020202020204" pitchFamily="34" charset="0"/>
                <a:ea typeface="MS PGothic" charset="0"/>
              </a:rPr>
              <a:t>Example (Cont.)</a:t>
            </a:r>
            <a:r>
              <a:rPr lang="en-IN" sz="2400" dirty="0"/>
              <a:t>(CO3)</a:t>
            </a:r>
            <a:endParaRPr lang="en-US" sz="2100" dirty="0"/>
          </a:p>
        </p:txBody>
      </p:sp>
    </p:spTree>
  </p:cSld>
  <p:clrMapOvr>
    <a:masterClrMapping/>
  </p:clrMapOvr>
  <p:transition>
    <p:dissolve/>
  </p:transition>
</p:sld>
</file>

<file path=ppt/slides/slide10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47652CE-3A55-4576-95F8-0A59E77C6924}" type="datetime3">
              <a:rPr lang="en-US" smtClean="0"/>
              <a:t>1 September 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2514600" y="6356350"/>
            <a:ext cx="5181600" cy="365125"/>
          </a:xfrm>
        </p:spPr>
        <p:txBody>
          <a:bodyPr/>
          <a:lstStyle/>
          <a:p>
            <a:r>
              <a:rPr lang="en-US"/>
              <a:t>Atul Garg           BCSE0303            Unit- III</a:t>
            </a:r>
            <a:endParaRPr lang="en-US" dirty="0"/>
          </a:p>
        </p:txBody>
      </p:sp>
      <p:sp>
        <p:nvSpPr>
          <p:cNvPr id="11" name="Rectangle 3"/>
          <p:cNvSpPr txBox="1">
            <a:spLocks noChangeArrowheads="1"/>
          </p:cNvSpPr>
          <p:nvPr/>
        </p:nvSpPr>
        <p:spPr>
          <a:xfrm>
            <a:off x="899592" y="764704"/>
            <a:ext cx="7939608" cy="5544616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/>
          <a:p>
            <a:pPr marL="342900" indent="-342900">
              <a:spcBef>
                <a:spcPct val="20000"/>
              </a:spcBef>
              <a:tabLst>
                <a:tab pos="1544320" algn="l"/>
                <a:tab pos="2452370" algn="ctr"/>
                <a:tab pos="3766820" algn="ctr"/>
                <a:tab pos="5022850" algn="ctr"/>
              </a:tabLst>
            </a:pPr>
            <a:r>
              <a:rPr lang="en-US" sz="2200" b="1" dirty="0">
                <a:ea typeface="MS PGothic" charset="0"/>
              </a:rPr>
              <a:t>P</a:t>
            </a:r>
            <a:r>
              <a:rPr lang="en-US" sz="2200" b="1" baseline="-25000" dirty="0">
                <a:ea typeface="MS PGothic" charset="0"/>
              </a:rPr>
              <a:t>1</a:t>
            </a:r>
            <a:r>
              <a:rPr lang="en-US" sz="2200" b="1" dirty="0">
                <a:ea typeface="MS PGothic" charset="0"/>
              </a:rPr>
              <a:t> Request (1,0,2)</a:t>
            </a:r>
          </a:p>
          <a:p>
            <a:pPr marL="342900" marR="0" lvl="0" indent="-342900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>
                <a:tab pos="1544320" algn="l"/>
                <a:tab pos="2452370" algn="ctr"/>
                <a:tab pos="3766820" algn="ctr"/>
                <a:tab pos="5022850" algn="ctr"/>
              </a:tabLst>
              <a:defRPr/>
            </a:pPr>
            <a:r>
              <a:rPr kumimoji="0" lang="en-US" sz="2200" b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ea typeface="MS PGothic" charset="0"/>
                <a:cs typeface="+mn-cs"/>
              </a:rPr>
              <a:t>Check that Request </a:t>
            </a:r>
            <a:r>
              <a:rPr kumimoji="0" lang="en-US" sz="2200" b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ea typeface="MS PGothic" charset="0"/>
                <a:cs typeface="+mn-cs"/>
                <a:sym typeface="Symbol" charset="0"/>
              </a:rPr>
              <a:t> Available (that is, (1,0,2)  (3,3,2)  true</a:t>
            </a:r>
          </a:p>
          <a:p>
            <a:pPr marL="342900" marR="0" lvl="0" indent="-342900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Monotype Sorts" charset="0"/>
              <a:buNone/>
              <a:tabLst>
                <a:tab pos="1544320" algn="l"/>
                <a:tab pos="2452370" algn="ctr"/>
                <a:tab pos="3766820" algn="ctr"/>
                <a:tab pos="5022850" algn="ctr"/>
              </a:tabLst>
              <a:defRPr/>
            </a:pPr>
            <a:r>
              <a:rPr kumimoji="0" lang="en-US" sz="2200" b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ea typeface="MS PGothic" charset="0"/>
                <a:cs typeface="+mn-cs"/>
              </a:rPr>
              <a:t>			</a:t>
            </a:r>
            <a:r>
              <a:rPr kumimoji="0" lang="en-US" sz="2200" b="0" u="sng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ea typeface="MS PGothic" charset="0"/>
                <a:cs typeface="+mn-cs"/>
              </a:rPr>
              <a:t>Allocation</a:t>
            </a:r>
            <a:r>
              <a:rPr kumimoji="0" lang="en-US" sz="2200" b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ea typeface="MS PGothic" charset="0"/>
                <a:cs typeface="+mn-cs"/>
              </a:rPr>
              <a:t>	</a:t>
            </a:r>
            <a:r>
              <a:rPr kumimoji="0" lang="en-US" sz="2200" b="0" u="sng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ea typeface="MS PGothic" charset="0"/>
                <a:cs typeface="+mn-cs"/>
              </a:rPr>
              <a:t>Need</a:t>
            </a:r>
            <a:r>
              <a:rPr kumimoji="0" lang="en-US" sz="2200" b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ea typeface="MS PGothic" charset="0"/>
                <a:cs typeface="+mn-cs"/>
              </a:rPr>
              <a:t>	   </a:t>
            </a:r>
            <a:r>
              <a:rPr kumimoji="0" lang="en-US" sz="2200" b="0" u="sng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ea typeface="MS PGothic" charset="0"/>
                <a:cs typeface="+mn-cs"/>
              </a:rPr>
              <a:t>Available</a:t>
            </a:r>
            <a:endParaRPr kumimoji="0" lang="en-US" sz="2200" b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ea typeface="MS PGothic" charset="0"/>
              <a:cs typeface="+mn-cs"/>
            </a:endParaRPr>
          </a:p>
          <a:p>
            <a:pPr marL="342900" marR="0" lvl="0" indent="-342900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Monotype Sorts" charset="0"/>
              <a:buNone/>
              <a:tabLst>
                <a:tab pos="1544320" algn="l"/>
                <a:tab pos="2452370" algn="ctr"/>
                <a:tab pos="3766820" algn="ctr"/>
                <a:tab pos="5022850" algn="ctr"/>
              </a:tabLst>
              <a:defRPr/>
            </a:pPr>
            <a:r>
              <a:rPr kumimoji="0" lang="en-US" sz="2200" b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ea typeface="MS PGothic" charset="0"/>
                <a:cs typeface="+mn-cs"/>
              </a:rPr>
              <a:t>			A B C	A B C	 A B C </a:t>
            </a:r>
          </a:p>
          <a:p>
            <a:pPr marL="342900" marR="0" lvl="0" indent="-342900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Monotype Sorts" charset="0"/>
              <a:buNone/>
              <a:tabLst>
                <a:tab pos="1544320" algn="l"/>
                <a:tab pos="2452370" algn="ctr"/>
                <a:tab pos="3766820" algn="ctr"/>
                <a:tab pos="5022850" algn="ctr"/>
              </a:tabLst>
              <a:defRPr/>
            </a:pPr>
            <a:r>
              <a:rPr kumimoji="0" lang="en-US" sz="2200" b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ea typeface="MS PGothic" charset="0"/>
                <a:cs typeface="+mn-cs"/>
              </a:rPr>
              <a:t>		P</a:t>
            </a:r>
            <a:r>
              <a:rPr kumimoji="0" lang="en-US" sz="2200" b="0" u="none" strike="noStrike" kern="1200" cap="none" spc="0" normalizeH="0" baseline="-2500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ea typeface="MS PGothic" charset="0"/>
                <a:cs typeface="+mn-cs"/>
              </a:rPr>
              <a:t>0</a:t>
            </a:r>
            <a:r>
              <a:rPr kumimoji="0" lang="en-US" sz="2200" b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ea typeface="MS PGothic" charset="0"/>
                <a:cs typeface="+mn-cs"/>
              </a:rPr>
              <a:t>	0 1 0 	7 4 3 	2 3 0</a:t>
            </a:r>
          </a:p>
          <a:p>
            <a:pPr marL="342900" marR="0" lvl="0" indent="-342900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Monotype Sorts" charset="0"/>
              <a:buNone/>
              <a:tabLst>
                <a:tab pos="1544320" algn="l"/>
                <a:tab pos="2452370" algn="ctr"/>
                <a:tab pos="3766820" algn="ctr"/>
                <a:tab pos="5022850" algn="ctr"/>
              </a:tabLst>
              <a:defRPr/>
            </a:pPr>
            <a:r>
              <a:rPr kumimoji="0" lang="en-US" sz="2200" b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ea typeface="MS PGothic" charset="0"/>
                <a:cs typeface="+mn-cs"/>
              </a:rPr>
              <a:t>		P</a:t>
            </a:r>
            <a:r>
              <a:rPr kumimoji="0" lang="en-US" sz="2200" b="0" u="none" strike="noStrike" kern="1200" cap="none" spc="0" normalizeH="0" baseline="-2500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ea typeface="MS PGothic" charset="0"/>
                <a:cs typeface="+mn-cs"/>
              </a:rPr>
              <a:t>1</a:t>
            </a:r>
            <a:r>
              <a:rPr kumimoji="0" lang="en-US" sz="2200" b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ea typeface="MS PGothic" charset="0"/>
                <a:cs typeface="+mn-cs"/>
              </a:rPr>
              <a:t>	      3 0 2            0 2 0 	</a:t>
            </a:r>
          </a:p>
          <a:p>
            <a:pPr marL="342900" marR="0" lvl="0" indent="-342900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Monotype Sorts" charset="0"/>
              <a:buNone/>
              <a:tabLst>
                <a:tab pos="1544320" algn="l"/>
                <a:tab pos="2452370" algn="ctr"/>
                <a:tab pos="3766820" algn="ctr"/>
                <a:tab pos="5022850" algn="ctr"/>
              </a:tabLst>
              <a:defRPr/>
            </a:pPr>
            <a:r>
              <a:rPr kumimoji="0" lang="en-US" sz="2200" b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ea typeface="MS PGothic" charset="0"/>
                <a:cs typeface="+mn-cs"/>
              </a:rPr>
              <a:t>		P</a:t>
            </a:r>
            <a:r>
              <a:rPr kumimoji="0" lang="en-US" sz="2200" b="0" u="none" strike="noStrike" kern="1200" cap="none" spc="0" normalizeH="0" baseline="-2500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ea typeface="MS PGothic" charset="0"/>
                <a:cs typeface="+mn-cs"/>
              </a:rPr>
              <a:t>2</a:t>
            </a:r>
            <a:r>
              <a:rPr kumimoji="0" lang="en-US" sz="2200" b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ea typeface="MS PGothic" charset="0"/>
                <a:cs typeface="+mn-cs"/>
              </a:rPr>
              <a:t>	3 0 2 	 6 0 0 </a:t>
            </a:r>
          </a:p>
          <a:p>
            <a:pPr marL="342900" marR="0" lvl="0" indent="-342900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Monotype Sorts" charset="0"/>
              <a:buNone/>
              <a:tabLst>
                <a:tab pos="1544320" algn="l"/>
                <a:tab pos="2452370" algn="ctr"/>
                <a:tab pos="3766820" algn="ctr"/>
                <a:tab pos="5022850" algn="ctr"/>
              </a:tabLst>
              <a:defRPr/>
            </a:pPr>
            <a:r>
              <a:rPr kumimoji="0" lang="en-US" sz="2200" b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ea typeface="MS PGothic" charset="0"/>
                <a:cs typeface="+mn-cs"/>
              </a:rPr>
              <a:t>		P</a:t>
            </a:r>
            <a:r>
              <a:rPr kumimoji="0" lang="en-US" sz="2200" b="0" u="none" strike="noStrike" kern="1200" cap="none" spc="0" normalizeH="0" baseline="-2500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ea typeface="MS PGothic" charset="0"/>
                <a:cs typeface="+mn-cs"/>
              </a:rPr>
              <a:t>3</a:t>
            </a:r>
            <a:r>
              <a:rPr kumimoji="0" lang="en-US" sz="2200" b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ea typeface="MS PGothic" charset="0"/>
                <a:cs typeface="+mn-cs"/>
              </a:rPr>
              <a:t>	2 1 1 	0 1 1</a:t>
            </a:r>
          </a:p>
          <a:p>
            <a:pPr marL="342900" marR="0" lvl="0" indent="-342900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Monotype Sorts" charset="0"/>
              <a:buNone/>
              <a:tabLst>
                <a:tab pos="1544320" algn="l"/>
                <a:tab pos="2452370" algn="ctr"/>
                <a:tab pos="3766820" algn="ctr"/>
                <a:tab pos="5022850" algn="ctr"/>
              </a:tabLst>
              <a:defRPr/>
            </a:pPr>
            <a:r>
              <a:rPr kumimoji="0" lang="en-US" sz="2200" b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ea typeface="MS PGothic" charset="0"/>
                <a:cs typeface="+mn-cs"/>
              </a:rPr>
              <a:t>		P</a:t>
            </a:r>
            <a:r>
              <a:rPr kumimoji="0" lang="en-US" sz="2200" b="0" u="none" strike="noStrike" kern="1200" cap="none" spc="0" normalizeH="0" baseline="-2500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ea typeface="MS PGothic" charset="0"/>
                <a:cs typeface="+mn-cs"/>
              </a:rPr>
              <a:t>4</a:t>
            </a:r>
            <a:r>
              <a:rPr kumimoji="0" lang="en-US" sz="2200" b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ea typeface="MS PGothic" charset="0"/>
                <a:cs typeface="+mn-cs"/>
              </a:rPr>
              <a:t>	0 0 2 	 4 3 1 </a:t>
            </a:r>
          </a:p>
          <a:p>
            <a:pPr marL="342900" marR="0" lvl="0" indent="-342900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Monotype Sorts" charset="0"/>
              <a:buNone/>
              <a:tabLst>
                <a:tab pos="1544320" algn="l"/>
                <a:tab pos="2452370" algn="ctr"/>
                <a:tab pos="3766820" algn="ctr"/>
                <a:tab pos="5022850" algn="ctr"/>
              </a:tabLst>
              <a:defRPr/>
            </a:pPr>
            <a:endParaRPr kumimoji="0" lang="en-US" sz="2200" b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ea typeface="MS PGothic" charset="0"/>
              <a:cs typeface="+mn-cs"/>
            </a:endParaRPr>
          </a:p>
          <a:p>
            <a:pPr marL="342900" marR="0" lvl="0" indent="-342900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>
                <a:tab pos="1544320" algn="l"/>
                <a:tab pos="2452370" algn="ctr"/>
                <a:tab pos="3766820" algn="ctr"/>
                <a:tab pos="5022850" algn="ctr"/>
              </a:tabLst>
              <a:defRPr/>
            </a:pPr>
            <a:r>
              <a:rPr kumimoji="0" lang="en-US" sz="2200" b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ea typeface="MS PGothic" charset="0"/>
                <a:cs typeface="+mn-cs"/>
              </a:rPr>
              <a:t>Executing safety algorithm shows that sequence &lt; </a:t>
            </a:r>
            <a:r>
              <a:rPr kumimoji="0" lang="en-US" sz="2200" b="1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ea typeface="MS PGothic" charset="0"/>
                <a:cs typeface="+mn-cs"/>
              </a:rPr>
              <a:t>P</a:t>
            </a:r>
            <a:r>
              <a:rPr kumimoji="0" lang="en-US" sz="2200" b="1" u="none" strike="noStrike" kern="1200" cap="none" spc="0" normalizeH="0" baseline="-2500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ea typeface="MS PGothic" charset="0"/>
                <a:cs typeface="+mn-cs"/>
              </a:rPr>
              <a:t>1</a:t>
            </a:r>
            <a:r>
              <a:rPr kumimoji="0" lang="en-US" sz="2200" b="1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ea typeface="MS PGothic" charset="0"/>
                <a:cs typeface="+mn-cs"/>
              </a:rPr>
              <a:t>, P</a:t>
            </a:r>
            <a:r>
              <a:rPr kumimoji="0" lang="en-US" sz="2200" b="1" u="none" strike="noStrike" kern="1200" cap="none" spc="0" normalizeH="0" baseline="-2500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ea typeface="MS PGothic" charset="0"/>
                <a:cs typeface="+mn-cs"/>
              </a:rPr>
              <a:t>3</a:t>
            </a:r>
            <a:r>
              <a:rPr kumimoji="0" lang="en-US" sz="2200" b="1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ea typeface="MS PGothic" charset="0"/>
                <a:cs typeface="+mn-cs"/>
              </a:rPr>
              <a:t>, P</a:t>
            </a:r>
            <a:r>
              <a:rPr kumimoji="0" lang="en-US" sz="2200" b="1" u="none" strike="noStrike" kern="1200" cap="none" spc="0" normalizeH="0" baseline="-2500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ea typeface="MS PGothic" charset="0"/>
                <a:cs typeface="+mn-cs"/>
              </a:rPr>
              <a:t>4</a:t>
            </a:r>
            <a:r>
              <a:rPr kumimoji="0" lang="en-US" sz="2200" b="1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ea typeface="MS PGothic" charset="0"/>
                <a:cs typeface="+mn-cs"/>
              </a:rPr>
              <a:t>, P</a:t>
            </a:r>
            <a:r>
              <a:rPr kumimoji="0" lang="en-US" sz="2200" b="1" u="none" strike="noStrike" kern="1200" cap="none" spc="0" normalizeH="0" baseline="-2500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ea typeface="MS PGothic" charset="0"/>
                <a:cs typeface="+mn-cs"/>
              </a:rPr>
              <a:t>0</a:t>
            </a:r>
            <a:r>
              <a:rPr kumimoji="0" lang="en-US" sz="2200" b="1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ea typeface="MS PGothic" charset="0"/>
                <a:cs typeface="+mn-cs"/>
              </a:rPr>
              <a:t>, P</a:t>
            </a:r>
            <a:r>
              <a:rPr kumimoji="0" lang="en-US" sz="2200" b="1" u="none" strike="noStrike" kern="1200" cap="none" spc="0" normalizeH="0" baseline="-2500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ea typeface="MS PGothic" charset="0"/>
                <a:cs typeface="+mn-cs"/>
              </a:rPr>
              <a:t>2</a:t>
            </a:r>
            <a:r>
              <a:rPr kumimoji="0" lang="en-US" sz="2200" b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ea typeface="MS PGothic" charset="0"/>
                <a:cs typeface="+mn-cs"/>
              </a:rPr>
              <a:t>&gt; satisfies safety requirement</a:t>
            </a:r>
          </a:p>
        </p:txBody>
      </p:sp>
      <p:sp>
        <p:nvSpPr>
          <p:cNvPr id="8" name="Slide Number Placeholder 7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t>106</a:t>
            </a:fld>
            <a:endParaRPr lang="en-US"/>
          </a:p>
        </p:txBody>
      </p:sp>
      <p:pic>
        <p:nvPicPr>
          <p:cNvPr id="2" name="Picture 1" descr="A black and red logo&#10;&#10;Description automatically generated">
            <a:extLst>
              <a:ext uri="{FF2B5EF4-FFF2-40B4-BE49-F238E27FC236}">
                <a16:creationId xmlns:a16="http://schemas.microsoft.com/office/drawing/2014/main" id="{710AFB74-425E-7033-831A-3CA44A69C9A4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-27384"/>
            <a:ext cx="1657350" cy="710452"/>
          </a:xfrm>
          <a:prstGeom prst="rect">
            <a:avLst/>
          </a:prstGeom>
        </p:spPr>
      </p:pic>
      <p:sp>
        <p:nvSpPr>
          <p:cNvPr id="3" name="Title 1">
            <a:extLst>
              <a:ext uri="{FF2B5EF4-FFF2-40B4-BE49-F238E27FC236}">
                <a16:creationId xmlns:a16="http://schemas.microsoft.com/office/drawing/2014/main" id="{228E026F-B881-0328-9B7E-F2B60AFF8601}"/>
              </a:ext>
            </a:extLst>
          </p:cNvPr>
          <p:cNvSpPr txBox="1">
            <a:spLocks/>
          </p:cNvSpPr>
          <p:nvPr/>
        </p:nvSpPr>
        <p:spPr>
          <a:xfrm>
            <a:off x="2171700" y="44624"/>
            <a:ext cx="5829300" cy="514349"/>
          </a:xfrm>
          <a:prstGeom prst="rect">
            <a:avLst/>
          </a:prstGeom>
          <a:gradFill flip="none" rotWithShape="1">
            <a:gsLst>
              <a:gs pos="0">
                <a:srgbClr val="FF0000">
                  <a:tint val="66000"/>
                  <a:satMod val="160000"/>
                </a:srgbClr>
              </a:gs>
              <a:gs pos="50000">
                <a:srgbClr val="FF0000">
                  <a:tint val="44500"/>
                  <a:satMod val="160000"/>
                </a:srgbClr>
              </a:gs>
              <a:gs pos="100000">
                <a:srgbClr val="FF0000">
                  <a:tint val="23500"/>
                  <a:satMod val="160000"/>
                </a:srgbClr>
              </a:gs>
            </a:gsLst>
            <a:lin ang="0" scaled="1"/>
            <a:tileRect/>
          </a:gradFill>
        </p:spPr>
        <p:style>
          <a:lnRef idx="1">
            <a:schemeClr val="accent5"/>
          </a:lnRef>
          <a:fillRef idx="2">
            <a:schemeClr val="accent5"/>
          </a:fillRef>
          <a:effectRef idx="1">
            <a:schemeClr val="accent5"/>
          </a:effectRef>
          <a:fontRef idx="minor">
            <a:schemeClr val="dk1"/>
          </a:fontRef>
        </p:style>
        <p:txBody>
          <a:bodyPr vert="horz" lIns="68580" tIns="34290" rIns="68580" bIns="34290" rtlCol="0" anchor="ctr">
            <a:noAutofit/>
          </a:bodyPr>
          <a:lstStyle>
            <a:defPPr>
              <a:defRPr lang="en-US"/>
            </a:defPPr>
            <a:lvl1pPr algn="ctr">
              <a:spcBef>
                <a:spcPct val="0"/>
              </a:spcBef>
              <a:buNone/>
              <a:defRPr sz="2800"/>
            </a:lvl1pPr>
          </a:lstStyle>
          <a:p>
            <a:pPr>
              <a:defRPr/>
            </a:pPr>
            <a:r>
              <a:rPr lang="en-US" sz="2400" dirty="0">
                <a:latin typeface="Arial" panose="020B0604020202020204" pitchFamily="34" charset="0"/>
                <a:ea typeface="MS PGothic" charset="0"/>
              </a:rPr>
              <a:t>Example: </a:t>
            </a:r>
            <a:r>
              <a:rPr lang="en-IN" sz="2400" dirty="0"/>
              <a:t>(CO3)</a:t>
            </a:r>
            <a:endParaRPr lang="en-US" sz="2100" dirty="0"/>
          </a:p>
        </p:txBody>
      </p:sp>
    </p:spTree>
  </p:cSld>
  <p:clrMapOvr>
    <a:masterClrMapping/>
  </p:clrMapOvr>
  <p:transition>
    <p:dissolve/>
  </p:transition>
</p:sld>
</file>

<file path=ppt/slides/slide10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51967DF-FE16-44CF-BF7E-8D3171BFB5E3}" type="datetime3">
              <a:rPr lang="en-US" smtClean="0"/>
              <a:t>1 September 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2514600" y="6356350"/>
            <a:ext cx="5181600" cy="365125"/>
          </a:xfrm>
        </p:spPr>
        <p:txBody>
          <a:bodyPr/>
          <a:lstStyle/>
          <a:p>
            <a:r>
              <a:rPr lang="en-US"/>
              <a:t>Atul Garg           BCSE0303            Unit- III</a:t>
            </a:r>
            <a:endParaRPr lang="en-US" dirty="0"/>
          </a:p>
        </p:txBody>
      </p:sp>
      <p:sp>
        <p:nvSpPr>
          <p:cNvPr id="8" name="Slide Number Placeholder 7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t>107</a:t>
            </a:fld>
            <a:endParaRPr lang="en-US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6BEE8292-70B0-4265-B4B6-96F58D44498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11560" y="980728"/>
            <a:ext cx="8172400" cy="3252335"/>
          </a:xfrm>
          <a:prstGeom prst="rect">
            <a:avLst/>
          </a:prstGeom>
        </p:spPr>
      </p:pic>
      <p:pic>
        <p:nvPicPr>
          <p:cNvPr id="2" name="Picture 1" descr="A black and red logo&#10;&#10;Description automatically generated">
            <a:extLst>
              <a:ext uri="{FF2B5EF4-FFF2-40B4-BE49-F238E27FC236}">
                <a16:creationId xmlns:a16="http://schemas.microsoft.com/office/drawing/2014/main" id="{13A92850-0895-AD5A-E5A6-E0E417E1611A}"/>
              </a:ext>
            </a:extLst>
          </p:cNvPr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-27384"/>
            <a:ext cx="1657350" cy="710452"/>
          </a:xfrm>
          <a:prstGeom prst="rect">
            <a:avLst/>
          </a:prstGeom>
        </p:spPr>
      </p:pic>
      <p:sp>
        <p:nvSpPr>
          <p:cNvPr id="6" name="Title 1">
            <a:extLst>
              <a:ext uri="{FF2B5EF4-FFF2-40B4-BE49-F238E27FC236}">
                <a16:creationId xmlns:a16="http://schemas.microsoft.com/office/drawing/2014/main" id="{778FD289-6A5E-AA2B-9B89-06C989E59148}"/>
              </a:ext>
            </a:extLst>
          </p:cNvPr>
          <p:cNvSpPr txBox="1">
            <a:spLocks/>
          </p:cNvSpPr>
          <p:nvPr/>
        </p:nvSpPr>
        <p:spPr>
          <a:xfrm>
            <a:off x="2171700" y="44624"/>
            <a:ext cx="5829300" cy="514349"/>
          </a:xfrm>
          <a:prstGeom prst="rect">
            <a:avLst/>
          </a:prstGeom>
          <a:gradFill flip="none" rotWithShape="1">
            <a:gsLst>
              <a:gs pos="0">
                <a:srgbClr val="FF0000">
                  <a:tint val="66000"/>
                  <a:satMod val="160000"/>
                </a:srgbClr>
              </a:gs>
              <a:gs pos="50000">
                <a:srgbClr val="FF0000">
                  <a:tint val="44500"/>
                  <a:satMod val="160000"/>
                </a:srgbClr>
              </a:gs>
              <a:gs pos="100000">
                <a:srgbClr val="FF0000">
                  <a:tint val="23500"/>
                  <a:satMod val="160000"/>
                </a:srgbClr>
              </a:gs>
            </a:gsLst>
            <a:lin ang="0" scaled="1"/>
            <a:tileRect/>
          </a:gradFill>
        </p:spPr>
        <p:style>
          <a:lnRef idx="1">
            <a:schemeClr val="accent5"/>
          </a:lnRef>
          <a:fillRef idx="2">
            <a:schemeClr val="accent5"/>
          </a:fillRef>
          <a:effectRef idx="1">
            <a:schemeClr val="accent5"/>
          </a:effectRef>
          <a:fontRef idx="minor">
            <a:schemeClr val="dk1"/>
          </a:fontRef>
        </p:style>
        <p:txBody>
          <a:bodyPr vert="horz" lIns="68580" tIns="34290" rIns="68580" bIns="34290" rtlCol="0" anchor="ctr">
            <a:noAutofit/>
          </a:bodyPr>
          <a:lstStyle>
            <a:defPPr>
              <a:defRPr lang="en-US"/>
            </a:defPPr>
            <a:lvl1pPr algn="ctr">
              <a:spcBef>
                <a:spcPct val="0"/>
              </a:spcBef>
              <a:buNone/>
              <a:defRPr sz="2800"/>
            </a:lvl1pPr>
          </a:lstStyle>
          <a:p>
            <a:pPr>
              <a:defRPr/>
            </a:pPr>
            <a:r>
              <a:rPr lang="en-US" sz="2400" dirty="0">
                <a:ea typeface="MS PGothic" charset="0"/>
              </a:rPr>
              <a:t>Deadlock Detection</a:t>
            </a:r>
            <a:r>
              <a:rPr lang="en-IN" sz="2400" dirty="0"/>
              <a:t>(CO3)</a:t>
            </a:r>
            <a:endParaRPr lang="en-US" sz="2100" dirty="0"/>
          </a:p>
        </p:txBody>
      </p:sp>
    </p:spTree>
  </p:cSld>
  <p:clrMapOvr>
    <a:masterClrMapping/>
  </p:clrMapOvr>
  <p:transition>
    <p:dissolve/>
  </p:transition>
</p:sld>
</file>

<file path=ppt/slides/slide10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B06A06B-2784-4C10-9937-35BC689483BB}" type="datetime3">
              <a:rPr lang="en-US" smtClean="0"/>
              <a:t>1 September 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2514600" y="6356350"/>
            <a:ext cx="5181600" cy="365125"/>
          </a:xfrm>
        </p:spPr>
        <p:txBody>
          <a:bodyPr/>
          <a:lstStyle/>
          <a:p>
            <a:r>
              <a:rPr lang="en-US"/>
              <a:t>Atul Garg           BCSE0303            Unit- III</a:t>
            </a:r>
            <a:endParaRPr lang="en-US" dirty="0"/>
          </a:p>
        </p:txBody>
      </p:sp>
      <p:sp>
        <p:nvSpPr>
          <p:cNvPr id="10" name="Rectangle 9"/>
          <p:cNvSpPr/>
          <p:nvPr/>
        </p:nvSpPr>
        <p:spPr>
          <a:xfrm>
            <a:off x="827584" y="764704"/>
            <a:ext cx="7776864" cy="517064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200" dirty="0">
                <a:ea typeface="MS PGothic" charset="0"/>
              </a:rPr>
              <a:t>Maintain wait-for graph</a:t>
            </a:r>
          </a:p>
          <a:p>
            <a:pPr lvl="1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200" dirty="0">
                <a:ea typeface="MS PGothic" charset="0"/>
              </a:rPr>
              <a:t>Nodes are processes</a:t>
            </a:r>
          </a:p>
          <a:p>
            <a:pPr lvl="1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200" i="1" dirty="0">
                <a:ea typeface="MS PGothic" charset="0"/>
              </a:rPr>
              <a:t>P</a:t>
            </a:r>
            <a:r>
              <a:rPr lang="en-US" sz="2200" i="1" baseline="-25000" dirty="0">
                <a:ea typeface="MS PGothic" charset="0"/>
              </a:rPr>
              <a:t>i</a:t>
            </a:r>
            <a:r>
              <a:rPr lang="en-US" sz="2200" dirty="0">
                <a:ea typeface="MS PGothic" charset="0"/>
              </a:rPr>
              <a:t> </a:t>
            </a:r>
            <a:r>
              <a:rPr lang="en-US" sz="2200" dirty="0">
                <a:ea typeface="MS PGothic" charset="0"/>
                <a:sym typeface="Symbol" charset="0"/>
              </a:rPr>
              <a:t> </a:t>
            </a:r>
            <a:r>
              <a:rPr lang="en-US" sz="2200" i="1" dirty="0" err="1">
                <a:ea typeface="MS PGothic" charset="0"/>
                <a:sym typeface="Symbol" charset="0"/>
              </a:rPr>
              <a:t>P</a:t>
            </a:r>
            <a:r>
              <a:rPr lang="en-US" sz="2200" i="1" baseline="-25000" dirty="0" err="1">
                <a:ea typeface="MS PGothic" charset="0"/>
                <a:sym typeface="Symbol" charset="0"/>
              </a:rPr>
              <a:t>j</a:t>
            </a:r>
            <a:r>
              <a:rPr lang="en-US" sz="2200" i="1" baseline="-25000" dirty="0">
                <a:ea typeface="MS PGothic" charset="0"/>
                <a:sym typeface="Symbol" charset="0"/>
              </a:rPr>
              <a:t>   </a:t>
            </a:r>
            <a:r>
              <a:rPr lang="en-US" sz="2200" dirty="0">
                <a:ea typeface="MS PGothic" charset="0"/>
                <a:sym typeface="Symbol" charset="0"/>
              </a:rPr>
              <a:t>if </a:t>
            </a:r>
            <a:r>
              <a:rPr lang="en-US" sz="2200" i="1" dirty="0">
                <a:ea typeface="MS PGothic" charset="0"/>
                <a:sym typeface="Symbol" charset="0"/>
              </a:rPr>
              <a:t>P</a:t>
            </a:r>
            <a:r>
              <a:rPr lang="en-US" sz="2200" i="1" baseline="-25000" dirty="0">
                <a:ea typeface="MS PGothic" charset="0"/>
                <a:sym typeface="Symbol" charset="0"/>
              </a:rPr>
              <a:t>i</a:t>
            </a:r>
            <a:r>
              <a:rPr lang="en-US" sz="2200" i="1" dirty="0">
                <a:ea typeface="MS PGothic" charset="0"/>
                <a:sym typeface="Symbol" charset="0"/>
              </a:rPr>
              <a:t> </a:t>
            </a:r>
            <a:r>
              <a:rPr lang="en-US" sz="2200" dirty="0">
                <a:ea typeface="MS PGothic" charset="0"/>
                <a:sym typeface="Symbol" charset="0"/>
              </a:rPr>
              <a:t>is waiting for</a:t>
            </a:r>
            <a:r>
              <a:rPr lang="en-US" sz="2200" i="1" dirty="0">
                <a:ea typeface="MS PGothic" charset="0"/>
                <a:sym typeface="Symbol" charset="0"/>
              </a:rPr>
              <a:t> </a:t>
            </a:r>
            <a:r>
              <a:rPr lang="en-US" sz="2200" i="1" dirty="0" err="1">
                <a:ea typeface="MS PGothic" charset="0"/>
                <a:sym typeface="Symbol" charset="0"/>
              </a:rPr>
              <a:t>P</a:t>
            </a:r>
            <a:r>
              <a:rPr lang="en-US" sz="2200" i="1" baseline="-25000" dirty="0" err="1">
                <a:ea typeface="MS PGothic" charset="0"/>
                <a:sym typeface="Symbol" charset="0"/>
              </a:rPr>
              <a:t>j</a:t>
            </a:r>
            <a:br>
              <a:rPr lang="en-US" sz="2200" i="1" dirty="0">
                <a:ea typeface="MS PGothic" charset="0"/>
                <a:sym typeface="Symbol" charset="0"/>
              </a:rPr>
            </a:br>
            <a:endParaRPr lang="en-US" sz="2200" i="1" dirty="0">
              <a:ea typeface="MS PGothic" charset="0"/>
              <a:sym typeface="Symbol" charset="0"/>
            </a:endParaRPr>
          </a:p>
          <a:p>
            <a:pPr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200" dirty="0">
                <a:ea typeface="MS PGothic" charset="0"/>
              </a:rPr>
              <a:t>Periodically invoke an algorithm that searches for a cycle in the graph. If there is a cycle, there exists a deadlock</a:t>
            </a:r>
          </a:p>
          <a:p>
            <a:pPr>
              <a:lnSpc>
                <a:spcPct val="150000"/>
              </a:lnSpc>
              <a:buFont typeface="Arial" panose="020B0604020202020204" pitchFamily="34" charset="0"/>
              <a:buChar char="•"/>
            </a:pPr>
            <a:endParaRPr lang="en-US" sz="2200" dirty="0">
              <a:ea typeface="MS PGothic" charset="0"/>
            </a:endParaRPr>
          </a:p>
          <a:p>
            <a:pPr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200" dirty="0">
                <a:ea typeface="MS PGothic" charset="0"/>
              </a:rPr>
              <a:t>An algorithm to detect a cycle in a graph requires an order of</a:t>
            </a:r>
            <a:r>
              <a:rPr lang="en-US" sz="2200" i="1" dirty="0">
                <a:ea typeface="MS PGothic" charset="0"/>
              </a:rPr>
              <a:t> n</a:t>
            </a:r>
            <a:r>
              <a:rPr lang="en-US" sz="2200" baseline="30000" dirty="0">
                <a:ea typeface="MS PGothic" charset="0"/>
              </a:rPr>
              <a:t>2</a:t>
            </a:r>
            <a:r>
              <a:rPr lang="en-US" sz="2200" dirty="0">
                <a:ea typeface="MS PGothic" charset="0"/>
              </a:rPr>
              <a:t> operations, where </a:t>
            </a:r>
            <a:r>
              <a:rPr lang="en-US" sz="2200" i="1" dirty="0">
                <a:ea typeface="MS PGothic" charset="0"/>
              </a:rPr>
              <a:t>n</a:t>
            </a:r>
            <a:r>
              <a:rPr lang="en-US" sz="2200" dirty="0">
                <a:ea typeface="MS PGothic" charset="0"/>
              </a:rPr>
              <a:t> is the number of vertices in the graph</a:t>
            </a:r>
          </a:p>
          <a:p>
            <a:pPr>
              <a:lnSpc>
                <a:spcPct val="150000"/>
              </a:lnSpc>
            </a:pPr>
            <a:endParaRPr lang="en-IN" sz="2200" dirty="0"/>
          </a:p>
        </p:txBody>
      </p:sp>
      <p:sp>
        <p:nvSpPr>
          <p:cNvPr id="8" name="Slide Number Placeholder 7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t>108</a:t>
            </a:fld>
            <a:endParaRPr lang="en-US"/>
          </a:p>
        </p:txBody>
      </p:sp>
      <p:pic>
        <p:nvPicPr>
          <p:cNvPr id="2" name="Picture 1" descr="A black and red logo&#10;&#10;Description automatically generated">
            <a:extLst>
              <a:ext uri="{FF2B5EF4-FFF2-40B4-BE49-F238E27FC236}">
                <a16:creationId xmlns:a16="http://schemas.microsoft.com/office/drawing/2014/main" id="{258AE4B2-94D4-C050-77B6-170A5F0A2D33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-27384"/>
            <a:ext cx="1657350" cy="710452"/>
          </a:xfrm>
          <a:prstGeom prst="rect">
            <a:avLst/>
          </a:prstGeom>
        </p:spPr>
      </p:pic>
      <p:sp>
        <p:nvSpPr>
          <p:cNvPr id="3" name="Title 1">
            <a:extLst>
              <a:ext uri="{FF2B5EF4-FFF2-40B4-BE49-F238E27FC236}">
                <a16:creationId xmlns:a16="http://schemas.microsoft.com/office/drawing/2014/main" id="{B4860349-BBA1-34F5-907B-8CB8840C6F43}"/>
              </a:ext>
            </a:extLst>
          </p:cNvPr>
          <p:cNvSpPr txBox="1">
            <a:spLocks/>
          </p:cNvSpPr>
          <p:nvPr/>
        </p:nvSpPr>
        <p:spPr>
          <a:xfrm>
            <a:off x="2171700" y="44624"/>
            <a:ext cx="5829300" cy="514349"/>
          </a:xfrm>
          <a:prstGeom prst="rect">
            <a:avLst/>
          </a:prstGeom>
          <a:gradFill flip="none" rotWithShape="1">
            <a:gsLst>
              <a:gs pos="0">
                <a:srgbClr val="FF0000">
                  <a:tint val="66000"/>
                  <a:satMod val="160000"/>
                </a:srgbClr>
              </a:gs>
              <a:gs pos="50000">
                <a:srgbClr val="FF0000">
                  <a:tint val="44500"/>
                  <a:satMod val="160000"/>
                </a:srgbClr>
              </a:gs>
              <a:gs pos="100000">
                <a:srgbClr val="FF0000">
                  <a:tint val="23500"/>
                  <a:satMod val="160000"/>
                </a:srgbClr>
              </a:gs>
            </a:gsLst>
            <a:lin ang="0" scaled="1"/>
            <a:tileRect/>
          </a:gradFill>
        </p:spPr>
        <p:style>
          <a:lnRef idx="1">
            <a:schemeClr val="accent5"/>
          </a:lnRef>
          <a:fillRef idx="2">
            <a:schemeClr val="accent5"/>
          </a:fillRef>
          <a:effectRef idx="1">
            <a:schemeClr val="accent5"/>
          </a:effectRef>
          <a:fontRef idx="minor">
            <a:schemeClr val="dk1"/>
          </a:fontRef>
        </p:style>
        <p:txBody>
          <a:bodyPr vert="horz" lIns="68580" tIns="34290" rIns="68580" bIns="34290" rtlCol="0" anchor="ctr">
            <a:noAutofit/>
          </a:bodyPr>
          <a:lstStyle>
            <a:defPPr>
              <a:defRPr lang="en-US"/>
            </a:defPPr>
            <a:lvl1pPr algn="ctr">
              <a:spcBef>
                <a:spcPct val="0"/>
              </a:spcBef>
              <a:buNone/>
              <a:defRPr sz="2800"/>
            </a:lvl1pPr>
          </a:lstStyle>
          <a:p>
            <a:pPr>
              <a:defRPr/>
            </a:pPr>
            <a:r>
              <a:rPr lang="en-US" sz="2400" dirty="0">
                <a:latin typeface="+mj-lt"/>
                <a:ea typeface="MS PGothic" charset="0"/>
              </a:rPr>
              <a:t>Single Instance of Each Resource Type</a:t>
            </a:r>
            <a:r>
              <a:rPr lang="en-IN" sz="2400" dirty="0">
                <a:latin typeface="+mj-lt"/>
              </a:rPr>
              <a:t>(CO3)</a:t>
            </a:r>
            <a:endParaRPr lang="en-US" sz="2100" dirty="0"/>
          </a:p>
        </p:txBody>
      </p:sp>
    </p:spTree>
  </p:cSld>
  <p:clrMapOvr>
    <a:masterClrMapping/>
  </p:clrMapOvr>
  <p:transition>
    <p:dissolve/>
  </p:transition>
</p:sld>
</file>

<file path=ppt/slides/slide10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0C9711-73E5-45D9-82B0-13C6ED43A083}" type="datetime3">
              <a:rPr lang="en-US" smtClean="0"/>
              <a:t>1 September 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2514600" y="6356350"/>
            <a:ext cx="5181600" cy="365125"/>
          </a:xfrm>
        </p:spPr>
        <p:txBody>
          <a:bodyPr/>
          <a:lstStyle/>
          <a:p>
            <a:r>
              <a:rPr lang="en-US"/>
              <a:t>Atul Garg           BCSE0303            Unit- III</a:t>
            </a:r>
            <a:endParaRPr lang="en-US" dirty="0"/>
          </a:p>
        </p:txBody>
      </p:sp>
      <p:sp>
        <p:nvSpPr>
          <p:cNvPr id="13" name="Text Box 5"/>
          <p:cNvSpPr txBox="1">
            <a:spLocks noChangeArrowheads="1"/>
          </p:cNvSpPr>
          <p:nvPr/>
        </p:nvSpPr>
        <p:spPr bwMode="auto">
          <a:xfrm>
            <a:off x="1600200" y="5189101"/>
            <a:ext cx="2927350" cy="366712"/>
          </a:xfrm>
          <a:prstGeom prst="rect">
            <a:avLst/>
          </a:prstGeom>
          <a:noFill/>
          <a:ln>
            <a:noFill/>
          </a:ln>
        </p:spPr>
        <p:txBody>
          <a:bodyPr wrap="none" anchor="ctr">
            <a:spAutoFit/>
          </a:bodyPr>
          <a:lstStyle>
            <a:lvl1pPr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charset="0"/>
                <a:cs typeface="MS PGothic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charset="0"/>
                <a:cs typeface="MS PGothic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charset="0"/>
                <a:cs typeface="MS PGothic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charset="0"/>
                <a:cs typeface="MS PGothic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charset="0"/>
                <a:cs typeface="MS PGothic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charset="0"/>
                <a:cs typeface="MS PGothic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charset="0"/>
                <a:cs typeface="MS PGothic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charset="0"/>
                <a:cs typeface="MS PGothic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charset="0"/>
                <a:cs typeface="MS PGothic" charset="0"/>
              </a:defRPr>
            </a:lvl9pPr>
          </a:lstStyle>
          <a:p>
            <a:pPr algn="ctr">
              <a:spcBef>
                <a:spcPct val="50000"/>
              </a:spcBef>
            </a:pPr>
            <a:r>
              <a:rPr lang="en-US" dirty="0">
                <a:latin typeface="Helvetica" charset="0"/>
              </a:rPr>
              <a:t>Resource-Allocation Graph</a:t>
            </a:r>
          </a:p>
        </p:txBody>
      </p:sp>
      <p:sp>
        <p:nvSpPr>
          <p:cNvPr id="14" name="Text Box 6"/>
          <p:cNvSpPr txBox="1">
            <a:spLocks noChangeArrowheads="1"/>
          </p:cNvSpPr>
          <p:nvPr/>
        </p:nvSpPr>
        <p:spPr bwMode="auto">
          <a:xfrm>
            <a:off x="4762500" y="5189101"/>
            <a:ext cx="3143250" cy="366712"/>
          </a:xfrm>
          <a:prstGeom prst="rect">
            <a:avLst/>
          </a:prstGeom>
          <a:noFill/>
          <a:ln>
            <a:noFill/>
          </a:ln>
        </p:spPr>
        <p:txBody>
          <a:bodyPr wrap="none" anchor="ctr">
            <a:spAutoFit/>
          </a:bodyPr>
          <a:lstStyle>
            <a:lvl1pPr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charset="0"/>
                <a:cs typeface="MS PGothic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charset="0"/>
                <a:cs typeface="MS PGothic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charset="0"/>
                <a:cs typeface="MS PGothic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charset="0"/>
                <a:cs typeface="MS PGothic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charset="0"/>
                <a:cs typeface="MS PGothic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charset="0"/>
                <a:cs typeface="MS PGothic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charset="0"/>
                <a:cs typeface="MS PGothic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charset="0"/>
                <a:cs typeface="MS PGothic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charset="0"/>
                <a:cs typeface="MS PGothic" charset="0"/>
              </a:defRPr>
            </a:lvl9pPr>
          </a:lstStyle>
          <a:p>
            <a:pPr algn="ctr">
              <a:spcBef>
                <a:spcPct val="50000"/>
              </a:spcBef>
            </a:pPr>
            <a:r>
              <a:rPr lang="en-US">
                <a:latin typeface="Helvetica" charset="0"/>
              </a:rPr>
              <a:t>Corresponding wait-for graph</a:t>
            </a:r>
          </a:p>
        </p:txBody>
      </p:sp>
      <p:pic>
        <p:nvPicPr>
          <p:cNvPr id="15" name="Picture 6" descr="7"/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828800" y="1152088"/>
            <a:ext cx="5937250" cy="3830638"/>
          </a:xfrm>
          <a:prstGeom prst="rect">
            <a:avLst/>
          </a:prstGeom>
          <a:noFill/>
          <a:ln>
            <a:noFill/>
          </a:ln>
        </p:spPr>
      </p:pic>
      <p:sp>
        <p:nvSpPr>
          <p:cNvPr id="11" name="Slide Number Placeholder 10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t>109</a:t>
            </a:fld>
            <a:endParaRPr lang="en-US"/>
          </a:p>
        </p:txBody>
      </p:sp>
      <p:pic>
        <p:nvPicPr>
          <p:cNvPr id="2" name="Picture 1" descr="A black and red logo&#10;&#10;Description automatically generated">
            <a:extLst>
              <a:ext uri="{FF2B5EF4-FFF2-40B4-BE49-F238E27FC236}">
                <a16:creationId xmlns:a16="http://schemas.microsoft.com/office/drawing/2014/main" id="{08C00D80-E7ED-8158-C0BD-E1C35417FF97}"/>
              </a:ext>
            </a:extLst>
          </p:cNvPr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-27384"/>
            <a:ext cx="1657350" cy="710452"/>
          </a:xfrm>
          <a:prstGeom prst="rect">
            <a:avLst/>
          </a:prstGeom>
        </p:spPr>
      </p:pic>
      <p:sp>
        <p:nvSpPr>
          <p:cNvPr id="3" name="Title 1">
            <a:extLst>
              <a:ext uri="{FF2B5EF4-FFF2-40B4-BE49-F238E27FC236}">
                <a16:creationId xmlns:a16="http://schemas.microsoft.com/office/drawing/2014/main" id="{2C1E8EDD-12E7-738F-4B6B-537242A74DCD}"/>
              </a:ext>
            </a:extLst>
          </p:cNvPr>
          <p:cNvSpPr txBox="1">
            <a:spLocks/>
          </p:cNvSpPr>
          <p:nvPr/>
        </p:nvSpPr>
        <p:spPr>
          <a:xfrm>
            <a:off x="2171700" y="44624"/>
            <a:ext cx="5829300" cy="514349"/>
          </a:xfrm>
          <a:prstGeom prst="rect">
            <a:avLst/>
          </a:prstGeom>
          <a:gradFill flip="none" rotWithShape="1">
            <a:gsLst>
              <a:gs pos="0">
                <a:srgbClr val="FF0000">
                  <a:tint val="66000"/>
                  <a:satMod val="160000"/>
                </a:srgbClr>
              </a:gs>
              <a:gs pos="50000">
                <a:srgbClr val="FF0000">
                  <a:tint val="44500"/>
                  <a:satMod val="160000"/>
                </a:srgbClr>
              </a:gs>
              <a:gs pos="100000">
                <a:srgbClr val="FF0000">
                  <a:tint val="23500"/>
                  <a:satMod val="160000"/>
                </a:srgbClr>
              </a:gs>
            </a:gsLst>
            <a:lin ang="0" scaled="1"/>
            <a:tileRect/>
          </a:gradFill>
        </p:spPr>
        <p:style>
          <a:lnRef idx="1">
            <a:schemeClr val="accent5"/>
          </a:lnRef>
          <a:fillRef idx="2">
            <a:schemeClr val="accent5"/>
          </a:fillRef>
          <a:effectRef idx="1">
            <a:schemeClr val="accent5"/>
          </a:effectRef>
          <a:fontRef idx="minor">
            <a:schemeClr val="dk1"/>
          </a:fontRef>
        </p:style>
        <p:txBody>
          <a:bodyPr vert="horz" lIns="68580" tIns="34290" rIns="68580" bIns="34290" rtlCol="0" anchor="ctr">
            <a:noAutofit/>
          </a:bodyPr>
          <a:lstStyle>
            <a:defPPr>
              <a:defRPr lang="en-US"/>
            </a:defPPr>
            <a:lvl1pPr algn="ctr">
              <a:spcBef>
                <a:spcPct val="0"/>
              </a:spcBef>
              <a:buNone/>
              <a:defRPr sz="2800"/>
            </a:lvl1pPr>
          </a:lstStyle>
          <a:p>
            <a:pPr>
              <a:defRPr/>
            </a:pPr>
            <a:r>
              <a:rPr lang="en-US" sz="2400" dirty="0">
                <a:ea typeface="MS PGothic" charset="0"/>
              </a:rPr>
              <a:t>Single Instance of Each Resource Type</a:t>
            </a:r>
            <a:r>
              <a:rPr lang="en-IN" sz="2400" dirty="0"/>
              <a:t>(CO3)</a:t>
            </a:r>
            <a:endParaRPr lang="en-US" sz="2100" dirty="0"/>
          </a:p>
        </p:txBody>
      </p:sp>
    </p:spTree>
  </p:cSld>
  <p:clrMapOvr>
    <a:masterClrMapping/>
  </p:clrMapOvr>
  <p:transition>
    <p:dissolve/>
  </p:transition>
</p:sld>
</file>

<file path=ppt/slides/slide1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4E57461-C23A-4298-9B63-1DFE6F56534D}" type="datetime3">
              <a:rPr lang="en-US" smtClean="0"/>
              <a:t>1 September 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2514600" y="6356350"/>
            <a:ext cx="5181600" cy="365125"/>
          </a:xfrm>
        </p:spPr>
        <p:txBody>
          <a:bodyPr/>
          <a:lstStyle/>
          <a:p>
            <a:r>
              <a:rPr lang="en-US"/>
              <a:t>Atul Garg           BCSE0303            Unit- III</a:t>
            </a:r>
            <a:endParaRPr lang="en-US" dirty="0"/>
          </a:p>
        </p:txBody>
      </p:sp>
      <p:sp>
        <p:nvSpPr>
          <p:cNvPr id="10" name="Rectangle 9"/>
          <p:cNvSpPr/>
          <p:nvPr/>
        </p:nvSpPr>
        <p:spPr>
          <a:xfrm>
            <a:off x="827584" y="764704"/>
            <a:ext cx="7848872" cy="447814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400" b="1" dirty="0">
                <a:solidFill>
                  <a:srgbClr val="000000"/>
                </a:solidFill>
                <a:ea typeface="MS PGothic" charset="0"/>
              </a:rPr>
              <a:t>Available</a:t>
            </a:r>
            <a:r>
              <a:rPr lang="en-US" sz="2400" b="1" i="1" dirty="0">
                <a:ea typeface="MS PGothic" charset="0"/>
              </a:rPr>
              <a:t>:</a:t>
            </a:r>
            <a:r>
              <a:rPr lang="en-US" sz="2400" dirty="0">
                <a:ea typeface="MS PGothic" charset="0"/>
              </a:rPr>
              <a:t>  A vector of length </a:t>
            </a:r>
            <a:r>
              <a:rPr lang="en-US" sz="2400" i="1" dirty="0">
                <a:ea typeface="MS PGothic" charset="0"/>
              </a:rPr>
              <a:t>m</a:t>
            </a:r>
            <a:r>
              <a:rPr lang="en-US" sz="2400" dirty="0">
                <a:ea typeface="MS PGothic" charset="0"/>
              </a:rPr>
              <a:t> indicates the number of available resources of each type</a:t>
            </a:r>
          </a:p>
          <a:p>
            <a:pPr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400" b="1" dirty="0">
                <a:solidFill>
                  <a:srgbClr val="000000"/>
                </a:solidFill>
                <a:ea typeface="MS PGothic" charset="0"/>
              </a:rPr>
              <a:t>Allocation</a:t>
            </a:r>
            <a:r>
              <a:rPr lang="en-US" sz="2400" b="1" i="1" dirty="0">
                <a:ea typeface="MS PGothic" charset="0"/>
              </a:rPr>
              <a:t>:</a:t>
            </a:r>
            <a:r>
              <a:rPr lang="en-US" sz="2400" dirty="0">
                <a:ea typeface="MS PGothic" charset="0"/>
              </a:rPr>
              <a:t>  An </a:t>
            </a:r>
            <a:r>
              <a:rPr lang="en-US" sz="2400" i="1" dirty="0">
                <a:ea typeface="MS PGothic" charset="0"/>
              </a:rPr>
              <a:t>n </a:t>
            </a:r>
            <a:r>
              <a:rPr lang="en-US" sz="2400" dirty="0">
                <a:ea typeface="MS PGothic" charset="0"/>
              </a:rPr>
              <a:t>x</a:t>
            </a:r>
            <a:r>
              <a:rPr lang="en-US" sz="2400" i="1" dirty="0">
                <a:ea typeface="MS PGothic" charset="0"/>
              </a:rPr>
              <a:t> m</a:t>
            </a:r>
            <a:r>
              <a:rPr lang="en-US" sz="2400" dirty="0">
                <a:ea typeface="MS PGothic" charset="0"/>
              </a:rPr>
              <a:t> matrix defines the number of resources of each type currently allocated to each process</a:t>
            </a:r>
          </a:p>
          <a:p>
            <a:pPr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400" b="1" dirty="0">
                <a:solidFill>
                  <a:srgbClr val="000000"/>
                </a:solidFill>
                <a:ea typeface="MS PGothic" charset="0"/>
              </a:rPr>
              <a:t>Request</a:t>
            </a:r>
            <a:r>
              <a:rPr lang="en-US" sz="2400" b="1" i="1" dirty="0">
                <a:ea typeface="MS PGothic" charset="0"/>
              </a:rPr>
              <a:t>:</a:t>
            </a:r>
            <a:r>
              <a:rPr lang="en-US" sz="2400" b="1" dirty="0">
                <a:ea typeface="MS PGothic" charset="0"/>
              </a:rPr>
              <a:t>  </a:t>
            </a:r>
            <a:r>
              <a:rPr lang="en-US" sz="2400" dirty="0">
                <a:ea typeface="MS PGothic" charset="0"/>
              </a:rPr>
              <a:t>An </a:t>
            </a:r>
            <a:r>
              <a:rPr lang="en-US" sz="2400" i="1" dirty="0">
                <a:ea typeface="MS PGothic" charset="0"/>
              </a:rPr>
              <a:t>n </a:t>
            </a:r>
            <a:r>
              <a:rPr lang="en-US" sz="2400" dirty="0">
                <a:ea typeface="MS PGothic" charset="0"/>
              </a:rPr>
              <a:t>x</a:t>
            </a:r>
            <a:r>
              <a:rPr lang="en-US" sz="2400" i="1" dirty="0">
                <a:ea typeface="MS PGothic" charset="0"/>
              </a:rPr>
              <a:t> m</a:t>
            </a:r>
            <a:r>
              <a:rPr lang="en-US" sz="2400" dirty="0">
                <a:ea typeface="MS PGothic" charset="0"/>
              </a:rPr>
              <a:t> matrix indicates the current request  of each process.  If </a:t>
            </a:r>
            <a:r>
              <a:rPr lang="en-US" sz="2400" i="1" dirty="0">
                <a:ea typeface="MS PGothic" charset="0"/>
              </a:rPr>
              <a:t>Request </a:t>
            </a:r>
            <a:r>
              <a:rPr lang="en-US" sz="2400" dirty="0">
                <a:ea typeface="MS PGothic" charset="0"/>
              </a:rPr>
              <a:t>[</a:t>
            </a:r>
            <a:r>
              <a:rPr lang="en-US" sz="2400" i="1" dirty="0">
                <a:ea typeface="MS PGothic" charset="0"/>
              </a:rPr>
              <a:t>i</a:t>
            </a:r>
            <a:r>
              <a:rPr lang="en-US" sz="2400" dirty="0">
                <a:ea typeface="MS PGothic" charset="0"/>
              </a:rPr>
              <a:t>][</a:t>
            </a:r>
            <a:r>
              <a:rPr lang="en-US" sz="2400" i="1" dirty="0">
                <a:ea typeface="MS PGothic" charset="0"/>
              </a:rPr>
              <a:t>j</a:t>
            </a:r>
            <a:r>
              <a:rPr lang="en-US" sz="2400" dirty="0">
                <a:ea typeface="MS PGothic" charset="0"/>
              </a:rPr>
              <a:t>] = </a:t>
            </a:r>
            <a:r>
              <a:rPr lang="en-US" sz="2400" i="1" dirty="0">
                <a:ea typeface="MS PGothic" charset="0"/>
              </a:rPr>
              <a:t>k</a:t>
            </a:r>
            <a:r>
              <a:rPr lang="en-US" sz="2400" dirty="0">
                <a:ea typeface="MS PGothic" charset="0"/>
              </a:rPr>
              <a:t>, then process</a:t>
            </a:r>
            <a:r>
              <a:rPr lang="en-US" sz="2400" i="1" dirty="0">
                <a:ea typeface="MS PGothic" charset="0"/>
              </a:rPr>
              <a:t> P</a:t>
            </a:r>
            <a:r>
              <a:rPr lang="en-US" sz="2400" i="1" baseline="-25000" dirty="0">
                <a:ea typeface="MS PGothic" charset="0"/>
              </a:rPr>
              <a:t>i</a:t>
            </a:r>
            <a:r>
              <a:rPr lang="en-US" sz="2400" dirty="0">
                <a:ea typeface="MS PGothic" charset="0"/>
              </a:rPr>
              <a:t> is requesting</a:t>
            </a:r>
            <a:r>
              <a:rPr lang="en-US" sz="2400" i="1" dirty="0">
                <a:ea typeface="MS PGothic" charset="0"/>
              </a:rPr>
              <a:t> k</a:t>
            </a:r>
            <a:r>
              <a:rPr lang="en-US" sz="2400" dirty="0">
                <a:ea typeface="MS PGothic" charset="0"/>
              </a:rPr>
              <a:t> more instances of resource type </a:t>
            </a:r>
            <a:r>
              <a:rPr lang="en-US" sz="2400" i="1" dirty="0">
                <a:ea typeface="MS PGothic" charset="0"/>
              </a:rPr>
              <a:t>R</a:t>
            </a:r>
            <a:r>
              <a:rPr lang="en-US" sz="2400" i="1" baseline="-25000" dirty="0">
                <a:ea typeface="MS PGothic" charset="0"/>
              </a:rPr>
              <a:t>j</a:t>
            </a:r>
            <a:r>
              <a:rPr lang="en-US" sz="2400" dirty="0">
                <a:ea typeface="MS PGothic" charset="0"/>
              </a:rPr>
              <a:t>.</a:t>
            </a:r>
          </a:p>
          <a:p>
            <a:pPr>
              <a:lnSpc>
                <a:spcPct val="150000"/>
              </a:lnSpc>
            </a:pPr>
            <a:endParaRPr lang="en-IN" sz="2200" dirty="0"/>
          </a:p>
        </p:txBody>
      </p:sp>
      <p:sp>
        <p:nvSpPr>
          <p:cNvPr id="8" name="Slide Number Placeholder 7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t>110</a:t>
            </a:fld>
            <a:endParaRPr lang="en-US"/>
          </a:p>
        </p:txBody>
      </p:sp>
      <p:pic>
        <p:nvPicPr>
          <p:cNvPr id="2" name="Picture 1" descr="A black and red logo&#10;&#10;Description automatically generated">
            <a:extLst>
              <a:ext uri="{FF2B5EF4-FFF2-40B4-BE49-F238E27FC236}">
                <a16:creationId xmlns:a16="http://schemas.microsoft.com/office/drawing/2014/main" id="{C17317D3-B100-54DE-52A5-BCE19498ACD6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-27384"/>
            <a:ext cx="1657350" cy="710452"/>
          </a:xfrm>
          <a:prstGeom prst="rect">
            <a:avLst/>
          </a:prstGeom>
        </p:spPr>
      </p:pic>
      <p:sp>
        <p:nvSpPr>
          <p:cNvPr id="3" name="Title 1">
            <a:extLst>
              <a:ext uri="{FF2B5EF4-FFF2-40B4-BE49-F238E27FC236}">
                <a16:creationId xmlns:a16="http://schemas.microsoft.com/office/drawing/2014/main" id="{CE898FF6-6BE5-5FB9-AA54-EDEBE09562CF}"/>
              </a:ext>
            </a:extLst>
          </p:cNvPr>
          <p:cNvSpPr txBox="1">
            <a:spLocks/>
          </p:cNvSpPr>
          <p:nvPr/>
        </p:nvSpPr>
        <p:spPr>
          <a:xfrm>
            <a:off x="2171700" y="44624"/>
            <a:ext cx="5829300" cy="514349"/>
          </a:xfrm>
          <a:prstGeom prst="rect">
            <a:avLst/>
          </a:prstGeom>
          <a:gradFill flip="none" rotWithShape="1">
            <a:gsLst>
              <a:gs pos="0">
                <a:srgbClr val="FF0000">
                  <a:tint val="66000"/>
                  <a:satMod val="160000"/>
                </a:srgbClr>
              </a:gs>
              <a:gs pos="50000">
                <a:srgbClr val="FF0000">
                  <a:tint val="44500"/>
                  <a:satMod val="160000"/>
                </a:srgbClr>
              </a:gs>
              <a:gs pos="100000">
                <a:srgbClr val="FF0000">
                  <a:tint val="23500"/>
                  <a:satMod val="160000"/>
                </a:srgbClr>
              </a:gs>
            </a:gsLst>
            <a:lin ang="0" scaled="1"/>
            <a:tileRect/>
          </a:gradFill>
        </p:spPr>
        <p:style>
          <a:lnRef idx="1">
            <a:schemeClr val="accent5"/>
          </a:lnRef>
          <a:fillRef idx="2">
            <a:schemeClr val="accent5"/>
          </a:fillRef>
          <a:effectRef idx="1">
            <a:schemeClr val="accent5"/>
          </a:effectRef>
          <a:fontRef idx="minor">
            <a:schemeClr val="dk1"/>
          </a:fontRef>
        </p:style>
        <p:txBody>
          <a:bodyPr vert="horz" lIns="68580" tIns="34290" rIns="68580" bIns="34290" rtlCol="0" anchor="ctr">
            <a:noAutofit/>
          </a:bodyPr>
          <a:lstStyle>
            <a:defPPr>
              <a:defRPr lang="en-US"/>
            </a:defPPr>
            <a:lvl1pPr algn="ctr">
              <a:spcBef>
                <a:spcPct val="0"/>
              </a:spcBef>
              <a:buNone/>
              <a:defRPr sz="2800"/>
            </a:lvl1pPr>
          </a:lstStyle>
          <a:p>
            <a:pPr>
              <a:defRPr/>
            </a:pPr>
            <a:r>
              <a:rPr lang="en-US" sz="2400" dirty="0">
                <a:latin typeface="+mj-lt"/>
                <a:ea typeface="MS PGothic" charset="0"/>
              </a:rPr>
              <a:t>Several Instances of a Resource Type</a:t>
            </a:r>
            <a:r>
              <a:rPr lang="en-IN" sz="2400" dirty="0">
                <a:latin typeface="+mj-lt"/>
              </a:rPr>
              <a:t>(CO3)</a:t>
            </a:r>
            <a:endParaRPr lang="en-US" sz="2100" dirty="0"/>
          </a:p>
        </p:txBody>
      </p:sp>
    </p:spTree>
  </p:cSld>
  <p:clrMapOvr>
    <a:masterClrMapping/>
  </p:clrMapOvr>
  <p:transition>
    <p:dissolve/>
  </p:transition>
</p:sld>
</file>

<file path=ppt/slides/slide1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C48FF6A-AA57-4BA4-AC50-D44816FFCDDE}" type="datetime3">
              <a:rPr lang="en-US" smtClean="0"/>
              <a:t>1 September 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2514600" y="6356350"/>
            <a:ext cx="5181600" cy="365125"/>
          </a:xfrm>
        </p:spPr>
        <p:txBody>
          <a:bodyPr/>
          <a:lstStyle/>
          <a:p>
            <a:r>
              <a:rPr lang="en-US"/>
              <a:t>Atul Garg           BCSE0303            Unit- III</a:t>
            </a:r>
            <a:endParaRPr lang="en-US" dirty="0"/>
          </a:p>
        </p:txBody>
      </p:sp>
      <p:sp>
        <p:nvSpPr>
          <p:cNvPr id="8" name="Slide Number Placeholder 7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t>111</a:t>
            </a:fld>
            <a:endParaRPr lang="en-US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C6CF471F-1DBB-3C81-351A-B7C93B7F647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79512" y="764704"/>
            <a:ext cx="8686800" cy="4994031"/>
          </a:xfrm>
          <a:prstGeom prst="rect">
            <a:avLst/>
          </a:prstGeom>
        </p:spPr>
      </p:pic>
      <p:pic>
        <p:nvPicPr>
          <p:cNvPr id="2" name="Picture 1" descr="A black and red logo&#10;&#10;Description automatically generated">
            <a:extLst>
              <a:ext uri="{FF2B5EF4-FFF2-40B4-BE49-F238E27FC236}">
                <a16:creationId xmlns:a16="http://schemas.microsoft.com/office/drawing/2014/main" id="{7A862F6E-28B0-76DF-AFDA-CFAD468E27F0}"/>
              </a:ext>
            </a:extLst>
          </p:cNvPr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-27384"/>
            <a:ext cx="1657350" cy="710452"/>
          </a:xfrm>
          <a:prstGeom prst="rect">
            <a:avLst/>
          </a:prstGeom>
        </p:spPr>
      </p:pic>
      <p:sp>
        <p:nvSpPr>
          <p:cNvPr id="6" name="Title 1">
            <a:extLst>
              <a:ext uri="{FF2B5EF4-FFF2-40B4-BE49-F238E27FC236}">
                <a16:creationId xmlns:a16="http://schemas.microsoft.com/office/drawing/2014/main" id="{F7561DF3-A265-9CBF-70F6-5BC58B0D631D}"/>
              </a:ext>
            </a:extLst>
          </p:cNvPr>
          <p:cNvSpPr txBox="1">
            <a:spLocks/>
          </p:cNvSpPr>
          <p:nvPr/>
        </p:nvSpPr>
        <p:spPr>
          <a:xfrm>
            <a:off x="1547664" y="44624"/>
            <a:ext cx="7488832" cy="638443"/>
          </a:xfrm>
          <a:prstGeom prst="rect">
            <a:avLst/>
          </a:prstGeom>
          <a:gradFill flip="none" rotWithShape="1">
            <a:gsLst>
              <a:gs pos="0">
                <a:srgbClr val="FF0000">
                  <a:tint val="66000"/>
                  <a:satMod val="160000"/>
                </a:srgbClr>
              </a:gs>
              <a:gs pos="50000">
                <a:srgbClr val="FF0000">
                  <a:tint val="44500"/>
                  <a:satMod val="160000"/>
                </a:srgbClr>
              </a:gs>
              <a:gs pos="100000">
                <a:srgbClr val="FF0000">
                  <a:tint val="23500"/>
                  <a:satMod val="160000"/>
                </a:srgbClr>
              </a:gs>
            </a:gsLst>
            <a:lin ang="0" scaled="1"/>
            <a:tileRect/>
          </a:gradFill>
        </p:spPr>
        <p:style>
          <a:lnRef idx="1">
            <a:schemeClr val="accent5"/>
          </a:lnRef>
          <a:fillRef idx="2">
            <a:schemeClr val="accent5"/>
          </a:fillRef>
          <a:effectRef idx="1">
            <a:schemeClr val="accent5"/>
          </a:effectRef>
          <a:fontRef idx="minor">
            <a:schemeClr val="dk1"/>
          </a:fontRef>
        </p:style>
        <p:txBody>
          <a:bodyPr vert="horz" lIns="68580" tIns="34290" rIns="68580" bIns="34290" rtlCol="0" anchor="ctr">
            <a:noAutofit/>
          </a:bodyPr>
          <a:lstStyle>
            <a:defPPr>
              <a:defRPr lang="en-US"/>
            </a:defPPr>
            <a:lvl1pPr algn="ctr">
              <a:spcBef>
                <a:spcPct val="0"/>
              </a:spcBef>
              <a:buNone/>
              <a:defRPr sz="2800"/>
            </a:lvl1pPr>
          </a:lstStyle>
          <a:p>
            <a:pPr>
              <a:defRPr/>
            </a:pPr>
            <a:r>
              <a:rPr lang="en-US" sz="2400" dirty="0">
                <a:latin typeface="+mj-lt"/>
                <a:ea typeface="MS PGothic" charset="0"/>
              </a:rPr>
              <a:t>Detection Algorithm</a:t>
            </a:r>
            <a:r>
              <a:rPr lang="en-IN" sz="2400" dirty="0">
                <a:latin typeface="+mj-lt"/>
              </a:rPr>
              <a:t>(CO3)</a:t>
            </a:r>
            <a:endParaRPr lang="en-US" sz="2100" dirty="0"/>
          </a:p>
        </p:txBody>
      </p:sp>
    </p:spTree>
  </p:cSld>
  <p:clrMapOvr>
    <a:masterClrMapping/>
  </p:clrMapOvr>
  <p:transition>
    <p:dissolve/>
  </p:transition>
</p:sld>
</file>

<file path=ppt/slides/slide1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BE3600-01F1-4B35-AA9F-130D7AC36CCB}" type="datetime3">
              <a:rPr lang="en-US" smtClean="0"/>
              <a:t>1 September 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2514600" y="6356350"/>
            <a:ext cx="5181600" cy="365125"/>
          </a:xfrm>
        </p:spPr>
        <p:txBody>
          <a:bodyPr/>
          <a:lstStyle/>
          <a:p>
            <a:r>
              <a:rPr lang="en-US"/>
              <a:t>Atul Garg           BCSE0303            Unit- III</a:t>
            </a:r>
            <a:endParaRPr lang="en-US" dirty="0"/>
          </a:p>
        </p:txBody>
      </p:sp>
      <p:sp>
        <p:nvSpPr>
          <p:cNvPr id="8" name="Slide Number Placeholder 7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t>112</a:t>
            </a:fld>
            <a:endParaRPr lang="en-US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2F0B752A-8056-0F91-1F24-B106D86D291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28600" y="852487"/>
            <a:ext cx="8686800" cy="5153025"/>
          </a:xfrm>
          <a:prstGeom prst="rect">
            <a:avLst/>
          </a:prstGeom>
        </p:spPr>
      </p:pic>
      <p:pic>
        <p:nvPicPr>
          <p:cNvPr id="2" name="Picture 1" descr="A black and red logo&#10;&#10;Description automatically generated">
            <a:extLst>
              <a:ext uri="{FF2B5EF4-FFF2-40B4-BE49-F238E27FC236}">
                <a16:creationId xmlns:a16="http://schemas.microsoft.com/office/drawing/2014/main" id="{66780B82-3C43-ECE0-22FD-10BDED1278E2}"/>
              </a:ext>
            </a:extLst>
          </p:cNvPr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8212" y="93330"/>
            <a:ext cx="1657350" cy="710452"/>
          </a:xfrm>
          <a:prstGeom prst="rect">
            <a:avLst/>
          </a:prstGeom>
        </p:spPr>
      </p:pic>
      <p:sp>
        <p:nvSpPr>
          <p:cNvPr id="6" name="Title 1">
            <a:extLst>
              <a:ext uri="{FF2B5EF4-FFF2-40B4-BE49-F238E27FC236}">
                <a16:creationId xmlns:a16="http://schemas.microsoft.com/office/drawing/2014/main" id="{D9367916-9782-74C7-C89C-5A5C050A02A6}"/>
              </a:ext>
            </a:extLst>
          </p:cNvPr>
          <p:cNvSpPr txBox="1">
            <a:spLocks/>
          </p:cNvSpPr>
          <p:nvPr/>
        </p:nvSpPr>
        <p:spPr>
          <a:xfrm>
            <a:off x="1657350" y="44624"/>
            <a:ext cx="7486650" cy="807863"/>
          </a:xfrm>
          <a:prstGeom prst="rect">
            <a:avLst/>
          </a:prstGeom>
          <a:gradFill flip="none" rotWithShape="1">
            <a:gsLst>
              <a:gs pos="0">
                <a:srgbClr val="FF0000">
                  <a:tint val="66000"/>
                  <a:satMod val="160000"/>
                </a:srgbClr>
              </a:gs>
              <a:gs pos="50000">
                <a:srgbClr val="FF0000">
                  <a:tint val="44500"/>
                  <a:satMod val="160000"/>
                </a:srgbClr>
              </a:gs>
              <a:gs pos="100000">
                <a:srgbClr val="FF0000">
                  <a:tint val="23500"/>
                  <a:satMod val="160000"/>
                </a:srgbClr>
              </a:gs>
            </a:gsLst>
            <a:lin ang="0" scaled="1"/>
            <a:tileRect/>
          </a:gradFill>
        </p:spPr>
        <p:style>
          <a:lnRef idx="1">
            <a:schemeClr val="accent5"/>
          </a:lnRef>
          <a:fillRef idx="2">
            <a:schemeClr val="accent5"/>
          </a:fillRef>
          <a:effectRef idx="1">
            <a:schemeClr val="accent5"/>
          </a:effectRef>
          <a:fontRef idx="minor">
            <a:schemeClr val="dk1"/>
          </a:fontRef>
        </p:style>
        <p:txBody>
          <a:bodyPr vert="horz" lIns="68580" tIns="34290" rIns="68580" bIns="34290" rtlCol="0" anchor="ctr">
            <a:noAutofit/>
          </a:bodyPr>
          <a:lstStyle>
            <a:defPPr>
              <a:defRPr lang="en-US"/>
            </a:defPPr>
            <a:lvl1pPr algn="ctr">
              <a:spcBef>
                <a:spcPct val="0"/>
              </a:spcBef>
              <a:buNone/>
              <a:defRPr sz="2800"/>
            </a:lvl1pPr>
          </a:lstStyle>
          <a:p>
            <a:pPr>
              <a:defRPr/>
            </a:pPr>
            <a:r>
              <a:rPr lang="en-US" sz="2400" dirty="0">
                <a:latin typeface="+mj-lt"/>
                <a:ea typeface="MS PGothic" charset="0"/>
              </a:rPr>
              <a:t>Detection Algorithm</a:t>
            </a:r>
            <a:r>
              <a:rPr lang="en-IN" sz="2400" dirty="0">
                <a:latin typeface="+mj-lt"/>
              </a:rPr>
              <a:t>(CO3)</a:t>
            </a:r>
            <a:endParaRPr lang="en-US" sz="2100" dirty="0"/>
          </a:p>
        </p:txBody>
      </p:sp>
    </p:spTree>
    <p:extLst>
      <p:ext uri="{BB962C8B-B14F-4D97-AF65-F5344CB8AC3E}">
        <p14:creationId xmlns:p14="http://schemas.microsoft.com/office/powerpoint/2010/main" val="3778145960"/>
      </p:ext>
    </p:extLst>
  </p:cSld>
  <p:clrMapOvr>
    <a:masterClrMapping/>
  </p:clrMapOvr>
  <p:transition>
    <p:dissolve/>
  </p:transition>
</p:sld>
</file>

<file path=ppt/slides/slide1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8CACCB2-19CF-4FC1-948B-77A3A5BA991B}" type="datetime3">
              <a:rPr lang="en-US" smtClean="0"/>
              <a:t>1 September 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2514600" y="6356350"/>
            <a:ext cx="5181600" cy="365125"/>
          </a:xfrm>
        </p:spPr>
        <p:txBody>
          <a:bodyPr/>
          <a:lstStyle/>
          <a:p>
            <a:r>
              <a:rPr lang="en-US"/>
              <a:t>Atul Garg           BCSE0303            Unit- III</a:t>
            </a:r>
            <a:endParaRPr lang="en-US" dirty="0"/>
          </a:p>
        </p:txBody>
      </p:sp>
      <p:sp>
        <p:nvSpPr>
          <p:cNvPr id="8" name="Slide Number Placeholder 7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t>113</a:t>
            </a:fld>
            <a:endParaRPr lang="en-US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BE93C0C3-D977-9677-8FFE-D4F977DF503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51520" y="836712"/>
            <a:ext cx="8648700" cy="4629150"/>
          </a:xfrm>
          <a:prstGeom prst="rect">
            <a:avLst/>
          </a:prstGeom>
        </p:spPr>
      </p:pic>
      <p:pic>
        <p:nvPicPr>
          <p:cNvPr id="2" name="Picture 1" descr="A black and red logo&#10;&#10;Description automatically generated">
            <a:extLst>
              <a:ext uri="{FF2B5EF4-FFF2-40B4-BE49-F238E27FC236}">
                <a16:creationId xmlns:a16="http://schemas.microsoft.com/office/drawing/2014/main" id="{81729EC0-CED2-8831-A6CC-C412BD52957B}"/>
              </a:ext>
            </a:extLst>
          </p:cNvPr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-27384"/>
            <a:ext cx="1657350" cy="792088"/>
          </a:xfrm>
          <a:prstGeom prst="rect">
            <a:avLst/>
          </a:prstGeom>
        </p:spPr>
      </p:pic>
      <p:sp>
        <p:nvSpPr>
          <p:cNvPr id="3" name="Title 1">
            <a:extLst>
              <a:ext uri="{FF2B5EF4-FFF2-40B4-BE49-F238E27FC236}">
                <a16:creationId xmlns:a16="http://schemas.microsoft.com/office/drawing/2014/main" id="{42D45FAA-E200-3280-267D-8ADACB4DE45E}"/>
              </a:ext>
            </a:extLst>
          </p:cNvPr>
          <p:cNvSpPr txBox="1">
            <a:spLocks/>
          </p:cNvSpPr>
          <p:nvPr/>
        </p:nvSpPr>
        <p:spPr>
          <a:xfrm>
            <a:off x="1524000" y="0"/>
            <a:ext cx="7560840" cy="620688"/>
          </a:xfrm>
          <a:prstGeom prst="rect">
            <a:avLst/>
          </a:prstGeom>
          <a:gradFill flip="none" rotWithShape="1">
            <a:gsLst>
              <a:gs pos="0">
                <a:srgbClr val="FF0000">
                  <a:tint val="66000"/>
                  <a:satMod val="160000"/>
                </a:srgbClr>
              </a:gs>
              <a:gs pos="50000">
                <a:srgbClr val="FF0000">
                  <a:tint val="44500"/>
                  <a:satMod val="160000"/>
                </a:srgbClr>
              </a:gs>
              <a:gs pos="100000">
                <a:srgbClr val="FF0000">
                  <a:tint val="23500"/>
                  <a:satMod val="160000"/>
                </a:srgbClr>
              </a:gs>
            </a:gsLst>
            <a:lin ang="0" scaled="1"/>
            <a:tileRect/>
          </a:gradFill>
        </p:spPr>
        <p:style>
          <a:lnRef idx="1">
            <a:schemeClr val="accent5"/>
          </a:lnRef>
          <a:fillRef idx="2">
            <a:schemeClr val="accent5"/>
          </a:fillRef>
          <a:effectRef idx="1">
            <a:schemeClr val="accent5"/>
          </a:effectRef>
          <a:fontRef idx="minor">
            <a:schemeClr val="dk1"/>
          </a:fontRef>
        </p:style>
        <p:txBody>
          <a:bodyPr vert="horz" lIns="68580" tIns="34290" rIns="68580" bIns="34290" rtlCol="0" anchor="ctr">
            <a:noAutofit/>
          </a:bodyPr>
          <a:lstStyle>
            <a:defPPr>
              <a:defRPr lang="en-US"/>
            </a:defPPr>
            <a:lvl1pPr algn="ctr">
              <a:spcBef>
                <a:spcPct val="0"/>
              </a:spcBef>
              <a:buNone/>
              <a:defRPr sz="2800"/>
            </a:lvl1pPr>
          </a:lstStyle>
          <a:p>
            <a:pPr>
              <a:defRPr/>
            </a:pPr>
            <a:r>
              <a:rPr lang="en-US" sz="2400" dirty="0">
                <a:latin typeface="+mj-lt"/>
                <a:ea typeface="MS PGothic" charset="0"/>
              </a:rPr>
              <a:t>Detection Algorithm</a:t>
            </a:r>
            <a:r>
              <a:rPr lang="en-IN" sz="2400" dirty="0">
                <a:latin typeface="+mj-lt"/>
              </a:rPr>
              <a:t>(CO3)</a:t>
            </a:r>
            <a:endParaRPr lang="en-US" sz="2100" dirty="0"/>
          </a:p>
        </p:txBody>
      </p:sp>
    </p:spTree>
    <p:extLst>
      <p:ext uri="{BB962C8B-B14F-4D97-AF65-F5344CB8AC3E}">
        <p14:creationId xmlns:p14="http://schemas.microsoft.com/office/powerpoint/2010/main" val="3732681682"/>
      </p:ext>
    </p:extLst>
  </p:cSld>
  <p:clrMapOvr>
    <a:masterClrMapping/>
  </p:clrMapOvr>
  <p:transition>
    <p:dissolve/>
  </p:transition>
</p:sld>
</file>

<file path=ppt/slides/slide1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BB0FF35-54BE-433C-94AB-75D9B2320472}" type="datetime3">
              <a:rPr lang="en-US" smtClean="0"/>
              <a:t>1 September 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2514600" y="6356350"/>
            <a:ext cx="5181600" cy="365125"/>
          </a:xfrm>
        </p:spPr>
        <p:txBody>
          <a:bodyPr/>
          <a:lstStyle/>
          <a:p>
            <a:r>
              <a:rPr lang="en-US"/>
              <a:t>Atul Garg           BCSE0303            Unit- III</a:t>
            </a:r>
            <a:endParaRPr lang="en-US" dirty="0"/>
          </a:p>
        </p:txBody>
      </p:sp>
      <p:sp>
        <p:nvSpPr>
          <p:cNvPr id="11" name="Rectangle 10"/>
          <p:cNvSpPr/>
          <p:nvPr/>
        </p:nvSpPr>
        <p:spPr>
          <a:xfrm>
            <a:off x="971600" y="836712"/>
            <a:ext cx="7848872" cy="449353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2200" b="1" dirty="0">
                <a:ea typeface="MS PGothic" charset="0"/>
              </a:rPr>
              <a:t>Process Termination :</a:t>
            </a:r>
          </a:p>
          <a:p>
            <a:endParaRPr lang="en-US" sz="2200" b="1" dirty="0">
              <a:ea typeface="MS PGothic" charset="0"/>
            </a:endParaRPr>
          </a:p>
          <a:p>
            <a:pPr>
              <a:buFont typeface="Arial" panose="020B0604020202020204" pitchFamily="34" charset="0"/>
              <a:buChar char="•"/>
            </a:pPr>
            <a:r>
              <a:rPr lang="en-US" sz="2200" dirty="0">
                <a:ea typeface="MS PGothic" charset="0"/>
              </a:rPr>
              <a:t>Abort all deadlocked processes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2200" dirty="0">
                <a:ea typeface="MS PGothic" charset="0"/>
              </a:rPr>
              <a:t>Abort one process at a time until the deadlock cycle is eliminated</a:t>
            </a:r>
            <a:br>
              <a:rPr lang="en-US" sz="2200" dirty="0">
                <a:ea typeface="MS PGothic" charset="0"/>
              </a:rPr>
            </a:br>
            <a:endParaRPr lang="en-US" sz="2200" dirty="0">
              <a:ea typeface="MS PGothic" charset="0"/>
            </a:endParaRPr>
          </a:p>
          <a:p>
            <a:r>
              <a:rPr lang="en-US" sz="2200" dirty="0">
                <a:ea typeface="MS PGothic" charset="0"/>
              </a:rPr>
              <a:t>In which order should we choose to abort?</a:t>
            </a:r>
          </a:p>
          <a:p>
            <a:pPr marL="800100" lvl="1" indent="-342900">
              <a:buFont typeface="Arial" panose="020B0604020202020204" pitchFamily="34" charset="0"/>
              <a:buAutoNum type="arabicPeriod"/>
            </a:pPr>
            <a:r>
              <a:rPr lang="en-US" sz="2200" dirty="0">
                <a:ea typeface="MS PGothic" charset="0"/>
              </a:rPr>
              <a:t>Priority of the process</a:t>
            </a:r>
          </a:p>
          <a:p>
            <a:pPr marL="800100" lvl="1" indent="-342900">
              <a:buFont typeface="Arial" panose="020B0604020202020204" pitchFamily="34" charset="0"/>
              <a:buAutoNum type="arabicPeriod"/>
            </a:pPr>
            <a:r>
              <a:rPr lang="en-US" sz="2200" dirty="0">
                <a:ea typeface="MS PGothic" charset="0"/>
              </a:rPr>
              <a:t>How long process has computed, and how much longer to completion</a:t>
            </a:r>
          </a:p>
          <a:p>
            <a:pPr marL="800100" lvl="1" indent="-342900">
              <a:buFont typeface="Arial" panose="020B0604020202020204" pitchFamily="34" charset="0"/>
              <a:buAutoNum type="arabicPeriod"/>
            </a:pPr>
            <a:r>
              <a:rPr lang="en-US" sz="2200" dirty="0">
                <a:ea typeface="MS PGothic" charset="0"/>
              </a:rPr>
              <a:t>Resources the process has used</a:t>
            </a:r>
          </a:p>
          <a:p>
            <a:pPr marL="800100" lvl="1" indent="-342900">
              <a:buFont typeface="Arial" panose="020B0604020202020204" pitchFamily="34" charset="0"/>
              <a:buAutoNum type="arabicPeriod"/>
            </a:pPr>
            <a:r>
              <a:rPr lang="en-US" sz="2200" dirty="0">
                <a:ea typeface="MS PGothic" charset="0"/>
              </a:rPr>
              <a:t>Resources process needs to complete</a:t>
            </a:r>
          </a:p>
          <a:p>
            <a:pPr marL="800100" lvl="1" indent="-342900">
              <a:buFont typeface="Arial" panose="020B0604020202020204" pitchFamily="34" charset="0"/>
              <a:buAutoNum type="arabicPeriod"/>
            </a:pPr>
            <a:r>
              <a:rPr lang="en-US" sz="2200" dirty="0">
                <a:ea typeface="MS PGothic" charset="0"/>
              </a:rPr>
              <a:t>How many processes will need to be terminated</a:t>
            </a:r>
          </a:p>
          <a:p>
            <a:pPr marL="800100" lvl="1" indent="-342900">
              <a:buFont typeface="Arial" panose="020B0604020202020204" pitchFamily="34" charset="0"/>
              <a:buAutoNum type="arabicPeriod"/>
            </a:pPr>
            <a:r>
              <a:rPr lang="en-US" sz="2200" dirty="0">
                <a:ea typeface="MS PGothic" charset="0"/>
              </a:rPr>
              <a:t>Is process interactive or batch?</a:t>
            </a:r>
            <a:endParaRPr lang="en-IN" sz="2200" dirty="0"/>
          </a:p>
        </p:txBody>
      </p:sp>
      <p:sp>
        <p:nvSpPr>
          <p:cNvPr id="8" name="Slide Number Placeholder 7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t>114</a:t>
            </a:fld>
            <a:endParaRPr lang="en-US"/>
          </a:p>
        </p:txBody>
      </p:sp>
      <p:pic>
        <p:nvPicPr>
          <p:cNvPr id="2" name="Picture 1" descr="A black and red logo&#10;&#10;Description automatically generated">
            <a:extLst>
              <a:ext uri="{FF2B5EF4-FFF2-40B4-BE49-F238E27FC236}">
                <a16:creationId xmlns:a16="http://schemas.microsoft.com/office/drawing/2014/main" id="{3D2AE183-B1C5-8BC8-6B04-D7FCADC1BCF7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-27384"/>
            <a:ext cx="1657350" cy="710452"/>
          </a:xfrm>
          <a:prstGeom prst="rect">
            <a:avLst/>
          </a:prstGeom>
        </p:spPr>
      </p:pic>
      <p:sp>
        <p:nvSpPr>
          <p:cNvPr id="3" name="Title 1">
            <a:extLst>
              <a:ext uri="{FF2B5EF4-FFF2-40B4-BE49-F238E27FC236}">
                <a16:creationId xmlns:a16="http://schemas.microsoft.com/office/drawing/2014/main" id="{94881B42-1F02-A465-D8AC-8BEF6B20CDCD}"/>
              </a:ext>
            </a:extLst>
          </p:cNvPr>
          <p:cNvSpPr txBox="1">
            <a:spLocks/>
          </p:cNvSpPr>
          <p:nvPr/>
        </p:nvSpPr>
        <p:spPr>
          <a:xfrm>
            <a:off x="1657350" y="116632"/>
            <a:ext cx="7486650" cy="514349"/>
          </a:xfrm>
          <a:prstGeom prst="rect">
            <a:avLst/>
          </a:prstGeom>
          <a:gradFill flip="none" rotWithShape="1">
            <a:gsLst>
              <a:gs pos="0">
                <a:srgbClr val="FF0000">
                  <a:tint val="66000"/>
                  <a:satMod val="160000"/>
                </a:srgbClr>
              </a:gs>
              <a:gs pos="50000">
                <a:srgbClr val="FF0000">
                  <a:tint val="44500"/>
                  <a:satMod val="160000"/>
                </a:srgbClr>
              </a:gs>
              <a:gs pos="100000">
                <a:srgbClr val="FF0000">
                  <a:tint val="23500"/>
                  <a:satMod val="160000"/>
                </a:srgbClr>
              </a:gs>
            </a:gsLst>
            <a:lin ang="0" scaled="1"/>
            <a:tileRect/>
          </a:gradFill>
        </p:spPr>
        <p:style>
          <a:lnRef idx="1">
            <a:schemeClr val="accent5"/>
          </a:lnRef>
          <a:fillRef idx="2">
            <a:schemeClr val="accent5"/>
          </a:fillRef>
          <a:effectRef idx="1">
            <a:schemeClr val="accent5"/>
          </a:effectRef>
          <a:fontRef idx="minor">
            <a:schemeClr val="dk1"/>
          </a:fontRef>
        </p:style>
        <p:txBody>
          <a:bodyPr vert="horz" lIns="68580" tIns="34290" rIns="68580" bIns="34290" rtlCol="0" anchor="ctr">
            <a:noAutofit/>
          </a:bodyPr>
          <a:lstStyle>
            <a:defPPr>
              <a:defRPr lang="en-US"/>
            </a:defPPr>
            <a:lvl1pPr algn="ctr">
              <a:spcBef>
                <a:spcPct val="0"/>
              </a:spcBef>
              <a:buNone/>
              <a:defRPr sz="2800"/>
            </a:lvl1pPr>
          </a:lstStyle>
          <a:p>
            <a:pPr>
              <a:defRPr/>
            </a:pPr>
            <a:r>
              <a:rPr lang="en-US" sz="2400" dirty="0">
                <a:ea typeface="MS PGothic" charset="0"/>
              </a:rPr>
              <a:t>Recovery from Deadlock</a:t>
            </a:r>
            <a:r>
              <a:rPr lang="en-IN" sz="2400" dirty="0"/>
              <a:t>(CO3)</a:t>
            </a:r>
            <a:endParaRPr lang="en-US" sz="2100" dirty="0"/>
          </a:p>
        </p:txBody>
      </p:sp>
    </p:spTree>
  </p:cSld>
  <p:clrMapOvr>
    <a:masterClrMapping/>
  </p:clrMapOvr>
  <p:transition>
    <p:dissolve/>
  </p:transition>
</p:sld>
</file>

<file path=ppt/slides/slide1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741CC2A-84F8-410A-9D28-524A06A3F0E3}" type="datetime3">
              <a:rPr lang="en-US" smtClean="0"/>
              <a:t>1 September 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2514600" y="6356350"/>
            <a:ext cx="5181600" cy="365125"/>
          </a:xfrm>
        </p:spPr>
        <p:txBody>
          <a:bodyPr/>
          <a:lstStyle/>
          <a:p>
            <a:r>
              <a:rPr lang="en-US"/>
              <a:t>Atul Garg           BCSE0303            Unit- III</a:t>
            </a:r>
            <a:endParaRPr lang="en-US" dirty="0"/>
          </a:p>
        </p:txBody>
      </p:sp>
      <p:sp>
        <p:nvSpPr>
          <p:cNvPr id="10" name="Rectangle 9"/>
          <p:cNvSpPr/>
          <p:nvPr/>
        </p:nvSpPr>
        <p:spPr>
          <a:xfrm>
            <a:off x="971600" y="836712"/>
            <a:ext cx="7776864" cy="398570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2600" b="1" dirty="0">
                <a:ea typeface="MS PGothic" charset="0"/>
              </a:rPr>
              <a:t>Resource Preemption :</a:t>
            </a:r>
          </a:p>
          <a:p>
            <a:endParaRPr lang="en-US" sz="2600" b="1" dirty="0">
              <a:ea typeface="MS PGothic" charset="0"/>
            </a:endParaRPr>
          </a:p>
          <a:p>
            <a:pPr>
              <a:buFont typeface="Arial" panose="020B0604020202020204" pitchFamily="34" charset="0"/>
              <a:buChar char="•"/>
            </a:pPr>
            <a:r>
              <a:rPr lang="en-US" sz="2400" b="1" dirty="0">
                <a:ea typeface="MS PGothic" charset="0"/>
              </a:rPr>
              <a:t>Selecting a victim </a:t>
            </a:r>
            <a:r>
              <a:rPr lang="en-US" sz="2400" dirty="0">
                <a:ea typeface="MS PGothic" charset="0"/>
              </a:rPr>
              <a:t>– minimize cost</a:t>
            </a:r>
            <a:br>
              <a:rPr lang="en-US" sz="2400" dirty="0">
                <a:ea typeface="MS PGothic" charset="0"/>
              </a:rPr>
            </a:br>
            <a:endParaRPr lang="en-US" sz="2400" dirty="0">
              <a:ea typeface="MS PGothic" charset="0"/>
            </a:endParaRPr>
          </a:p>
          <a:p>
            <a:pPr>
              <a:buFont typeface="Arial" panose="020B0604020202020204" pitchFamily="34" charset="0"/>
              <a:buChar char="•"/>
            </a:pPr>
            <a:r>
              <a:rPr lang="en-US" sz="2400" b="1" dirty="0">
                <a:ea typeface="MS PGothic" charset="0"/>
              </a:rPr>
              <a:t>Rollback</a:t>
            </a:r>
            <a:r>
              <a:rPr lang="en-US" sz="2400" dirty="0">
                <a:ea typeface="MS PGothic" charset="0"/>
              </a:rPr>
              <a:t> – return to some safe state, restart process for that state</a:t>
            </a:r>
            <a:br>
              <a:rPr lang="en-US" sz="2400" dirty="0">
                <a:ea typeface="MS PGothic" charset="0"/>
              </a:rPr>
            </a:br>
            <a:endParaRPr lang="en-US" sz="2400" dirty="0">
              <a:ea typeface="MS PGothic" charset="0"/>
            </a:endParaRPr>
          </a:p>
          <a:p>
            <a:pPr>
              <a:buFont typeface="Arial" panose="020B0604020202020204" pitchFamily="34" charset="0"/>
              <a:buChar char="•"/>
            </a:pPr>
            <a:r>
              <a:rPr lang="en-US" sz="2400" b="1" dirty="0">
                <a:ea typeface="MS PGothic" charset="0"/>
              </a:rPr>
              <a:t>Starvation</a:t>
            </a:r>
            <a:r>
              <a:rPr lang="en-US" sz="2400" dirty="0">
                <a:ea typeface="MS PGothic" charset="0"/>
              </a:rPr>
              <a:t> –  same process may always be picked as victim, include number of rollback in cost factor</a:t>
            </a:r>
          </a:p>
          <a:p>
            <a:pPr>
              <a:lnSpc>
                <a:spcPct val="150000"/>
              </a:lnSpc>
            </a:pPr>
            <a:endParaRPr lang="en-IN" sz="2200" dirty="0"/>
          </a:p>
        </p:txBody>
      </p:sp>
      <p:sp>
        <p:nvSpPr>
          <p:cNvPr id="8" name="Slide Number Placeholder 7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t>115</a:t>
            </a:fld>
            <a:endParaRPr lang="en-US"/>
          </a:p>
        </p:txBody>
      </p:sp>
      <p:pic>
        <p:nvPicPr>
          <p:cNvPr id="2" name="Picture 1" descr="A black and red logo&#10;&#10;Description automatically generated">
            <a:extLst>
              <a:ext uri="{FF2B5EF4-FFF2-40B4-BE49-F238E27FC236}">
                <a16:creationId xmlns:a16="http://schemas.microsoft.com/office/drawing/2014/main" id="{5D342810-835C-B62E-C015-0733C6D64619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7821" y="93118"/>
            <a:ext cx="1657350" cy="710452"/>
          </a:xfrm>
          <a:prstGeom prst="rect">
            <a:avLst/>
          </a:prstGeom>
        </p:spPr>
      </p:pic>
      <p:sp>
        <p:nvSpPr>
          <p:cNvPr id="3" name="Title 1">
            <a:extLst>
              <a:ext uri="{FF2B5EF4-FFF2-40B4-BE49-F238E27FC236}">
                <a16:creationId xmlns:a16="http://schemas.microsoft.com/office/drawing/2014/main" id="{098973E4-26C0-4149-27DF-81DA802B82C4}"/>
              </a:ext>
            </a:extLst>
          </p:cNvPr>
          <p:cNvSpPr txBox="1">
            <a:spLocks/>
          </p:cNvSpPr>
          <p:nvPr/>
        </p:nvSpPr>
        <p:spPr>
          <a:xfrm>
            <a:off x="1657350" y="116632"/>
            <a:ext cx="7486650" cy="566436"/>
          </a:xfrm>
          <a:prstGeom prst="rect">
            <a:avLst/>
          </a:prstGeom>
          <a:gradFill flip="none" rotWithShape="1">
            <a:gsLst>
              <a:gs pos="0">
                <a:srgbClr val="FF0000">
                  <a:tint val="66000"/>
                  <a:satMod val="160000"/>
                </a:srgbClr>
              </a:gs>
              <a:gs pos="50000">
                <a:srgbClr val="FF0000">
                  <a:tint val="44500"/>
                  <a:satMod val="160000"/>
                </a:srgbClr>
              </a:gs>
              <a:gs pos="100000">
                <a:srgbClr val="FF0000">
                  <a:tint val="23500"/>
                  <a:satMod val="160000"/>
                </a:srgbClr>
              </a:gs>
            </a:gsLst>
            <a:lin ang="0" scaled="1"/>
            <a:tileRect/>
          </a:gradFill>
        </p:spPr>
        <p:style>
          <a:lnRef idx="1">
            <a:schemeClr val="accent5"/>
          </a:lnRef>
          <a:fillRef idx="2">
            <a:schemeClr val="accent5"/>
          </a:fillRef>
          <a:effectRef idx="1">
            <a:schemeClr val="accent5"/>
          </a:effectRef>
          <a:fontRef idx="minor">
            <a:schemeClr val="dk1"/>
          </a:fontRef>
        </p:style>
        <p:txBody>
          <a:bodyPr vert="horz" lIns="68580" tIns="34290" rIns="68580" bIns="34290" rtlCol="0" anchor="ctr">
            <a:noAutofit/>
          </a:bodyPr>
          <a:lstStyle>
            <a:defPPr>
              <a:defRPr lang="en-US"/>
            </a:defPPr>
            <a:lvl1pPr algn="ctr">
              <a:spcBef>
                <a:spcPct val="0"/>
              </a:spcBef>
              <a:buNone/>
              <a:defRPr sz="2800"/>
            </a:lvl1pPr>
          </a:lstStyle>
          <a:p>
            <a:pPr>
              <a:defRPr/>
            </a:pPr>
            <a:r>
              <a:rPr lang="en-US" sz="2400" dirty="0">
                <a:ea typeface="MS PGothic" charset="0"/>
              </a:rPr>
              <a:t>Recovery from Deadlock</a:t>
            </a:r>
            <a:r>
              <a:rPr lang="en-IN" sz="2400" dirty="0"/>
              <a:t>(CO3)</a:t>
            </a:r>
            <a:endParaRPr lang="en-US" sz="2100" dirty="0"/>
          </a:p>
        </p:txBody>
      </p:sp>
    </p:spTree>
  </p:cSld>
  <p:clrMapOvr>
    <a:masterClrMapping/>
  </p:clrMapOvr>
  <p:transition>
    <p:dissolve/>
  </p:transition>
</p:sld>
</file>

<file path=ppt/slides/slide1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9851033-1C82-DEEA-9D80-20744984AA9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6A72063-657B-578F-B929-D15A4C7F0C6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1558FF0-FB88-4B08-B526-CEEF4FF2B2CE}" type="datetime3">
              <a:rPr lang="en-US" smtClean="0"/>
              <a:t>1 September 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3E0F6D2-BDFF-47B3-0F45-2B6BA81FD82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2514600" y="6356350"/>
            <a:ext cx="5181600" cy="365125"/>
          </a:xfrm>
        </p:spPr>
        <p:txBody>
          <a:bodyPr/>
          <a:lstStyle/>
          <a:p>
            <a:r>
              <a:rPr lang="en-US"/>
              <a:t>Atul Garg           BCSE0303            Unit- III</a:t>
            </a:r>
            <a:endParaRPr lang="en-US" dirty="0"/>
          </a:p>
        </p:txBody>
      </p:sp>
      <p:sp>
        <p:nvSpPr>
          <p:cNvPr id="8" name="Slide Number Placeholder 7">
            <a:extLst>
              <a:ext uri="{FF2B5EF4-FFF2-40B4-BE49-F238E27FC236}">
                <a16:creationId xmlns:a16="http://schemas.microsoft.com/office/drawing/2014/main" id="{6E918758-13F3-0384-7354-A0B6623E18D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t>116</a:t>
            </a:fld>
            <a:endParaRPr lang="en-US"/>
          </a:p>
        </p:txBody>
      </p:sp>
      <p:pic>
        <p:nvPicPr>
          <p:cNvPr id="2" name="Picture 1" descr="A black and red logo&#10;&#10;Description automatically generated">
            <a:extLst>
              <a:ext uri="{FF2B5EF4-FFF2-40B4-BE49-F238E27FC236}">
                <a16:creationId xmlns:a16="http://schemas.microsoft.com/office/drawing/2014/main" id="{EFDAF9C1-25AA-4385-85BF-D5B7111B6AA6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-27384"/>
            <a:ext cx="1657350" cy="864096"/>
          </a:xfrm>
          <a:prstGeom prst="rect">
            <a:avLst/>
          </a:prstGeom>
        </p:spPr>
      </p:pic>
      <p:sp>
        <p:nvSpPr>
          <p:cNvPr id="3" name="Title 1">
            <a:extLst>
              <a:ext uri="{FF2B5EF4-FFF2-40B4-BE49-F238E27FC236}">
                <a16:creationId xmlns:a16="http://schemas.microsoft.com/office/drawing/2014/main" id="{FC399959-9BEC-F3DD-D9C2-2058947E8DCF}"/>
              </a:ext>
            </a:extLst>
          </p:cNvPr>
          <p:cNvSpPr txBox="1">
            <a:spLocks/>
          </p:cNvSpPr>
          <p:nvPr/>
        </p:nvSpPr>
        <p:spPr>
          <a:xfrm>
            <a:off x="1547664" y="0"/>
            <a:ext cx="7416824" cy="836712"/>
          </a:xfrm>
          <a:prstGeom prst="rect">
            <a:avLst/>
          </a:prstGeom>
          <a:gradFill flip="none" rotWithShape="1">
            <a:gsLst>
              <a:gs pos="0">
                <a:srgbClr val="FF0000">
                  <a:tint val="66000"/>
                  <a:satMod val="160000"/>
                </a:srgbClr>
              </a:gs>
              <a:gs pos="50000">
                <a:srgbClr val="FF0000">
                  <a:tint val="44500"/>
                  <a:satMod val="160000"/>
                </a:srgbClr>
              </a:gs>
              <a:gs pos="100000">
                <a:srgbClr val="FF0000">
                  <a:tint val="23500"/>
                  <a:satMod val="160000"/>
                </a:srgbClr>
              </a:gs>
            </a:gsLst>
            <a:lin ang="0" scaled="1"/>
            <a:tileRect/>
          </a:gradFill>
        </p:spPr>
        <p:style>
          <a:lnRef idx="1">
            <a:schemeClr val="accent5"/>
          </a:lnRef>
          <a:fillRef idx="2">
            <a:schemeClr val="accent5"/>
          </a:fillRef>
          <a:effectRef idx="1">
            <a:schemeClr val="accent5"/>
          </a:effectRef>
          <a:fontRef idx="minor">
            <a:schemeClr val="dk1"/>
          </a:fontRef>
        </p:style>
        <p:txBody>
          <a:bodyPr vert="horz" lIns="68580" tIns="34290" rIns="68580" bIns="34290" rtlCol="0" anchor="ctr">
            <a:noAutofit/>
          </a:bodyPr>
          <a:lstStyle>
            <a:defPPr>
              <a:defRPr lang="en-US"/>
            </a:defPPr>
            <a:lvl1pPr algn="ctr">
              <a:spcBef>
                <a:spcPct val="0"/>
              </a:spcBef>
              <a:buNone/>
              <a:defRPr sz="2800"/>
            </a:lvl1pPr>
          </a:lstStyle>
          <a:p>
            <a:r>
              <a:rPr lang="en-US" sz="2000" dirty="0"/>
              <a:t>Case Study: Deadlock avoidance in database transaction management systems like Oracle or MySQL 	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D1181D68-1591-9776-6A85-3314A1ACEED1}"/>
              </a:ext>
            </a:extLst>
          </p:cNvPr>
          <p:cNvSpPr txBox="1"/>
          <p:nvPr/>
        </p:nvSpPr>
        <p:spPr>
          <a:xfrm>
            <a:off x="429491" y="1340768"/>
            <a:ext cx="8257309" cy="37856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US" sz="2400" b="1" dirty="0"/>
              <a:t>Case Study 1: Deadlock Avoidance in Oracle Database</a:t>
            </a:r>
          </a:p>
          <a:p>
            <a:pPr>
              <a:buNone/>
            </a:pPr>
            <a:r>
              <a:rPr lang="en-US" sz="2400" b="1" dirty="0"/>
              <a:t>Scenario: Banking Transaction System</a:t>
            </a:r>
          </a:p>
          <a:p>
            <a:pPr>
              <a:buNone/>
            </a:pPr>
            <a:r>
              <a:rPr lang="en-US" sz="2400" dirty="0"/>
              <a:t>A bank maintains multiple accounts, and two transactions are executed simultaneously: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2400" b="1" dirty="0"/>
              <a:t>Transaction T1:</a:t>
            </a:r>
            <a:r>
              <a:rPr lang="en-US" sz="2400" dirty="0"/>
              <a:t> Transfers ₹10,000 from Account A → Account B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2400" b="1" dirty="0"/>
              <a:t>Transaction T2:</a:t>
            </a:r>
            <a:r>
              <a:rPr lang="en-US" sz="2400" dirty="0"/>
              <a:t> Transfers ₹15,000 from Account B → Account A</a:t>
            </a:r>
          </a:p>
          <a:p>
            <a:pPr>
              <a:buNone/>
            </a:pPr>
            <a:r>
              <a:rPr lang="en-US" sz="2400" b="1" dirty="0"/>
              <a:t>Problem: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2400" dirty="0"/>
              <a:t>T1 locks </a:t>
            </a:r>
            <a:r>
              <a:rPr lang="en-US" sz="2400" b="1" dirty="0"/>
              <a:t>Account A</a:t>
            </a:r>
            <a:r>
              <a:rPr lang="en-US" sz="2400" dirty="0"/>
              <a:t> first, then requests a lock on </a:t>
            </a:r>
            <a:r>
              <a:rPr lang="en-US" sz="2400" b="1" dirty="0"/>
              <a:t>Account B</a:t>
            </a:r>
            <a:r>
              <a:rPr lang="en-US" sz="2400" dirty="0"/>
              <a:t>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2400" dirty="0"/>
              <a:t>T2 locks </a:t>
            </a:r>
            <a:r>
              <a:rPr lang="en-US" sz="2400" b="1" dirty="0"/>
              <a:t>Account B</a:t>
            </a:r>
            <a:r>
              <a:rPr lang="en-US" sz="2400" dirty="0"/>
              <a:t> first, then requests a lock on </a:t>
            </a:r>
            <a:r>
              <a:rPr lang="en-US" sz="2400" b="1" dirty="0"/>
              <a:t>Account A</a:t>
            </a:r>
            <a:r>
              <a:rPr lang="en-US" sz="2400" dirty="0"/>
              <a:t>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2400" dirty="0"/>
              <a:t>This leads to a </a:t>
            </a:r>
            <a:r>
              <a:rPr lang="en-US" sz="2400" b="1" dirty="0"/>
              <a:t>circular wait condition</a:t>
            </a:r>
            <a:r>
              <a:rPr lang="en-US" sz="2400" dirty="0"/>
              <a:t> → potential </a:t>
            </a:r>
            <a:r>
              <a:rPr lang="en-US" sz="2400" b="1" dirty="0"/>
              <a:t>deadlock</a:t>
            </a:r>
            <a:r>
              <a:rPr lang="en-US" dirty="0"/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1799927496"/>
      </p:ext>
    </p:extLst>
  </p:cSld>
  <p:clrMapOvr>
    <a:masterClrMapping/>
  </p:clrMapOvr>
  <p:transition>
    <p:dissolve/>
  </p:transition>
</p:sld>
</file>

<file path=ppt/slides/slide1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5E116E1-6891-E3D9-A38C-83B5FE13139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0D1C196-A312-F6DA-7B6F-F0C13FC6FFD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07F560-8A57-4FC9-AC2E-2DA48FF58F80}" type="datetime3">
              <a:rPr lang="en-US" smtClean="0"/>
              <a:t>1 September 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43DD4A9-E686-25A2-90B0-80C12F7D276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2514600" y="6356350"/>
            <a:ext cx="5181600" cy="365125"/>
          </a:xfrm>
        </p:spPr>
        <p:txBody>
          <a:bodyPr/>
          <a:lstStyle/>
          <a:p>
            <a:r>
              <a:rPr lang="en-US"/>
              <a:t>Atul Garg           BCSE0303            Unit- III</a:t>
            </a:r>
            <a:endParaRPr lang="en-US" dirty="0"/>
          </a:p>
        </p:txBody>
      </p:sp>
      <p:sp>
        <p:nvSpPr>
          <p:cNvPr id="8" name="Slide Number Placeholder 7">
            <a:extLst>
              <a:ext uri="{FF2B5EF4-FFF2-40B4-BE49-F238E27FC236}">
                <a16:creationId xmlns:a16="http://schemas.microsoft.com/office/drawing/2014/main" id="{5268CBD6-5D1D-3C22-5D29-7702C0F49EB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t>117</a:t>
            </a:fld>
            <a:endParaRPr lang="en-US"/>
          </a:p>
        </p:txBody>
      </p:sp>
      <p:pic>
        <p:nvPicPr>
          <p:cNvPr id="2" name="Picture 1" descr="A black and red logo&#10;&#10;Description automatically generated">
            <a:extLst>
              <a:ext uri="{FF2B5EF4-FFF2-40B4-BE49-F238E27FC236}">
                <a16:creationId xmlns:a16="http://schemas.microsoft.com/office/drawing/2014/main" id="{6D58A853-B06D-3AAF-FC04-48C8AC41A567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-27384"/>
            <a:ext cx="1657350" cy="1008112"/>
          </a:xfrm>
          <a:prstGeom prst="rect">
            <a:avLst/>
          </a:prstGeom>
        </p:spPr>
      </p:pic>
      <p:sp>
        <p:nvSpPr>
          <p:cNvPr id="3" name="Title 1">
            <a:extLst>
              <a:ext uri="{FF2B5EF4-FFF2-40B4-BE49-F238E27FC236}">
                <a16:creationId xmlns:a16="http://schemas.microsoft.com/office/drawing/2014/main" id="{958A4926-3E2E-FAA8-B352-CF6DBA752596}"/>
              </a:ext>
            </a:extLst>
          </p:cNvPr>
          <p:cNvSpPr txBox="1">
            <a:spLocks/>
          </p:cNvSpPr>
          <p:nvPr/>
        </p:nvSpPr>
        <p:spPr>
          <a:xfrm>
            <a:off x="1547664" y="0"/>
            <a:ext cx="7416824" cy="864096"/>
          </a:xfrm>
          <a:prstGeom prst="rect">
            <a:avLst/>
          </a:prstGeom>
          <a:gradFill flip="none" rotWithShape="1">
            <a:gsLst>
              <a:gs pos="0">
                <a:srgbClr val="FF0000">
                  <a:tint val="66000"/>
                  <a:satMod val="160000"/>
                </a:srgbClr>
              </a:gs>
              <a:gs pos="50000">
                <a:srgbClr val="FF0000">
                  <a:tint val="44500"/>
                  <a:satMod val="160000"/>
                </a:srgbClr>
              </a:gs>
              <a:gs pos="100000">
                <a:srgbClr val="FF0000">
                  <a:tint val="23500"/>
                  <a:satMod val="160000"/>
                </a:srgbClr>
              </a:gs>
            </a:gsLst>
            <a:lin ang="0" scaled="1"/>
            <a:tileRect/>
          </a:gradFill>
        </p:spPr>
        <p:style>
          <a:lnRef idx="1">
            <a:schemeClr val="accent5"/>
          </a:lnRef>
          <a:fillRef idx="2">
            <a:schemeClr val="accent5"/>
          </a:fillRef>
          <a:effectRef idx="1">
            <a:schemeClr val="accent5"/>
          </a:effectRef>
          <a:fontRef idx="minor">
            <a:schemeClr val="dk1"/>
          </a:fontRef>
        </p:style>
        <p:txBody>
          <a:bodyPr vert="horz" lIns="68580" tIns="34290" rIns="68580" bIns="34290" rtlCol="0" anchor="ctr">
            <a:noAutofit/>
          </a:bodyPr>
          <a:lstStyle>
            <a:defPPr>
              <a:defRPr lang="en-US"/>
            </a:defPPr>
            <a:lvl1pPr algn="ctr">
              <a:spcBef>
                <a:spcPct val="0"/>
              </a:spcBef>
              <a:buNone/>
              <a:defRPr sz="2800"/>
            </a:lvl1pPr>
          </a:lstStyle>
          <a:p>
            <a:r>
              <a:rPr lang="en-US" sz="2000" b="1" dirty="0"/>
              <a:t>Case Study: Deadlock avoidance in database transaction management systems like Oracle or MySQL </a:t>
            </a:r>
            <a:r>
              <a:rPr lang="en-US" sz="2000" dirty="0"/>
              <a:t>	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C57E80A2-8E48-1E38-B613-457CA172233D}"/>
              </a:ext>
            </a:extLst>
          </p:cNvPr>
          <p:cNvSpPr txBox="1"/>
          <p:nvPr/>
        </p:nvSpPr>
        <p:spPr>
          <a:xfrm>
            <a:off x="251521" y="1008112"/>
            <a:ext cx="8435280" cy="895629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US" sz="2400" b="1" dirty="0"/>
              <a:t>Case Study 1: Oracle Database Deadlock</a:t>
            </a:r>
          </a:p>
          <a:p>
            <a:pPr>
              <a:buNone/>
            </a:pPr>
            <a:r>
              <a:rPr lang="en-IN" sz="2000" b="1" dirty="0"/>
              <a:t>Transaction 1 (T1):</a:t>
            </a:r>
          </a:p>
          <a:p>
            <a:pPr>
              <a:buNone/>
            </a:pPr>
            <a:r>
              <a:rPr lang="en-US" sz="2000" dirty="0"/>
              <a:t>BEGIN;</a:t>
            </a:r>
          </a:p>
          <a:p>
            <a:pPr>
              <a:buNone/>
            </a:pPr>
            <a:r>
              <a:rPr lang="en-US" sz="2000" dirty="0"/>
              <a:t>UPDATE employees SET salary = salary + 5000 WHERE id = 101;</a:t>
            </a:r>
          </a:p>
          <a:p>
            <a:pPr>
              <a:buNone/>
            </a:pPr>
            <a:r>
              <a:rPr lang="en-US" sz="2000" dirty="0"/>
              <a:t>UPDATE employees SET salary = salary + 3000 WHERE id = 202;</a:t>
            </a:r>
          </a:p>
          <a:p>
            <a:pPr>
              <a:buNone/>
            </a:pPr>
            <a:r>
              <a:rPr lang="en-US" sz="2000" dirty="0"/>
              <a:t>COMMIT;</a:t>
            </a:r>
          </a:p>
          <a:p>
            <a:pPr>
              <a:buNone/>
            </a:pPr>
            <a:endParaRPr lang="en-US" sz="2000" dirty="0"/>
          </a:p>
          <a:p>
            <a:pPr>
              <a:buNone/>
            </a:pPr>
            <a:r>
              <a:rPr lang="en-IN" sz="2000" b="1" dirty="0"/>
              <a:t>Transaction 2 (T2):</a:t>
            </a:r>
          </a:p>
          <a:p>
            <a:pPr>
              <a:buNone/>
            </a:pPr>
            <a:r>
              <a:rPr lang="en-US" sz="2000" dirty="0"/>
              <a:t>BEGIN;</a:t>
            </a:r>
          </a:p>
          <a:p>
            <a:pPr>
              <a:buNone/>
            </a:pPr>
            <a:r>
              <a:rPr lang="en-US" sz="2000" dirty="0"/>
              <a:t>UPDATE employees SET salary = salary + 3000 WHERE id = 202;</a:t>
            </a:r>
          </a:p>
          <a:p>
            <a:pPr>
              <a:buNone/>
            </a:pPr>
            <a:r>
              <a:rPr lang="en-US" sz="2000" dirty="0"/>
              <a:t>UPDATE employees SET salary = salary + 5000 WHERE id = 101;</a:t>
            </a:r>
          </a:p>
          <a:p>
            <a:pPr>
              <a:buNone/>
            </a:pPr>
            <a:r>
              <a:rPr lang="en-US" sz="2000" dirty="0"/>
              <a:t>COMMIT;</a:t>
            </a:r>
          </a:p>
          <a:p>
            <a:pPr>
              <a:buNone/>
            </a:pPr>
            <a:endParaRPr lang="en-IN" sz="2000" b="1" dirty="0"/>
          </a:p>
          <a:p>
            <a:pPr>
              <a:buNone/>
            </a:pPr>
            <a:endParaRPr lang="en-US" sz="2000" dirty="0"/>
          </a:p>
          <a:p>
            <a:pPr>
              <a:buNone/>
            </a:pPr>
            <a:endParaRPr lang="en-US" sz="2400" dirty="0"/>
          </a:p>
          <a:p>
            <a:pPr>
              <a:buNone/>
            </a:pPr>
            <a:endParaRPr lang="en-US" sz="2400" dirty="0"/>
          </a:p>
          <a:p>
            <a:pPr>
              <a:buNone/>
            </a:pPr>
            <a:endParaRPr lang="en-US" sz="2400" dirty="0"/>
          </a:p>
          <a:p>
            <a:pPr>
              <a:buNone/>
            </a:pPr>
            <a:endParaRPr lang="en-US" sz="2400" dirty="0"/>
          </a:p>
          <a:p>
            <a:pPr>
              <a:buNone/>
            </a:pPr>
            <a:endParaRPr lang="en-US" sz="2400" dirty="0"/>
          </a:p>
          <a:p>
            <a:pPr>
              <a:buNone/>
            </a:pPr>
            <a:endParaRPr lang="en-US" sz="2400" dirty="0"/>
          </a:p>
          <a:p>
            <a:pPr>
              <a:buNone/>
            </a:pPr>
            <a:endParaRPr lang="en-US" sz="2400" dirty="0"/>
          </a:p>
          <a:p>
            <a:pPr>
              <a:buNone/>
            </a:pPr>
            <a:endParaRPr lang="en-US" sz="2400" dirty="0"/>
          </a:p>
          <a:p>
            <a:pPr>
              <a:buNone/>
            </a:pPr>
            <a:endParaRPr lang="en-US" sz="2400" dirty="0"/>
          </a:p>
          <a:p>
            <a:pPr>
              <a:buNone/>
            </a:pPr>
            <a:endParaRPr lang="en-US" sz="2400" dirty="0"/>
          </a:p>
          <a:p>
            <a:pPr>
              <a:buNone/>
            </a:pPr>
            <a:endParaRPr lang="en-US" sz="2400" dirty="0"/>
          </a:p>
          <a:p>
            <a:pPr>
              <a:buNone/>
            </a:pPr>
            <a:endParaRPr lang="en-US" sz="2400" dirty="0"/>
          </a:p>
        </p:txBody>
      </p:sp>
    </p:spTree>
    <p:extLst>
      <p:ext uri="{BB962C8B-B14F-4D97-AF65-F5344CB8AC3E}">
        <p14:creationId xmlns:p14="http://schemas.microsoft.com/office/powerpoint/2010/main" val="1885322912"/>
      </p:ext>
    </p:extLst>
  </p:cSld>
  <p:clrMapOvr>
    <a:masterClrMapping/>
  </p:clrMapOvr>
  <p:transition>
    <p:dissolve/>
  </p:transition>
</p:sld>
</file>

<file path=ppt/slides/slide1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E782D6E-4B8D-D448-2EC1-454C525B4DE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7C3DE80-F847-38FA-0A8A-1FB4EFF155D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7A0E741-2FF3-4EED-AE88-FD22DA960B9D}" type="datetime3">
              <a:rPr lang="en-US" smtClean="0"/>
              <a:t>1 September 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AD96512-0319-A9CC-FF97-5C2E2AD8183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2514600" y="6356350"/>
            <a:ext cx="5181600" cy="365125"/>
          </a:xfrm>
        </p:spPr>
        <p:txBody>
          <a:bodyPr/>
          <a:lstStyle/>
          <a:p>
            <a:r>
              <a:rPr lang="en-US"/>
              <a:t>Atul Garg           BCSE0303            Unit- III</a:t>
            </a:r>
            <a:endParaRPr lang="en-US" dirty="0"/>
          </a:p>
        </p:txBody>
      </p:sp>
      <p:sp>
        <p:nvSpPr>
          <p:cNvPr id="8" name="Slide Number Placeholder 7">
            <a:extLst>
              <a:ext uri="{FF2B5EF4-FFF2-40B4-BE49-F238E27FC236}">
                <a16:creationId xmlns:a16="http://schemas.microsoft.com/office/drawing/2014/main" id="{10CD422D-665D-E33C-AF62-17B3297D950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t>118</a:t>
            </a:fld>
            <a:endParaRPr lang="en-US"/>
          </a:p>
        </p:txBody>
      </p:sp>
      <p:pic>
        <p:nvPicPr>
          <p:cNvPr id="2" name="Picture 1" descr="A black and red logo&#10;&#10;Description automatically generated">
            <a:extLst>
              <a:ext uri="{FF2B5EF4-FFF2-40B4-BE49-F238E27FC236}">
                <a16:creationId xmlns:a16="http://schemas.microsoft.com/office/drawing/2014/main" id="{ED49800D-A65A-E687-36EE-F39D0ADC7F7D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-27384"/>
            <a:ext cx="1657350" cy="1008112"/>
          </a:xfrm>
          <a:prstGeom prst="rect">
            <a:avLst/>
          </a:prstGeom>
        </p:spPr>
      </p:pic>
      <p:sp>
        <p:nvSpPr>
          <p:cNvPr id="3" name="Title 1">
            <a:extLst>
              <a:ext uri="{FF2B5EF4-FFF2-40B4-BE49-F238E27FC236}">
                <a16:creationId xmlns:a16="http://schemas.microsoft.com/office/drawing/2014/main" id="{2C38640D-91B1-5F3C-AF33-C3ED6FECA6B3}"/>
              </a:ext>
            </a:extLst>
          </p:cNvPr>
          <p:cNvSpPr txBox="1">
            <a:spLocks/>
          </p:cNvSpPr>
          <p:nvPr/>
        </p:nvSpPr>
        <p:spPr>
          <a:xfrm>
            <a:off x="1657350" y="0"/>
            <a:ext cx="7307138" cy="864096"/>
          </a:xfrm>
          <a:prstGeom prst="rect">
            <a:avLst/>
          </a:prstGeom>
          <a:gradFill flip="none" rotWithShape="1">
            <a:gsLst>
              <a:gs pos="0">
                <a:srgbClr val="FF0000">
                  <a:tint val="66000"/>
                  <a:satMod val="160000"/>
                </a:srgbClr>
              </a:gs>
              <a:gs pos="50000">
                <a:srgbClr val="FF0000">
                  <a:tint val="44500"/>
                  <a:satMod val="160000"/>
                </a:srgbClr>
              </a:gs>
              <a:gs pos="100000">
                <a:srgbClr val="FF0000">
                  <a:tint val="23500"/>
                  <a:satMod val="160000"/>
                </a:srgbClr>
              </a:gs>
            </a:gsLst>
            <a:lin ang="0" scaled="1"/>
            <a:tileRect/>
          </a:gradFill>
        </p:spPr>
        <p:style>
          <a:lnRef idx="1">
            <a:schemeClr val="accent5"/>
          </a:lnRef>
          <a:fillRef idx="2">
            <a:schemeClr val="accent5"/>
          </a:fillRef>
          <a:effectRef idx="1">
            <a:schemeClr val="accent5"/>
          </a:effectRef>
          <a:fontRef idx="minor">
            <a:schemeClr val="dk1"/>
          </a:fontRef>
        </p:style>
        <p:txBody>
          <a:bodyPr vert="horz" lIns="68580" tIns="34290" rIns="68580" bIns="34290" rtlCol="0" anchor="ctr">
            <a:noAutofit/>
          </a:bodyPr>
          <a:lstStyle>
            <a:defPPr>
              <a:defRPr lang="en-US"/>
            </a:defPPr>
            <a:lvl1pPr algn="ctr">
              <a:spcBef>
                <a:spcPct val="0"/>
              </a:spcBef>
              <a:buNone/>
              <a:defRPr sz="2800"/>
            </a:lvl1pPr>
          </a:lstStyle>
          <a:p>
            <a:r>
              <a:rPr lang="en-US" sz="2000" b="1" dirty="0"/>
              <a:t>Case Study: Deadlock avoidance in database transaction management systems like Oracle or MySQL </a:t>
            </a:r>
            <a:r>
              <a:rPr lang="en-US" sz="2000" dirty="0"/>
              <a:t>	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94BD600B-6D87-93A6-9DD3-226141637D3C}"/>
              </a:ext>
            </a:extLst>
          </p:cNvPr>
          <p:cNvSpPr txBox="1"/>
          <p:nvPr/>
        </p:nvSpPr>
        <p:spPr>
          <a:xfrm>
            <a:off x="538530" y="1124744"/>
            <a:ext cx="8148270" cy="4462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000" dirty="0"/>
              <a:t>T1 locks employee 101 and waits for employee 202.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000" dirty="0"/>
              <a:t>T2 locks employee 202 and waits for employee 101</a:t>
            </a:r>
          </a:p>
          <a:p>
            <a:r>
              <a:rPr lang="en-US" sz="2000" dirty="0"/>
              <a:t>This forms a </a:t>
            </a:r>
            <a:r>
              <a:rPr lang="en-US" sz="2000" b="1" dirty="0"/>
              <a:t>circular wait</a:t>
            </a:r>
            <a:r>
              <a:rPr lang="en-US" sz="2000" dirty="0"/>
              <a:t>:</a:t>
            </a:r>
          </a:p>
          <a:p>
            <a:r>
              <a:rPr lang="fr-FR" sz="2000" b="1" dirty="0"/>
              <a:t>T1 → </a:t>
            </a:r>
            <a:r>
              <a:rPr lang="fr-FR" sz="2000" b="1" dirty="0" err="1"/>
              <a:t>Employee</a:t>
            </a:r>
            <a:r>
              <a:rPr lang="fr-FR" sz="2000" b="1" dirty="0"/>
              <a:t> 202 → T2 → </a:t>
            </a:r>
            <a:r>
              <a:rPr lang="fr-FR" sz="2000" b="1" dirty="0" err="1"/>
              <a:t>Employee</a:t>
            </a:r>
            <a:r>
              <a:rPr lang="fr-FR" sz="2000" b="1" dirty="0"/>
              <a:t> 101 → T1</a:t>
            </a:r>
          </a:p>
          <a:p>
            <a:r>
              <a:rPr lang="en-US" sz="2000" b="1" dirty="0"/>
              <a:t>Resolution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000" dirty="0"/>
              <a:t>Oracle detects the </a:t>
            </a:r>
            <a:r>
              <a:rPr lang="en-US" sz="2000" b="1" dirty="0"/>
              <a:t>cycle</a:t>
            </a:r>
            <a:r>
              <a:rPr lang="en-US" sz="2000" dirty="0"/>
              <a:t> in the </a:t>
            </a:r>
            <a:r>
              <a:rPr lang="en-US" sz="2000" b="1" dirty="0"/>
              <a:t>wait-for graph</a:t>
            </a:r>
            <a:r>
              <a:rPr lang="en-US" sz="2000" dirty="0"/>
              <a:t>.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000" dirty="0"/>
              <a:t>Rolls back one transaction (e.g., </a:t>
            </a:r>
            <a:r>
              <a:rPr lang="en-US" sz="2000" b="1" dirty="0"/>
              <a:t>T2</a:t>
            </a:r>
            <a:r>
              <a:rPr lang="en-US" sz="2000" dirty="0"/>
              <a:t>) and shows:</a:t>
            </a:r>
          </a:p>
          <a:p>
            <a:endParaRPr lang="en-US" sz="2000" dirty="0"/>
          </a:p>
          <a:p>
            <a:endParaRPr lang="en-US" sz="2000" dirty="0"/>
          </a:p>
          <a:p>
            <a:endParaRPr lang="en-US" sz="2000" dirty="0"/>
          </a:p>
          <a:p>
            <a:pPr marL="342900" indent="-342900">
              <a:buFont typeface="Arial" panose="020B0604020202020204" pitchFamily="34" charset="0"/>
              <a:buChar char="•"/>
            </a:pPr>
            <a:endParaRPr lang="en-US" sz="2000" dirty="0"/>
          </a:p>
          <a:p>
            <a:pPr marL="342900" indent="-342900">
              <a:buFont typeface="Arial" panose="020B0604020202020204" pitchFamily="34" charset="0"/>
              <a:buChar char="•"/>
            </a:pPr>
            <a:endParaRPr lang="en-US" sz="2000" dirty="0"/>
          </a:p>
          <a:p>
            <a:pPr marL="342900" indent="-342900">
              <a:buFont typeface="Arial" panose="020B0604020202020204" pitchFamily="34" charset="0"/>
              <a:buChar char="•"/>
            </a:pPr>
            <a:endParaRPr lang="en-US" sz="2000" dirty="0"/>
          </a:p>
          <a:p>
            <a:pPr marL="342900" indent="-342900">
              <a:buFont typeface="Arial" panose="020B0604020202020204" pitchFamily="34" charset="0"/>
              <a:buChar char="•"/>
            </a:pPr>
            <a:endParaRPr lang="en-US" sz="2400" dirty="0"/>
          </a:p>
        </p:txBody>
      </p:sp>
    </p:spTree>
    <p:extLst>
      <p:ext uri="{BB962C8B-B14F-4D97-AF65-F5344CB8AC3E}">
        <p14:creationId xmlns:p14="http://schemas.microsoft.com/office/powerpoint/2010/main" val="1357608603"/>
      </p:ext>
    </p:extLst>
  </p:cSld>
  <p:clrMapOvr>
    <a:masterClrMapping/>
  </p:clrMapOvr>
  <p:transition>
    <p:dissolve/>
  </p:transition>
</p:sld>
</file>

<file path=ppt/slides/slide1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5F375E0-8DB6-6D12-C263-089436D78F8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F4AEE5F-6E7A-92E1-8210-65BBE216F1F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700919A-61AC-42F9-ADFD-11640D60ABE1}" type="datetime3">
              <a:rPr lang="en-US" smtClean="0"/>
              <a:t>1 September 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07D09BE-DE06-0726-7207-9A83D33562E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2514600" y="6356350"/>
            <a:ext cx="5181600" cy="365125"/>
          </a:xfrm>
        </p:spPr>
        <p:txBody>
          <a:bodyPr/>
          <a:lstStyle/>
          <a:p>
            <a:r>
              <a:rPr lang="en-US"/>
              <a:t>Atul Garg           BCSE0303            Unit- III</a:t>
            </a:r>
            <a:endParaRPr lang="en-US" dirty="0"/>
          </a:p>
        </p:txBody>
      </p:sp>
      <p:sp>
        <p:nvSpPr>
          <p:cNvPr id="8" name="Slide Number Placeholder 7">
            <a:extLst>
              <a:ext uri="{FF2B5EF4-FFF2-40B4-BE49-F238E27FC236}">
                <a16:creationId xmlns:a16="http://schemas.microsoft.com/office/drawing/2014/main" id="{F49CD7CE-8E52-D28D-147B-4444A3E997D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t>119</a:t>
            </a:fld>
            <a:endParaRPr lang="en-US"/>
          </a:p>
        </p:txBody>
      </p:sp>
      <p:pic>
        <p:nvPicPr>
          <p:cNvPr id="2" name="Picture 1" descr="A black and red logo&#10;&#10;Description automatically generated">
            <a:extLst>
              <a:ext uri="{FF2B5EF4-FFF2-40B4-BE49-F238E27FC236}">
                <a16:creationId xmlns:a16="http://schemas.microsoft.com/office/drawing/2014/main" id="{B8353C6A-C172-C3D1-A11E-76D82DD603B8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-27384"/>
            <a:ext cx="1657350" cy="864096"/>
          </a:xfrm>
          <a:prstGeom prst="rect">
            <a:avLst/>
          </a:prstGeom>
        </p:spPr>
      </p:pic>
      <p:sp>
        <p:nvSpPr>
          <p:cNvPr id="3" name="Title 1">
            <a:extLst>
              <a:ext uri="{FF2B5EF4-FFF2-40B4-BE49-F238E27FC236}">
                <a16:creationId xmlns:a16="http://schemas.microsoft.com/office/drawing/2014/main" id="{943DC982-F8EB-F101-0ECA-5716505CEEFB}"/>
              </a:ext>
            </a:extLst>
          </p:cNvPr>
          <p:cNvSpPr txBox="1">
            <a:spLocks/>
          </p:cNvSpPr>
          <p:nvPr/>
        </p:nvSpPr>
        <p:spPr>
          <a:xfrm>
            <a:off x="1547664" y="0"/>
            <a:ext cx="7416824" cy="639174"/>
          </a:xfrm>
          <a:prstGeom prst="rect">
            <a:avLst/>
          </a:prstGeom>
          <a:gradFill flip="none" rotWithShape="1">
            <a:gsLst>
              <a:gs pos="0">
                <a:srgbClr val="FF0000">
                  <a:tint val="66000"/>
                  <a:satMod val="160000"/>
                </a:srgbClr>
              </a:gs>
              <a:gs pos="50000">
                <a:srgbClr val="FF0000">
                  <a:tint val="44500"/>
                  <a:satMod val="160000"/>
                </a:srgbClr>
              </a:gs>
              <a:gs pos="100000">
                <a:srgbClr val="FF0000">
                  <a:tint val="23500"/>
                  <a:satMod val="160000"/>
                </a:srgbClr>
              </a:gs>
            </a:gsLst>
            <a:lin ang="0" scaled="1"/>
            <a:tileRect/>
          </a:gradFill>
        </p:spPr>
        <p:style>
          <a:lnRef idx="1">
            <a:schemeClr val="accent5"/>
          </a:lnRef>
          <a:fillRef idx="2">
            <a:schemeClr val="accent5"/>
          </a:fillRef>
          <a:effectRef idx="1">
            <a:schemeClr val="accent5"/>
          </a:effectRef>
          <a:fontRef idx="minor">
            <a:schemeClr val="dk1"/>
          </a:fontRef>
        </p:style>
        <p:txBody>
          <a:bodyPr vert="horz" lIns="68580" tIns="34290" rIns="68580" bIns="34290" rtlCol="0" anchor="ctr">
            <a:noAutofit/>
          </a:bodyPr>
          <a:lstStyle>
            <a:defPPr>
              <a:defRPr lang="en-US"/>
            </a:defPPr>
            <a:lvl1pPr algn="ctr">
              <a:spcBef>
                <a:spcPct val="0"/>
              </a:spcBef>
              <a:buNone/>
              <a:defRPr sz="2800"/>
            </a:lvl1pPr>
          </a:lstStyle>
          <a:p>
            <a:r>
              <a:rPr lang="en-US" sz="2000" dirty="0"/>
              <a:t>Case Study: Deadlock avoidance in database transaction management systems like Oracle or MySQL 	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46555201-7E58-89D8-AA77-4D0ADB5B8383}"/>
              </a:ext>
            </a:extLst>
          </p:cNvPr>
          <p:cNvSpPr txBox="1"/>
          <p:nvPr/>
        </p:nvSpPr>
        <p:spPr>
          <a:xfrm>
            <a:off x="323528" y="984546"/>
            <a:ext cx="8496943" cy="76636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US" sz="2400" b="1" dirty="0"/>
              <a:t>Case Study 2: MySQL (</a:t>
            </a:r>
            <a:r>
              <a:rPr lang="en-US" sz="2400" b="1" dirty="0" err="1"/>
              <a:t>InnoDB</a:t>
            </a:r>
            <a:r>
              <a:rPr lang="en-US" sz="2400" b="1" dirty="0"/>
              <a:t>) Deadlock</a:t>
            </a:r>
          </a:p>
          <a:p>
            <a:pPr>
              <a:buNone/>
            </a:pPr>
            <a:endParaRPr lang="en-US" sz="2400" b="1" dirty="0"/>
          </a:p>
          <a:p>
            <a:pPr>
              <a:buNone/>
            </a:pPr>
            <a:r>
              <a:rPr lang="en-IN" sz="2400" b="1" dirty="0"/>
              <a:t>Transaction 1 (T1):</a:t>
            </a:r>
          </a:p>
          <a:p>
            <a:pPr>
              <a:buNone/>
            </a:pPr>
            <a:r>
              <a:rPr lang="en-US" sz="2000" dirty="0"/>
              <a:t>START TRANSACTION;</a:t>
            </a:r>
          </a:p>
          <a:p>
            <a:pPr>
              <a:buNone/>
            </a:pPr>
            <a:r>
              <a:rPr lang="en-US" sz="2000" dirty="0"/>
              <a:t>UPDATE accounts SET balance = balance - 1000 WHERE </a:t>
            </a:r>
            <a:r>
              <a:rPr lang="en-US" sz="2000" dirty="0" err="1"/>
              <a:t>acc_no</a:t>
            </a:r>
            <a:r>
              <a:rPr lang="en-US" sz="2000" dirty="0"/>
              <a:t> = 101;</a:t>
            </a:r>
          </a:p>
          <a:p>
            <a:pPr>
              <a:buNone/>
            </a:pPr>
            <a:r>
              <a:rPr lang="en-US" sz="2000" dirty="0"/>
              <a:t>UPDATE accounts SET balance = balance + 1000 WHERE </a:t>
            </a:r>
            <a:r>
              <a:rPr lang="en-US" sz="2000" dirty="0" err="1"/>
              <a:t>acc_no</a:t>
            </a:r>
            <a:r>
              <a:rPr lang="en-US" sz="2000" dirty="0"/>
              <a:t> = 202;</a:t>
            </a:r>
          </a:p>
          <a:p>
            <a:pPr>
              <a:buNone/>
            </a:pPr>
            <a:r>
              <a:rPr lang="en-US" sz="2000" dirty="0"/>
              <a:t>COMMIT;</a:t>
            </a:r>
          </a:p>
          <a:p>
            <a:pPr>
              <a:buNone/>
            </a:pPr>
            <a:endParaRPr lang="en-US" sz="2000" dirty="0"/>
          </a:p>
          <a:p>
            <a:pPr>
              <a:buNone/>
            </a:pPr>
            <a:r>
              <a:rPr lang="en-IN" sz="2400" b="1" dirty="0"/>
              <a:t>Transaction 2 (T2):</a:t>
            </a:r>
          </a:p>
          <a:p>
            <a:pPr>
              <a:buNone/>
            </a:pPr>
            <a:r>
              <a:rPr lang="en-US" sz="2000" dirty="0"/>
              <a:t>START TRANSACTION;</a:t>
            </a:r>
          </a:p>
          <a:p>
            <a:pPr>
              <a:buNone/>
            </a:pPr>
            <a:r>
              <a:rPr lang="en-US" sz="2000" dirty="0"/>
              <a:t>UPDATE accounts SET balance = balance - 500 WHERE </a:t>
            </a:r>
            <a:r>
              <a:rPr lang="en-US" sz="2000" dirty="0" err="1"/>
              <a:t>acc_no</a:t>
            </a:r>
            <a:r>
              <a:rPr lang="en-US" sz="2000" dirty="0"/>
              <a:t> = 202;</a:t>
            </a:r>
          </a:p>
          <a:p>
            <a:pPr>
              <a:buNone/>
            </a:pPr>
            <a:r>
              <a:rPr lang="en-US" sz="2000" dirty="0"/>
              <a:t>UPDATE accounts SET balance = balance + 500 WHERE </a:t>
            </a:r>
            <a:r>
              <a:rPr lang="en-US" sz="2000" dirty="0" err="1"/>
              <a:t>acc_no</a:t>
            </a:r>
            <a:r>
              <a:rPr lang="en-US" sz="2000" dirty="0"/>
              <a:t> = 101;</a:t>
            </a:r>
          </a:p>
          <a:p>
            <a:pPr>
              <a:buNone/>
            </a:pPr>
            <a:r>
              <a:rPr lang="en-US" sz="2000" dirty="0"/>
              <a:t>COMMIT;</a:t>
            </a:r>
          </a:p>
          <a:p>
            <a:pPr>
              <a:buNone/>
            </a:pPr>
            <a:endParaRPr lang="en-US" sz="2400" b="1" dirty="0"/>
          </a:p>
          <a:p>
            <a:pPr>
              <a:buNone/>
            </a:pPr>
            <a:endParaRPr lang="en-US" sz="2400" b="1" dirty="0"/>
          </a:p>
          <a:p>
            <a:pPr>
              <a:buNone/>
            </a:pPr>
            <a:endParaRPr lang="en-US" sz="2400" b="1" dirty="0"/>
          </a:p>
          <a:p>
            <a:pPr>
              <a:buNone/>
            </a:pPr>
            <a:endParaRPr lang="en-US" sz="2400" b="1" dirty="0"/>
          </a:p>
          <a:p>
            <a:pPr>
              <a:buNone/>
            </a:pPr>
            <a:endParaRPr lang="en-US" sz="2400" b="1" dirty="0"/>
          </a:p>
          <a:p>
            <a:pPr>
              <a:buNone/>
            </a:pPr>
            <a:endParaRPr lang="en-US" sz="2400" b="1" dirty="0"/>
          </a:p>
          <a:p>
            <a:pPr>
              <a:buNone/>
            </a:pPr>
            <a:endParaRPr lang="en-US" sz="2400" b="1" dirty="0"/>
          </a:p>
          <a:p>
            <a:pPr>
              <a:buNone/>
            </a:pPr>
            <a:endParaRPr lang="en-US" sz="2400" b="1" dirty="0"/>
          </a:p>
          <a:p>
            <a:pPr>
              <a:buNone/>
            </a:pPr>
            <a:endParaRPr lang="en-US" sz="2400" b="1" dirty="0"/>
          </a:p>
        </p:txBody>
      </p:sp>
    </p:spTree>
    <p:extLst>
      <p:ext uri="{BB962C8B-B14F-4D97-AF65-F5344CB8AC3E}">
        <p14:creationId xmlns:p14="http://schemas.microsoft.com/office/powerpoint/2010/main" val="430121996"/>
      </p:ext>
    </p:extLst>
  </p:cSld>
  <p:clrMapOvr>
    <a:masterClrMapping/>
  </p:clrMapOvr>
  <p:transition>
    <p:dissolve/>
  </p:transition>
</p:sld>
</file>

<file path=ppt/slides/slide1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A25CD35-FEA7-0DEE-90F2-29A4D2364B2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39C0A13-C33D-EBED-D53B-4B04F8BFC82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EED23D-8CF3-4476-A3AD-19E37DAD5398}" type="datetime3">
              <a:rPr lang="en-US" smtClean="0"/>
              <a:t>1 September 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60503E8-B21C-AB70-6E02-2B91EA78D03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2514600" y="6356350"/>
            <a:ext cx="5181600" cy="365125"/>
          </a:xfrm>
        </p:spPr>
        <p:txBody>
          <a:bodyPr/>
          <a:lstStyle/>
          <a:p>
            <a:r>
              <a:rPr lang="en-US"/>
              <a:t>Atul Garg           BCSE0303            Unit- III</a:t>
            </a:r>
            <a:endParaRPr lang="en-US" dirty="0"/>
          </a:p>
        </p:txBody>
      </p:sp>
      <p:sp>
        <p:nvSpPr>
          <p:cNvPr id="8" name="Slide Number Placeholder 7">
            <a:extLst>
              <a:ext uri="{FF2B5EF4-FFF2-40B4-BE49-F238E27FC236}">
                <a16:creationId xmlns:a16="http://schemas.microsoft.com/office/drawing/2014/main" id="{8E80F6D6-8C95-F93C-4813-C5C6931D2B9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t>120</a:t>
            </a:fld>
            <a:endParaRPr lang="en-US"/>
          </a:p>
        </p:txBody>
      </p:sp>
      <p:pic>
        <p:nvPicPr>
          <p:cNvPr id="2" name="Picture 1" descr="A black and red logo&#10;&#10;Description automatically generated">
            <a:extLst>
              <a:ext uri="{FF2B5EF4-FFF2-40B4-BE49-F238E27FC236}">
                <a16:creationId xmlns:a16="http://schemas.microsoft.com/office/drawing/2014/main" id="{CB1D7B16-6BF4-F3C1-6900-FE56C366A4D9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-27384"/>
            <a:ext cx="1657350" cy="864096"/>
          </a:xfrm>
          <a:prstGeom prst="rect">
            <a:avLst/>
          </a:prstGeom>
        </p:spPr>
      </p:pic>
      <p:sp>
        <p:nvSpPr>
          <p:cNvPr id="3" name="Title 1">
            <a:extLst>
              <a:ext uri="{FF2B5EF4-FFF2-40B4-BE49-F238E27FC236}">
                <a16:creationId xmlns:a16="http://schemas.microsoft.com/office/drawing/2014/main" id="{DC14BC9A-8182-CEBC-0851-EB1F1383EB66}"/>
              </a:ext>
            </a:extLst>
          </p:cNvPr>
          <p:cNvSpPr txBox="1">
            <a:spLocks/>
          </p:cNvSpPr>
          <p:nvPr/>
        </p:nvSpPr>
        <p:spPr>
          <a:xfrm>
            <a:off x="1547664" y="0"/>
            <a:ext cx="7416824" cy="639174"/>
          </a:xfrm>
          <a:prstGeom prst="rect">
            <a:avLst/>
          </a:prstGeom>
          <a:gradFill flip="none" rotWithShape="1">
            <a:gsLst>
              <a:gs pos="0">
                <a:srgbClr val="FF0000">
                  <a:tint val="66000"/>
                  <a:satMod val="160000"/>
                </a:srgbClr>
              </a:gs>
              <a:gs pos="50000">
                <a:srgbClr val="FF0000">
                  <a:tint val="44500"/>
                  <a:satMod val="160000"/>
                </a:srgbClr>
              </a:gs>
              <a:gs pos="100000">
                <a:srgbClr val="FF0000">
                  <a:tint val="23500"/>
                  <a:satMod val="160000"/>
                </a:srgbClr>
              </a:gs>
            </a:gsLst>
            <a:lin ang="0" scaled="1"/>
            <a:tileRect/>
          </a:gradFill>
        </p:spPr>
        <p:style>
          <a:lnRef idx="1">
            <a:schemeClr val="accent5"/>
          </a:lnRef>
          <a:fillRef idx="2">
            <a:schemeClr val="accent5"/>
          </a:fillRef>
          <a:effectRef idx="1">
            <a:schemeClr val="accent5"/>
          </a:effectRef>
          <a:fontRef idx="minor">
            <a:schemeClr val="dk1"/>
          </a:fontRef>
        </p:style>
        <p:txBody>
          <a:bodyPr vert="horz" lIns="68580" tIns="34290" rIns="68580" bIns="34290" rtlCol="0" anchor="ctr">
            <a:noAutofit/>
          </a:bodyPr>
          <a:lstStyle>
            <a:defPPr>
              <a:defRPr lang="en-US"/>
            </a:defPPr>
            <a:lvl1pPr algn="ctr">
              <a:spcBef>
                <a:spcPct val="0"/>
              </a:spcBef>
              <a:buNone/>
              <a:defRPr sz="2800"/>
            </a:lvl1pPr>
          </a:lstStyle>
          <a:p>
            <a:r>
              <a:rPr lang="en-US" sz="2000" dirty="0"/>
              <a:t>Case Study: Deadlock avoidance in database transaction management systems like Oracle or MySQL 	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F6F5D4A3-5DC3-ED4E-A3E3-FD46ED8FD990}"/>
              </a:ext>
            </a:extLst>
          </p:cNvPr>
          <p:cNvSpPr txBox="1"/>
          <p:nvPr/>
        </p:nvSpPr>
        <p:spPr>
          <a:xfrm>
            <a:off x="323528" y="984546"/>
            <a:ext cx="8496943" cy="563231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IN" sz="2400" b="1" dirty="0"/>
              <a:t>Deadlock Formation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dirty="0"/>
              <a:t>T1 locks </a:t>
            </a:r>
            <a:r>
              <a:rPr lang="en-US" sz="2400" dirty="0" err="1"/>
              <a:t>acc_no</a:t>
            </a:r>
            <a:r>
              <a:rPr lang="en-US" sz="2400" dirty="0"/>
              <a:t> 101 → waits for </a:t>
            </a:r>
            <a:r>
              <a:rPr lang="en-US" sz="2400" dirty="0" err="1"/>
              <a:t>acc_no</a:t>
            </a:r>
            <a:r>
              <a:rPr lang="en-US" sz="2400" dirty="0"/>
              <a:t> 202.T2 locks </a:t>
            </a:r>
            <a:r>
              <a:rPr lang="en-US" sz="2400" dirty="0" err="1"/>
              <a:t>acc_no</a:t>
            </a:r>
            <a:r>
              <a:rPr lang="en-US" sz="2400" dirty="0"/>
              <a:t> 202 → waits for </a:t>
            </a:r>
            <a:r>
              <a:rPr lang="en-US" sz="2400" dirty="0" err="1"/>
              <a:t>acc_no</a:t>
            </a:r>
            <a:r>
              <a:rPr lang="en-US" sz="2400" dirty="0"/>
              <a:t> 101.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dirty="0"/>
              <a:t>T2 locks </a:t>
            </a:r>
            <a:r>
              <a:rPr lang="en-US" sz="2400" dirty="0" err="1"/>
              <a:t>acc_no</a:t>
            </a:r>
            <a:r>
              <a:rPr lang="en-US" sz="2400" dirty="0"/>
              <a:t> 202 → waits for </a:t>
            </a:r>
            <a:r>
              <a:rPr lang="en-US" sz="2400" dirty="0" err="1"/>
              <a:t>acc_no</a:t>
            </a:r>
            <a:r>
              <a:rPr lang="en-US" sz="2400" dirty="0"/>
              <a:t> 101.</a:t>
            </a:r>
          </a:p>
          <a:p>
            <a:pPr>
              <a:buNone/>
            </a:pPr>
            <a:endParaRPr lang="en-US" sz="2400" dirty="0"/>
          </a:p>
          <a:p>
            <a:pPr>
              <a:buNone/>
            </a:pPr>
            <a:r>
              <a:rPr lang="en-US" sz="2400" b="1" dirty="0"/>
              <a:t>Resolution</a:t>
            </a:r>
          </a:p>
          <a:p>
            <a:pPr>
              <a:buNone/>
            </a:pPr>
            <a:r>
              <a:rPr lang="en-US" sz="2400" dirty="0"/>
              <a:t>MySQL </a:t>
            </a:r>
            <a:r>
              <a:rPr lang="en-US" sz="2400" dirty="0" err="1"/>
              <a:t>InnoDB</a:t>
            </a:r>
            <a:r>
              <a:rPr lang="en-US" sz="2400" dirty="0"/>
              <a:t> detects the deadlock.</a:t>
            </a:r>
          </a:p>
          <a:p>
            <a:pPr>
              <a:buNone/>
            </a:pPr>
            <a:r>
              <a:rPr lang="en-US" sz="2400" dirty="0"/>
              <a:t>Rolls back the transaction with lesser work done (e.g., T2) and throws:</a:t>
            </a:r>
          </a:p>
          <a:p>
            <a:pPr>
              <a:buNone/>
            </a:pPr>
            <a:endParaRPr lang="en-US" sz="2400" b="1" dirty="0"/>
          </a:p>
          <a:p>
            <a:pPr>
              <a:buNone/>
            </a:pPr>
            <a:endParaRPr lang="en-US" sz="2400" b="1" dirty="0"/>
          </a:p>
          <a:p>
            <a:pPr>
              <a:buNone/>
            </a:pPr>
            <a:endParaRPr lang="en-US" sz="2400" b="1" dirty="0"/>
          </a:p>
          <a:p>
            <a:pPr>
              <a:buNone/>
            </a:pPr>
            <a:endParaRPr lang="en-US" sz="2400" b="1" dirty="0"/>
          </a:p>
          <a:p>
            <a:pPr>
              <a:buNone/>
            </a:pPr>
            <a:endParaRPr lang="en-US" sz="2400" b="1" dirty="0"/>
          </a:p>
          <a:p>
            <a:pPr>
              <a:buNone/>
            </a:pPr>
            <a:endParaRPr lang="en-US" sz="2400" b="1" dirty="0"/>
          </a:p>
        </p:txBody>
      </p:sp>
    </p:spTree>
    <p:extLst>
      <p:ext uri="{BB962C8B-B14F-4D97-AF65-F5344CB8AC3E}">
        <p14:creationId xmlns:p14="http://schemas.microsoft.com/office/powerpoint/2010/main" val="4248846179"/>
      </p:ext>
    </p:extLst>
  </p:cSld>
  <p:clrMapOvr>
    <a:masterClrMapping/>
  </p:clrMapOvr>
  <p:transition>
    <p:dissolve/>
  </p:transition>
</p:sld>
</file>

<file path=ppt/slides/slide1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736AB92-FCDA-4F60-B135-EB5C8B4EE5AF}" type="datetime3">
              <a:rPr lang="en-US" smtClean="0"/>
              <a:t>1 September 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2514600" y="6356350"/>
            <a:ext cx="5181600" cy="365125"/>
          </a:xfrm>
        </p:spPr>
        <p:txBody>
          <a:bodyPr/>
          <a:lstStyle/>
          <a:p>
            <a:r>
              <a:rPr lang="en-US"/>
              <a:t>Atul Garg           BCSE0303            Unit- III</a:t>
            </a:r>
            <a:endParaRPr lang="en-US" dirty="0"/>
          </a:p>
        </p:txBody>
      </p:sp>
      <p:sp>
        <p:nvSpPr>
          <p:cNvPr id="12" name="Rectangle 3"/>
          <p:cNvSpPr txBox="1">
            <a:spLocks noChangeArrowheads="1"/>
          </p:cNvSpPr>
          <p:nvPr/>
        </p:nvSpPr>
        <p:spPr>
          <a:xfrm>
            <a:off x="899592" y="1412776"/>
            <a:ext cx="7704856" cy="4114800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/>
          <a:p>
            <a:pPr marL="342900" marR="0" lvl="0" indent="-342900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defRPr/>
            </a:pPr>
            <a:endParaRPr kumimoji="0" lang="en-US" sz="2200" b="0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13" name="Rectangle 3"/>
          <p:cNvSpPr txBox="1">
            <a:spLocks noChangeArrowheads="1"/>
          </p:cNvSpPr>
          <p:nvPr/>
        </p:nvSpPr>
        <p:spPr>
          <a:xfrm>
            <a:off x="1051992" y="764704"/>
            <a:ext cx="7696472" cy="5544616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/>
          <a:p>
            <a:r>
              <a:rPr lang="en-US" sz="2200" dirty="0"/>
              <a:t>1. Semaphore is a/an _______ to solve the critical section problem.</a:t>
            </a:r>
            <a:endParaRPr lang="en-IN" sz="2200" dirty="0"/>
          </a:p>
          <a:p>
            <a:pPr marL="457200" lvl="0" indent="-457200" fontAlgn="base">
              <a:buFont typeface="+mj-lt"/>
              <a:buAutoNum type="alphaUcPeriod"/>
            </a:pPr>
            <a:r>
              <a:rPr lang="en-US" sz="2200" dirty="0"/>
              <a:t>hardware for a system</a:t>
            </a:r>
            <a:endParaRPr lang="en-IN" sz="2200" dirty="0"/>
          </a:p>
          <a:p>
            <a:pPr marL="457200" lvl="0" indent="-457200" fontAlgn="base">
              <a:buFont typeface="+mj-lt"/>
              <a:buAutoNum type="alphaUcPeriod"/>
            </a:pPr>
            <a:r>
              <a:rPr lang="en-US" sz="2200" dirty="0"/>
              <a:t>special program for a system</a:t>
            </a:r>
            <a:endParaRPr lang="en-IN" sz="2200" dirty="0"/>
          </a:p>
          <a:p>
            <a:pPr marL="457200" lvl="0" indent="-457200" fontAlgn="base">
              <a:buFont typeface="+mj-lt"/>
              <a:buAutoNum type="alphaUcPeriod"/>
            </a:pPr>
            <a:r>
              <a:rPr lang="en-US" sz="2200" b="1" dirty="0"/>
              <a:t>integer variable</a:t>
            </a:r>
            <a:endParaRPr lang="en-IN" sz="2200" dirty="0"/>
          </a:p>
          <a:p>
            <a:pPr marL="457200" indent="-457200">
              <a:buFont typeface="+mj-lt"/>
              <a:buAutoNum type="alphaUcPeriod"/>
            </a:pPr>
            <a:r>
              <a:rPr lang="en-US" sz="2200" dirty="0"/>
              <a:t>none of the mentioned. </a:t>
            </a:r>
          </a:p>
          <a:p>
            <a:pPr>
              <a:lnSpc>
                <a:spcPct val="150000"/>
              </a:lnSpc>
            </a:pPr>
            <a:r>
              <a:rPr lang="en-US" sz="2200" dirty="0"/>
              <a:t>2.Bounded waiting implies that there exists a bound on the number of times a process is allowed to enter its critical section ____________</a:t>
            </a:r>
            <a:endParaRPr lang="en-IN" sz="2200" dirty="0"/>
          </a:p>
          <a:p>
            <a:pPr marL="457200" lvl="0" indent="-457200" fontAlgn="base">
              <a:buFont typeface="+mj-lt"/>
              <a:buAutoNum type="alphaUcPeriod"/>
            </a:pPr>
            <a:r>
              <a:rPr lang="en-US" sz="2200" b="1" dirty="0"/>
              <a:t>after a process has made a request to enter its critical section and before the request is granted</a:t>
            </a:r>
            <a:endParaRPr lang="en-IN" sz="2200" dirty="0"/>
          </a:p>
          <a:p>
            <a:pPr marL="457200" lvl="0" indent="-457200" fontAlgn="base">
              <a:buFont typeface="+mj-lt"/>
              <a:buAutoNum type="alphaUcPeriod"/>
            </a:pPr>
            <a:r>
              <a:rPr lang="en-US" sz="2200" dirty="0"/>
              <a:t>when another process is in its critical section</a:t>
            </a:r>
            <a:endParaRPr lang="en-IN" sz="2200" dirty="0"/>
          </a:p>
          <a:p>
            <a:pPr marL="457200" lvl="0" indent="-457200" fontAlgn="base">
              <a:buFont typeface="+mj-lt"/>
              <a:buAutoNum type="alphaUcPeriod"/>
            </a:pPr>
            <a:r>
              <a:rPr lang="en-US" sz="2200" dirty="0"/>
              <a:t>before a process has made a request to enter its critical section</a:t>
            </a:r>
            <a:endParaRPr lang="en-IN" sz="2200" dirty="0"/>
          </a:p>
          <a:p>
            <a:pPr marL="457200" indent="-457200">
              <a:buFont typeface="+mj-lt"/>
              <a:buAutoNum type="alphaUcPeriod"/>
            </a:pPr>
            <a:r>
              <a:rPr lang="en-US" sz="2200" dirty="0"/>
              <a:t>none of the mentioned</a:t>
            </a:r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t>121</a:t>
            </a:fld>
            <a:endParaRPr lang="en-US"/>
          </a:p>
        </p:txBody>
      </p:sp>
      <p:pic>
        <p:nvPicPr>
          <p:cNvPr id="2" name="Picture 1" descr="A black and red logo&#10;&#10;Description automatically generated">
            <a:extLst>
              <a:ext uri="{FF2B5EF4-FFF2-40B4-BE49-F238E27FC236}">
                <a16:creationId xmlns:a16="http://schemas.microsoft.com/office/drawing/2014/main" id="{6E77A3B1-0DC6-3F79-6A12-8955D21BE55A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-27384"/>
            <a:ext cx="1657350" cy="710452"/>
          </a:xfrm>
          <a:prstGeom prst="rect">
            <a:avLst/>
          </a:prstGeom>
        </p:spPr>
      </p:pic>
      <p:sp>
        <p:nvSpPr>
          <p:cNvPr id="6" name="Title 1">
            <a:extLst>
              <a:ext uri="{FF2B5EF4-FFF2-40B4-BE49-F238E27FC236}">
                <a16:creationId xmlns:a16="http://schemas.microsoft.com/office/drawing/2014/main" id="{B642AEA9-B6BA-7D3E-3FED-D0084E2178C7}"/>
              </a:ext>
            </a:extLst>
          </p:cNvPr>
          <p:cNvSpPr txBox="1">
            <a:spLocks/>
          </p:cNvSpPr>
          <p:nvPr/>
        </p:nvSpPr>
        <p:spPr>
          <a:xfrm>
            <a:off x="2171700" y="116632"/>
            <a:ext cx="5829300" cy="514349"/>
          </a:xfrm>
          <a:prstGeom prst="rect">
            <a:avLst/>
          </a:prstGeom>
          <a:gradFill flip="none" rotWithShape="1">
            <a:gsLst>
              <a:gs pos="0">
                <a:srgbClr val="FF0000">
                  <a:tint val="66000"/>
                  <a:satMod val="160000"/>
                </a:srgbClr>
              </a:gs>
              <a:gs pos="50000">
                <a:srgbClr val="FF0000">
                  <a:tint val="44500"/>
                  <a:satMod val="160000"/>
                </a:srgbClr>
              </a:gs>
              <a:gs pos="100000">
                <a:srgbClr val="FF0000">
                  <a:tint val="23500"/>
                  <a:satMod val="160000"/>
                </a:srgbClr>
              </a:gs>
            </a:gsLst>
            <a:lin ang="0" scaled="1"/>
            <a:tileRect/>
          </a:gradFill>
        </p:spPr>
        <p:style>
          <a:lnRef idx="1">
            <a:schemeClr val="accent5"/>
          </a:lnRef>
          <a:fillRef idx="2">
            <a:schemeClr val="accent5"/>
          </a:fillRef>
          <a:effectRef idx="1">
            <a:schemeClr val="accent5"/>
          </a:effectRef>
          <a:fontRef idx="minor">
            <a:schemeClr val="dk1"/>
          </a:fontRef>
        </p:style>
        <p:txBody>
          <a:bodyPr vert="horz" lIns="68580" tIns="34290" rIns="68580" bIns="34290" rtlCol="0" anchor="ctr">
            <a:noAutofit/>
          </a:bodyPr>
          <a:lstStyle>
            <a:defPPr>
              <a:defRPr lang="en-US"/>
            </a:defPPr>
            <a:lvl1pPr algn="ctr">
              <a:spcBef>
                <a:spcPct val="0"/>
              </a:spcBef>
              <a:buNone/>
              <a:defRPr sz="2800"/>
            </a:lvl1pPr>
          </a:lstStyle>
          <a:p>
            <a:pPr>
              <a:defRPr/>
            </a:pPr>
            <a:r>
              <a:rPr lang="en-US" sz="2400" dirty="0"/>
              <a:t>Daily Quiz</a:t>
            </a:r>
            <a:endParaRPr lang="en-US" sz="2100" dirty="0"/>
          </a:p>
        </p:txBody>
      </p:sp>
    </p:spTree>
  </p:cSld>
  <p:clrMapOvr>
    <a:masterClrMapping/>
  </p:clrMapOvr>
  <p:transition>
    <p:wipe dir="r"/>
  </p:transition>
</p:sld>
</file>

<file path=ppt/slides/slide1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569A889-DC63-40B8-BFF5-D9E97FC09543}" type="datetime3">
              <a:rPr lang="en-US" smtClean="0"/>
              <a:t>1 September 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2514600" y="6356350"/>
            <a:ext cx="5181600" cy="365125"/>
          </a:xfrm>
        </p:spPr>
        <p:txBody>
          <a:bodyPr/>
          <a:lstStyle/>
          <a:p>
            <a:r>
              <a:rPr lang="en-US"/>
              <a:t>Atul Garg           BCSE0303            Unit- III</a:t>
            </a:r>
            <a:endParaRPr lang="en-US" dirty="0"/>
          </a:p>
        </p:txBody>
      </p:sp>
      <p:sp>
        <p:nvSpPr>
          <p:cNvPr id="12" name="Rectangle 3"/>
          <p:cNvSpPr txBox="1">
            <a:spLocks noChangeArrowheads="1"/>
          </p:cNvSpPr>
          <p:nvPr/>
        </p:nvSpPr>
        <p:spPr>
          <a:xfrm>
            <a:off x="899592" y="1412776"/>
            <a:ext cx="7704856" cy="4114800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/>
          <a:p>
            <a:pPr marL="342900" marR="0" lvl="0" indent="-342900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defRPr/>
            </a:pPr>
            <a:endParaRPr kumimoji="0" lang="en-US" sz="2200" b="0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13" name="Rectangle 3"/>
          <p:cNvSpPr txBox="1">
            <a:spLocks noChangeArrowheads="1"/>
          </p:cNvSpPr>
          <p:nvPr/>
        </p:nvSpPr>
        <p:spPr>
          <a:xfrm>
            <a:off x="1051992" y="764704"/>
            <a:ext cx="7696472" cy="5544616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/>
          <a:p>
            <a:r>
              <a:rPr lang="en-US" sz="2200" dirty="0"/>
              <a:t>3. When several processes access the same data concurrently and the outcome of the execution depends on the particular order in which the access takes place, is called?</a:t>
            </a:r>
            <a:endParaRPr lang="en-IN" sz="2200" dirty="0"/>
          </a:p>
          <a:p>
            <a:br>
              <a:rPr lang="en-US" sz="2200" dirty="0"/>
            </a:br>
            <a:r>
              <a:rPr lang="en-US" sz="2200" dirty="0"/>
              <a:t>A. dynamic condition</a:t>
            </a:r>
            <a:br>
              <a:rPr lang="en-US" sz="2200" dirty="0"/>
            </a:br>
            <a:r>
              <a:rPr lang="en-US" sz="2200" b="1" dirty="0"/>
              <a:t>B.  race condition</a:t>
            </a:r>
            <a:br>
              <a:rPr lang="en-US" sz="2200" dirty="0"/>
            </a:br>
            <a:r>
              <a:rPr lang="en-US" sz="2200" dirty="0"/>
              <a:t>C.  essential condition</a:t>
            </a:r>
            <a:br>
              <a:rPr lang="en-US" sz="2200" dirty="0"/>
            </a:br>
            <a:r>
              <a:rPr lang="en-US" sz="2200" dirty="0"/>
              <a:t>D.  critical condition</a:t>
            </a:r>
          </a:p>
          <a:p>
            <a:endParaRPr lang="en-IN" sz="2200" dirty="0"/>
          </a:p>
          <a:p>
            <a:r>
              <a:rPr lang="en-US" sz="2200" dirty="0"/>
              <a:t>4. Mutual exclusion can be provided by the __________</a:t>
            </a:r>
            <a:endParaRPr lang="en-IN" sz="2200" dirty="0"/>
          </a:p>
          <a:p>
            <a:br>
              <a:rPr lang="en-US" sz="2200" dirty="0"/>
            </a:br>
            <a:r>
              <a:rPr lang="en-US" sz="2200" dirty="0"/>
              <a:t>A. </a:t>
            </a:r>
            <a:r>
              <a:rPr lang="en-US" sz="2200" dirty="0" err="1"/>
              <a:t>mutex</a:t>
            </a:r>
            <a:r>
              <a:rPr lang="en-US" sz="2200" dirty="0"/>
              <a:t> locks</a:t>
            </a:r>
            <a:br>
              <a:rPr lang="en-US" sz="2200" dirty="0"/>
            </a:br>
            <a:r>
              <a:rPr lang="en-US" sz="2200" dirty="0"/>
              <a:t>B. binary semaphores</a:t>
            </a:r>
            <a:br>
              <a:rPr lang="en-US" sz="2200" dirty="0"/>
            </a:br>
            <a:r>
              <a:rPr lang="en-US" sz="2200" b="1" dirty="0"/>
              <a:t>C. both </a:t>
            </a:r>
            <a:r>
              <a:rPr lang="en-US" sz="2200" b="1" dirty="0" err="1"/>
              <a:t>mutex</a:t>
            </a:r>
            <a:r>
              <a:rPr lang="en-US" sz="2200" b="1" dirty="0"/>
              <a:t> locks and binary semaphores</a:t>
            </a:r>
            <a:br>
              <a:rPr lang="en-US" sz="2200" dirty="0"/>
            </a:br>
            <a:r>
              <a:rPr lang="en-US" sz="2200" dirty="0"/>
              <a:t>D. none of the mentioned</a:t>
            </a:r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t>122</a:t>
            </a:fld>
            <a:endParaRPr lang="en-US"/>
          </a:p>
        </p:txBody>
      </p:sp>
      <p:pic>
        <p:nvPicPr>
          <p:cNvPr id="2" name="Picture 1" descr="A black and red logo&#10;&#10;Description automatically generated">
            <a:extLst>
              <a:ext uri="{FF2B5EF4-FFF2-40B4-BE49-F238E27FC236}">
                <a16:creationId xmlns:a16="http://schemas.microsoft.com/office/drawing/2014/main" id="{C5F8A2B2-32AA-6C83-C5AC-1A05A21B6811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-27384"/>
            <a:ext cx="1657350" cy="710452"/>
          </a:xfrm>
          <a:prstGeom prst="rect">
            <a:avLst/>
          </a:prstGeom>
        </p:spPr>
      </p:pic>
      <p:sp>
        <p:nvSpPr>
          <p:cNvPr id="6" name="Title 1">
            <a:extLst>
              <a:ext uri="{FF2B5EF4-FFF2-40B4-BE49-F238E27FC236}">
                <a16:creationId xmlns:a16="http://schemas.microsoft.com/office/drawing/2014/main" id="{4E08545D-3A5E-AA42-D9D8-BA14F45AECC7}"/>
              </a:ext>
            </a:extLst>
          </p:cNvPr>
          <p:cNvSpPr txBox="1">
            <a:spLocks/>
          </p:cNvSpPr>
          <p:nvPr/>
        </p:nvSpPr>
        <p:spPr>
          <a:xfrm>
            <a:off x="2171700" y="116632"/>
            <a:ext cx="5829300" cy="514349"/>
          </a:xfrm>
          <a:prstGeom prst="rect">
            <a:avLst/>
          </a:prstGeom>
          <a:gradFill flip="none" rotWithShape="1">
            <a:gsLst>
              <a:gs pos="0">
                <a:srgbClr val="FF0000">
                  <a:tint val="66000"/>
                  <a:satMod val="160000"/>
                </a:srgbClr>
              </a:gs>
              <a:gs pos="50000">
                <a:srgbClr val="FF0000">
                  <a:tint val="44500"/>
                  <a:satMod val="160000"/>
                </a:srgbClr>
              </a:gs>
              <a:gs pos="100000">
                <a:srgbClr val="FF0000">
                  <a:tint val="23500"/>
                  <a:satMod val="160000"/>
                </a:srgbClr>
              </a:gs>
            </a:gsLst>
            <a:lin ang="0" scaled="1"/>
            <a:tileRect/>
          </a:gradFill>
        </p:spPr>
        <p:style>
          <a:lnRef idx="1">
            <a:schemeClr val="accent5"/>
          </a:lnRef>
          <a:fillRef idx="2">
            <a:schemeClr val="accent5"/>
          </a:fillRef>
          <a:effectRef idx="1">
            <a:schemeClr val="accent5"/>
          </a:effectRef>
          <a:fontRef idx="minor">
            <a:schemeClr val="dk1"/>
          </a:fontRef>
        </p:style>
        <p:txBody>
          <a:bodyPr vert="horz" lIns="68580" tIns="34290" rIns="68580" bIns="34290" rtlCol="0" anchor="ctr">
            <a:noAutofit/>
          </a:bodyPr>
          <a:lstStyle>
            <a:defPPr>
              <a:defRPr lang="en-US"/>
            </a:defPPr>
            <a:lvl1pPr algn="ctr">
              <a:spcBef>
                <a:spcPct val="0"/>
              </a:spcBef>
              <a:buNone/>
              <a:defRPr sz="2800"/>
            </a:lvl1pPr>
          </a:lstStyle>
          <a:p>
            <a:pPr>
              <a:defRPr/>
            </a:pPr>
            <a:r>
              <a:rPr lang="en-US" sz="2400" dirty="0"/>
              <a:t>Daily Quiz</a:t>
            </a:r>
            <a:endParaRPr lang="en-US" sz="2100" dirty="0"/>
          </a:p>
        </p:txBody>
      </p:sp>
    </p:spTree>
  </p:cSld>
  <p:clrMapOvr>
    <a:masterClrMapping/>
  </p:clrMapOvr>
  <p:transition>
    <p:wipe dir="r"/>
  </p:transition>
</p:sld>
</file>

<file path=ppt/slides/slide1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D22F0E8-78A9-4CC8-972A-29E45B7C3AA1}" type="datetime3">
              <a:rPr lang="en-US" smtClean="0"/>
              <a:t>1 September 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2514600" y="6356350"/>
            <a:ext cx="5181600" cy="365125"/>
          </a:xfrm>
        </p:spPr>
        <p:txBody>
          <a:bodyPr/>
          <a:lstStyle/>
          <a:p>
            <a:r>
              <a:rPr lang="en-US"/>
              <a:t>Atul Garg           BCSE0303            Unit- III</a:t>
            </a:r>
            <a:endParaRPr lang="en-US" dirty="0"/>
          </a:p>
        </p:txBody>
      </p:sp>
      <p:sp>
        <p:nvSpPr>
          <p:cNvPr id="12" name="Rectangle 3"/>
          <p:cNvSpPr txBox="1">
            <a:spLocks noChangeArrowheads="1"/>
          </p:cNvSpPr>
          <p:nvPr/>
        </p:nvSpPr>
        <p:spPr>
          <a:xfrm>
            <a:off x="899592" y="1412776"/>
            <a:ext cx="7704856" cy="4114800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/>
          <a:p>
            <a:pPr marL="342900" marR="0" lvl="0" indent="-342900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defRPr/>
            </a:pPr>
            <a:endParaRPr kumimoji="0" lang="en-US" sz="2200" b="0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13" name="Rectangle 3"/>
          <p:cNvSpPr txBox="1">
            <a:spLocks noChangeArrowheads="1"/>
          </p:cNvSpPr>
          <p:nvPr/>
        </p:nvSpPr>
        <p:spPr>
          <a:xfrm>
            <a:off x="755576" y="764704"/>
            <a:ext cx="7992888" cy="5544616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/>
          <a:p>
            <a:r>
              <a:rPr lang="en-US" sz="2200" dirty="0"/>
              <a:t>5. Which process can be affected by other processes executing in the system?</a:t>
            </a:r>
            <a:endParaRPr lang="en-IN" sz="2200" dirty="0"/>
          </a:p>
          <a:p>
            <a:r>
              <a:rPr lang="en-US" sz="2200" b="1" dirty="0"/>
              <a:t>A. Cooperating  process</a:t>
            </a:r>
            <a:endParaRPr lang="en-IN" sz="2200" dirty="0"/>
          </a:p>
          <a:p>
            <a:r>
              <a:rPr lang="en-US" sz="2200" dirty="0"/>
              <a:t>B. child process</a:t>
            </a:r>
            <a:br>
              <a:rPr lang="en-US" sz="2200" dirty="0"/>
            </a:br>
            <a:r>
              <a:rPr lang="en-US" sz="2200" dirty="0"/>
              <a:t>C. parent process</a:t>
            </a:r>
            <a:br>
              <a:rPr lang="en-US" sz="2200" dirty="0"/>
            </a:br>
            <a:r>
              <a:rPr lang="en-US" sz="2200" dirty="0"/>
              <a:t>D. init process</a:t>
            </a:r>
          </a:p>
          <a:p>
            <a:endParaRPr lang="en-US" sz="2200" dirty="0"/>
          </a:p>
          <a:p>
            <a:r>
              <a:rPr lang="en-US" sz="2200" dirty="0"/>
              <a:t>6. If a process is executing in its critical section, then no other processes can be executing in their critical section. This condition is called?</a:t>
            </a:r>
            <a:endParaRPr lang="en-IN" sz="2200" dirty="0"/>
          </a:p>
          <a:p>
            <a:pPr lvl="0" fontAlgn="base"/>
            <a:r>
              <a:rPr lang="en-US" sz="2200" b="1" dirty="0"/>
              <a:t>Mutual exclusion</a:t>
            </a:r>
            <a:endParaRPr lang="en-IN" sz="2200" dirty="0"/>
          </a:p>
          <a:p>
            <a:pPr lvl="0" fontAlgn="base"/>
            <a:r>
              <a:rPr lang="en-US" sz="2200" dirty="0"/>
              <a:t>critical exclusion</a:t>
            </a:r>
            <a:endParaRPr lang="en-IN" sz="2200" dirty="0"/>
          </a:p>
          <a:p>
            <a:pPr lvl="0" fontAlgn="base"/>
            <a:r>
              <a:rPr lang="en-US" sz="2200" dirty="0"/>
              <a:t>synchronous exclusion</a:t>
            </a:r>
            <a:endParaRPr lang="en-IN" sz="2200" dirty="0"/>
          </a:p>
          <a:p>
            <a:r>
              <a:rPr lang="en-US" sz="2200" dirty="0"/>
              <a:t>asynchronous exclusion</a:t>
            </a:r>
            <a:endParaRPr lang="en-IN" sz="2200" dirty="0"/>
          </a:p>
          <a:p>
            <a:endParaRPr lang="en-US" sz="2200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t>123</a:t>
            </a:fld>
            <a:endParaRPr lang="en-US"/>
          </a:p>
        </p:txBody>
      </p:sp>
      <p:pic>
        <p:nvPicPr>
          <p:cNvPr id="2" name="Picture 1" descr="A black and red logo&#10;&#10;Description automatically generated">
            <a:extLst>
              <a:ext uri="{FF2B5EF4-FFF2-40B4-BE49-F238E27FC236}">
                <a16:creationId xmlns:a16="http://schemas.microsoft.com/office/drawing/2014/main" id="{7EC0FAE2-A95C-A9F2-54FC-3E2561E8E19C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-27384"/>
            <a:ext cx="1657350" cy="710452"/>
          </a:xfrm>
          <a:prstGeom prst="rect">
            <a:avLst/>
          </a:prstGeom>
        </p:spPr>
      </p:pic>
      <p:sp>
        <p:nvSpPr>
          <p:cNvPr id="3" name="Title 1">
            <a:extLst>
              <a:ext uri="{FF2B5EF4-FFF2-40B4-BE49-F238E27FC236}">
                <a16:creationId xmlns:a16="http://schemas.microsoft.com/office/drawing/2014/main" id="{E1ADD52D-5971-6A57-355E-417FC6BF9989}"/>
              </a:ext>
            </a:extLst>
          </p:cNvPr>
          <p:cNvSpPr txBox="1">
            <a:spLocks/>
          </p:cNvSpPr>
          <p:nvPr/>
        </p:nvSpPr>
        <p:spPr>
          <a:xfrm>
            <a:off x="2171700" y="116632"/>
            <a:ext cx="5829300" cy="514349"/>
          </a:xfrm>
          <a:prstGeom prst="rect">
            <a:avLst/>
          </a:prstGeom>
          <a:gradFill flip="none" rotWithShape="1">
            <a:gsLst>
              <a:gs pos="0">
                <a:srgbClr val="FF0000">
                  <a:tint val="66000"/>
                  <a:satMod val="160000"/>
                </a:srgbClr>
              </a:gs>
              <a:gs pos="50000">
                <a:srgbClr val="FF0000">
                  <a:tint val="44500"/>
                  <a:satMod val="160000"/>
                </a:srgbClr>
              </a:gs>
              <a:gs pos="100000">
                <a:srgbClr val="FF0000">
                  <a:tint val="23500"/>
                  <a:satMod val="160000"/>
                </a:srgbClr>
              </a:gs>
            </a:gsLst>
            <a:lin ang="0" scaled="1"/>
            <a:tileRect/>
          </a:gradFill>
        </p:spPr>
        <p:style>
          <a:lnRef idx="1">
            <a:schemeClr val="accent5"/>
          </a:lnRef>
          <a:fillRef idx="2">
            <a:schemeClr val="accent5"/>
          </a:fillRef>
          <a:effectRef idx="1">
            <a:schemeClr val="accent5"/>
          </a:effectRef>
          <a:fontRef idx="minor">
            <a:schemeClr val="dk1"/>
          </a:fontRef>
        </p:style>
        <p:txBody>
          <a:bodyPr vert="horz" lIns="68580" tIns="34290" rIns="68580" bIns="34290" rtlCol="0" anchor="ctr">
            <a:noAutofit/>
          </a:bodyPr>
          <a:lstStyle>
            <a:defPPr>
              <a:defRPr lang="en-US"/>
            </a:defPPr>
            <a:lvl1pPr algn="ctr">
              <a:spcBef>
                <a:spcPct val="0"/>
              </a:spcBef>
              <a:buNone/>
              <a:defRPr sz="2800"/>
            </a:lvl1pPr>
          </a:lstStyle>
          <a:p>
            <a:pPr>
              <a:defRPr/>
            </a:pPr>
            <a:r>
              <a:rPr lang="en-US" sz="2400" dirty="0"/>
              <a:t>Daily Quiz</a:t>
            </a:r>
            <a:endParaRPr lang="en-US" sz="2100" dirty="0"/>
          </a:p>
        </p:txBody>
      </p:sp>
    </p:spTree>
  </p:cSld>
  <p:clrMapOvr>
    <a:masterClrMapping/>
  </p:clrMapOvr>
  <p:transition>
    <p:wipe dir="r"/>
  </p:transition>
</p:sld>
</file>

<file path=ppt/slides/slide1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5C6E440-8B9E-4368-8CCC-5B57B771C7CD}" type="datetime3">
              <a:rPr lang="en-US" smtClean="0"/>
              <a:t>1 September 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2514600" y="6356350"/>
            <a:ext cx="5181600" cy="365125"/>
          </a:xfrm>
        </p:spPr>
        <p:txBody>
          <a:bodyPr/>
          <a:lstStyle/>
          <a:p>
            <a:r>
              <a:rPr lang="en-US"/>
              <a:t>Atul Garg           BCSE0303            Unit- III</a:t>
            </a:r>
            <a:endParaRPr lang="en-US" dirty="0"/>
          </a:p>
        </p:txBody>
      </p:sp>
      <p:sp>
        <p:nvSpPr>
          <p:cNvPr id="12" name="Rectangle 3"/>
          <p:cNvSpPr txBox="1">
            <a:spLocks noChangeArrowheads="1"/>
          </p:cNvSpPr>
          <p:nvPr/>
        </p:nvSpPr>
        <p:spPr>
          <a:xfrm>
            <a:off x="899592" y="1412776"/>
            <a:ext cx="7704856" cy="4114800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/>
          <a:p>
            <a:pPr marL="342900" marR="0" lvl="0" indent="-342900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defRPr/>
            </a:pPr>
            <a:endParaRPr kumimoji="0" lang="en-US" sz="2200" b="0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13" name="Rectangle 3"/>
          <p:cNvSpPr txBox="1">
            <a:spLocks noChangeArrowheads="1"/>
          </p:cNvSpPr>
          <p:nvPr/>
        </p:nvSpPr>
        <p:spPr>
          <a:xfrm>
            <a:off x="1051992" y="764704"/>
            <a:ext cx="7696472" cy="5544616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/>
          <a:p>
            <a:r>
              <a:rPr lang="en-US" sz="2200" dirty="0"/>
              <a:t>7. Concurrent access to shared data may result in ____________</a:t>
            </a:r>
            <a:br>
              <a:rPr lang="en-US" sz="2200" dirty="0"/>
            </a:br>
            <a:endParaRPr lang="en-IN" sz="2200" dirty="0"/>
          </a:p>
          <a:p>
            <a:pPr marL="457200" lvl="0" indent="-457200" fontAlgn="base">
              <a:buFont typeface="+mj-lt"/>
              <a:buAutoNum type="alphaUcPeriod"/>
            </a:pPr>
            <a:r>
              <a:rPr lang="en-US" sz="2200" dirty="0"/>
              <a:t>data consistency</a:t>
            </a:r>
            <a:endParaRPr lang="en-IN" sz="2200" dirty="0"/>
          </a:p>
          <a:p>
            <a:pPr marL="457200" lvl="0" indent="-457200" fontAlgn="base">
              <a:buFont typeface="+mj-lt"/>
              <a:buAutoNum type="alphaUcPeriod"/>
            </a:pPr>
            <a:r>
              <a:rPr lang="en-US" sz="2200" dirty="0"/>
              <a:t>data insecurity</a:t>
            </a:r>
            <a:endParaRPr lang="en-IN" sz="2200" dirty="0"/>
          </a:p>
          <a:p>
            <a:pPr marL="457200" lvl="0" indent="-457200" fontAlgn="base">
              <a:buFont typeface="+mj-lt"/>
              <a:buAutoNum type="alphaUcPeriod"/>
            </a:pPr>
            <a:r>
              <a:rPr lang="en-US" sz="2200" b="1" dirty="0"/>
              <a:t>data inconsistency</a:t>
            </a:r>
            <a:endParaRPr lang="en-IN" sz="2200" dirty="0"/>
          </a:p>
          <a:p>
            <a:pPr marL="457200" lvl="0" indent="-457200" fontAlgn="base">
              <a:buFont typeface="+mj-lt"/>
              <a:buAutoNum type="alphaUcPeriod"/>
            </a:pPr>
            <a:r>
              <a:rPr lang="en-US" sz="2200" dirty="0"/>
              <a:t>none of the mentioned</a:t>
            </a:r>
            <a:endParaRPr lang="en-IN" sz="2200" dirty="0"/>
          </a:p>
          <a:p>
            <a:endParaRPr lang="en-US" sz="2200" dirty="0"/>
          </a:p>
          <a:p>
            <a:r>
              <a:rPr lang="en-IN" sz="2200" dirty="0"/>
              <a:t>8.</a:t>
            </a:r>
            <a:r>
              <a:rPr lang="en-US" sz="2200" dirty="0"/>
              <a:t> Which of the following conditions must be satisfied to solve the critical section problem?</a:t>
            </a:r>
            <a:endParaRPr lang="en-IN" sz="2200" dirty="0"/>
          </a:p>
          <a:p>
            <a:pPr lvl="0" fontAlgn="base"/>
            <a:r>
              <a:rPr lang="en-US" sz="2200" dirty="0"/>
              <a:t>Mutual Exclusion</a:t>
            </a:r>
            <a:endParaRPr lang="en-IN" sz="2200" dirty="0"/>
          </a:p>
          <a:p>
            <a:pPr lvl="0" fontAlgn="base"/>
            <a:r>
              <a:rPr lang="en-US" sz="2200" dirty="0"/>
              <a:t>Progress</a:t>
            </a:r>
            <a:endParaRPr lang="en-IN" sz="2200" dirty="0"/>
          </a:p>
          <a:p>
            <a:pPr lvl="0" fontAlgn="base"/>
            <a:r>
              <a:rPr lang="en-US" sz="2200" dirty="0"/>
              <a:t>Bounded Waiting</a:t>
            </a:r>
            <a:endParaRPr lang="en-IN" sz="2200" dirty="0"/>
          </a:p>
          <a:p>
            <a:r>
              <a:rPr lang="en-US" sz="2200" b="1" dirty="0"/>
              <a:t>All of the mentioned</a:t>
            </a:r>
            <a:endParaRPr lang="en-IN" sz="2200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t>124</a:t>
            </a:fld>
            <a:endParaRPr lang="en-US"/>
          </a:p>
        </p:txBody>
      </p:sp>
      <p:pic>
        <p:nvPicPr>
          <p:cNvPr id="2" name="Picture 1" descr="A black and red logo&#10;&#10;Description automatically generated">
            <a:extLst>
              <a:ext uri="{FF2B5EF4-FFF2-40B4-BE49-F238E27FC236}">
                <a16:creationId xmlns:a16="http://schemas.microsoft.com/office/drawing/2014/main" id="{FDDD40AA-3782-785B-87DF-B7AEE9F0489B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-27384"/>
            <a:ext cx="1657350" cy="710452"/>
          </a:xfrm>
          <a:prstGeom prst="rect">
            <a:avLst/>
          </a:prstGeom>
        </p:spPr>
      </p:pic>
      <p:sp>
        <p:nvSpPr>
          <p:cNvPr id="3" name="Title 1">
            <a:extLst>
              <a:ext uri="{FF2B5EF4-FFF2-40B4-BE49-F238E27FC236}">
                <a16:creationId xmlns:a16="http://schemas.microsoft.com/office/drawing/2014/main" id="{E2404F71-99FB-CD5A-9881-8854DA93B453}"/>
              </a:ext>
            </a:extLst>
          </p:cNvPr>
          <p:cNvSpPr txBox="1">
            <a:spLocks/>
          </p:cNvSpPr>
          <p:nvPr/>
        </p:nvSpPr>
        <p:spPr>
          <a:xfrm>
            <a:off x="2171700" y="116632"/>
            <a:ext cx="5829300" cy="514349"/>
          </a:xfrm>
          <a:prstGeom prst="rect">
            <a:avLst/>
          </a:prstGeom>
          <a:gradFill flip="none" rotWithShape="1">
            <a:gsLst>
              <a:gs pos="0">
                <a:srgbClr val="FF0000">
                  <a:tint val="66000"/>
                  <a:satMod val="160000"/>
                </a:srgbClr>
              </a:gs>
              <a:gs pos="50000">
                <a:srgbClr val="FF0000">
                  <a:tint val="44500"/>
                  <a:satMod val="160000"/>
                </a:srgbClr>
              </a:gs>
              <a:gs pos="100000">
                <a:srgbClr val="FF0000">
                  <a:tint val="23500"/>
                  <a:satMod val="160000"/>
                </a:srgbClr>
              </a:gs>
            </a:gsLst>
            <a:lin ang="0" scaled="1"/>
            <a:tileRect/>
          </a:gradFill>
        </p:spPr>
        <p:style>
          <a:lnRef idx="1">
            <a:schemeClr val="accent5"/>
          </a:lnRef>
          <a:fillRef idx="2">
            <a:schemeClr val="accent5"/>
          </a:fillRef>
          <a:effectRef idx="1">
            <a:schemeClr val="accent5"/>
          </a:effectRef>
          <a:fontRef idx="minor">
            <a:schemeClr val="dk1"/>
          </a:fontRef>
        </p:style>
        <p:txBody>
          <a:bodyPr vert="horz" lIns="68580" tIns="34290" rIns="68580" bIns="34290" rtlCol="0" anchor="ctr">
            <a:noAutofit/>
          </a:bodyPr>
          <a:lstStyle>
            <a:defPPr>
              <a:defRPr lang="en-US"/>
            </a:defPPr>
            <a:lvl1pPr algn="ctr">
              <a:spcBef>
                <a:spcPct val="0"/>
              </a:spcBef>
              <a:buNone/>
              <a:defRPr sz="2800"/>
            </a:lvl1pPr>
          </a:lstStyle>
          <a:p>
            <a:pPr>
              <a:defRPr/>
            </a:pPr>
            <a:r>
              <a:rPr lang="en-US" sz="2400" dirty="0"/>
              <a:t>Daily Quiz</a:t>
            </a:r>
            <a:endParaRPr lang="en-US" sz="2100" dirty="0"/>
          </a:p>
        </p:txBody>
      </p:sp>
    </p:spTree>
  </p:cSld>
  <p:clrMapOvr>
    <a:masterClrMapping/>
  </p:clrMapOvr>
  <p:transition>
    <p:wipe dir="r"/>
  </p:transition>
</p:sld>
</file>

<file path=ppt/slides/slide1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E6545C0-5C7C-4FE6-AEC7-ADD18765831A}" type="datetime3">
              <a:rPr lang="en-US" smtClean="0"/>
              <a:t>1 September 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2514600" y="6356350"/>
            <a:ext cx="5181600" cy="365125"/>
          </a:xfrm>
        </p:spPr>
        <p:txBody>
          <a:bodyPr/>
          <a:lstStyle/>
          <a:p>
            <a:r>
              <a:rPr lang="en-US"/>
              <a:t>Atul Garg           BCSE0303            Unit- III</a:t>
            </a:r>
            <a:endParaRPr lang="en-US" dirty="0"/>
          </a:p>
        </p:txBody>
      </p:sp>
      <p:sp>
        <p:nvSpPr>
          <p:cNvPr id="12" name="Rectangle 3"/>
          <p:cNvSpPr txBox="1">
            <a:spLocks noChangeArrowheads="1"/>
          </p:cNvSpPr>
          <p:nvPr/>
        </p:nvSpPr>
        <p:spPr>
          <a:xfrm>
            <a:off x="899592" y="1412776"/>
            <a:ext cx="7704856" cy="4114800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/>
          <a:p>
            <a:pPr marL="342900" marR="0" lvl="0" indent="-342900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defRPr/>
            </a:pPr>
            <a:endParaRPr kumimoji="0" lang="en-US" sz="2200" b="0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13" name="Rectangle 3"/>
          <p:cNvSpPr txBox="1">
            <a:spLocks noChangeArrowheads="1"/>
          </p:cNvSpPr>
          <p:nvPr/>
        </p:nvSpPr>
        <p:spPr>
          <a:xfrm>
            <a:off x="1051992" y="908720"/>
            <a:ext cx="7552456" cy="5184576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/>
          <a:p>
            <a:pPr lvl="0"/>
            <a:endParaRPr kumimoji="0" lang="en-US" sz="2200" b="0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15" name="Rectangle 3"/>
          <p:cNvSpPr txBox="1">
            <a:spLocks noChangeArrowheads="1"/>
          </p:cNvSpPr>
          <p:nvPr/>
        </p:nvSpPr>
        <p:spPr>
          <a:xfrm>
            <a:off x="1051992" y="764704"/>
            <a:ext cx="7704856" cy="4114800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/>
          <a:p>
            <a:pPr marL="457200" lvl="0" indent="-457200">
              <a:lnSpc>
                <a:spcPct val="150000"/>
              </a:lnSpc>
              <a:spcBef>
                <a:spcPct val="20000"/>
              </a:spcBef>
              <a:buFont typeface="Arial" panose="020B0604020202020204" pitchFamily="34" charset="0"/>
              <a:buChar char="•"/>
              <a:defRPr/>
            </a:pPr>
            <a:r>
              <a:rPr lang="en-US" sz="2400" dirty="0"/>
              <a:t>Name some classic problem of synchronization?</a:t>
            </a:r>
          </a:p>
          <a:p>
            <a:pPr marL="457200" lvl="0" indent="-457200">
              <a:lnSpc>
                <a:spcPct val="150000"/>
              </a:lnSpc>
              <a:spcBef>
                <a:spcPct val="20000"/>
              </a:spcBef>
              <a:buFont typeface="Arial" panose="020B0604020202020204" pitchFamily="34" charset="0"/>
              <a:buChar char="•"/>
              <a:defRPr/>
            </a:pPr>
            <a:r>
              <a:rPr lang="en-US" sz="2400" dirty="0"/>
              <a:t>Define entry section and exit section?</a:t>
            </a:r>
          </a:p>
          <a:p>
            <a:pPr marL="457200" indent="-457200">
              <a:lnSpc>
                <a:spcPct val="150000"/>
              </a:lnSpc>
              <a:spcBef>
                <a:spcPct val="20000"/>
              </a:spcBef>
              <a:buFont typeface="Arial" panose="020B0604020202020204" pitchFamily="34" charset="0"/>
              <a:buChar char="•"/>
              <a:defRPr/>
            </a:pPr>
            <a:r>
              <a:rPr lang="en-US" sz="2400" dirty="0"/>
              <a:t>What are the requirements that a solution to the critical section problem must satisfy?</a:t>
            </a:r>
          </a:p>
          <a:p>
            <a:pPr marL="457200" indent="-457200">
              <a:lnSpc>
                <a:spcPct val="150000"/>
              </a:lnSpc>
              <a:spcBef>
                <a:spcPct val="20000"/>
              </a:spcBef>
              <a:buFont typeface="Arial" panose="020B0604020202020204" pitchFamily="34" charset="0"/>
              <a:buChar char="•"/>
              <a:defRPr/>
            </a:pPr>
            <a:r>
              <a:rPr lang="en-US" sz="2400" dirty="0"/>
              <a:t>Explain two primitive semaphore operations?</a:t>
            </a:r>
            <a:endParaRPr lang="en-IN" sz="2400" dirty="0"/>
          </a:p>
        </p:txBody>
      </p:sp>
      <p:sp>
        <p:nvSpPr>
          <p:cNvPr id="16" name="Rectangle 3"/>
          <p:cNvSpPr txBox="1">
            <a:spLocks noChangeArrowheads="1"/>
          </p:cNvSpPr>
          <p:nvPr/>
        </p:nvSpPr>
        <p:spPr>
          <a:xfrm>
            <a:off x="899592" y="1412776"/>
            <a:ext cx="7632848" cy="4419600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/>
          <a:p>
            <a:pPr marL="342900" marR="0" lvl="0" indent="-342900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defRPr/>
            </a:pPr>
            <a:endParaRPr kumimoji="0" lang="en-US" sz="2200" b="0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11" name="Slide Number Placeholder 10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t>125</a:t>
            </a:fld>
            <a:endParaRPr lang="en-US"/>
          </a:p>
        </p:txBody>
      </p:sp>
      <p:pic>
        <p:nvPicPr>
          <p:cNvPr id="2" name="Picture 1" descr="A black and red logo&#10;&#10;Description automatically generated">
            <a:extLst>
              <a:ext uri="{FF2B5EF4-FFF2-40B4-BE49-F238E27FC236}">
                <a16:creationId xmlns:a16="http://schemas.microsoft.com/office/drawing/2014/main" id="{A428D40B-EABC-4EF8-03C2-E4374EECDA4C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-27384"/>
            <a:ext cx="1657350" cy="710452"/>
          </a:xfrm>
          <a:prstGeom prst="rect">
            <a:avLst/>
          </a:prstGeom>
        </p:spPr>
      </p:pic>
      <p:sp>
        <p:nvSpPr>
          <p:cNvPr id="3" name="Title 1">
            <a:extLst>
              <a:ext uri="{FF2B5EF4-FFF2-40B4-BE49-F238E27FC236}">
                <a16:creationId xmlns:a16="http://schemas.microsoft.com/office/drawing/2014/main" id="{50401265-B998-DEEE-2F85-84A4376EB42C}"/>
              </a:ext>
            </a:extLst>
          </p:cNvPr>
          <p:cNvSpPr txBox="1">
            <a:spLocks/>
          </p:cNvSpPr>
          <p:nvPr/>
        </p:nvSpPr>
        <p:spPr>
          <a:xfrm>
            <a:off x="2171700" y="116632"/>
            <a:ext cx="5829300" cy="514349"/>
          </a:xfrm>
          <a:prstGeom prst="rect">
            <a:avLst/>
          </a:prstGeom>
          <a:gradFill flip="none" rotWithShape="1">
            <a:gsLst>
              <a:gs pos="0">
                <a:srgbClr val="FF0000">
                  <a:tint val="66000"/>
                  <a:satMod val="160000"/>
                </a:srgbClr>
              </a:gs>
              <a:gs pos="50000">
                <a:srgbClr val="FF0000">
                  <a:tint val="44500"/>
                  <a:satMod val="160000"/>
                </a:srgbClr>
              </a:gs>
              <a:gs pos="100000">
                <a:srgbClr val="FF0000">
                  <a:tint val="23500"/>
                  <a:satMod val="160000"/>
                </a:srgbClr>
              </a:gs>
            </a:gsLst>
            <a:lin ang="0" scaled="1"/>
            <a:tileRect/>
          </a:gradFill>
        </p:spPr>
        <p:style>
          <a:lnRef idx="1">
            <a:schemeClr val="accent5"/>
          </a:lnRef>
          <a:fillRef idx="2">
            <a:schemeClr val="accent5"/>
          </a:fillRef>
          <a:effectRef idx="1">
            <a:schemeClr val="accent5"/>
          </a:effectRef>
          <a:fontRef idx="minor">
            <a:schemeClr val="dk1"/>
          </a:fontRef>
        </p:style>
        <p:txBody>
          <a:bodyPr vert="horz" lIns="68580" tIns="34290" rIns="68580" bIns="34290" rtlCol="0" anchor="ctr">
            <a:noAutofit/>
          </a:bodyPr>
          <a:lstStyle>
            <a:defPPr>
              <a:defRPr lang="en-US"/>
            </a:defPPr>
            <a:lvl1pPr algn="ctr">
              <a:spcBef>
                <a:spcPct val="0"/>
              </a:spcBef>
              <a:buNone/>
              <a:defRPr sz="2800"/>
            </a:lvl1pPr>
          </a:lstStyle>
          <a:p>
            <a:pPr>
              <a:defRPr/>
            </a:pPr>
            <a:r>
              <a:rPr lang="en-US" sz="2400" dirty="0"/>
              <a:t>Weekly Assignment</a:t>
            </a:r>
            <a:endParaRPr lang="en-US" sz="2100" dirty="0"/>
          </a:p>
        </p:txBody>
      </p:sp>
    </p:spTree>
  </p:cSld>
  <p:clrMapOvr>
    <a:masterClrMapping/>
  </p:clrMapOvr>
  <p:transition>
    <p:wipe dir="r"/>
  </p:transition>
</p:sld>
</file>

<file path=ppt/slides/slide1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D57EEA8-C47B-4691-BDDE-3C5C83A3CDDC}" type="datetime3">
              <a:rPr lang="en-US" smtClean="0"/>
              <a:t>1 September 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2514600" y="6356350"/>
            <a:ext cx="5181600" cy="365125"/>
          </a:xfrm>
        </p:spPr>
        <p:txBody>
          <a:bodyPr/>
          <a:lstStyle/>
          <a:p>
            <a:r>
              <a:rPr lang="en-US"/>
              <a:t>Atul Garg           BCSE0303            Unit- III</a:t>
            </a:r>
            <a:endParaRPr lang="en-US" dirty="0"/>
          </a:p>
        </p:txBody>
      </p:sp>
      <p:sp>
        <p:nvSpPr>
          <p:cNvPr id="12" name="Rectangle 3"/>
          <p:cNvSpPr txBox="1">
            <a:spLocks noChangeArrowheads="1"/>
          </p:cNvSpPr>
          <p:nvPr/>
        </p:nvSpPr>
        <p:spPr>
          <a:xfrm>
            <a:off x="827584" y="980728"/>
            <a:ext cx="7776864" cy="5040560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/>
          <a:p>
            <a:pPr marL="342900" lvl="0" indent="-342900">
              <a:spcBef>
                <a:spcPct val="20000"/>
              </a:spcBef>
              <a:buFont typeface="Arial" panose="020B0604020202020204" pitchFamily="34" charset="0"/>
              <a:buChar char="•"/>
              <a:defRPr/>
            </a:pPr>
            <a:endParaRPr lang="en-IN" sz="2200" dirty="0"/>
          </a:p>
          <a:p>
            <a:pPr marL="342900" indent="-342900">
              <a:spcBef>
                <a:spcPct val="20000"/>
              </a:spcBef>
              <a:defRPr/>
            </a:pPr>
            <a:r>
              <a:rPr lang="en-US" sz="2200" dirty="0" err="1"/>
              <a:t>Youtube</a:t>
            </a:r>
            <a:r>
              <a:rPr lang="en-US" sz="2200" dirty="0"/>
              <a:t>/other  Video Links</a:t>
            </a:r>
          </a:p>
          <a:p>
            <a:pPr marL="342900" indent="-342900">
              <a:spcBef>
                <a:spcPct val="20000"/>
              </a:spcBef>
              <a:defRPr/>
            </a:pPr>
            <a:endParaRPr lang="en-US" sz="2200" dirty="0"/>
          </a:p>
          <a:p>
            <a:pPr marL="342900" indent="-342900">
              <a:spcBef>
                <a:spcPct val="20000"/>
              </a:spcBef>
              <a:buFont typeface="Arial" panose="020B0604020202020204" pitchFamily="34" charset="0"/>
              <a:buChar char="•"/>
              <a:defRPr/>
            </a:pPr>
            <a:r>
              <a:rPr lang="en-IN" sz="2400" dirty="0">
                <a:hlinkClick r:id="rId2"/>
              </a:rPr>
              <a:t>https://www.youtube.com/watch?v=_zOTMOubT1M</a:t>
            </a:r>
            <a:endParaRPr lang="en-IN" sz="2400" dirty="0"/>
          </a:p>
          <a:p>
            <a:pPr marL="342900" indent="-342900">
              <a:spcBef>
                <a:spcPct val="20000"/>
              </a:spcBef>
              <a:buFont typeface="Arial" panose="020B0604020202020204" pitchFamily="34" charset="0"/>
              <a:buChar char="•"/>
              <a:defRPr/>
            </a:pPr>
            <a:r>
              <a:rPr lang="en-IN" sz="2400" dirty="0">
                <a:hlinkClick r:id="rId3"/>
              </a:rPr>
              <a:t>https://www.youtube.com/playlist?list=PLmXKhU9FNesSFvj6gASuWmQd23Ul5omtD</a:t>
            </a:r>
            <a:endParaRPr lang="en-IN" sz="2400" dirty="0"/>
          </a:p>
          <a:p>
            <a:pPr marL="342900" lvl="0" indent="-342900">
              <a:spcBef>
                <a:spcPct val="20000"/>
              </a:spcBef>
              <a:buFont typeface="Arial" panose="020B0604020202020204" pitchFamily="34" charset="0"/>
              <a:buChar char="•"/>
              <a:defRPr/>
            </a:pPr>
            <a:r>
              <a:rPr lang="en-IN" sz="2400" dirty="0">
                <a:hlinkClick r:id="rId4"/>
              </a:rPr>
              <a:t>https://www.youtube.com/watch?v=x_UpLHXF9dU</a:t>
            </a:r>
            <a:endParaRPr lang="en-IN" sz="2400" dirty="0"/>
          </a:p>
          <a:p>
            <a:pPr marL="342900" lvl="0" indent="-342900">
              <a:spcBef>
                <a:spcPct val="20000"/>
              </a:spcBef>
              <a:buFont typeface="Arial" panose="020B0604020202020204" pitchFamily="34" charset="0"/>
              <a:buChar char="•"/>
              <a:defRPr/>
            </a:pPr>
            <a:r>
              <a:rPr lang="en-IN" sz="2400" dirty="0">
                <a:hlinkClick r:id="rId5"/>
              </a:rPr>
              <a:t>https://www.youtube.com/watch?v=cviEfwtdcEE</a:t>
            </a:r>
            <a:endParaRPr lang="en-IN" sz="2400" dirty="0"/>
          </a:p>
          <a:p>
            <a:pPr marL="342900" lvl="0" indent="-342900">
              <a:spcBef>
                <a:spcPct val="20000"/>
              </a:spcBef>
              <a:buFont typeface="Arial" panose="020B0604020202020204" pitchFamily="34" charset="0"/>
              <a:buChar char="•"/>
              <a:defRPr/>
            </a:pPr>
            <a:r>
              <a:rPr lang="en-IN" sz="2200" u="sng" dirty="0">
                <a:hlinkClick r:id="rId6"/>
              </a:rPr>
              <a:t>https://nptel.ac.in/courses/106108101</a:t>
            </a:r>
            <a:endParaRPr kumimoji="0" lang="en-US" sz="2200" b="1" i="0" u="sng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8" name="Slide Number Placeholder 7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t>126</a:t>
            </a:fld>
            <a:endParaRPr lang="en-US"/>
          </a:p>
        </p:txBody>
      </p:sp>
      <p:pic>
        <p:nvPicPr>
          <p:cNvPr id="2" name="Picture 1" descr="A black and red logo&#10;&#10;Description automatically generated">
            <a:extLst>
              <a:ext uri="{FF2B5EF4-FFF2-40B4-BE49-F238E27FC236}">
                <a16:creationId xmlns:a16="http://schemas.microsoft.com/office/drawing/2014/main" id="{3A2FDCEB-10DD-1874-BCCB-BFA63D9B2B0F}"/>
              </a:ext>
            </a:extLst>
          </p:cNvPr>
          <p:cNvPicPr>
            <a:picLocks noChangeAspect="1"/>
          </p:cNvPicPr>
          <p:nvPr/>
        </p:nvPicPr>
        <p:blipFill>
          <a:blip r:embed="rId7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-27384"/>
            <a:ext cx="1657350" cy="710452"/>
          </a:xfrm>
          <a:prstGeom prst="rect">
            <a:avLst/>
          </a:prstGeom>
        </p:spPr>
      </p:pic>
      <p:sp>
        <p:nvSpPr>
          <p:cNvPr id="3" name="Title 1">
            <a:extLst>
              <a:ext uri="{FF2B5EF4-FFF2-40B4-BE49-F238E27FC236}">
                <a16:creationId xmlns:a16="http://schemas.microsoft.com/office/drawing/2014/main" id="{3177FD4B-AEE6-F2DC-4753-B0FACFE14CF0}"/>
              </a:ext>
            </a:extLst>
          </p:cNvPr>
          <p:cNvSpPr txBox="1">
            <a:spLocks/>
          </p:cNvSpPr>
          <p:nvPr/>
        </p:nvSpPr>
        <p:spPr>
          <a:xfrm>
            <a:off x="2171700" y="116632"/>
            <a:ext cx="5829300" cy="514349"/>
          </a:xfrm>
          <a:prstGeom prst="rect">
            <a:avLst/>
          </a:prstGeom>
          <a:gradFill flip="none" rotWithShape="1">
            <a:gsLst>
              <a:gs pos="0">
                <a:srgbClr val="FF0000">
                  <a:tint val="66000"/>
                  <a:satMod val="160000"/>
                </a:srgbClr>
              </a:gs>
              <a:gs pos="50000">
                <a:srgbClr val="FF0000">
                  <a:tint val="44500"/>
                  <a:satMod val="160000"/>
                </a:srgbClr>
              </a:gs>
              <a:gs pos="100000">
                <a:srgbClr val="FF0000">
                  <a:tint val="23500"/>
                  <a:satMod val="160000"/>
                </a:srgbClr>
              </a:gs>
            </a:gsLst>
            <a:lin ang="0" scaled="1"/>
            <a:tileRect/>
          </a:gradFill>
        </p:spPr>
        <p:style>
          <a:lnRef idx="1">
            <a:schemeClr val="accent5"/>
          </a:lnRef>
          <a:fillRef idx="2">
            <a:schemeClr val="accent5"/>
          </a:fillRef>
          <a:effectRef idx="1">
            <a:schemeClr val="accent5"/>
          </a:effectRef>
          <a:fontRef idx="minor">
            <a:schemeClr val="dk1"/>
          </a:fontRef>
        </p:style>
        <p:txBody>
          <a:bodyPr vert="horz" lIns="68580" tIns="34290" rIns="68580" bIns="34290" rtlCol="0" anchor="ctr">
            <a:noAutofit/>
          </a:bodyPr>
          <a:lstStyle>
            <a:defPPr>
              <a:defRPr lang="en-US"/>
            </a:defPPr>
            <a:lvl1pPr algn="ctr">
              <a:spcBef>
                <a:spcPct val="0"/>
              </a:spcBef>
              <a:buNone/>
              <a:defRPr sz="2800"/>
            </a:lvl1pPr>
          </a:lstStyle>
          <a:p>
            <a:pPr>
              <a:defRPr/>
            </a:pPr>
            <a:r>
              <a:rPr lang="en-US" sz="2400" dirty="0"/>
              <a:t>Subject videos and Links</a:t>
            </a:r>
            <a:endParaRPr lang="en-US" sz="2100" dirty="0"/>
          </a:p>
        </p:txBody>
      </p:sp>
    </p:spTree>
  </p:cSld>
  <p:clrMapOvr>
    <a:masterClrMapping/>
  </p:clrMapOvr>
  <p:transition>
    <p:wipe dir="r"/>
  </p:transition>
</p:sld>
</file>

<file path=ppt/slides/slide1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61DE94-A3D6-4DF1-9BAD-C4DF7632FC4A}" type="datetime3">
              <a:rPr lang="en-US" smtClean="0"/>
              <a:t>1 September 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2514600" y="6356350"/>
            <a:ext cx="5181600" cy="365125"/>
          </a:xfrm>
        </p:spPr>
        <p:txBody>
          <a:bodyPr/>
          <a:lstStyle/>
          <a:p>
            <a:r>
              <a:rPr lang="en-US"/>
              <a:t>Atul Garg           BCSE0303            Unit- III</a:t>
            </a:r>
            <a:endParaRPr lang="en-US" dirty="0"/>
          </a:p>
        </p:txBody>
      </p:sp>
      <p:sp>
        <p:nvSpPr>
          <p:cNvPr id="12" name="Rectangle 3"/>
          <p:cNvSpPr txBox="1">
            <a:spLocks noChangeArrowheads="1"/>
          </p:cNvSpPr>
          <p:nvPr/>
        </p:nvSpPr>
        <p:spPr>
          <a:xfrm>
            <a:off x="899592" y="1412776"/>
            <a:ext cx="7704856" cy="4114800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/>
          <a:p>
            <a:pPr marL="342900" marR="0" lvl="0" indent="-342900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defRPr/>
            </a:pPr>
            <a:endParaRPr kumimoji="0" lang="en-US" sz="2200" b="0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13" name="Rectangle 3"/>
          <p:cNvSpPr txBox="1">
            <a:spLocks noChangeArrowheads="1"/>
          </p:cNvSpPr>
          <p:nvPr/>
        </p:nvSpPr>
        <p:spPr>
          <a:xfrm>
            <a:off x="1051992" y="764704"/>
            <a:ext cx="7696472" cy="5544616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/>
          <a:p>
            <a:r>
              <a:rPr lang="en-US" sz="2200" dirty="0"/>
              <a:t>1. </a:t>
            </a:r>
            <a:r>
              <a:rPr lang="en-US" sz="2400" dirty="0"/>
              <a:t>Semaphore is a/an _______ to solve the critical section problem.</a:t>
            </a:r>
            <a:br>
              <a:rPr lang="en-US" sz="2400" dirty="0"/>
            </a:br>
            <a:endParaRPr lang="en-IN" sz="2400" dirty="0"/>
          </a:p>
          <a:p>
            <a:pPr marL="457200" lvl="0" indent="-457200" fontAlgn="base">
              <a:buFont typeface="+mj-lt"/>
              <a:buAutoNum type="alphaUcPeriod"/>
            </a:pPr>
            <a:r>
              <a:rPr lang="en-US" sz="2400" dirty="0"/>
              <a:t>hardware for a system</a:t>
            </a:r>
            <a:endParaRPr lang="en-IN" sz="2400" dirty="0"/>
          </a:p>
          <a:p>
            <a:pPr marL="457200" lvl="0" indent="-457200" fontAlgn="base">
              <a:buFont typeface="+mj-lt"/>
              <a:buAutoNum type="alphaUcPeriod"/>
            </a:pPr>
            <a:r>
              <a:rPr lang="en-US" sz="2400" dirty="0"/>
              <a:t>special program for a system</a:t>
            </a:r>
            <a:endParaRPr lang="en-IN" sz="2400" dirty="0"/>
          </a:p>
          <a:p>
            <a:pPr marL="457200" lvl="0" indent="-457200" fontAlgn="base">
              <a:buFont typeface="+mj-lt"/>
              <a:buAutoNum type="alphaUcPeriod"/>
            </a:pPr>
            <a:r>
              <a:rPr lang="en-US" sz="2400" b="1" dirty="0"/>
              <a:t>integer variable</a:t>
            </a:r>
            <a:endParaRPr lang="en-IN" sz="2400" dirty="0"/>
          </a:p>
          <a:p>
            <a:pPr marL="457200" indent="-457200">
              <a:buFont typeface="+mj-lt"/>
              <a:buAutoNum type="alphaUcPeriod"/>
            </a:pPr>
            <a:r>
              <a:rPr lang="en-US" sz="2400" dirty="0"/>
              <a:t>none of the mentioned</a:t>
            </a:r>
          </a:p>
          <a:p>
            <a:pPr marL="457200" indent="-457200">
              <a:buFont typeface="+mj-lt"/>
              <a:buAutoNum type="alphaUcPeriod"/>
            </a:pPr>
            <a:endParaRPr lang="en-IN" sz="2200" dirty="0"/>
          </a:p>
          <a:p>
            <a:r>
              <a:rPr lang="en-IN" sz="2200" dirty="0"/>
              <a:t>2.</a:t>
            </a:r>
            <a:r>
              <a:rPr lang="en-US" sz="2400" dirty="0"/>
              <a:t> What are the two atomic operations permissible on semaphores?</a:t>
            </a:r>
            <a:endParaRPr lang="en-IN" sz="2400" dirty="0"/>
          </a:p>
          <a:p>
            <a:pPr marL="457200" lvl="0" indent="-457200" fontAlgn="base">
              <a:buFont typeface="+mj-lt"/>
              <a:buAutoNum type="alphaUcPeriod"/>
            </a:pPr>
            <a:r>
              <a:rPr lang="en-US" sz="2400" b="1" dirty="0"/>
              <a:t>Wait</a:t>
            </a:r>
            <a:endParaRPr lang="en-IN" sz="2400" dirty="0"/>
          </a:p>
          <a:p>
            <a:pPr marL="457200" lvl="0" indent="-457200" fontAlgn="base">
              <a:buFont typeface="+mj-lt"/>
              <a:buAutoNum type="alphaUcPeriod"/>
            </a:pPr>
            <a:r>
              <a:rPr lang="en-US" sz="2400" dirty="0"/>
              <a:t> Stop</a:t>
            </a:r>
            <a:endParaRPr lang="en-IN" sz="2400" dirty="0"/>
          </a:p>
          <a:p>
            <a:pPr marL="457200" lvl="0" indent="-457200" fontAlgn="base">
              <a:buFont typeface="+mj-lt"/>
              <a:buAutoNum type="alphaUcPeriod"/>
            </a:pPr>
            <a:r>
              <a:rPr lang="en-US" sz="2400" dirty="0"/>
              <a:t> Hold</a:t>
            </a:r>
            <a:endParaRPr lang="en-IN" sz="2400" dirty="0"/>
          </a:p>
          <a:p>
            <a:pPr marL="457200" indent="-457200">
              <a:buFont typeface="+mj-lt"/>
              <a:buAutoNum type="alphaUcPeriod"/>
            </a:pPr>
            <a:r>
              <a:rPr lang="en-US" sz="2400" dirty="0"/>
              <a:t> none of the mentioned</a:t>
            </a:r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t>127</a:t>
            </a:fld>
            <a:endParaRPr lang="en-US"/>
          </a:p>
        </p:txBody>
      </p:sp>
      <p:pic>
        <p:nvPicPr>
          <p:cNvPr id="2" name="Picture 1" descr="A black and red logo&#10;&#10;Description automatically generated">
            <a:extLst>
              <a:ext uri="{FF2B5EF4-FFF2-40B4-BE49-F238E27FC236}">
                <a16:creationId xmlns:a16="http://schemas.microsoft.com/office/drawing/2014/main" id="{714B1172-A67C-B7BA-B760-91143B34369C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-27384"/>
            <a:ext cx="1657350" cy="710452"/>
          </a:xfrm>
          <a:prstGeom prst="rect">
            <a:avLst/>
          </a:prstGeom>
        </p:spPr>
      </p:pic>
      <p:sp>
        <p:nvSpPr>
          <p:cNvPr id="3" name="Title 1">
            <a:extLst>
              <a:ext uri="{FF2B5EF4-FFF2-40B4-BE49-F238E27FC236}">
                <a16:creationId xmlns:a16="http://schemas.microsoft.com/office/drawing/2014/main" id="{18AFFED7-808B-FE9D-B339-1C29DDB1AD3A}"/>
              </a:ext>
            </a:extLst>
          </p:cNvPr>
          <p:cNvSpPr txBox="1">
            <a:spLocks/>
          </p:cNvSpPr>
          <p:nvPr/>
        </p:nvSpPr>
        <p:spPr>
          <a:xfrm>
            <a:off x="2171700" y="116632"/>
            <a:ext cx="5829300" cy="514349"/>
          </a:xfrm>
          <a:prstGeom prst="rect">
            <a:avLst/>
          </a:prstGeom>
          <a:gradFill flip="none" rotWithShape="1">
            <a:gsLst>
              <a:gs pos="0">
                <a:srgbClr val="FF0000">
                  <a:tint val="66000"/>
                  <a:satMod val="160000"/>
                </a:srgbClr>
              </a:gs>
              <a:gs pos="50000">
                <a:srgbClr val="FF0000">
                  <a:tint val="44500"/>
                  <a:satMod val="160000"/>
                </a:srgbClr>
              </a:gs>
              <a:gs pos="100000">
                <a:srgbClr val="FF0000">
                  <a:tint val="23500"/>
                  <a:satMod val="160000"/>
                </a:srgbClr>
              </a:gs>
            </a:gsLst>
            <a:lin ang="0" scaled="1"/>
            <a:tileRect/>
          </a:gradFill>
        </p:spPr>
        <p:style>
          <a:lnRef idx="1">
            <a:schemeClr val="accent5"/>
          </a:lnRef>
          <a:fillRef idx="2">
            <a:schemeClr val="accent5"/>
          </a:fillRef>
          <a:effectRef idx="1">
            <a:schemeClr val="accent5"/>
          </a:effectRef>
          <a:fontRef idx="minor">
            <a:schemeClr val="dk1"/>
          </a:fontRef>
        </p:style>
        <p:txBody>
          <a:bodyPr vert="horz" lIns="68580" tIns="34290" rIns="68580" bIns="34290" rtlCol="0" anchor="ctr">
            <a:noAutofit/>
          </a:bodyPr>
          <a:lstStyle>
            <a:defPPr>
              <a:defRPr lang="en-US"/>
            </a:defPPr>
            <a:lvl1pPr algn="ctr">
              <a:spcBef>
                <a:spcPct val="0"/>
              </a:spcBef>
              <a:buNone/>
              <a:defRPr sz="2800"/>
            </a:lvl1pPr>
          </a:lstStyle>
          <a:p>
            <a:pPr>
              <a:defRPr/>
            </a:pP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schemeClr val="dk1"/>
                </a:solidFill>
                <a:effectLst/>
                <a:uLnTx/>
                <a:uFillTx/>
                <a:ea typeface="+mn-ea"/>
                <a:cs typeface="+mn-cs"/>
              </a:rPr>
              <a:t>MCQs</a:t>
            </a:r>
            <a:endParaRPr lang="en-US" sz="2100" dirty="0"/>
          </a:p>
        </p:txBody>
      </p:sp>
    </p:spTree>
  </p:cSld>
  <p:clrMapOvr>
    <a:masterClrMapping/>
  </p:clrMapOvr>
  <p:transition>
    <p:wipe dir="r"/>
  </p:transition>
</p:sld>
</file>

<file path=ppt/slides/slide1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C6246D4-6950-4E35-92CD-40E27D10F6BD}" type="datetime3">
              <a:rPr lang="en-US" smtClean="0"/>
              <a:t>1 September 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2514600" y="6356350"/>
            <a:ext cx="5181600" cy="365125"/>
          </a:xfrm>
        </p:spPr>
        <p:txBody>
          <a:bodyPr/>
          <a:lstStyle/>
          <a:p>
            <a:r>
              <a:rPr lang="en-US"/>
              <a:t>Atul Garg           BCSE0303            Unit- III</a:t>
            </a:r>
            <a:endParaRPr lang="en-US" dirty="0"/>
          </a:p>
        </p:txBody>
      </p:sp>
      <p:sp>
        <p:nvSpPr>
          <p:cNvPr id="12" name="Rectangle 3"/>
          <p:cNvSpPr txBox="1">
            <a:spLocks noChangeArrowheads="1"/>
          </p:cNvSpPr>
          <p:nvPr/>
        </p:nvSpPr>
        <p:spPr>
          <a:xfrm>
            <a:off x="899592" y="1412776"/>
            <a:ext cx="7704856" cy="4114800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/>
          <a:p>
            <a:pPr marL="342900" marR="0" lvl="0" indent="-342900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defRPr/>
            </a:pPr>
            <a:endParaRPr kumimoji="0" lang="en-US" sz="2200" b="0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13" name="Rectangle 3"/>
          <p:cNvSpPr txBox="1">
            <a:spLocks noChangeArrowheads="1"/>
          </p:cNvSpPr>
          <p:nvPr/>
        </p:nvSpPr>
        <p:spPr>
          <a:xfrm>
            <a:off x="971600" y="836712"/>
            <a:ext cx="7776864" cy="5400600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/>
          <a:p>
            <a:endParaRPr lang="en-US" sz="2200" dirty="0"/>
          </a:p>
          <a:p>
            <a:r>
              <a:rPr lang="en-US" sz="2200" dirty="0"/>
              <a:t>3. Peterson's solution can be applied for how many process?</a:t>
            </a:r>
            <a:endParaRPr lang="en-IN" sz="2200" dirty="0"/>
          </a:p>
          <a:p>
            <a:pPr marL="457200" lvl="0" indent="-457200" fontAlgn="base">
              <a:buFont typeface="+mj-lt"/>
              <a:buAutoNum type="alphaUcPeriod"/>
            </a:pPr>
            <a:r>
              <a:rPr lang="en-US" sz="2200" dirty="0"/>
              <a:t>4</a:t>
            </a:r>
            <a:endParaRPr lang="en-IN" sz="2200" dirty="0"/>
          </a:p>
          <a:p>
            <a:pPr marL="457200" lvl="0" indent="-457200" fontAlgn="base">
              <a:buFont typeface="+mj-lt"/>
              <a:buAutoNum type="alphaUcPeriod"/>
            </a:pPr>
            <a:r>
              <a:rPr lang="en-US" sz="2200" dirty="0"/>
              <a:t>3</a:t>
            </a:r>
            <a:endParaRPr lang="en-IN" sz="2200" dirty="0"/>
          </a:p>
          <a:p>
            <a:pPr marL="457200" lvl="0" indent="-457200" fontAlgn="base">
              <a:buFont typeface="+mj-lt"/>
              <a:buAutoNum type="alphaUcPeriod"/>
            </a:pPr>
            <a:r>
              <a:rPr lang="en-US" sz="2200" b="1" dirty="0"/>
              <a:t>2</a:t>
            </a:r>
            <a:endParaRPr lang="en-IN" sz="2200" dirty="0"/>
          </a:p>
          <a:p>
            <a:pPr marL="457200" lvl="0" indent="-457200" fontAlgn="base">
              <a:buFont typeface="+mj-lt"/>
              <a:buAutoNum type="alphaUcPeriod"/>
            </a:pPr>
            <a:r>
              <a:rPr lang="en-US" sz="2200" dirty="0"/>
              <a:t>Any number of processes</a:t>
            </a:r>
          </a:p>
          <a:p>
            <a:pPr marL="457200" indent="-457200"/>
            <a:endParaRPr lang="en-US" sz="2200" dirty="0"/>
          </a:p>
          <a:p>
            <a:r>
              <a:rPr lang="en-US" sz="2200" dirty="0"/>
              <a:t>4. Semaphore is a _________ based solution </a:t>
            </a:r>
            <a:endParaRPr lang="en-IN" sz="2200" dirty="0"/>
          </a:p>
          <a:p>
            <a:pPr marL="457200" lvl="0" indent="-457200" fontAlgn="base">
              <a:buFont typeface="+mj-lt"/>
              <a:buAutoNum type="alphaUcPeriod"/>
            </a:pPr>
            <a:r>
              <a:rPr lang="en-US" sz="2200" b="1" dirty="0"/>
              <a:t>Software</a:t>
            </a:r>
            <a:endParaRPr lang="en-IN" sz="2200" dirty="0"/>
          </a:p>
          <a:p>
            <a:pPr marL="457200" lvl="0" indent="-457200" fontAlgn="base">
              <a:buFont typeface="+mj-lt"/>
              <a:buAutoNum type="alphaUcPeriod"/>
            </a:pPr>
            <a:r>
              <a:rPr lang="en-US" sz="2200" dirty="0"/>
              <a:t> Hardware</a:t>
            </a:r>
            <a:endParaRPr lang="en-IN" sz="2200" dirty="0"/>
          </a:p>
          <a:p>
            <a:pPr marL="457200" lvl="0" indent="-457200" fontAlgn="base">
              <a:buFont typeface="+mj-lt"/>
              <a:buAutoNum type="alphaUcPeriod"/>
            </a:pPr>
            <a:r>
              <a:rPr lang="en-US" sz="2200" dirty="0"/>
              <a:t>Both software and hardware</a:t>
            </a:r>
            <a:endParaRPr lang="en-IN" sz="2200" dirty="0"/>
          </a:p>
          <a:p>
            <a:pPr marL="457200" indent="-457200">
              <a:buFont typeface="+mj-lt"/>
              <a:buAutoNum type="alphaUcPeriod"/>
            </a:pPr>
            <a:r>
              <a:rPr lang="en-US" sz="2200" dirty="0"/>
              <a:t>None</a:t>
            </a:r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t>128</a:t>
            </a:fld>
            <a:endParaRPr lang="en-US"/>
          </a:p>
        </p:txBody>
      </p:sp>
      <p:pic>
        <p:nvPicPr>
          <p:cNvPr id="2" name="Picture 1" descr="A black and red logo&#10;&#10;Description automatically generated">
            <a:extLst>
              <a:ext uri="{FF2B5EF4-FFF2-40B4-BE49-F238E27FC236}">
                <a16:creationId xmlns:a16="http://schemas.microsoft.com/office/drawing/2014/main" id="{2A31890D-925B-C0FE-F72E-F6D76E33C097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-27384"/>
            <a:ext cx="1657350" cy="710452"/>
          </a:xfrm>
          <a:prstGeom prst="rect">
            <a:avLst/>
          </a:prstGeom>
        </p:spPr>
      </p:pic>
      <p:sp>
        <p:nvSpPr>
          <p:cNvPr id="3" name="Title 1">
            <a:extLst>
              <a:ext uri="{FF2B5EF4-FFF2-40B4-BE49-F238E27FC236}">
                <a16:creationId xmlns:a16="http://schemas.microsoft.com/office/drawing/2014/main" id="{238F640A-510A-048C-F212-7D185D14D5DD}"/>
              </a:ext>
            </a:extLst>
          </p:cNvPr>
          <p:cNvSpPr txBox="1">
            <a:spLocks/>
          </p:cNvSpPr>
          <p:nvPr/>
        </p:nvSpPr>
        <p:spPr>
          <a:xfrm>
            <a:off x="2171700" y="116632"/>
            <a:ext cx="5829300" cy="514349"/>
          </a:xfrm>
          <a:prstGeom prst="rect">
            <a:avLst/>
          </a:prstGeom>
          <a:gradFill flip="none" rotWithShape="1">
            <a:gsLst>
              <a:gs pos="0">
                <a:srgbClr val="FF0000">
                  <a:tint val="66000"/>
                  <a:satMod val="160000"/>
                </a:srgbClr>
              </a:gs>
              <a:gs pos="50000">
                <a:srgbClr val="FF0000">
                  <a:tint val="44500"/>
                  <a:satMod val="160000"/>
                </a:srgbClr>
              </a:gs>
              <a:gs pos="100000">
                <a:srgbClr val="FF0000">
                  <a:tint val="23500"/>
                  <a:satMod val="160000"/>
                </a:srgbClr>
              </a:gs>
            </a:gsLst>
            <a:lin ang="0" scaled="1"/>
            <a:tileRect/>
          </a:gradFill>
        </p:spPr>
        <p:style>
          <a:lnRef idx="1">
            <a:schemeClr val="accent5"/>
          </a:lnRef>
          <a:fillRef idx="2">
            <a:schemeClr val="accent5"/>
          </a:fillRef>
          <a:effectRef idx="1">
            <a:schemeClr val="accent5"/>
          </a:effectRef>
          <a:fontRef idx="minor">
            <a:schemeClr val="dk1"/>
          </a:fontRef>
        </p:style>
        <p:txBody>
          <a:bodyPr vert="horz" lIns="68580" tIns="34290" rIns="68580" bIns="34290" rtlCol="0" anchor="ctr">
            <a:noAutofit/>
          </a:bodyPr>
          <a:lstStyle>
            <a:defPPr>
              <a:defRPr lang="en-US"/>
            </a:defPPr>
            <a:lvl1pPr algn="ctr">
              <a:spcBef>
                <a:spcPct val="0"/>
              </a:spcBef>
              <a:buNone/>
              <a:defRPr sz="2800"/>
            </a:lvl1pPr>
          </a:lstStyle>
          <a:p>
            <a:pPr>
              <a:defRPr/>
            </a:pP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schemeClr val="dk1"/>
                </a:solidFill>
                <a:effectLst/>
                <a:uLnTx/>
                <a:uFillTx/>
                <a:ea typeface="+mn-ea"/>
                <a:cs typeface="+mn-cs"/>
              </a:rPr>
              <a:t>MCQs</a:t>
            </a:r>
            <a:endParaRPr lang="en-US" sz="2100" dirty="0"/>
          </a:p>
        </p:txBody>
      </p:sp>
    </p:spTree>
  </p:cSld>
  <p:clrMapOvr>
    <a:masterClrMapping/>
  </p:clrMapOvr>
  <p:transition>
    <p:wipe dir="r"/>
  </p:transition>
</p:sld>
</file>

<file path=ppt/slides/slide1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4317050-5903-4719-A987-6EF4EA5C932B}" type="datetime3">
              <a:rPr lang="en-US" smtClean="0"/>
              <a:t>1 September 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2514600" y="6356350"/>
            <a:ext cx="5181600" cy="365125"/>
          </a:xfrm>
        </p:spPr>
        <p:txBody>
          <a:bodyPr/>
          <a:lstStyle/>
          <a:p>
            <a:r>
              <a:rPr lang="en-US"/>
              <a:t>Atul Garg           BCSE0303            Unit- III</a:t>
            </a:r>
            <a:endParaRPr lang="en-US" dirty="0"/>
          </a:p>
        </p:txBody>
      </p:sp>
      <p:sp>
        <p:nvSpPr>
          <p:cNvPr id="12" name="Rectangle 3"/>
          <p:cNvSpPr txBox="1">
            <a:spLocks noChangeArrowheads="1"/>
          </p:cNvSpPr>
          <p:nvPr/>
        </p:nvSpPr>
        <p:spPr>
          <a:xfrm>
            <a:off x="899592" y="1412776"/>
            <a:ext cx="7704856" cy="4114800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/>
          <a:p>
            <a:pPr marL="342900" marR="0" lvl="0" indent="-342900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defRPr/>
            </a:pPr>
            <a:endParaRPr kumimoji="0" lang="en-US" sz="2200" b="0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13" name="Rectangle 3"/>
          <p:cNvSpPr txBox="1">
            <a:spLocks noChangeArrowheads="1"/>
          </p:cNvSpPr>
          <p:nvPr/>
        </p:nvSpPr>
        <p:spPr>
          <a:xfrm>
            <a:off x="1051992" y="836712"/>
            <a:ext cx="7696472" cy="5544616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/>
          <a:p>
            <a:r>
              <a:rPr lang="en-US" sz="2200" dirty="0"/>
              <a:t>5. The switching of the CPU from one process or thread to another is called ____________</a:t>
            </a:r>
            <a:endParaRPr lang="en-IN" sz="2200" dirty="0"/>
          </a:p>
          <a:p>
            <a:pPr marL="457200" lvl="0" indent="-457200">
              <a:buFont typeface="+mj-lt"/>
              <a:buAutoNum type="alphaUcPeriod"/>
            </a:pPr>
            <a:r>
              <a:rPr lang="en-US" sz="2200" dirty="0"/>
              <a:t>process switch</a:t>
            </a:r>
            <a:endParaRPr lang="en-IN" sz="2200" dirty="0"/>
          </a:p>
          <a:p>
            <a:pPr marL="457200" lvl="0" indent="-457200">
              <a:buFont typeface="+mj-lt"/>
              <a:buAutoNum type="alphaUcPeriod"/>
            </a:pPr>
            <a:r>
              <a:rPr lang="en-US" sz="2200" dirty="0"/>
              <a:t> task switch</a:t>
            </a:r>
            <a:endParaRPr lang="en-IN" sz="2200" dirty="0"/>
          </a:p>
          <a:p>
            <a:pPr marL="457200" lvl="0" indent="-457200">
              <a:buFont typeface="+mj-lt"/>
              <a:buAutoNum type="alphaUcPeriod"/>
            </a:pPr>
            <a:r>
              <a:rPr lang="en-US" sz="2200" dirty="0"/>
              <a:t> context switch</a:t>
            </a:r>
            <a:endParaRPr lang="en-IN" sz="2200" dirty="0"/>
          </a:p>
          <a:p>
            <a:pPr marL="457200" indent="-457200">
              <a:buFont typeface="+mj-lt"/>
              <a:buAutoNum type="alphaUcPeriod"/>
            </a:pPr>
            <a:r>
              <a:rPr lang="en-US" sz="2200" dirty="0"/>
              <a:t> </a:t>
            </a:r>
            <a:r>
              <a:rPr lang="en-US" sz="2200" b="1" dirty="0"/>
              <a:t>all of the mentioned</a:t>
            </a:r>
          </a:p>
          <a:p>
            <a:pPr marL="457200" indent="-457200">
              <a:buFont typeface="+mj-lt"/>
              <a:buAutoNum type="alphaUcPeriod"/>
            </a:pPr>
            <a:endParaRPr lang="en-US" sz="2200" dirty="0"/>
          </a:p>
          <a:p>
            <a:r>
              <a:rPr lang="en-US" sz="2200" dirty="0"/>
              <a:t>6. If no cycle exists in the resource allocation graph ____________</a:t>
            </a:r>
            <a:endParaRPr lang="en-IN" sz="2200" dirty="0"/>
          </a:p>
          <a:p>
            <a:pPr marL="457200" lvl="0" indent="-457200">
              <a:buFont typeface="+mj-lt"/>
              <a:buAutoNum type="alphaUcPeriod"/>
            </a:pPr>
            <a:r>
              <a:rPr lang="en-US" sz="2200" dirty="0"/>
              <a:t>then the system will not be in a safe state</a:t>
            </a:r>
            <a:endParaRPr lang="en-IN" sz="2200" dirty="0"/>
          </a:p>
          <a:p>
            <a:pPr marL="457200" lvl="0" indent="-457200">
              <a:buFont typeface="+mj-lt"/>
              <a:buAutoNum type="alphaUcPeriod"/>
            </a:pPr>
            <a:r>
              <a:rPr lang="en-US" sz="2200" dirty="0"/>
              <a:t> </a:t>
            </a:r>
            <a:r>
              <a:rPr lang="en-US" sz="2200" b="1" dirty="0"/>
              <a:t>then the system will be in a safe state</a:t>
            </a:r>
            <a:endParaRPr lang="en-IN" sz="2200" dirty="0"/>
          </a:p>
          <a:p>
            <a:pPr marL="457200" lvl="0" indent="-457200">
              <a:buFont typeface="+mj-lt"/>
              <a:buAutoNum type="alphaUcPeriod"/>
            </a:pPr>
            <a:r>
              <a:rPr lang="en-US" sz="2200" dirty="0"/>
              <a:t> all of the mentioned</a:t>
            </a:r>
            <a:endParaRPr lang="en-IN" sz="2200" dirty="0"/>
          </a:p>
          <a:p>
            <a:pPr marL="457200" indent="-457200">
              <a:buFont typeface="+mj-lt"/>
              <a:buAutoNum type="alphaUcPeriod"/>
            </a:pPr>
            <a:r>
              <a:rPr lang="en-US" sz="2200" dirty="0"/>
              <a:t> none of the mentioned </a:t>
            </a:r>
            <a:endParaRPr lang="en-IN" sz="2200" dirty="0"/>
          </a:p>
        </p:txBody>
      </p:sp>
      <p:sp>
        <p:nvSpPr>
          <p:cNvPr id="10" name="Slide Number Placeholder 9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t>129</a:t>
            </a:fld>
            <a:endParaRPr lang="en-US"/>
          </a:p>
        </p:txBody>
      </p:sp>
      <p:pic>
        <p:nvPicPr>
          <p:cNvPr id="2" name="Picture 1" descr="A black and red logo&#10;&#10;Description automatically generated">
            <a:extLst>
              <a:ext uri="{FF2B5EF4-FFF2-40B4-BE49-F238E27FC236}">
                <a16:creationId xmlns:a16="http://schemas.microsoft.com/office/drawing/2014/main" id="{514D36D5-16B1-744F-A4D4-A28A7AD7AF9C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-27384"/>
            <a:ext cx="1657350" cy="710452"/>
          </a:xfrm>
          <a:prstGeom prst="rect">
            <a:avLst/>
          </a:prstGeom>
        </p:spPr>
      </p:pic>
      <p:sp>
        <p:nvSpPr>
          <p:cNvPr id="3" name="Title 1">
            <a:extLst>
              <a:ext uri="{FF2B5EF4-FFF2-40B4-BE49-F238E27FC236}">
                <a16:creationId xmlns:a16="http://schemas.microsoft.com/office/drawing/2014/main" id="{1E826B3F-1545-C173-3850-F969A7517CFB}"/>
              </a:ext>
            </a:extLst>
          </p:cNvPr>
          <p:cNvSpPr txBox="1">
            <a:spLocks/>
          </p:cNvSpPr>
          <p:nvPr/>
        </p:nvSpPr>
        <p:spPr>
          <a:xfrm>
            <a:off x="2171700" y="116632"/>
            <a:ext cx="5829300" cy="514349"/>
          </a:xfrm>
          <a:prstGeom prst="rect">
            <a:avLst/>
          </a:prstGeom>
          <a:gradFill flip="none" rotWithShape="1">
            <a:gsLst>
              <a:gs pos="0">
                <a:srgbClr val="FF0000">
                  <a:tint val="66000"/>
                  <a:satMod val="160000"/>
                </a:srgbClr>
              </a:gs>
              <a:gs pos="50000">
                <a:srgbClr val="FF0000">
                  <a:tint val="44500"/>
                  <a:satMod val="160000"/>
                </a:srgbClr>
              </a:gs>
              <a:gs pos="100000">
                <a:srgbClr val="FF0000">
                  <a:tint val="23500"/>
                  <a:satMod val="160000"/>
                </a:srgbClr>
              </a:gs>
            </a:gsLst>
            <a:lin ang="0" scaled="1"/>
            <a:tileRect/>
          </a:gradFill>
        </p:spPr>
        <p:style>
          <a:lnRef idx="1">
            <a:schemeClr val="accent5"/>
          </a:lnRef>
          <a:fillRef idx="2">
            <a:schemeClr val="accent5"/>
          </a:fillRef>
          <a:effectRef idx="1">
            <a:schemeClr val="accent5"/>
          </a:effectRef>
          <a:fontRef idx="minor">
            <a:schemeClr val="dk1"/>
          </a:fontRef>
        </p:style>
        <p:txBody>
          <a:bodyPr vert="horz" lIns="68580" tIns="34290" rIns="68580" bIns="34290" rtlCol="0" anchor="ctr">
            <a:noAutofit/>
          </a:bodyPr>
          <a:lstStyle>
            <a:defPPr>
              <a:defRPr lang="en-US"/>
            </a:defPPr>
            <a:lvl1pPr algn="ctr">
              <a:spcBef>
                <a:spcPct val="0"/>
              </a:spcBef>
              <a:buNone/>
              <a:defRPr sz="2800"/>
            </a:lvl1pPr>
          </a:lstStyle>
          <a:p>
            <a:pPr>
              <a:defRPr/>
            </a:pP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schemeClr val="dk1"/>
                </a:solidFill>
                <a:effectLst/>
                <a:uLnTx/>
                <a:uFillTx/>
                <a:ea typeface="+mn-ea"/>
                <a:cs typeface="+mn-cs"/>
              </a:rPr>
              <a:t>MCQs</a:t>
            </a:r>
            <a:endParaRPr lang="en-US" sz="2100" dirty="0"/>
          </a:p>
        </p:txBody>
      </p:sp>
    </p:spTree>
  </p:cSld>
  <p:clrMapOvr>
    <a:masterClrMapping/>
  </p:clrMapOvr>
  <p:transition>
    <p:wipe dir="r"/>
  </p:transition>
</p:sld>
</file>

<file path=ppt/slides/slide1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110921B-1632-45F9-A6AD-04EDF5780ECA}" type="datetime3">
              <a:rPr lang="en-US" smtClean="0"/>
              <a:t>1 September 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2571736" y="6286520"/>
            <a:ext cx="5181600" cy="365125"/>
          </a:xfrm>
        </p:spPr>
        <p:txBody>
          <a:bodyPr/>
          <a:lstStyle/>
          <a:p>
            <a:r>
              <a:rPr lang="en-US"/>
              <a:t>Atul Garg           BCSE0303            Unit- III</a:t>
            </a:r>
            <a:endParaRPr lang="en-US" dirty="0"/>
          </a:p>
        </p:txBody>
      </p:sp>
      <p:sp>
        <p:nvSpPr>
          <p:cNvPr id="12" name="Rectangle 3"/>
          <p:cNvSpPr txBox="1">
            <a:spLocks noChangeArrowheads="1"/>
          </p:cNvSpPr>
          <p:nvPr/>
        </p:nvSpPr>
        <p:spPr>
          <a:xfrm>
            <a:off x="899592" y="1412776"/>
            <a:ext cx="7704856" cy="4114800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/>
          <a:p>
            <a:pPr marL="342900" marR="0" lvl="0" indent="-342900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defRPr/>
            </a:pPr>
            <a:endParaRPr kumimoji="0" lang="en-US" sz="2200" b="0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13" name="Rectangle 3"/>
          <p:cNvSpPr txBox="1">
            <a:spLocks noChangeArrowheads="1"/>
          </p:cNvSpPr>
          <p:nvPr/>
        </p:nvSpPr>
        <p:spPr>
          <a:xfrm>
            <a:off x="899592" y="764704"/>
            <a:ext cx="7488832" cy="5472608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/>
          <a:p>
            <a:r>
              <a:rPr lang="en-US" sz="2200" dirty="0"/>
              <a:t>7. The dining – philosophers problem will occur in case of ____________</a:t>
            </a:r>
            <a:endParaRPr lang="en-IN" sz="2200" dirty="0"/>
          </a:p>
          <a:p>
            <a:pPr lvl="0" fontAlgn="base"/>
            <a:r>
              <a:rPr lang="en-US" sz="2200" dirty="0"/>
              <a:t> </a:t>
            </a:r>
            <a:endParaRPr lang="en-IN" sz="2200" dirty="0"/>
          </a:p>
          <a:p>
            <a:pPr lvl="0"/>
            <a:r>
              <a:rPr lang="en-US" sz="2200" b="1" dirty="0"/>
              <a:t>5 philosophers and 5 chopsticks</a:t>
            </a:r>
            <a:endParaRPr lang="en-IN" sz="2200" dirty="0"/>
          </a:p>
          <a:p>
            <a:pPr lvl="0"/>
            <a:r>
              <a:rPr lang="en-US" sz="2200" dirty="0"/>
              <a:t>4 philosophers and 5 chopsticks</a:t>
            </a:r>
            <a:endParaRPr lang="en-IN" sz="2200" dirty="0"/>
          </a:p>
          <a:p>
            <a:pPr lvl="0"/>
            <a:r>
              <a:rPr lang="en-US" sz="2200" dirty="0"/>
              <a:t>3 philosophers and 5 chopsticks</a:t>
            </a:r>
            <a:endParaRPr lang="en-IN" sz="2200" dirty="0"/>
          </a:p>
          <a:p>
            <a:r>
              <a:rPr lang="en-US" sz="2200" dirty="0"/>
              <a:t>6 philosophers and 5 chopstick</a:t>
            </a:r>
          </a:p>
          <a:p>
            <a:endParaRPr lang="en-US" sz="2200" dirty="0"/>
          </a:p>
          <a:p>
            <a:r>
              <a:rPr lang="en-US" sz="2200" dirty="0"/>
              <a:t>8. In the bounded buffer problem ____________</a:t>
            </a:r>
            <a:endParaRPr lang="en-IN" sz="2200" dirty="0"/>
          </a:p>
          <a:p>
            <a:pPr lvl="0" fontAlgn="base"/>
            <a:r>
              <a:rPr lang="en-US" sz="2200" dirty="0"/>
              <a:t> </a:t>
            </a:r>
            <a:endParaRPr lang="en-IN" sz="2200" dirty="0"/>
          </a:p>
          <a:p>
            <a:pPr marL="457200" lvl="0" indent="-457200">
              <a:buFont typeface="+mj-lt"/>
              <a:buAutoNum type="alphaUcPeriod"/>
            </a:pPr>
            <a:r>
              <a:rPr lang="en-US" sz="2200" dirty="0"/>
              <a:t> there is only one buffer</a:t>
            </a:r>
            <a:endParaRPr lang="en-IN" sz="2200" dirty="0"/>
          </a:p>
          <a:p>
            <a:pPr marL="457200" lvl="0" indent="-457200">
              <a:buFont typeface="+mj-lt"/>
              <a:buAutoNum type="alphaUcPeriod"/>
            </a:pPr>
            <a:r>
              <a:rPr lang="en-US" sz="2200" b="1" dirty="0"/>
              <a:t>there are n buffers ( n being greater than one but finite)</a:t>
            </a:r>
            <a:endParaRPr lang="en-IN" sz="2200" dirty="0"/>
          </a:p>
          <a:p>
            <a:pPr marL="457200" lvl="0" indent="-457200">
              <a:buFont typeface="+mj-lt"/>
              <a:buAutoNum type="alphaUcPeriod"/>
            </a:pPr>
            <a:r>
              <a:rPr lang="en-US" sz="2200" dirty="0"/>
              <a:t>there are infinite buffers</a:t>
            </a:r>
            <a:endParaRPr lang="en-IN" sz="2200" dirty="0"/>
          </a:p>
          <a:p>
            <a:pPr marL="457200" indent="-457200">
              <a:buFont typeface="+mj-lt"/>
              <a:buAutoNum type="alphaUcPeriod"/>
            </a:pPr>
            <a:r>
              <a:rPr lang="en-US" sz="2200" dirty="0"/>
              <a:t>the buffer size is bounded</a:t>
            </a:r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t>130</a:t>
            </a:fld>
            <a:endParaRPr lang="en-US"/>
          </a:p>
        </p:txBody>
      </p:sp>
      <p:pic>
        <p:nvPicPr>
          <p:cNvPr id="2" name="Picture 1" descr="A black and red logo&#10;&#10;Description automatically generated">
            <a:extLst>
              <a:ext uri="{FF2B5EF4-FFF2-40B4-BE49-F238E27FC236}">
                <a16:creationId xmlns:a16="http://schemas.microsoft.com/office/drawing/2014/main" id="{78C64F1D-ADD4-015C-8F1F-23855714EF11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-27384"/>
            <a:ext cx="1657350" cy="710452"/>
          </a:xfrm>
          <a:prstGeom prst="rect">
            <a:avLst/>
          </a:prstGeom>
        </p:spPr>
      </p:pic>
      <p:sp>
        <p:nvSpPr>
          <p:cNvPr id="3" name="Title 1">
            <a:extLst>
              <a:ext uri="{FF2B5EF4-FFF2-40B4-BE49-F238E27FC236}">
                <a16:creationId xmlns:a16="http://schemas.microsoft.com/office/drawing/2014/main" id="{7A24EA3E-6096-B7A3-C1C9-95FA861A8685}"/>
              </a:ext>
            </a:extLst>
          </p:cNvPr>
          <p:cNvSpPr txBox="1">
            <a:spLocks/>
          </p:cNvSpPr>
          <p:nvPr/>
        </p:nvSpPr>
        <p:spPr>
          <a:xfrm>
            <a:off x="2171700" y="116632"/>
            <a:ext cx="5829300" cy="514349"/>
          </a:xfrm>
          <a:prstGeom prst="rect">
            <a:avLst/>
          </a:prstGeom>
          <a:gradFill flip="none" rotWithShape="1">
            <a:gsLst>
              <a:gs pos="0">
                <a:srgbClr val="FF0000">
                  <a:tint val="66000"/>
                  <a:satMod val="160000"/>
                </a:srgbClr>
              </a:gs>
              <a:gs pos="50000">
                <a:srgbClr val="FF0000">
                  <a:tint val="44500"/>
                  <a:satMod val="160000"/>
                </a:srgbClr>
              </a:gs>
              <a:gs pos="100000">
                <a:srgbClr val="FF0000">
                  <a:tint val="23500"/>
                  <a:satMod val="160000"/>
                </a:srgbClr>
              </a:gs>
            </a:gsLst>
            <a:lin ang="0" scaled="1"/>
            <a:tileRect/>
          </a:gradFill>
        </p:spPr>
        <p:style>
          <a:lnRef idx="1">
            <a:schemeClr val="accent5"/>
          </a:lnRef>
          <a:fillRef idx="2">
            <a:schemeClr val="accent5"/>
          </a:fillRef>
          <a:effectRef idx="1">
            <a:schemeClr val="accent5"/>
          </a:effectRef>
          <a:fontRef idx="minor">
            <a:schemeClr val="dk1"/>
          </a:fontRef>
        </p:style>
        <p:txBody>
          <a:bodyPr vert="horz" lIns="68580" tIns="34290" rIns="68580" bIns="34290" rtlCol="0" anchor="ctr">
            <a:noAutofit/>
          </a:bodyPr>
          <a:lstStyle>
            <a:defPPr>
              <a:defRPr lang="en-US"/>
            </a:defPPr>
            <a:lvl1pPr algn="ctr">
              <a:spcBef>
                <a:spcPct val="0"/>
              </a:spcBef>
              <a:buNone/>
              <a:defRPr sz="2800"/>
            </a:lvl1pPr>
          </a:lstStyle>
          <a:p>
            <a:pPr>
              <a:defRPr/>
            </a:pP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schemeClr val="dk1"/>
                </a:solidFill>
                <a:effectLst/>
                <a:uLnTx/>
                <a:uFillTx/>
                <a:ea typeface="+mn-ea"/>
                <a:cs typeface="+mn-cs"/>
              </a:rPr>
              <a:t>MCQs</a:t>
            </a:r>
            <a:endParaRPr lang="en-US" sz="2100" dirty="0"/>
          </a:p>
        </p:txBody>
      </p:sp>
    </p:spTree>
  </p:cSld>
  <p:clrMapOvr>
    <a:masterClrMapping/>
  </p:clrMapOvr>
  <p:transition>
    <p:wipe dir="r"/>
  </p:transition>
</p:sld>
</file>

<file path=ppt/slides/slide1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6C5F2FD-D267-4B92-80FD-9D70A0CC9639}" type="datetime3">
              <a:rPr lang="en-US" smtClean="0"/>
              <a:t>1 September 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2514600" y="6356350"/>
            <a:ext cx="5181600" cy="365125"/>
          </a:xfrm>
        </p:spPr>
        <p:txBody>
          <a:bodyPr/>
          <a:lstStyle/>
          <a:p>
            <a:r>
              <a:rPr lang="en-US"/>
              <a:t>Atul Garg           BCSE0303            Unit- III</a:t>
            </a:r>
            <a:endParaRPr lang="en-US" dirty="0"/>
          </a:p>
        </p:txBody>
      </p:sp>
      <p:sp>
        <p:nvSpPr>
          <p:cNvPr id="12" name="Rectangle 3"/>
          <p:cNvSpPr txBox="1">
            <a:spLocks noChangeArrowheads="1"/>
          </p:cNvSpPr>
          <p:nvPr/>
        </p:nvSpPr>
        <p:spPr>
          <a:xfrm>
            <a:off x="899592" y="1412776"/>
            <a:ext cx="7704856" cy="4114800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/>
          <a:p>
            <a:pPr marL="342900" marR="0" lvl="0" indent="-342900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defRPr/>
            </a:pPr>
            <a:endParaRPr kumimoji="0" lang="en-US" sz="2200" b="0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13" name="Rectangle 3"/>
          <p:cNvSpPr txBox="1">
            <a:spLocks noChangeArrowheads="1"/>
          </p:cNvSpPr>
          <p:nvPr/>
        </p:nvSpPr>
        <p:spPr>
          <a:xfrm>
            <a:off x="1051992" y="764704"/>
            <a:ext cx="7336432" cy="5472608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/>
          <a:p>
            <a:r>
              <a:rPr lang="en-US" sz="2200" dirty="0"/>
              <a:t>9. To ensure difficulties do not arise in the readers – writers problem _______ are given exclusive access to the shared object.</a:t>
            </a:r>
            <a:endParaRPr lang="en-IN" sz="2200" dirty="0"/>
          </a:p>
          <a:p>
            <a:pPr lvl="0" fontAlgn="base"/>
            <a:r>
              <a:rPr lang="en-US" sz="2200" dirty="0"/>
              <a:t> </a:t>
            </a:r>
            <a:endParaRPr lang="en-IN" sz="2200" dirty="0"/>
          </a:p>
          <a:p>
            <a:pPr marL="457200" lvl="0" indent="-457200">
              <a:buFont typeface="+mj-lt"/>
              <a:buAutoNum type="alphaUcPeriod"/>
            </a:pPr>
            <a:r>
              <a:rPr lang="en-US" sz="2200" dirty="0"/>
              <a:t> Readers</a:t>
            </a:r>
            <a:endParaRPr lang="en-IN" sz="2200" dirty="0"/>
          </a:p>
          <a:p>
            <a:pPr marL="457200" lvl="0" indent="-457200">
              <a:buFont typeface="+mj-lt"/>
              <a:buAutoNum type="alphaUcPeriod"/>
            </a:pPr>
            <a:r>
              <a:rPr lang="en-US" sz="2200" b="1" dirty="0"/>
              <a:t>Writers</a:t>
            </a:r>
            <a:endParaRPr lang="en-IN" sz="2200" dirty="0"/>
          </a:p>
          <a:p>
            <a:pPr marL="457200" lvl="0" indent="-457200">
              <a:buFont typeface="+mj-lt"/>
              <a:buAutoNum type="alphaUcPeriod"/>
            </a:pPr>
            <a:r>
              <a:rPr lang="en-US" sz="2200" dirty="0"/>
              <a:t>readers and writers</a:t>
            </a:r>
            <a:endParaRPr lang="en-IN" sz="2200" dirty="0"/>
          </a:p>
          <a:p>
            <a:pPr marL="457200" indent="-457200">
              <a:buFont typeface="+mj-lt"/>
              <a:buAutoNum type="alphaUcPeriod"/>
            </a:pPr>
            <a:r>
              <a:rPr lang="en-US" sz="2200" dirty="0"/>
              <a:t>none of the mentioned</a:t>
            </a:r>
          </a:p>
          <a:p>
            <a:pPr marL="457200" indent="-457200">
              <a:buFont typeface="+mj-lt"/>
              <a:buAutoNum type="alphaUcPeriod"/>
            </a:pPr>
            <a:endParaRPr lang="en-US" sz="2200" dirty="0"/>
          </a:p>
          <a:p>
            <a:r>
              <a:rPr lang="en-US" sz="2200" dirty="0"/>
              <a:t>10. What are the two kinds of semaphores?</a:t>
            </a:r>
            <a:endParaRPr lang="en-IN" sz="2200" dirty="0"/>
          </a:p>
          <a:p>
            <a:r>
              <a:rPr lang="en-US" sz="2200" dirty="0"/>
              <a:t> </a:t>
            </a:r>
            <a:endParaRPr lang="en-IN" sz="2200" dirty="0"/>
          </a:p>
          <a:p>
            <a:pPr marL="457200" lvl="0" indent="-457200">
              <a:buFont typeface="+mj-lt"/>
              <a:buAutoNum type="alphaUcPeriod"/>
            </a:pPr>
            <a:r>
              <a:rPr lang="en-US" sz="2200" dirty="0" err="1"/>
              <a:t>mutex</a:t>
            </a:r>
            <a:r>
              <a:rPr lang="en-US" sz="2200" dirty="0"/>
              <a:t> &amp; counting</a:t>
            </a:r>
            <a:endParaRPr lang="en-IN" sz="2200" dirty="0"/>
          </a:p>
          <a:p>
            <a:pPr marL="457200" lvl="0" indent="-457200">
              <a:buFont typeface="+mj-lt"/>
              <a:buAutoNum type="alphaUcPeriod"/>
            </a:pPr>
            <a:r>
              <a:rPr lang="en-US" sz="2200" b="1" dirty="0"/>
              <a:t>binary &amp; counting</a:t>
            </a:r>
            <a:endParaRPr lang="en-IN" sz="2200" dirty="0"/>
          </a:p>
          <a:p>
            <a:pPr marL="457200" lvl="0" indent="-457200">
              <a:buFont typeface="+mj-lt"/>
              <a:buAutoNum type="alphaUcPeriod"/>
            </a:pPr>
            <a:r>
              <a:rPr lang="en-US" sz="2200" dirty="0"/>
              <a:t>counting &amp; decimal</a:t>
            </a:r>
            <a:endParaRPr lang="en-IN" sz="2200" dirty="0"/>
          </a:p>
          <a:p>
            <a:pPr marL="457200" indent="-457200">
              <a:buFont typeface="+mj-lt"/>
              <a:buAutoNum type="alphaUcPeriod"/>
            </a:pPr>
            <a:r>
              <a:rPr lang="en-US" sz="2200" dirty="0"/>
              <a:t>decimal &amp; binary</a:t>
            </a:r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t>131</a:t>
            </a:fld>
            <a:endParaRPr lang="en-US"/>
          </a:p>
        </p:txBody>
      </p:sp>
      <p:pic>
        <p:nvPicPr>
          <p:cNvPr id="2" name="Picture 1" descr="A black and red logo&#10;&#10;Description automatically generated">
            <a:extLst>
              <a:ext uri="{FF2B5EF4-FFF2-40B4-BE49-F238E27FC236}">
                <a16:creationId xmlns:a16="http://schemas.microsoft.com/office/drawing/2014/main" id="{CC8FA578-E32F-045D-42BC-8920E6B4C175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-27384"/>
            <a:ext cx="1657350" cy="710452"/>
          </a:xfrm>
          <a:prstGeom prst="rect">
            <a:avLst/>
          </a:prstGeom>
        </p:spPr>
      </p:pic>
      <p:sp>
        <p:nvSpPr>
          <p:cNvPr id="3" name="Title 1">
            <a:extLst>
              <a:ext uri="{FF2B5EF4-FFF2-40B4-BE49-F238E27FC236}">
                <a16:creationId xmlns:a16="http://schemas.microsoft.com/office/drawing/2014/main" id="{9FEE3718-4FA2-B144-26F6-122887B3CDAE}"/>
              </a:ext>
            </a:extLst>
          </p:cNvPr>
          <p:cNvSpPr txBox="1">
            <a:spLocks/>
          </p:cNvSpPr>
          <p:nvPr/>
        </p:nvSpPr>
        <p:spPr>
          <a:xfrm>
            <a:off x="2171700" y="116632"/>
            <a:ext cx="5829300" cy="514349"/>
          </a:xfrm>
          <a:prstGeom prst="rect">
            <a:avLst/>
          </a:prstGeom>
          <a:gradFill flip="none" rotWithShape="1">
            <a:gsLst>
              <a:gs pos="0">
                <a:srgbClr val="FF0000">
                  <a:tint val="66000"/>
                  <a:satMod val="160000"/>
                </a:srgbClr>
              </a:gs>
              <a:gs pos="50000">
                <a:srgbClr val="FF0000">
                  <a:tint val="44500"/>
                  <a:satMod val="160000"/>
                </a:srgbClr>
              </a:gs>
              <a:gs pos="100000">
                <a:srgbClr val="FF0000">
                  <a:tint val="23500"/>
                  <a:satMod val="160000"/>
                </a:srgbClr>
              </a:gs>
            </a:gsLst>
            <a:lin ang="0" scaled="1"/>
            <a:tileRect/>
          </a:gradFill>
        </p:spPr>
        <p:style>
          <a:lnRef idx="1">
            <a:schemeClr val="accent5"/>
          </a:lnRef>
          <a:fillRef idx="2">
            <a:schemeClr val="accent5"/>
          </a:fillRef>
          <a:effectRef idx="1">
            <a:schemeClr val="accent5"/>
          </a:effectRef>
          <a:fontRef idx="minor">
            <a:schemeClr val="dk1"/>
          </a:fontRef>
        </p:style>
        <p:txBody>
          <a:bodyPr vert="horz" lIns="68580" tIns="34290" rIns="68580" bIns="34290" rtlCol="0" anchor="ctr">
            <a:noAutofit/>
          </a:bodyPr>
          <a:lstStyle>
            <a:defPPr>
              <a:defRPr lang="en-US"/>
            </a:defPPr>
            <a:lvl1pPr algn="ctr">
              <a:spcBef>
                <a:spcPct val="0"/>
              </a:spcBef>
              <a:buNone/>
              <a:defRPr sz="2800"/>
            </a:lvl1pPr>
          </a:lstStyle>
          <a:p>
            <a:pPr>
              <a:defRPr/>
            </a:pP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schemeClr val="dk1"/>
                </a:solidFill>
                <a:effectLst/>
                <a:uLnTx/>
                <a:uFillTx/>
                <a:ea typeface="+mn-ea"/>
                <a:cs typeface="+mn-cs"/>
              </a:rPr>
              <a:t>MCQs</a:t>
            </a:r>
            <a:endParaRPr lang="en-US" sz="2100" dirty="0"/>
          </a:p>
        </p:txBody>
      </p:sp>
    </p:spTree>
  </p:cSld>
  <p:clrMapOvr>
    <a:masterClrMapping/>
  </p:clrMapOvr>
  <p:transition>
    <p:wipe dir="r"/>
  </p:transition>
</p:sld>
</file>

<file path=ppt/slides/slide1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971600" y="1000108"/>
            <a:ext cx="7791400" cy="5286412"/>
          </a:xfrm>
        </p:spPr>
        <p:txBody>
          <a:bodyPr>
            <a:normAutofit/>
          </a:bodyPr>
          <a:lstStyle/>
          <a:p>
            <a:pPr algn="just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 panose="020B0604020202020204" pitchFamily="34" charset="0"/>
              <a:buNone/>
            </a:pPr>
            <a:endParaRPr lang="en-IN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 panose="020B0604020202020204" pitchFamily="34" charset="0"/>
              <a:buNone/>
            </a:pPr>
            <a:endParaRPr lang="en-IN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>
              <a:lnSpc>
                <a:spcPct val="150000"/>
              </a:lnSpc>
            </a:pPr>
            <a:endParaRPr 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5E97D52-186C-416B-B386-14D11EFAE587}" type="datetime3">
              <a:rPr lang="en-US" smtClean="0"/>
              <a:t>1 September 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2514600" y="6356350"/>
            <a:ext cx="5029200" cy="365125"/>
          </a:xfrm>
        </p:spPr>
        <p:txBody>
          <a:bodyPr/>
          <a:lstStyle/>
          <a:p>
            <a:r>
              <a:rPr lang="en-US"/>
              <a:t>Atul Garg           BCSE0303            Unit- III</a:t>
            </a:r>
            <a:endParaRPr lang="en-US" dirty="0"/>
          </a:p>
        </p:txBody>
      </p:sp>
      <p:sp>
        <p:nvSpPr>
          <p:cNvPr id="9" name="Rectangle 8"/>
          <p:cNvSpPr/>
          <p:nvPr/>
        </p:nvSpPr>
        <p:spPr>
          <a:xfrm>
            <a:off x="1000100" y="1214423"/>
            <a:ext cx="7143800" cy="363176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spcBef>
                <a:spcPts val="365"/>
              </a:spcBef>
              <a:spcAft>
                <a:spcPct val="0"/>
              </a:spcAft>
              <a:buClr>
                <a:srgbClr val="000000"/>
              </a:buClr>
              <a:buFont typeface="Arial" panose="020B0604020202020204" pitchFamily="34" charset="0"/>
              <a:buNone/>
            </a:pPr>
            <a:r>
              <a:rPr lang="en-US" sz="2000" dirty="0">
                <a:latin typeface="Times New Roman" panose="02020603050405020304" pitchFamily="18" charset="0"/>
                <a:ea typeface="Calibri" pitchFamily="34" charset="0"/>
                <a:cs typeface="Times New Roman" panose="02020603050405020304" pitchFamily="18" charset="0"/>
              </a:rPr>
              <a:t>Choose the correct option:</a:t>
            </a:r>
          </a:p>
          <a:p>
            <a:pPr>
              <a:spcBef>
                <a:spcPts val="365"/>
              </a:spcBef>
              <a:spcAft>
                <a:spcPct val="0"/>
              </a:spcAft>
              <a:buClr>
                <a:srgbClr val="000000"/>
              </a:buClr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1. An edge from process Pi to </a:t>
            </a:r>
            <a:r>
              <a:rPr lang="en-US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Pj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in a wait for graph indicates that</a:t>
            </a:r>
          </a:p>
          <a:p>
            <a:pPr>
              <a:spcBef>
                <a:spcPts val="365"/>
              </a:spcBef>
              <a:spcAft>
                <a:spcPct val="0"/>
              </a:spcAft>
              <a:buClr>
                <a:srgbClr val="000000"/>
              </a:buClr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____________</a:t>
            </a:r>
            <a:r>
              <a:rPr lang="en-US" sz="2000" dirty="0">
                <a:latin typeface="Times New Roman" panose="02020603050405020304" pitchFamily="18" charset="0"/>
                <a:ea typeface="Calibri" pitchFamily="34" charset="0"/>
                <a:cs typeface="Times New Roman" panose="02020603050405020304" pitchFamily="18" charset="0"/>
              </a:rPr>
              <a:t>. </a:t>
            </a:r>
          </a:p>
          <a:p>
            <a:pPr>
              <a:spcBef>
                <a:spcPts val="365"/>
              </a:spcBef>
              <a:spcAft>
                <a:spcPct val="0"/>
              </a:spcAft>
              <a:buClr>
                <a:srgbClr val="000000"/>
              </a:buClr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2. The wait-for graph is a deadlock detection algorithm that is </a:t>
            </a:r>
          </a:p>
          <a:p>
            <a:pPr>
              <a:spcBef>
                <a:spcPts val="365"/>
              </a:spcBef>
              <a:spcAft>
                <a:spcPct val="0"/>
              </a:spcAft>
              <a:buClr>
                <a:srgbClr val="000000"/>
              </a:buClr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applicable when ____________.</a:t>
            </a:r>
            <a:endParaRPr lang="en-US" sz="2000" dirty="0">
              <a:latin typeface="Times New Roman" panose="02020603050405020304" pitchFamily="18" charset="0"/>
              <a:ea typeface="Calibri" pitchFamily="34" charset="0"/>
              <a:cs typeface="Times New Roman" panose="02020603050405020304" pitchFamily="18" charset="0"/>
            </a:endParaRPr>
          </a:p>
          <a:p>
            <a:pPr>
              <a:spcBef>
                <a:spcPts val="365"/>
              </a:spcBef>
              <a:spcAft>
                <a:spcPct val="0"/>
              </a:spcAft>
              <a:buClr>
                <a:srgbClr val="000000"/>
              </a:buClr>
            </a:pPr>
            <a:r>
              <a:rPr lang="en-US" sz="2000" dirty="0">
                <a:latin typeface="Times New Roman" panose="02020603050405020304" pitchFamily="18" charset="0"/>
                <a:ea typeface="Calibri" pitchFamily="34" charset="0"/>
                <a:cs typeface="Times New Roman" panose="02020603050405020304" pitchFamily="18" charset="0"/>
              </a:rPr>
              <a:t>3. 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If the wait for graph contains a cycle ____________.</a:t>
            </a:r>
            <a:endParaRPr lang="en-US" sz="2000" dirty="0">
              <a:latin typeface="Times New Roman" panose="02020603050405020304" pitchFamily="18" charset="0"/>
              <a:ea typeface="Calibri" pitchFamily="34" charset="0"/>
              <a:cs typeface="Times New Roman" panose="02020603050405020304" pitchFamily="18" charset="0"/>
            </a:endParaRPr>
          </a:p>
          <a:p>
            <a:pPr>
              <a:spcBef>
                <a:spcPts val="365"/>
              </a:spcBef>
              <a:spcAft>
                <a:spcPct val="0"/>
              </a:spcAft>
              <a:buClr>
                <a:srgbClr val="000000"/>
              </a:buClr>
              <a:buFont typeface="Arial" panose="020B0604020202020204" pitchFamily="34" charset="0"/>
              <a:buAutoNum type="arabicPeriod"/>
            </a:pPr>
            <a:endParaRPr lang="en-US" sz="2000" dirty="0">
              <a:latin typeface="Times New Roman" panose="02020603050405020304" pitchFamily="18" charset="0"/>
              <a:ea typeface="Calibri" pitchFamily="34" charset="0"/>
              <a:cs typeface="Times New Roman" panose="02020603050405020304" pitchFamily="18" charset="0"/>
              <a:sym typeface="Calibri" pitchFamily="34" charset="0"/>
            </a:endParaRPr>
          </a:p>
          <a:p>
            <a:pPr>
              <a:spcBef>
                <a:spcPts val="365"/>
              </a:spcBef>
              <a:spcAft>
                <a:spcPct val="0"/>
              </a:spcAft>
              <a:buClr>
                <a:srgbClr val="000000"/>
              </a:buClr>
              <a:buFont typeface="Arial" panose="020B0604020202020204" pitchFamily="34" charset="0"/>
              <a:buAutoNum type="alphaLcParenR"/>
            </a:pPr>
            <a:r>
              <a: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then a deadlock exists</a:t>
            </a:r>
            <a:endParaRPr lang="en-US" sz="2000" b="1" dirty="0">
              <a:latin typeface="Times New Roman" panose="02020603050405020304" pitchFamily="18" charset="0"/>
              <a:ea typeface="Calibri" pitchFamily="34" charset="0"/>
              <a:cs typeface="Times New Roman" panose="02020603050405020304" pitchFamily="18" charset="0"/>
              <a:sym typeface="Calibri" pitchFamily="34" charset="0"/>
            </a:endParaRPr>
          </a:p>
          <a:p>
            <a:pPr>
              <a:spcBef>
                <a:spcPts val="365"/>
              </a:spcBef>
              <a:spcAft>
                <a:spcPct val="0"/>
              </a:spcAft>
              <a:buClr>
                <a:srgbClr val="000000"/>
              </a:buClr>
              <a:buFont typeface="Arial" panose="020B0604020202020204" pitchFamily="34" charset="0"/>
              <a:buAutoNum type="alphaLcParenR" startAt="2"/>
            </a:pPr>
            <a:r>
              <a: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all resources have a single instance</a:t>
            </a:r>
            <a:endParaRPr lang="en-US" sz="2000" b="1" dirty="0">
              <a:latin typeface="Times New Roman" panose="02020603050405020304" pitchFamily="18" charset="0"/>
              <a:ea typeface="Calibri" pitchFamily="34" charset="0"/>
              <a:cs typeface="Times New Roman" panose="02020603050405020304" pitchFamily="18" charset="0"/>
              <a:sym typeface="Calibri" pitchFamily="34" charset="0"/>
            </a:endParaRPr>
          </a:p>
          <a:p>
            <a:pPr>
              <a:spcBef>
                <a:spcPts val="365"/>
              </a:spcBef>
              <a:spcAft>
                <a:spcPct val="0"/>
              </a:spcAft>
              <a:buClr>
                <a:srgbClr val="000000"/>
              </a:buClr>
              <a:buFont typeface="Arial" panose="020B0604020202020204" pitchFamily="34" charset="0"/>
              <a:buAutoNum type="alphaLcParenR" startAt="2"/>
            </a:pPr>
            <a:r>
              <a: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Pi is waiting for </a:t>
            </a:r>
            <a:r>
              <a:rPr lang="en-US" sz="20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Pj</a:t>
            </a:r>
            <a:r>
              <a: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to release a resource that Pi needs</a:t>
            </a:r>
            <a:endParaRPr lang="en-US" sz="2000" b="1" dirty="0">
              <a:latin typeface="Times New Roman" panose="02020603050405020304" pitchFamily="18" charset="0"/>
              <a:ea typeface="Calibri" pitchFamily="34" charset="0"/>
              <a:cs typeface="Times New Roman" panose="02020603050405020304" pitchFamily="18" charset="0"/>
              <a:sym typeface="Calibri" pitchFamily="34" charset="0"/>
            </a:endParaRPr>
          </a:p>
        </p:txBody>
      </p:sp>
      <p:sp>
        <p:nvSpPr>
          <p:cNvPr id="10" name="Slide Number Placeholder 9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t>132</a:t>
            </a:fld>
            <a:endParaRPr lang="en-US"/>
          </a:p>
        </p:txBody>
      </p:sp>
      <p:pic>
        <p:nvPicPr>
          <p:cNvPr id="2" name="Picture 1" descr="A black and red logo&#10;&#10;Description automatically generated">
            <a:extLst>
              <a:ext uri="{FF2B5EF4-FFF2-40B4-BE49-F238E27FC236}">
                <a16:creationId xmlns:a16="http://schemas.microsoft.com/office/drawing/2014/main" id="{764D2DF6-294E-572C-5FE9-9FED372E7EBE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-27384"/>
            <a:ext cx="1657350" cy="710452"/>
          </a:xfrm>
          <a:prstGeom prst="rect">
            <a:avLst/>
          </a:prstGeom>
        </p:spPr>
      </p:pic>
      <p:sp>
        <p:nvSpPr>
          <p:cNvPr id="6" name="Title 1">
            <a:extLst>
              <a:ext uri="{FF2B5EF4-FFF2-40B4-BE49-F238E27FC236}">
                <a16:creationId xmlns:a16="http://schemas.microsoft.com/office/drawing/2014/main" id="{62F8DCD6-1AC2-39EE-DAD8-4D8693D6C3AD}"/>
              </a:ext>
            </a:extLst>
          </p:cNvPr>
          <p:cNvSpPr txBox="1">
            <a:spLocks/>
          </p:cNvSpPr>
          <p:nvPr/>
        </p:nvSpPr>
        <p:spPr>
          <a:xfrm>
            <a:off x="2171700" y="116632"/>
            <a:ext cx="5829300" cy="514349"/>
          </a:xfrm>
          <a:prstGeom prst="rect">
            <a:avLst/>
          </a:prstGeom>
          <a:gradFill flip="none" rotWithShape="1">
            <a:gsLst>
              <a:gs pos="0">
                <a:srgbClr val="FF0000">
                  <a:tint val="66000"/>
                  <a:satMod val="160000"/>
                </a:srgbClr>
              </a:gs>
              <a:gs pos="50000">
                <a:srgbClr val="FF0000">
                  <a:tint val="44500"/>
                  <a:satMod val="160000"/>
                </a:srgbClr>
              </a:gs>
              <a:gs pos="100000">
                <a:srgbClr val="FF0000">
                  <a:tint val="23500"/>
                  <a:satMod val="160000"/>
                </a:srgbClr>
              </a:gs>
            </a:gsLst>
            <a:lin ang="0" scaled="1"/>
            <a:tileRect/>
          </a:gradFill>
        </p:spPr>
        <p:style>
          <a:lnRef idx="1">
            <a:schemeClr val="accent5"/>
          </a:lnRef>
          <a:fillRef idx="2">
            <a:schemeClr val="accent5"/>
          </a:fillRef>
          <a:effectRef idx="1">
            <a:schemeClr val="accent5"/>
          </a:effectRef>
          <a:fontRef idx="minor">
            <a:schemeClr val="dk1"/>
          </a:fontRef>
        </p:style>
        <p:txBody>
          <a:bodyPr vert="horz" lIns="68580" tIns="34290" rIns="68580" bIns="34290" rtlCol="0" anchor="ctr">
            <a:noAutofit/>
          </a:bodyPr>
          <a:lstStyle>
            <a:defPPr>
              <a:defRPr lang="en-US"/>
            </a:defPPr>
            <a:lvl1pPr algn="ctr">
              <a:spcBef>
                <a:spcPct val="0"/>
              </a:spcBef>
              <a:buNone/>
              <a:defRPr sz="2800"/>
            </a:lvl1pPr>
          </a:lstStyle>
          <a:p>
            <a:pPr>
              <a:defRPr/>
            </a:pPr>
            <a:r>
              <a:rPr lang="en-US" sz="2400" dirty="0"/>
              <a:t>Glossary Questions</a:t>
            </a:r>
            <a:endParaRPr lang="en-US" sz="2100" dirty="0"/>
          </a:p>
        </p:txBody>
      </p:sp>
    </p:spTree>
  </p:cSld>
  <p:clrMapOvr>
    <a:masterClrMapping/>
  </p:clrMapOvr>
  <p:transition>
    <p:wipe/>
  </p:transition>
</p:sld>
</file>

<file path=ppt/slides/slide1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971600" y="1000108"/>
            <a:ext cx="7791400" cy="5286412"/>
          </a:xfrm>
        </p:spPr>
        <p:txBody>
          <a:bodyPr>
            <a:normAutofit/>
          </a:bodyPr>
          <a:lstStyle/>
          <a:p>
            <a:pPr algn="just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 panose="020B0604020202020204" pitchFamily="34" charset="0"/>
              <a:buNone/>
            </a:pPr>
            <a:endParaRPr lang="en-IN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 panose="020B0604020202020204" pitchFamily="34" charset="0"/>
              <a:buNone/>
            </a:pPr>
            <a:endParaRPr lang="en-IN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>
              <a:lnSpc>
                <a:spcPct val="150000"/>
              </a:lnSpc>
            </a:pPr>
            <a:endParaRPr 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31BBCE8-89E2-4058-8FBA-558D6FAD1046}" type="datetime3">
              <a:rPr lang="en-US" smtClean="0"/>
              <a:t>1 September 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2514600" y="6356350"/>
            <a:ext cx="5029200" cy="365125"/>
          </a:xfrm>
        </p:spPr>
        <p:txBody>
          <a:bodyPr/>
          <a:lstStyle/>
          <a:p>
            <a:r>
              <a:rPr lang="en-US"/>
              <a:t>Atul Garg           BCSE0303            Unit- III</a:t>
            </a:r>
            <a:endParaRPr lang="en-US" dirty="0"/>
          </a:p>
        </p:txBody>
      </p:sp>
      <p:sp>
        <p:nvSpPr>
          <p:cNvPr id="9" name="Rectangle 8"/>
          <p:cNvSpPr/>
          <p:nvPr/>
        </p:nvSpPr>
        <p:spPr>
          <a:xfrm>
            <a:off x="1000100" y="1214422"/>
            <a:ext cx="7143800" cy="291361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spcBef>
                <a:spcPts val="365"/>
              </a:spcBef>
              <a:spcAft>
                <a:spcPct val="0"/>
              </a:spcAft>
              <a:buClr>
                <a:srgbClr val="000000"/>
              </a:buClr>
              <a:buFont typeface="Arial" panose="020B0604020202020204" pitchFamily="34" charset="0"/>
              <a:buNone/>
            </a:pPr>
            <a:r>
              <a:rPr lang="en-US" sz="2000" dirty="0">
                <a:latin typeface="Times New Roman" panose="02020603050405020304" pitchFamily="18" charset="0"/>
                <a:ea typeface="Calibri" pitchFamily="34" charset="0"/>
                <a:cs typeface="Times New Roman" panose="02020603050405020304" pitchFamily="18" charset="0"/>
              </a:rPr>
              <a:t>Choose the correct option:</a:t>
            </a:r>
          </a:p>
          <a:p>
            <a:pPr>
              <a:spcBef>
                <a:spcPts val="365"/>
              </a:spcBef>
              <a:spcAft>
                <a:spcPct val="0"/>
              </a:spcAft>
              <a:buClr>
                <a:srgbClr val="000000"/>
              </a:buClr>
              <a:buFont typeface="Arial" panose="020B0604020202020204" pitchFamily="34" charset="0"/>
              <a:buAutoNum type="arabicPeriod"/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__________is the deadlock avoidance algorithm.   </a:t>
            </a:r>
            <a:r>
              <a:rPr lang="en-US" sz="2000" dirty="0">
                <a:latin typeface="Times New Roman" panose="02020603050405020304" pitchFamily="18" charset="0"/>
                <a:ea typeface="Calibri" pitchFamily="34" charset="0"/>
                <a:cs typeface="Times New Roman" panose="02020603050405020304" pitchFamily="18" charset="0"/>
              </a:rPr>
              <a:t> </a:t>
            </a:r>
          </a:p>
          <a:p>
            <a:pPr>
              <a:spcBef>
                <a:spcPts val="365"/>
              </a:spcBef>
              <a:spcAft>
                <a:spcPct val="0"/>
              </a:spcAft>
              <a:buClr>
                <a:srgbClr val="000000"/>
              </a:buClr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2. The circular wait condition can be prevented by ____________.</a:t>
            </a:r>
          </a:p>
          <a:p>
            <a:pPr>
              <a:spcBef>
                <a:spcPts val="365"/>
              </a:spcBef>
              <a:spcAft>
                <a:spcPct val="0"/>
              </a:spcAft>
              <a:buClr>
                <a:srgbClr val="000000"/>
              </a:buClr>
            </a:pPr>
            <a:r>
              <a:rPr lang="en-US" sz="2000" dirty="0">
                <a:latin typeface="Times New Roman" panose="02020603050405020304" pitchFamily="18" charset="0"/>
                <a:ea typeface="Calibri" pitchFamily="34" charset="0"/>
                <a:cs typeface="Times New Roman" panose="02020603050405020304" pitchFamily="18" charset="0"/>
              </a:rPr>
              <a:t>3. 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bounded buffer problem is also known as ____________</a:t>
            </a:r>
            <a:endParaRPr lang="en-US" sz="2000" dirty="0">
              <a:latin typeface="Times New Roman" panose="02020603050405020304" pitchFamily="18" charset="0"/>
              <a:ea typeface="Calibri" pitchFamily="34" charset="0"/>
              <a:cs typeface="Times New Roman" panose="02020603050405020304" pitchFamily="18" charset="0"/>
            </a:endParaRPr>
          </a:p>
          <a:p>
            <a:pPr>
              <a:spcBef>
                <a:spcPts val="365"/>
              </a:spcBef>
              <a:spcAft>
                <a:spcPct val="0"/>
              </a:spcAft>
              <a:buClr>
                <a:srgbClr val="000000"/>
              </a:buClr>
              <a:buFont typeface="Arial" panose="020B0604020202020204" pitchFamily="34" charset="0"/>
              <a:buAutoNum type="arabicPeriod"/>
            </a:pPr>
            <a:endParaRPr lang="en-US" sz="2000" dirty="0">
              <a:latin typeface="Times New Roman" panose="02020603050405020304" pitchFamily="18" charset="0"/>
              <a:ea typeface="Calibri" pitchFamily="34" charset="0"/>
              <a:cs typeface="Times New Roman" panose="02020603050405020304" pitchFamily="18" charset="0"/>
              <a:sym typeface="Calibri" pitchFamily="34" charset="0"/>
            </a:endParaRPr>
          </a:p>
          <a:p>
            <a:pPr>
              <a:spcBef>
                <a:spcPts val="365"/>
              </a:spcBef>
              <a:spcAft>
                <a:spcPct val="0"/>
              </a:spcAft>
              <a:buClr>
                <a:srgbClr val="000000"/>
              </a:buClr>
              <a:buFont typeface="Arial" panose="020B0604020202020204" pitchFamily="34" charset="0"/>
              <a:buAutoNum type="alphaLcParenR"/>
            </a:pPr>
            <a:r>
              <a: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Producer – Consumer problem</a:t>
            </a:r>
            <a:endParaRPr lang="en-US" sz="2000" b="1" dirty="0">
              <a:latin typeface="Times New Roman" panose="02020603050405020304" pitchFamily="18" charset="0"/>
              <a:ea typeface="Calibri" pitchFamily="34" charset="0"/>
              <a:cs typeface="Times New Roman" panose="02020603050405020304" pitchFamily="18" charset="0"/>
              <a:sym typeface="Calibri" pitchFamily="34" charset="0"/>
            </a:endParaRPr>
          </a:p>
          <a:p>
            <a:pPr>
              <a:spcBef>
                <a:spcPts val="365"/>
              </a:spcBef>
              <a:spcAft>
                <a:spcPct val="0"/>
              </a:spcAft>
              <a:buClr>
                <a:srgbClr val="000000"/>
              </a:buClr>
              <a:buFont typeface="Arial" panose="020B0604020202020204" pitchFamily="34" charset="0"/>
              <a:buAutoNum type="alphaLcParenR" startAt="2"/>
            </a:pPr>
            <a:r>
              <a:rPr lang="en-US" sz="2000" b="1" dirty="0">
                <a:latin typeface="Times New Roman" panose="02020603050405020304" pitchFamily="18" charset="0"/>
                <a:ea typeface="Calibri" pitchFamily="34" charset="0"/>
                <a:cs typeface="Times New Roman" panose="02020603050405020304" pitchFamily="18" charset="0"/>
                <a:sym typeface="Calibri" pitchFamily="34" charset="0"/>
              </a:rPr>
              <a:t>defining a linear ordering of  resource types</a:t>
            </a:r>
          </a:p>
          <a:p>
            <a:pPr>
              <a:spcBef>
                <a:spcPts val="365"/>
              </a:spcBef>
              <a:spcAft>
                <a:spcPct val="0"/>
              </a:spcAft>
              <a:buClr>
                <a:srgbClr val="000000"/>
              </a:buClr>
              <a:buFont typeface="Arial" panose="020B0604020202020204" pitchFamily="34" charset="0"/>
              <a:buAutoNum type="alphaLcParenR" startAt="2"/>
            </a:pPr>
            <a:r>
              <a:rPr lang="en-US" sz="2000" b="1" dirty="0">
                <a:latin typeface="Times New Roman" panose="02020603050405020304" pitchFamily="18" charset="0"/>
                <a:ea typeface="Calibri" pitchFamily="34" charset="0"/>
                <a:cs typeface="Times New Roman" panose="02020603050405020304" pitchFamily="18" charset="0"/>
                <a:sym typeface="Calibri" pitchFamily="34" charset="0"/>
              </a:rPr>
              <a:t>Banker’s Algorithm</a:t>
            </a:r>
          </a:p>
        </p:txBody>
      </p:sp>
      <p:sp>
        <p:nvSpPr>
          <p:cNvPr id="10" name="Slide Number Placeholder 9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t>133</a:t>
            </a:fld>
            <a:endParaRPr lang="en-US"/>
          </a:p>
        </p:txBody>
      </p:sp>
      <p:pic>
        <p:nvPicPr>
          <p:cNvPr id="2" name="Picture 1" descr="A black and red logo&#10;&#10;Description automatically generated">
            <a:extLst>
              <a:ext uri="{FF2B5EF4-FFF2-40B4-BE49-F238E27FC236}">
                <a16:creationId xmlns:a16="http://schemas.microsoft.com/office/drawing/2014/main" id="{84FE02B7-BE02-F6A9-27FD-E4848D74FA6F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-27384"/>
            <a:ext cx="1657350" cy="710452"/>
          </a:xfrm>
          <a:prstGeom prst="rect">
            <a:avLst/>
          </a:prstGeom>
        </p:spPr>
      </p:pic>
      <p:sp>
        <p:nvSpPr>
          <p:cNvPr id="6" name="Title 1">
            <a:extLst>
              <a:ext uri="{FF2B5EF4-FFF2-40B4-BE49-F238E27FC236}">
                <a16:creationId xmlns:a16="http://schemas.microsoft.com/office/drawing/2014/main" id="{91A94B5D-3A97-A284-F3B7-206DB40C463D}"/>
              </a:ext>
            </a:extLst>
          </p:cNvPr>
          <p:cNvSpPr txBox="1">
            <a:spLocks/>
          </p:cNvSpPr>
          <p:nvPr/>
        </p:nvSpPr>
        <p:spPr>
          <a:xfrm>
            <a:off x="2171700" y="116632"/>
            <a:ext cx="5829300" cy="514349"/>
          </a:xfrm>
          <a:prstGeom prst="rect">
            <a:avLst/>
          </a:prstGeom>
          <a:gradFill flip="none" rotWithShape="1">
            <a:gsLst>
              <a:gs pos="0">
                <a:srgbClr val="FF0000">
                  <a:tint val="66000"/>
                  <a:satMod val="160000"/>
                </a:srgbClr>
              </a:gs>
              <a:gs pos="50000">
                <a:srgbClr val="FF0000">
                  <a:tint val="44500"/>
                  <a:satMod val="160000"/>
                </a:srgbClr>
              </a:gs>
              <a:gs pos="100000">
                <a:srgbClr val="FF0000">
                  <a:tint val="23500"/>
                  <a:satMod val="160000"/>
                </a:srgbClr>
              </a:gs>
            </a:gsLst>
            <a:lin ang="0" scaled="1"/>
            <a:tileRect/>
          </a:gradFill>
        </p:spPr>
        <p:style>
          <a:lnRef idx="1">
            <a:schemeClr val="accent5"/>
          </a:lnRef>
          <a:fillRef idx="2">
            <a:schemeClr val="accent5"/>
          </a:fillRef>
          <a:effectRef idx="1">
            <a:schemeClr val="accent5"/>
          </a:effectRef>
          <a:fontRef idx="minor">
            <a:schemeClr val="dk1"/>
          </a:fontRef>
        </p:style>
        <p:txBody>
          <a:bodyPr vert="horz" lIns="68580" tIns="34290" rIns="68580" bIns="34290" rtlCol="0" anchor="ctr">
            <a:noAutofit/>
          </a:bodyPr>
          <a:lstStyle>
            <a:defPPr>
              <a:defRPr lang="en-US"/>
            </a:defPPr>
            <a:lvl1pPr algn="ctr">
              <a:spcBef>
                <a:spcPct val="0"/>
              </a:spcBef>
              <a:buNone/>
              <a:defRPr sz="2800"/>
            </a:lvl1pPr>
          </a:lstStyle>
          <a:p>
            <a:pPr>
              <a:defRPr/>
            </a:pPr>
            <a:r>
              <a:rPr lang="en-US" sz="2400" dirty="0"/>
              <a:t>Glossary Questions</a:t>
            </a:r>
            <a:endParaRPr lang="en-US" sz="2100" dirty="0"/>
          </a:p>
        </p:txBody>
      </p:sp>
    </p:spTree>
  </p:cSld>
  <p:clrMapOvr>
    <a:masterClrMapping/>
  </p:clrMapOvr>
  <p:transition>
    <p:wipe/>
  </p:transition>
</p:sld>
</file>

<file path=ppt/slides/slide1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F182E8D-B907-486C-860C-F9252EA33F3E}" type="datetime3">
              <a:rPr lang="en-US" smtClean="0"/>
              <a:t>1 September 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2514600" y="6356350"/>
            <a:ext cx="5181600" cy="365125"/>
          </a:xfrm>
        </p:spPr>
        <p:txBody>
          <a:bodyPr/>
          <a:lstStyle/>
          <a:p>
            <a:r>
              <a:rPr lang="en-US"/>
              <a:t>Atul Garg           BCSE0303            Unit- III</a:t>
            </a:r>
            <a:endParaRPr lang="en-US" dirty="0"/>
          </a:p>
        </p:txBody>
      </p:sp>
      <p:sp>
        <p:nvSpPr>
          <p:cNvPr id="12" name="Rectangle 3"/>
          <p:cNvSpPr txBox="1">
            <a:spLocks noChangeArrowheads="1"/>
          </p:cNvSpPr>
          <p:nvPr/>
        </p:nvSpPr>
        <p:spPr>
          <a:xfrm>
            <a:off x="899592" y="1412776"/>
            <a:ext cx="7704856" cy="4114800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/>
          <a:p>
            <a:pPr marL="342900" marR="0" lvl="0" indent="-342900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defRPr/>
            </a:pPr>
            <a:endParaRPr kumimoji="0" lang="en-US" sz="2200" b="0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13" name="Rectangle 3"/>
          <p:cNvSpPr txBox="1">
            <a:spLocks noChangeArrowheads="1"/>
          </p:cNvSpPr>
          <p:nvPr/>
        </p:nvSpPr>
        <p:spPr>
          <a:xfrm>
            <a:off x="1051992" y="908720"/>
            <a:ext cx="7552456" cy="5184576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/>
          <a:p>
            <a:pPr lvl="0"/>
            <a:endParaRPr kumimoji="0" lang="en-US" sz="2200" b="0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15" name="Rectangle 3"/>
          <p:cNvSpPr txBox="1">
            <a:spLocks noChangeArrowheads="1"/>
          </p:cNvSpPr>
          <p:nvPr/>
        </p:nvSpPr>
        <p:spPr>
          <a:xfrm>
            <a:off x="1051992" y="1565176"/>
            <a:ext cx="7704856" cy="4114800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/>
          <a:p>
            <a:pPr marL="457200" lvl="0" indent="-457200">
              <a:spcBef>
                <a:spcPct val="20000"/>
              </a:spcBef>
              <a:defRPr/>
            </a:pPr>
            <a:endParaRPr kumimoji="0" lang="en-US" sz="2200" b="0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16" name="Rectangle 3"/>
          <p:cNvSpPr txBox="1">
            <a:spLocks noChangeArrowheads="1"/>
          </p:cNvSpPr>
          <p:nvPr/>
        </p:nvSpPr>
        <p:spPr>
          <a:xfrm>
            <a:off x="899592" y="1412776"/>
            <a:ext cx="7632848" cy="4419600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/>
          <a:p>
            <a:pPr marL="342900" marR="0" lvl="0" indent="-342900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defRPr/>
            </a:pPr>
            <a:endParaRPr kumimoji="0" lang="en-US" sz="2200" b="0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pic>
        <p:nvPicPr>
          <p:cNvPr id="1026" name="Picture 2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1176338" y="836712"/>
            <a:ext cx="7019782" cy="475252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17" name="Slide Number Placeholder 1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t>134</a:t>
            </a:fld>
            <a:endParaRPr lang="en-US"/>
          </a:p>
        </p:txBody>
      </p:sp>
      <p:pic>
        <p:nvPicPr>
          <p:cNvPr id="2" name="Picture 1" descr="A black and red logo&#10;&#10;Description automatically generated">
            <a:extLst>
              <a:ext uri="{FF2B5EF4-FFF2-40B4-BE49-F238E27FC236}">
                <a16:creationId xmlns:a16="http://schemas.microsoft.com/office/drawing/2014/main" id="{89BE9C28-5A9B-F2D6-6D1C-CAD7267D0ECC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-27384"/>
            <a:ext cx="1657350" cy="710452"/>
          </a:xfrm>
          <a:prstGeom prst="rect">
            <a:avLst/>
          </a:prstGeom>
        </p:spPr>
      </p:pic>
      <p:sp>
        <p:nvSpPr>
          <p:cNvPr id="3" name="Title 1">
            <a:extLst>
              <a:ext uri="{FF2B5EF4-FFF2-40B4-BE49-F238E27FC236}">
                <a16:creationId xmlns:a16="http://schemas.microsoft.com/office/drawing/2014/main" id="{8B056853-303F-FF15-67E7-5C49ADC57F14}"/>
              </a:ext>
            </a:extLst>
          </p:cNvPr>
          <p:cNvSpPr txBox="1">
            <a:spLocks/>
          </p:cNvSpPr>
          <p:nvPr/>
        </p:nvSpPr>
        <p:spPr>
          <a:xfrm>
            <a:off x="2171700" y="116632"/>
            <a:ext cx="5829300" cy="514349"/>
          </a:xfrm>
          <a:prstGeom prst="rect">
            <a:avLst/>
          </a:prstGeom>
          <a:gradFill flip="none" rotWithShape="1">
            <a:gsLst>
              <a:gs pos="0">
                <a:srgbClr val="FF0000">
                  <a:tint val="66000"/>
                  <a:satMod val="160000"/>
                </a:srgbClr>
              </a:gs>
              <a:gs pos="50000">
                <a:srgbClr val="FF0000">
                  <a:tint val="44500"/>
                  <a:satMod val="160000"/>
                </a:srgbClr>
              </a:gs>
              <a:gs pos="100000">
                <a:srgbClr val="FF0000">
                  <a:tint val="23500"/>
                  <a:satMod val="160000"/>
                </a:srgbClr>
              </a:gs>
            </a:gsLst>
            <a:lin ang="0" scaled="1"/>
            <a:tileRect/>
          </a:gradFill>
        </p:spPr>
        <p:style>
          <a:lnRef idx="1">
            <a:schemeClr val="accent5"/>
          </a:lnRef>
          <a:fillRef idx="2">
            <a:schemeClr val="accent5"/>
          </a:fillRef>
          <a:effectRef idx="1">
            <a:schemeClr val="accent5"/>
          </a:effectRef>
          <a:fontRef idx="minor">
            <a:schemeClr val="dk1"/>
          </a:fontRef>
        </p:style>
        <p:txBody>
          <a:bodyPr vert="horz" lIns="68580" tIns="34290" rIns="68580" bIns="34290" rtlCol="0" anchor="ctr">
            <a:noAutofit/>
          </a:bodyPr>
          <a:lstStyle>
            <a:defPPr>
              <a:defRPr lang="en-US"/>
            </a:defPPr>
            <a:lvl1pPr algn="ctr">
              <a:spcBef>
                <a:spcPct val="0"/>
              </a:spcBef>
              <a:buNone/>
              <a:defRPr sz="2800"/>
            </a:lvl1pPr>
          </a:lstStyle>
          <a:p>
            <a:pPr>
              <a:defRPr/>
            </a:pPr>
            <a:r>
              <a:rPr lang="en-US" sz="2400" dirty="0"/>
              <a:t>Old Question Papers</a:t>
            </a:r>
            <a:endParaRPr lang="en-US" sz="2100" dirty="0"/>
          </a:p>
        </p:txBody>
      </p:sp>
    </p:spTree>
  </p:cSld>
  <p:clrMapOvr>
    <a:masterClrMapping/>
  </p:clrMapOvr>
  <p:transition>
    <p:wipe dir="r"/>
  </p:transition>
</p:sld>
</file>

<file path=ppt/slides/slide1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1D48531-F9CD-41CB-ABB3-36D553F81155}" type="datetime3">
              <a:rPr lang="en-US" smtClean="0"/>
              <a:t>1 September 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2514600" y="6356350"/>
            <a:ext cx="5181600" cy="365125"/>
          </a:xfrm>
        </p:spPr>
        <p:txBody>
          <a:bodyPr/>
          <a:lstStyle/>
          <a:p>
            <a:r>
              <a:rPr lang="en-US"/>
              <a:t>Atul Garg           BCSE0303            Unit- III</a:t>
            </a:r>
            <a:endParaRPr lang="en-US" dirty="0"/>
          </a:p>
        </p:txBody>
      </p:sp>
      <p:sp>
        <p:nvSpPr>
          <p:cNvPr id="11" name="Footer Placeholder 2"/>
          <p:cNvSpPr txBox="1"/>
          <p:nvPr/>
        </p:nvSpPr>
        <p:spPr>
          <a:xfrm>
            <a:off x="-4284984" y="6697662"/>
            <a:ext cx="2895600" cy="320675"/>
          </a:xfrm>
          <a:prstGeom prst="rect">
            <a:avLst/>
          </a:prstGeom>
          <a:noFill/>
        </p:spPr>
        <p:txBody>
          <a:bodyPr vert="horz" lIns="91440" tIns="45720" rIns="91440" bIns="4572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sz="1200" b="0" i="0" u="none" strike="noStrike" kern="1200" cap="none" spc="0" normalizeH="0" baseline="0" noProof="0" dirty="0">
                <a:ln>
                  <a:noFill/>
                </a:ln>
                <a:solidFill>
                  <a:schemeClr val="tx1">
                    <a:tint val="75000"/>
                  </a:scheme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Operating System </a:t>
            </a:r>
            <a:r>
              <a:rPr kumimoji="0" lang="en-US" sz="1200" b="0" i="0" u="none" strike="noStrike" kern="1200" cap="none" spc="0" normalizeH="0" baseline="0" noProof="0" dirty="0" err="1">
                <a:ln>
                  <a:noFill/>
                </a:ln>
                <a:solidFill>
                  <a:schemeClr val="tx1">
                    <a:tint val="75000"/>
                  </a:scheme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Concets</a:t>
            </a:r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schemeClr val="tx1">
                  <a:tint val="75000"/>
                </a:scheme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14" name="Rectangle 3"/>
          <p:cNvSpPr txBox="1">
            <a:spLocks noChangeArrowheads="1"/>
          </p:cNvSpPr>
          <p:nvPr/>
        </p:nvSpPr>
        <p:spPr>
          <a:xfrm>
            <a:off x="899592" y="1268760"/>
            <a:ext cx="7344816" cy="4896544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/>
          <a:p>
            <a:pPr marL="342900" marR="0" lvl="0" indent="-342900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defRPr/>
            </a:pPr>
            <a:endParaRPr kumimoji="0" lang="en-US" sz="220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pic>
        <p:nvPicPr>
          <p:cNvPr id="2050" name="Picture 2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827584" y="764704"/>
            <a:ext cx="7916440" cy="475252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12" name="Slide Number Placeholder 1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t>135</a:t>
            </a:fld>
            <a:endParaRPr lang="en-US"/>
          </a:p>
        </p:txBody>
      </p:sp>
      <p:pic>
        <p:nvPicPr>
          <p:cNvPr id="2" name="Picture 1" descr="A black and red logo&#10;&#10;Description automatically generated">
            <a:extLst>
              <a:ext uri="{FF2B5EF4-FFF2-40B4-BE49-F238E27FC236}">
                <a16:creationId xmlns:a16="http://schemas.microsoft.com/office/drawing/2014/main" id="{C22C5465-7FB0-2B05-B3BF-195709799691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-27384"/>
            <a:ext cx="1657350" cy="710452"/>
          </a:xfrm>
          <a:prstGeom prst="rect">
            <a:avLst/>
          </a:prstGeom>
        </p:spPr>
      </p:pic>
      <p:sp>
        <p:nvSpPr>
          <p:cNvPr id="3" name="Title 1">
            <a:extLst>
              <a:ext uri="{FF2B5EF4-FFF2-40B4-BE49-F238E27FC236}">
                <a16:creationId xmlns:a16="http://schemas.microsoft.com/office/drawing/2014/main" id="{B3D37C1F-5656-FFF9-DCAD-FA0F3C23DE10}"/>
              </a:ext>
            </a:extLst>
          </p:cNvPr>
          <p:cNvSpPr txBox="1">
            <a:spLocks/>
          </p:cNvSpPr>
          <p:nvPr/>
        </p:nvSpPr>
        <p:spPr>
          <a:xfrm>
            <a:off x="2171700" y="116632"/>
            <a:ext cx="5829300" cy="514349"/>
          </a:xfrm>
          <a:prstGeom prst="rect">
            <a:avLst/>
          </a:prstGeom>
          <a:gradFill flip="none" rotWithShape="1">
            <a:gsLst>
              <a:gs pos="0">
                <a:srgbClr val="FF0000">
                  <a:tint val="66000"/>
                  <a:satMod val="160000"/>
                </a:srgbClr>
              </a:gs>
              <a:gs pos="50000">
                <a:srgbClr val="FF0000">
                  <a:tint val="44500"/>
                  <a:satMod val="160000"/>
                </a:srgbClr>
              </a:gs>
              <a:gs pos="100000">
                <a:srgbClr val="FF0000">
                  <a:tint val="23500"/>
                  <a:satMod val="160000"/>
                </a:srgbClr>
              </a:gs>
            </a:gsLst>
            <a:lin ang="0" scaled="1"/>
            <a:tileRect/>
          </a:gradFill>
        </p:spPr>
        <p:style>
          <a:lnRef idx="1">
            <a:schemeClr val="accent5"/>
          </a:lnRef>
          <a:fillRef idx="2">
            <a:schemeClr val="accent5"/>
          </a:fillRef>
          <a:effectRef idx="1">
            <a:schemeClr val="accent5"/>
          </a:effectRef>
          <a:fontRef idx="minor">
            <a:schemeClr val="dk1"/>
          </a:fontRef>
        </p:style>
        <p:txBody>
          <a:bodyPr vert="horz" lIns="68580" tIns="34290" rIns="68580" bIns="34290" rtlCol="0" anchor="ctr">
            <a:noAutofit/>
          </a:bodyPr>
          <a:lstStyle>
            <a:defPPr>
              <a:defRPr lang="en-US"/>
            </a:defPPr>
            <a:lvl1pPr algn="ctr">
              <a:spcBef>
                <a:spcPct val="0"/>
              </a:spcBef>
              <a:buNone/>
              <a:defRPr sz="2800"/>
            </a:lvl1pPr>
          </a:lstStyle>
          <a:p>
            <a:pPr>
              <a:defRPr/>
            </a:pPr>
            <a:r>
              <a:rPr lang="en-US" sz="2400" dirty="0"/>
              <a:t>Old Question Papers</a:t>
            </a:r>
            <a:endParaRPr lang="en-US" sz="2100" dirty="0"/>
          </a:p>
        </p:txBody>
      </p:sp>
    </p:spTree>
  </p:cSld>
  <p:clrMapOvr>
    <a:masterClrMapping/>
  </p:clrMapOvr>
  <p:transition>
    <p:wedge/>
  </p:transition>
</p:sld>
</file>

<file path=ppt/slides/slide1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1977A5-03AA-48F8-B84C-B34BED9B290D}" type="datetime3">
              <a:rPr lang="en-US" smtClean="0"/>
              <a:t>1 September 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2514600" y="6356350"/>
            <a:ext cx="5181600" cy="365125"/>
          </a:xfrm>
        </p:spPr>
        <p:txBody>
          <a:bodyPr/>
          <a:lstStyle/>
          <a:p>
            <a:r>
              <a:rPr lang="en-US"/>
              <a:t>Atul Garg           BCSE0303            Unit- III</a:t>
            </a:r>
            <a:endParaRPr lang="en-US" dirty="0"/>
          </a:p>
        </p:txBody>
      </p:sp>
      <p:sp>
        <p:nvSpPr>
          <p:cNvPr id="11" name="Footer Placeholder 2"/>
          <p:cNvSpPr txBox="1"/>
          <p:nvPr/>
        </p:nvSpPr>
        <p:spPr>
          <a:xfrm>
            <a:off x="-4284984" y="6697662"/>
            <a:ext cx="2895600" cy="320675"/>
          </a:xfrm>
          <a:prstGeom prst="rect">
            <a:avLst/>
          </a:prstGeom>
          <a:noFill/>
        </p:spPr>
        <p:txBody>
          <a:bodyPr vert="horz" lIns="91440" tIns="45720" rIns="91440" bIns="4572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sz="1200" b="0" i="0" u="none" strike="noStrike" kern="1200" cap="none" spc="0" normalizeH="0" baseline="0" noProof="0" dirty="0">
                <a:ln>
                  <a:noFill/>
                </a:ln>
                <a:solidFill>
                  <a:schemeClr val="tx1">
                    <a:tint val="75000"/>
                  </a:scheme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Operating System </a:t>
            </a:r>
            <a:r>
              <a:rPr kumimoji="0" lang="en-US" sz="1200" b="0" i="0" u="none" strike="noStrike" kern="1200" cap="none" spc="0" normalizeH="0" baseline="0" noProof="0" dirty="0" err="1">
                <a:ln>
                  <a:noFill/>
                </a:ln>
                <a:solidFill>
                  <a:schemeClr val="tx1">
                    <a:tint val="75000"/>
                  </a:scheme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Concets</a:t>
            </a:r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schemeClr val="tx1">
                  <a:tint val="75000"/>
                </a:scheme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14" name="Rectangle 3"/>
          <p:cNvSpPr txBox="1">
            <a:spLocks noChangeArrowheads="1"/>
          </p:cNvSpPr>
          <p:nvPr/>
        </p:nvSpPr>
        <p:spPr>
          <a:xfrm>
            <a:off x="899592" y="1268760"/>
            <a:ext cx="7344816" cy="4896544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/>
          <a:p>
            <a:pPr marL="342900" marR="0" lvl="0" indent="-342900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defRPr/>
            </a:pPr>
            <a:endParaRPr kumimoji="0" lang="en-US" sz="220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pic>
        <p:nvPicPr>
          <p:cNvPr id="3075" name="Picture 3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971600" y="908720"/>
            <a:ext cx="7871779" cy="352839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12" name="Slide Number Placeholder 1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t>136</a:t>
            </a:fld>
            <a:endParaRPr lang="en-US"/>
          </a:p>
        </p:txBody>
      </p:sp>
      <p:pic>
        <p:nvPicPr>
          <p:cNvPr id="2" name="Picture 1" descr="A black and red logo&#10;&#10;Description automatically generated">
            <a:extLst>
              <a:ext uri="{FF2B5EF4-FFF2-40B4-BE49-F238E27FC236}">
                <a16:creationId xmlns:a16="http://schemas.microsoft.com/office/drawing/2014/main" id="{BDF4EFD4-B321-B74E-C823-C0DFC05CD91B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-27384"/>
            <a:ext cx="1657350" cy="710452"/>
          </a:xfrm>
          <a:prstGeom prst="rect">
            <a:avLst/>
          </a:prstGeom>
        </p:spPr>
      </p:pic>
      <p:sp>
        <p:nvSpPr>
          <p:cNvPr id="3" name="Title 1">
            <a:extLst>
              <a:ext uri="{FF2B5EF4-FFF2-40B4-BE49-F238E27FC236}">
                <a16:creationId xmlns:a16="http://schemas.microsoft.com/office/drawing/2014/main" id="{EB3E5486-9C53-DDB9-19F0-1EE8DF43F69A}"/>
              </a:ext>
            </a:extLst>
          </p:cNvPr>
          <p:cNvSpPr txBox="1">
            <a:spLocks/>
          </p:cNvSpPr>
          <p:nvPr/>
        </p:nvSpPr>
        <p:spPr>
          <a:xfrm>
            <a:off x="2171700" y="116632"/>
            <a:ext cx="5829300" cy="514349"/>
          </a:xfrm>
          <a:prstGeom prst="rect">
            <a:avLst/>
          </a:prstGeom>
          <a:gradFill flip="none" rotWithShape="1">
            <a:gsLst>
              <a:gs pos="0">
                <a:srgbClr val="FF0000">
                  <a:tint val="66000"/>
                  <a:satMod val="160000"/>
                </a:srgbClr>
              </a:gs>
              <a:gs pos="50000">
                <a:srgbClr val="FF0000">
                  <a:tint val="44500"/>
                  <a:satMod val="160000"/>
                </a:srgbClr>
              </a:gs>
              <a:gs pos="100000">
                <a:srgbClr val="FF0000">
                  <a:tint val="23500"/>
                  <a:satMod val="160000"/>
                </a:srgbClr>
              </a:gs>
            </a:gsLst>
            <a:lin ang="0" scaled="1"/>
            <a:tileRect/>
          </a:gradFill>
        </p:spPr>
        <p:style>
          <a:lnRef idx="1">
            <a:schemeClr val="accent5"/>
          </a:lnRef>
          <a:fillRef idx="2">
            <a:schemeClr val="accent5"/>
          </a:fillRef>
          <a:effectRef idx="1">
            <a:schemeClr val="accent5"/>
          </a:effectRef>
          <a:fontRef idx="minor">
            <a:schemeClr val="dk1"/>
          </a:fontRef>
        </p:style>
        <p:txBody>
          <a:bodyPr vert="horz" lIns="68580" tIns="34290" rIns="68580" bIns="34290" rtlCol="0" anchor="ctr">
            <a:noAutofit/>
          </a:bodyPr>
          <a:lstStyle>
            <a:defPPr>
              <a:defRPr lang="en-US"/>
            </a:defPPr>
            <a:lvl1pPr algn="ctr">
              <a:spcBef>
                <a:spcPct val="0"/>
              </a:spcBef>
              <a:buNone/>
              <a:defRPr sz="2800"/>
            </a:lvl1pPr>
          </a:lstStyle>
          <a:p>
            <a:pPr>
              <a:defRPr/>
            </a:pPr>
            <a:r>
              <a:rPr lang="en-US" sz="2400" dirty="0"/>
              <a:t>Old Question Papers</a:t>
            </a:r>
            <a:endParaRPr lang="en-US" sz="2100" dirty="0"/>
          </a:p>
        </p:txBody>
      </p:sp>
    </p:spTree>
  </p:cSld>
  <p:clrMapOvr>
    <a:masterClrMapping/>
  </p:clrMapOvr>
  <p:transition>
    <p:wedge/>
  </p:transition>
</p:sld>
</file>

<file path=ppt/slides/slide1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1166135-E2F8-9DBE-2D90-C46E75A8066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2180294-3F57-58C4-7528-2758303CE6D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7B365B9-79F1-47D1-A89C-FEC235C95B7B}" type="datetime3">
              <a:rPr lang="en-US" smtClean="0"/>
              <a:t>1 September 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9A7E6AD-E264-483D-DF51-528D6F4F453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2514600" y="6356350"/>
            <a:ext cx="5181600" cy="365125"/>
          </a:xfrm>
        </p:spPr>
        <p:txBody>
          <a:bodyPr/>
          <a:lstStyle/>
          <a:p>
            <a:r>
              <a:rPr lang="en-US"/>
              <a:t>Atul Garg           BCSE0303            Unit- III</a:t>
            </a:r>
            <a:endParaRPr lang="en-US" dirty="0"/>
          </a:p>
        </p:txBody>
      </p:sp>
      <p:sp>
        <p:nvSpPr>
          <p:cNvPr id="11" name="Footer Placeholder 2">
            <a:extLst>
              <a:ext uri="{FF2B5EF4-FFF2-40B4-BE49-F238E27FC236}">
                <a16:creationId xmlns:a16="http://schemas.microsoft.com/office/drawing/2014/main" id="{312D9A1B-1F52-E645-2E83-7E0925A2673E}"/>
              </a:ext>
            </a:extLst>
          </p:cNvPr>
          <p:cNvSpPr txBox="1"/>
          <p:nvPr/>
        </p:nvSpPr>
        <p:spPr>
          <a:xfrm>
            <a:off x="-4284984" y="6697662"/>
            <a:ext cx="2895600" cy="320675"/>
          </a:xfrm>
          <a:prstGeom prst="rect">
            <a:avLst/>
          </a:prstGeom>
          <a:noFill/>
        </p:spPr>
        <p:txBody>
          <a:bodyPr vert="horz" lIns="91440" tIns="45720" rIns="91440" bIns="4572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sz="1200" b="0" i="0" u="none" strike="noStrike" kern="1200" cap="none" spc="0" normalizeH="0" baseline="0" noProof="0" dirty="0">
                <a:ln>
                  <a:noFill/>
                </a:ln>
                <a:solidFill>
                  <a:schemeClr val="tx1">
                    <a:tint val="75000"/>
                  </a:scheme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Operating System </a:t>
            </a:r>
            <a:r>
              <a:rPr kumimoji="0" lang="en-US" sz="1200" b="0" i="0" u="none" strike="noStrike" kern="1200" cap="none" spc="0" normalizeH="0" baseline="0" noProof="0" dirty="0" err="1">
                <a:ln>
                  <a:noFill/>
                </a:ln>
                <a:solidFill>
                  <a:schemeClr val="tx1">
                    <a:tint val="75000"/>
                  </a:scheme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Concets</a:t>
            </a:r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schemeClr val="tx1">
                  <a:tint val="75000"/>
                </a:scheme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14" name="Rectangle 3">
            <a:extLst>
              <a:ext uri="{FF2B5EF4-FFF2-40B4-BE49-F238E27FC236}">
                <a16:creationId xmlns:a16="http://schemas.microsoft.com/office/drawing/2014/main" id="{3DD5CD03-BE9B-4D82-0F62-F2154D030458}"/>
              </a:ext>
            </a:extLst>
          </p:cNvPr>
          <p:cNvSpPr txBox="1">
            <a:spLocks noChangeArrowheads="1"/>
          </p:cNvSpPr>
          <p:nvPr/>
        </p:nvSpPr>
        <p:spPr>
          <a:xfrm>
            <a:off x="899592" y="1268760"/>
            <a:ext cx="7344816" cy="4896544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/>
          <a:p>
            <a:pPr marL="342900" marR="0" lvl="0" indent="-342900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defRPr/>
            </a:pPr>
            <a:endParaRPr kumimoji="0" lang="en-US" sz="220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12" name="Slide Number Placeholder 11">
            <a:extLst>
              <a:ext uri="{FF2B5EF4-FFF2-40B4-BE49-F238E27FC236}">
                <a16:creationId xmlns:a16="http://schemas.microsoft.com/office/drawing/2014/main" id="{84246E8E-00B7-2BB4-63A5-20C00464745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t>137</a:t>
            </a:fld>
            <a:endParaRPr lang="en-US"/>
          </a:p>
        </p:txBody>
      </p:sp>
      <p:pic>
        <p:nvPicPr>
          <p:cNvPr id="2" name="Picture 1" descr="A black and red logo&#10;&#10;Description automatically generated">
            <a:extLst>
              <a:ext uri="{FF2B5EF4-FFF2-40B4-BE49-F238E27FC236}">
                <a16:creationId xmlns:a16="http://schemas.microsoft.com/office/drawing/2014/main" id="{5082B8FE-ED3F-4BDE-87C0-08B45D4D7B0A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-27384"/>
            <a:ext cx="1657350" cy="710452"/>
          </a:xfrm>
          <a:prstGeom prst="rect">
            <a:avLst/>
          </a:prstGeom>
        </p:spPr>
      </p:pic>
      <p:sp>
        <p:nvSpPr>
          <p:cNvPr id="3" name="Title 1">
            <a:extLst>
              <a:ext uri="{FF2B5EF4-FFF2-40B4-BE49-F238E27FC236}">
                <a16:creationId xmlns:a16="http://schemas.microsoft.com/office/drawing/2014/main" id="{9C738A32-638A-1CC6-FB3F-23FD70EF4A34}"/>
              </a:ext>
            </a:extLst>
          </p:cNvPr>
          <p:cNvSpPr txBox="1">
            <a:spLocks/>
          </p:cNvSpPr>
          <p:nvPr/>
        </p:nvSpPr>
        <p:spPr>
          <a:xfrm>
            <a:off x="2171700" y="116632"/>
            <a:ext cx="5829300" cy="514349"/>
          </a:xfrm>
          <a:prstGeom prst="rect">
            <a:avLst/>
          </a:prstGeom>
          <a:gradFill flip="none" rotWithShape="1">
            <a:gsLst>
              <a:gs pos="0">
                <a:srgbClr val="FF0000">
                  <a:tint val="66000"/>
                  <a:satMod val="160000"/>
                </a:srgbClr>
              </a:gs>
              <a:gs pos="50000">
                <a:srgbClr val="FF0000">
                  <a:tint val="44500"/>
                  <a:satMod val="160000"/>
                </a:srgbClr>
              </a:gs>
              <a:gs pos="100000">
                <a:srgbClr val="FF0000">
                  <a:tint val="23500"/>
                  <a:satMod val="160000"/>
                </a:srgbClr>
              </a:gs>
            </a:gsLst>
            <a:lin ang="0" scaled="1"/>
            <a:tileRect/>
          </a:gradFill>
        </p:spPr>
        <p:style>
          <a:lnRef idx="1">
            <a:schemeClr val="accent5"/>
          </a:lnRef>
          <a:fillRef idx="2">
            <a:schemeClr val="accent5"/>
          </a:fillRef>
          <a:effectRef idx="1">
            <a:schemeClr val="accent5"/>
          </a:effectRef>
          <a:fontRef idx="minor">
            <a:schemeClr val="dk1"/>
          </a:fontRef>
        </p:style>
        <p:txBody>
          <a:bodyPr vert="horz" lIns="68580" tIns="34290" rIns="68580" bIns="34290" rtlCol="0" anchor="ctr">
            <a:noAutofit/>
          </a:bodyPr>
          <a:lstStyle>
            <a:defPPr>
              <a:defRPr lang="en-US"/>
            </a:defPPr>
            <a:lvl1pPr algn="ctr">
              <a:spcBef>
                <a:spcPct val="0"/>
              </a:spcBef>
              <a:buNone/>
              <a:defRPr sz="2800"/>
            </a:lvl1pPr>
          </a:lstStyle>
          <a:p>
            <a:pPr>
              <a:defRPr/>
            </a:pPr>
            <a:r>
              <a:rPr lang="en-US" sz="2400" dirty="0"/>
              <a:t>Old Question Papers</a:t>
            </a:r>
            <a:endParaRPr lang="en-US" sz="2100" dirty="0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C1C4F1FC-4987-9460-5EF1-6354CFAE6BD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79612" y="1113257"/>
            <a:ext cx="6984776" cy="47729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882812"/>
      </p:ext>
    </p:extLst>
  </p:cSld>
  <p:clrMapOvr>
    <a:masterClrMapping/>
  </p:clrMapOvr>
  <p:transition>
    <p:wedge/>
  </p:transition>
</p:sld>
</file>

<file path=ppt/slides/slide1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5056D68-BCAD-B6AC-5CD9-2D64432A99A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17C4A76-105B-81D9-8E38-F0D150E902B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ED1A5AB-1743-43CA-B564-56298FF5CF0A}" type="datetime3">
              <a:rPr lang="en-US" smtClean="0"/>
              <a:t>1 September 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CC34E24-87EE-2FF6-FC06-395611E472D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2514600" y="6356350"/>
            <a:ext cx="5181600" cy="365125"/>
          </a:xfrm>
        </p:spPr>
        <p:txBody>
          <a:bodyPr/>
          <a:lstStyle/>
          <a:p>
            <a:r>
              <a:rPr lang="en-US"/>
              <a:t>Atul Garg           BCSE0303            Unit- III</a:t>
            </a:r>
            <a:endParaRPr lang="en-US" dirty="0"/>
          </a:p>
        </p:txBody>
      </p:sp>
      <p:sp>
        <p:nvSpPr>
          <p:cNvPr id="11" name="Footer Placeholder 2">
            <a:extLst>
              <a:ext uri="{FF2B5EF4-FFF2-40B4-BE49-F238E27FC236}">
                <a16:creationId xmlns:a16="http://schemas.microsoft.com/office/drawing/2014/main" id="{08C63D89-1458-A3FC-9516-DFDF07465266}"/>
              </a:ext>
            </a:extLst>
          </p:cNvPr>
          <p:cNvSpPr txBox="1"/>
          <p:nvPr/>
        </p:nvSpPr>
        <p:spPr>
          <a:xfrm>
            <a:off x="-4284984" y="6697662"/>
            <a:ext cx="2895600" cy="320675"/>
          </a:xfrm>
          <a:prstGeom prst="rect">
            <a:avLst/>
          </a:prstGeom>
          <a:noFill/>
        </p:spPr>
        <p:txBody>
          <a:bodyPr vert="horz" lIns="91440" tIns="45720" rIns="91440" bIns="4572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sz="1200" b="0" i="0" u="none" strike="noStrike" kern="1200" cap="none" spc="0" normalizeH="0" baseline="0" noProof="0" dirty="0">
                <a:ln>
                  <a:noFill/>
                </a:ln>
                <a:solidFill>
                  <a:schemeClr val="tx1">
                    <a:tint val="75000"/>
                  </a:scheme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Operating System </a:t>
            </a:r>
            <a:r>
              <a:rPr kumimoji="0" lang="en-US" sz="1200" b="0" i="0" u="none" strike="noStrike" kern="1200" cap="none" spc="0" normalizeH="0" baseline="0" noProof="0" dirty="0" err="1">
                <a:ln>
                  <a:noFill/>
                </a:ln>
                <a:solidFill>
                  <a:schemeClr val="tx1">
                    <a:tint val="75000"/>
                  </a:scheme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Concets</a:t>
            </a:r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schemeClr val="tx1">
                  <a:tint val="75000"/>
                </a:scheme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14" name="Rectangle 3">
            <a:extLst>
              <a:ext uri="{FF2B5EF4-FFF2-40B4-BE49-F238E27FC236}">
                <a16:creationId xmlns:a16="http://schemas.microsoft.com/office/drawing/2014/main" id="{7726E99D-3BB5-88A2-ED53-E474BAE08198}"/>
              </a:ext>
            </a:extLst>
          </p:cNvPr>
          <p:cNvSpPr txBox="1">
            <a:spLocks noChangeArrowheads="1"/>
          </p:cNvSpPr>
          <p:nvPr/>
        </p:nvSpPr>
        <p:spPr>
          <a:xfrm>
            <a:off x="899592" y="1268760"/>
            <a:ext cx="7344816" cy="4896544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/>
          <a:p>
            <a:pPr marL="342900" marR="0" lvl="0" indent="-342900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defRPr/>
            </a:pPr>
            <a:endParaRPr kumimoji="0" lang="en-US" sz="220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12" name="Slide Number Placeholder 11">
            <a:extLst>
              <a:ext uri="{FF2B5EF4-FFF2-40B4-BE49-F238E27FC236}">
                <a16:creationId xmlns:a16="http://schemas.microsoft.com/office/drawing/2014/main" id="{C8D7151F-8C5D-971D-01A1-F6D8BE35E35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t>138</a:t>
            </a:fld>
            <a:endParaRPr lang="en-US"/>
          </a:p>
        </p:txBody>
      </p:sp>
      <p:pic>
        <p:nvPicPr>
          <p:cNvPr id="2" name="Picture 1" descr="A black and red logo&#10;&#10;Description automatically generated">
            <a:extLst>
              <a:ext uri="{FF2B5EF4-FFF2-40B4-BE49-F238E27FC236}">
                <a16:creationId xmlns:a16="http://schemas.microsoft.com/office/drawing/2014/main" id="{5D55CE02-CBB9-7107-F78C-0E5E32E9E2FD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-27384"/>
            <a:ext cx="1657350" cy="710452"/>
          </a:xfrm>
          <a:prstGeom prst="rect">
            <a:avLst/>
          </a:prstGeom>
        </p:spPr>
      </p:pic>
      <p:sp>
        <p:nvSpPr>
          <p:cNvPr id="3" name="Title 1">
            <a:extLst>
              <a:ext uri="{FF2B5EF4-FFF2-40B4-BE49-F238E27FC236}">
                <a16:creationId xmlns:a16="http://schemas.microsoft.com/office/drawing/2014/main" id="{86D18F45-986D-5FFC-6D1C-FF5B8A765E09}"/>
              </a:ext>
            </a:extLst>
          </p:cNvPr>
          <p:cNvSpPr txBox="1">
            <a:spLocks/>
          </p:cNvSpPr>
          <p:nvPr/>
        </p:nvSpPr>
        <p:spPr>
          <a:xfrm>
            <a:off x="2171700" y="116632"/>
            <a:ext cx="5829300" cy="514349"/>
          </a:xfrm>
          <a:prstGeom prst="rect">
            <a:avLst/>
          </a:prstGeom>
          <a:gradFill flip="none" rotWithShape="1">
            <a:gsLst>
              <a:gs pos="0">
                <a:srgbClr val="FF0000">
                  <a:tint val="66000"/>
                  <a:satMod val="160000"/>
                </a:srgbClr>
              </a:gs>
              <a:gs pos="50000">
                <a:srgbClr val="FF0000">
                  <a:tint val="44500"/>
                  <a:satMod val="160000"/>
                </a:srgbClr>
              </a:gs>
              <a:gs pos="100000">
                <a:srgbClr val="FF0000">
                  <a:tint val="23500"/>
                  <a:satMod val="160000"/>
                </a:srgbClr>
              </a:gs>
            </a:gsLst>
            <a:lin ang="0" scaled="1"/>
            <a:tileRect/>
          </a:gradFill>
        </p:spPr>
        <p:style>
          <a:lnRef idx="1">
            <a:schemeClr val="accent5"/>
          </a:lnRef>
          <a:fillRef idx="2">
            <a:schemeClr val="accent5"/>
          </a:fillRef>
          <a:effectRef idx="1">
            <a:schemeClr val="accent5"/>
          </a:effectRef>
          <a:fontRef idx="minor">
            <a:schemeClr val="dk1"/>
          </a:fontRef>
        </p:style>
        <p:txBody>
          <a:bodyPr vert="horz" lIns="68580" tIns="34290" rIns="68580" bIns="34290" rtlCol="0" anchor="ctr">
            <a:noAutofit/>
          </a:bodyPr>
          <a:lstStyle>
            <a:defPPr>
              <a:defRPr lang="en-US"/>
            </a:defPPr>
            <a:lvl1pPr algn="ctr">
              <a:spcBef>
                <a:spcPct val="0"/>
              </a:spcBef>
              <a:buNone/>
              <a:defRPr sz="2800"/>
            </a:lvl1pPr>
          </a:lstStyle>
          <a:p>
            <a:pPr>
              <a:defRPr/>
            </a:pPr>
            <a:r>
              <a:rPr lang="en-US" sz="2400" dirty="0"/>
              <a:t>Old Question Papers</a:t>
            </a:r>
            <a:endParaRPr lang="en-US" sz="2100" dirty="0"/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87A7EF35-93E6-D3F6-97CE-0F19ADB01C7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657350" y="1052736"/>
            <a:ext cx="6227018" cy="511508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16671068"/>
      </p:ext>
    </p:extLst>
  </p:cSld>
  <p:clrMapOvr>
    <a:masterClrMapping/>
  </p:clrMapOvr>
  <p:transition>
    <p:wedge/>
  </p:transition>
</p:sld>
</file>

<file path=ppt/slides/slide1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8FE18AE-7C4E-C017-0C83-6E48846EDA2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AB7EAC9-2FF2-D265-1336-28EB00D68AD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DD5BCA-1D8E-40C1-8DEA-6C7DE8808998}" type="datetime3">
              <a:rPr lang="en-US" smtClean="0"/>
              <a:t>1 September 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C2DC4C8-84D3-9DCE-E502-A9FB6DC834C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2514600" y="6356350"/>
            <a:ext cx="5181600" cy="365125"/>
          </a:xfrm>
        </p:spPr>
        <p:txBody>
          <a:bodyPr/>
          <a:lstStyle/>
          <a:p>
            <a:r>
              <a:rPr lang="en-US"/>
              <a:t>Atul Garg           BCSE0303            Unit- III</a:t>
            </a:r>
            <a:endParaRPr lang="en-US" dirty="0"/>
          </a:p>
        </p:txBody>
      </p:sp>
      <p:sp>
        <p:nvSpPr>
          <p:cNvPr id="11" name="Footer Placeholder 2">
            <a:extLst>
              <a:ext uri="{FF2B5EF4-FFF2-40B4-BE49-F238E27FC236}">
                <a16:creationId xmlns:a16="http://schemas.microsoft.com/office/drawing/2014/main" id="{B6A3B5B5-AEA2-3454-E0EF-C4A466866ABE}"/>
              </a:ext>
            </a:extLst>
          </p:cNvPr>
          <p:cNvSpPr txBox="1"/>
          <p:nvPr/>
        </p:nvSpPr>
        <p:spPr>
          <a:xfrm>
            <a:off x="-4284984" y="6697662"/>
            <a:ext cx="2895600" cy="320675"/>
          </a:xfrm>
          <a:prstGeom prst="rect">
            <a:avLst/>
          </a:prstGeom>
          <a:noFill/>
        </p:spPr>
        <p:txBody>
          <a:bodyPr vert="horz" lIns="91440" tIns="45720" rIns="91440" bIns="4572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sz="1200" b="0" i="0" u="none" strike="noStrike" kern="1200" cap="none" spc="0" normalizeH="0" baseline="0" noProof="0" dirty="0">
                <a:ln>
                  <a:noFill/>
                </a:ln>
                <a:solidFill>
                  <a:schemeClr val="tx1">
                    <a:tint val="75000"/>
                  </a:scheme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Operating System </a:t>
            </a:r>
            <a:r>
              <a:rPr kumimoji="0" lang="en-US" sz="1200" b="0" i="0" u="none" strike="noStrike" kern="1200" cap="none" spc="0" normalizeH="0" baseline="0" noProof="0" dirty="0" err="1">
                <a:ln>
                  <a:noFill/>
                </a:ln>
                <a:solidFill>
                  <a:schemeClr val="tx1">
                    <a:tint val="75000"/>
                  </a:scheme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Concets</a:t>
            </a:r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schemeClr val="tx1">
                  <a:tint val="75000"/>
                </a:scheme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14" name="Rectangle 3">
            <a:extLst>
              <a:ext uri="{FF2B5EF4-FFF2-40B4-BE49-F238E27FC236}">
                <a16:creationId xmlns:a16="http://schemas.microsoft.com/office/drawing/2014/main" id="{79CB2F67-2F86-1154-2B88-7AA0EE1A5CB2}"/>
              </a:ext>
            </a:extLst>
          </p:cNvPr>
          <p:cNvSpPr txBox="1">
            <a:spLocks noChangeArrowheads="1"/>
          </p:cNvSpPr>
          <p:nvPr/>
        </p:nvSpPr>
        <p:spPr>
          <a:xfrm>
            <a:off x="899592" y="1268760"/>
            <a:ext cx="7344816" cy="4896544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/>
          <a:p>
            <a:pPr marL="342900" marR="0" lvl="0" indent="-342900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defRPr/>
            </a:pPr>
            <a:endParaRPr kumimoji="0" lang="en-US" sz="220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12" name="Slide Number Placeholder 11">
            <a:extLst>
              <a:ext uri="{FF2B5EF4-FFF2-40B4-BE49-F238E27FC236}">
                <a16:creationId xmlns:a16="http://schemas.microsoft.com/office/drawing/2014/main" id="{A95278C3-F0C7-CD38-056F-28047B672EB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t>139</a:t>
            </a:fld>
            <a:endParaRPr lang="en-US"/>
          </a:p>
        </p:txBody>
      </p:sp>
      <p:pic>
        <p:nvPicPr>
          <p:cNvPr id="2" name="Picture 1" descr="A black and red logo&#10;&#10;Description automatically generated">
            <a:extLst>
              <a:ext uri="{FF2B5EF4-FFF2-40B4-BE49-F238E27FC236}">
                <a16:creationId xmlns:a16="http://schemas.microsoft.com/office/drawing/2014/main" id="{8BD35D7A-AF83-60D9-9C87-FBA92C113B21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-27384"/>
            <a:ext cx="1657350" cy="710452"/>
          </a:xfrm>
          <a:prstGeom prst="rect">
            <a:avLst/>
          </a:prstGeom>
        </p:spPr>
      </p:pic>
      <p:sp>
        <p:nvSpPr>
          <p:cNvPr id="3" name="Title 1">
            <a:extLst>
              <a:ext uri="{FF2B5EF4-FFF2-40B4-BE49-F238E27FC236}">
                <a16:creationId xmlns:a16="http://schemas.microsoft.com/office/drawing/2014/main" id="{1B21B477-D4E0-2B91-A0F0-C718A6CBF69E}"/>
              </a:ext>
            </a:extLst>
          </p:cNvPr>
          <p:cNvSpPr txBox="1">
            <a:spLocks/>
          </p:cNvSpPr>
          <p:nvPr/>
        </p:nvSpPr>
        <p:spPr>
          <a:xfrm>
            <a:off x="2171700" y="116632"/>
            <a:ext cx="5829300" cy="514349"/>
          </a:xfrm>
          <a:prstGeom prst="rect">
            <a:avLst/>
          </a:prstGeom>
          <a:gradFill flip="none" rotWithShape="1">
            <a:gsLst>
              <a:gs pos="0">
                <a:srgbClr val="FF0000">
                  <a:tint val="66000"/>
                  <a:satMod val="160000"/>
                </a:srgbClr>
              </a:gs>
              <a:gs pos="50000">
                <a:srgbClr val="FF0000">
                  <a:tint val="44500"/>
                  <a:satMod val="160000"/>
                </a:srgbClr>
              </a:gs>
              <a:gs pos="100000">
                <a:srgbClr val="FF0000">
                  <a:tint val="23500"/>
                  <a:satMod val="160000"/>
                </a:srgbClr>
              </a:gs>
            </a:gsLst>
            <a:lin ang="0" scaled="1"/>
            <a:tileRect/>
          </a:gradFill>
        </p:spPr>
        <p:style>
          <a:lnRef idx="1">
            <a:schemeClr val="accent5"/>
          </a:lnRef>
          <a:fillRef idx="2">
            <a:schemeClr val="accent5"/>
          </a:fillRef>
          <a:effectRef idx="1">
            <a:schemeClr val="accent5"/>
          </a:effectRef>
          <a:fontRef idx="minor">
            <a:schemeClr val="dk1"/>
          </a:fontRef>
        </p:style>
        <p:txBody>
          <a:bodyPr vert="horz" lIns="68580" tIns="34290" rIns="68580" bIns="34290" rtlCol="0" anchor="ctr">
            <a:noAutofit/>
          </a:bodyPr>
          <a:lstStyle>
            <a:defPPr>
              <a:defRPr lang="en-US"/>
            </a:defPPr>
            <a:lvl1pPr algn="ctr">
              <a:spcBef>
                <a:spcPct val="0"/>
              </a:spcBef>
              <a:buNone/>
              <a:defRPr sz="2800"/>
            </a:lvl1pPr>
          </a:lstStyle>
          <a:p>
            <a:pPr>
              <a:defRPr/>
            </a:pPr>
            <a:r>
              <a:rPr lang="en-US" sz="2400" dirty="0"/>
              <a:t>Old Question Papers</a:t>
            </a:r>
            <a:endParaRPr lang="en-US" sz="2100" dirty="0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008F30A0-1F91-F17A-B44D-7A34552A595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53560" y="980729"/>
            <a:ext cx="6630808" cy="402964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245553"/>
      </p:ext>
    </p:extLst>
  </p:cSld>
  <p:clrMapOvr>
    <a:masterClrMapping/>
  </p:clrMapOvr>
  <p:transition>
    <p:wedge/>
  </p:transition>
</p:sld>
</file>

<file path=ppt/slides/slide1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AC01094-7AF6-4773-A940-B899FB576172}" type="datetime3">
              <a:rPr lang="en-US" smtClean="0"/>
              <a:t>1 September 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2514600" y="6356350"/>
            <a:ext cx="5181600" cy="365125"/>
          </a:xfrm>
        </p:spPr>
        <p:txBody>
          <a:bodyPr/>
          <a:lstStyle/>
          <a:p>
            <a:r>
              <a:rPr lang="en-US"/>
              <a:t>Atul Garg           BCSE0303            Unit- III</a:t>
            </a:r>
            <a:endParaRPr lang="en-US" dirty="0"/>
          </a:p>
        </p:txBody>
      </p:sp>
      <p:sp>
        <p:nvSpPr>
          <p:cNvPr id="11" name="Footer Placeholder 2"/>
          <p:cNvSpPr txBox="1"/>
          <p:nvPr/>
        </p:nvSpPr>
        <p:spPr>
          <a:xfrm>
            <a:off x="-4284984" y="6697662"/>
            <a:ext cx="2895600" cy="320675"/>
          </a:xfrm>
          <a:prstGeom prst="rect">
            <a:avLst/>
          </a:prstGeom>
          <a:noFill/>
        </p:spPr>
        <p:txBody>
          <a:bodyPr vert="horz" lIns="91440" tIns="45720" rIns="91440" bIns="4572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sz="1200" b="0" i="0" u="none" strike="noStrike" kern="1200" cap="none" spc="0" normalizeH="0" baseline="0" noProof="0" dirty="0">
                <a:ln>
                  <a:noFill/>
                </a:ln>
                <a:solidFill>
                  <a:schemeClr val="tx1">
                    <a:tint val="75000"/>
                  </a:scheme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Operating System </a:t>
            </a:r>
            <a:r>
              <a:rPr kumimoji="0" lang="en-US" sz="1200" b="0" i="0" u="none" strike="noStrike" kern="1200" cap="none" spc="0" normalizeH="0" baseline="0" noProof="0" dirty="0" err="1">
                <a:ln>
                  <a:noFill/>
                </a:ln>
                <a:solidFill>
                  <a:schemeClr val="tx1">
                    <a:tint val="75000"/>
                  </a:scheme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Concets</a:t>
            </a:r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schemeClr val="tx1">
                  <a:tint val="75000"/>
                </a:scheme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14" name="Rectangle 3"/>
          <p:cNvSpPr txBox="1">
            <a:spLocks noChangeArrowheads="1"/>
          </p:cNvSpPr>
          <p:nvPr/>
        </p:nvSpPr>
        <p:spPr>
          <a:xfrm>
            <a:off x="899592" y="1268760"/>
            <a:ext cx="7344816" cy="4896544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/>
          <a:p>
            <a:pPr marL="342900" marR="0" lvl="0" indent="-342900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defRPr/>
            </a:pPr>
            <a:endParaRPr kumimoji="0" lang="en-US" sz="220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12" name="Content Placeholder 2"/>
          <p:cNvSpPr>
            <a:spLocks noGrp="1"/>
          </p:cNvSpPr>
          <p:nvPr>
            <p:ph idx="1"/>
          </p:nvPr>
        </p:nvSpPr>
        <p:spPr>
          <a:xfrm>
            <a:off x="827584" y="776939"/>
            <a:ext cx="7920880" cy="5316357"/>
          </a:xfrm>
        </p:spPr>
        <p:txBody>
          <a:bodyPr>
            <a:noAutofit/>
          </a:bodyPr>
          <a:lstStyle/>
          <a:p>
            <a:pPr marL="514350" indent="-514350">
              <a:buFont typeface="+mj-lt"/>
              <a:buAutoNum type="arabicPeriod"/>
            </a:pPr>
            <a:r>
              <a:rPr lang="en-US" sz="2200" dirty="0"/>
              <a:t>Define race condition.</a:t>
            </a:r>
            <a:endParaRPr lang="en-IN" sz="2200" dirty="0"/>
          </a:p>
          <a:p>
            <a:pPr marL="457200" indent="-457200">
              <a:buFont typeface="+mj-lt"/>
              <a:buAutoNum type="arabicPeriod"/>
            </a:pPr>
            <a:r>
              <a:rPr lang="en-US" sz="2200" dirty="0"/>
              <a:t>Write and explain Peterson solution to the critical section problem.                              </a:t>
            </a:r>
            <a:endParaRPr lang="en-IN" sz="2200" dirty="0"/>
          </a:p>
          <a:p>
            <a:pPr marL="457200" indent="-457200">
              <a:buFont typeface="+mj-lt"/>
              <a:buAutoNum type="arabicPeriod"/>
            </a:pPr>
            <a:r>
              <a:rPr lang="en-US" sz="2200" dirty="0"/>
              <a:t>Discuss product-consumer problem with semaphore.</a:t>
            </a:r>
          </a:p>
          <a:p>
            <a:pPr marL="457200" indent="-457200">
              <a:buFont typeface="+mj-lt"/>
              <a:buAutoNum type="arabicPeriod"/>
            </a:pPr>
            <a:r>
              <a:rPr lang="en-US" sz="2200" dirty="0"/>
              <a:t>Define critical section. </a:t>
            </a:r>
            <a:endParaRPr lang="en-IN" sz="2200" dirty="0"/>
          </a:p>
          <a:p>
            <a:pPr marL="457200" indent="-457200">
              <a:buFont typeface="+mj-lt"/>
              <a:buAutoNum type="arabicPeriod"/>
            </a:pPr>
            <a:r>
              <a:rPr lang="en-US" sz="2200" dirty="0"/>
              <a:t>State the Readers/Writers problem with readers having higher priority. Give solution of the problem using semaphores.</a:t>
            </a:r>
          </a:p>
          <a:p>
            <a:pPr marL="457200" indent="-457200">
              <a:buFont typeface="+mj-lt"/>
              <a:buAutoNum type="arabicPeriod"/>
            </a:pPr>
            <a:r>
              <a:rPr lang="en-US" sz="2200" dirty="0"/>
              <a:t>Explain dinning philosopher problem &amp; its solution.</a:t>
            </a:r>
          </a:p>
          <a:p>
            <a:pPr marL="457200" indent="-457200">
              <a:buFont typeface="+mj-lt"/>
              <a:buAutoNum type="arabicPeriod"/>
            </a:pPr>
            <a:r>
              <a:rPr lang="en-US" sz="2200" dirty="0"/>
              <a:t>Write a short note on inter-process communication with its advantages.</a:t>
            </a:r>
          </a:p>
          <a:p>
            <a:pPr marL="457200" indent="-457200">
              <a:buFont typeface="+mj-lt"/>
              <a:buAutoNum type="arabicPeriod"/>
            </a:pPr>
            <a:r>
              <a:rPr lang="en-US" sz="2200" dirty="0"/>
              <a:t>Define critical section.</a:t>
            </a:r>
          </a:p>
          <a:p>
            <a:pPr marL="457200" indent="-457200">
              <a:buFont typeface="+mj-lt"/>
              <a:buAutoNum type="arabicPeriod"/>
            </a:pPr>
            <a:r>
              <a:rPr lang="en-US" sz="2200" dirty="0"/>
              <a:t>Explain two primitive semaphore operations</a:t>
            </a:r>
          </a:p>
          <a:p>
            <a:pPr marL="457200" indent="-457200">
              <a:buFont typeface="+mj-lt"/>
              <a:buAutoNum type="arabicPeriod"/>
            </a:pPr>
            <a:r>
              <a:rPr lang="en-US" sz="2200" dirty="0"/>
              <a:t> Name some classic problem of synchronization</a:t>
            </a:r>
          </a:p>
          <a:p>
            <a:pPr marL="457200" indent="-457200">
              <a:buFont typeface="+mj-lt"/>
              <a:buAutoNum type="arabicPeriod"/>
            </a:pPr>
            <a:endParaRPr lang="en-US" sz="2200" dirty="0"/>
          </a:p>
          <a:p>
            <a:pPr>
              <a:lnSpc>
                <a:spcPct val="160000"/>
              </a:lnSpc>
              <a:buNone/>
            </a:pPr>
            <a:endParaRPr lang="en-IN" sz="2200" dirty="0"/>
          </a:p>
        </p:txBody>
      </p:sp>
      <p:sp>
        <p:nvSpPr>
          <p:cNvPr id="10" name="Slide Number Placeholder 9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t>140</a:t>
            </a:fld>
            <a:endParaRPr lang="en-US"/>
          </a:p>
        </p:txBody>
      </p:sp>
      <p:pic>
        <p:nvPicPr>
          <p:cNvPr id="2" name="Picture 1" descr="A black and red logo&#10;&#10;Description automatically generated">
            <a:extLst>
              <a:ext uri="{FF2B5EF4-FFF2-40B4-BE49-F238E27FC236}">
                <a16:creationId xmlns:a16="http://schemas.microsoft.com/office/drawing/2014/main" id="{FF016B09-AEE8-3939-95BA-12A71F5162A2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-27384"/>
            <a:ext cx="1657350" cy="710452"/>
          </a:xfrm>
          <a:prstGeom prst="rect">
            <a:avLst/>
          </a:prstGeom>
        </p:spPr>
      </p:pic>
      <p:sp>
        <p:nvSpPr>
          <p:cNvPr id="3" name="Title 1">
            <a:extLst>
              <a:ext uri="{FF2B5EF4-FFF2-40B4-BE49-F238E27FC236}">
                <a16:creationId xmlns:a16="http://schemas.microsoft.com/office/drawing/2014/main" id="{4FC91990-43B1-164C-02FC-E3F788B14E8E}"/>
              </a:ext>
            </a:extLst>
          </p:cNvPr>
          <p:cNvSpPr txBox="1">
            <a:spLocks/>
          </p:cNvSpPr>
          <p:nvPr/>
        </p:nvSpPr>
        <p:spPr>
          <a:xfrm>
            <a:off x="2171700" y="116632"/>
            <a:ext cx="5829300" cy="514349"/>
          </a:xfrm>
          <a:prstGeom prst="rect">
            <a:avLst/>
          </a:prstGeom>
          <a:gradFill flip="none" rotWithShape="1">
            <a:gsLst>
              <a:gs pos="0">
                <a:srgbClr val="FF0000">
                  <a:tint val="66000"/>
                  <a:satMod val="160000"/>
                </a:srgbClr>
              </a:gs>
              <a:gs pos="50000">
                <a:srgbClr val="FF0000">
                  <a:tint val="44500"/>
                  <a:satMod val="160000"/>
                </a:srgbClr>
              </a:gs>
              <a:gs pos="100000">
                <a:srgbClr val="FF0000">
                  <a:tint val="23500"/>
                  <a:satMod val="160000"/>
                </a:srgbClr>
              </a:gs>
            </a:gsLst>
            <a:lin ang="0" scaled="1"/>
            <a:tileRect/>
          </a:gradFill>
        </p:spPr>
        <p:style>
          <a:lnRef idx="1">
            <a:schemeClr val="accent5"/>
          </a:lnRef>
          <a:fillRef idx="2">
            <a:schemeClr val="accent5"/>
          </a:fillRef>
          <a:effectRef idx="1">
            <a:schemeClr val="accent5"/>
          </a:effectRef>
          <a:fontRef idx="minor">
            <a:schemeClr val="dk1"/>
          </a:fontRef>
        </p:style>
        <p:txBody>
          <a:bodyPr vert="horz" lIns="68580" tIns="34290" rIns="68580" bIns="34290" rtlCol="0" anchor="ctr">
            <a:noAutofit/>
          </a:bodyPr>
          <a:lstStyle>
            <a:defPPr>
              <a:defRPr lang="en-US"/>
            </a:defPPr>
            <a:lvl1pPr algn="ctr">
              <a:spcBef>
                <a:spcPct val="0"/>
              </a:spcBef>
              <a:buNone/>
              <a:defRPr sz="2800"/>
            </a:lvl1pPr>
          </a:lstStyle>
          <a:p>
            <a:pPr>
              <a:defRPr/>
            </a:pPr>
            <a:r>
              <a:rPr lang="en-US" sz="2400" dirty="0"/>
              <a:t>Expected Questions for University Exam</a:t>
            </a:r>
            <a:endParaRPr lang="en-US" sz="2100" dirty="0"/>
          </a:p>
        </p:txBody>
      </p:sp>
    </p:spTree>
  </p:cSld>
  <p:clrMapOvr>
    <a:masterClrMapping/>
  </p:clrMapOvr>
  <p:transition>
    <p:wedge/>
  </p:transition>
</p:sld>
</file>

<file path=ppt/slides/slide1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FF01EF1-5923-41A5-8569-DD952125EB54}" type="datetime3">
              <a:rPr lang="en-US" smtClean="0"/>
              <a:t>1 September 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2514600" y="6356350"/>
            <a:ext cx="5181600" cy="365125"/>
          </a:xfrm>
        </p:spPr>
        <p:txBody>
          <a:bodyPr/>
          <a:lstStyle/>
          <a:p>
            <a:r>
              <a:rPr lang="en-US"/>
              <a:t>Atul Garg           BCSE0303            Unit- III</a:t>
            </a:r>
            <a:endParaRPr lang="en-US" dirty="0"/>
          </a:p>
        </p:txBody>
      </p:sp>
      <p:sp>
        <p:nvSpPr>
          <p:cNvPr id="11" name="Footer Placeholder 2"/>
          <p:cNvSpPr txBox="1"/>
          <p:nvPr/>
        </p:nvSpPr>
        <p:spPr>
          <a:xfrm>
            <a:off x="-4284984" y="6697662"/>
            <a:ext cx="2895600" cy="320675"/>
          </a:xfrm>
          <a:prstGeom prst="rect">
            <a:avLst/>
          </a:prstGeom>
          <a:noFill/>
        </p:spPr>
        <p:txBody>
          <a:bodyPr vert="horz" lIns="91440" tIns="45720" rIns="91440" bIns="4572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sz="1200" b="0" i="0" u="none" strike="noStrike" kern="1200" cap="none" spc="0" normalizeH="0" baseline="0" noProof="0" dirty="0">
                <a:ln>
                  <a:noFill/>
                </a:ln>
                <a:solidFill>
                  <a:schemeClr val="tx1">
                    <a:tint val="75000"/>
                  </a:scheme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Operating System </a:t>
            </a:r>
            <a:r>
              <a:rPr kumimoji="0" lang="en-US" sz="1200" b="0" i="0" u="none" strike="noStrike" kern="1200" cap="none" spc="0" normalizeH="0" baseline="0" noProof="0" dirty="0" err="1">
                <a:ln>
                  <a:noFill/>
                </a:ln>
                <a:solidFill>
                  <a:schemeClr val="tx1">
                    <a:tint val="75000"/>
                  </a:scheme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Concets</a:t>
            </a:r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schemeClr val="tx1">
                  <a:tint val="75000"/>
                </a:scheme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14" name="Rectangle 3"/>
          <p:cNvSpPr txBox="1">
            <a:spLocks noChangeArrowheads="1"/>
          </p:cNvSpPr>
          <p:nvPr/>
        </p:nvSpPr>
        <p:spPr>
          <a:xfrm>
            <a:off x="899592" y="1268760"/>
            <a:ext cx="7344816" cy="4896544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/>
          <a:p>
            <a:pPr marL="342900" marR="0" lvl="0" indent="-342900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defRPr/>
            </a:pPr>
            <a:endParaRPr kumimoji="0" lang="en-US" sz="220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12" name="Content Placeholder 2"/>
          <p:cNvSpPr>
            <a:spLocks noGrp="1"/>
          </p:cNvSpPr>
          <p:nvPr>
            <p:ph idx="1"/>
          </p:nvPr>
        </p:nvSpPr>
        <p:spPr>
          <a:xfrm>
            <a:off x="827584" y="776939"/>
            <a:ext cx="7920880" cy="5316357"/>
          </a:xfrm>
        </p:spPr>
        <p:txBody>
          <a:bodyPr>
            <a:noAutofit/>
          </a:bodyPr>
          <a:lstStyle/>
          <a:p>
            <a:pPr marL="457200" indent="-457200">
              <a:lnSpc>
                <a:spcPct val="150000"/>
              </a:lnSpc>
              <a:buNone/>
            </a:pPr>
            <a:r>
              <a:rPr lang="en-US" sz="2200" dirty="0"/>
              <a:t>12. Write a note on Deadlock Prevention. </a:t>
            </a:r>
            <a:endParaRPr lang="en-IN" sz="2200" dirty="0"/>
          </a:p>
          <a:p>
            <a:pPr marL="457200" indent="-457200">
              <a:lnSpc>
                <a:spcPct val="150000"/>
              </a:lnSpc>
              <a:buNone/>
            </a:pPr>
            <a:r>
              <a:rPr lang="en-US" sz="2200" dirty="0"/>
              <a:t>13. Write down the steps of Deadlock Detection</a:t>
            </a:r>
          </a:p>
          <a:p>
            <a:pPr marL="457200" indent="-457200">
              <a:lnSpc>
                <a:spcPct val="150000"/>
              </a:lnSpc>
              <a:buNone/>
            </a:pPr>
            <a:r>
              <a:rPr lang="en-US" sz="2200" dirty="0"/>
              <a:t>14. List out the necessary conditions for deadlock to occur.</a:t>
            </a:r>
            <a:endParaRPr lang="en-IN" sz="2200" dirty="0"/>
          </a:p>
          <a:p>
            <a:pPr>
              <a:lnSpc>
                <a:spcPct val="150000"/>
              </a:lnSpc>
              <a:buNone/>
            </a:pPr>
            <a:endParaRPr lang="en-US" sz="2200" dirty="0"/>
          </a:p>
          <a:p>
            <a:pPr marL="457200" indent="-457200">
              <a:lnSpc>
                <a:spcPct val="150000"/>
              </a:lnSpc>
              <a:buFont typeface="+mj-lt"/>
              <a:buAutoNum type="arabicPeriod"/>
            </a:pPr>
            <a:endParaRPr lang="en-US" sz="2200" dirty="0"/>
          </a:p>
          <a:p>
            <a:pPr>
              <a:lnSpc>
                <a:spcPct val="150000"/>
              </a:lnSpc>
              <a:buNone/>
            </a:pPr>
            <a:endParaRPr lang="en-IN" sz="2200" dirty="0"/>
          </a:p>
        </p:txBody>
      </p:sp>
      <p:sp>
        <p:nvSpPr>
          <p:cNvPr id="13" name="Slide Number Placeholder 1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t>141</a:t>
            </a:fld>
            <a:endParaRPr lang="en-US"/>
          </a:p>
        </p:txBody>
      </p:sp>
      <p:pic>
        <p:nvPicPr>
          <p:cNvPr id="2" name="Picture 1" descr="A black and red logo&#10;&#10;Description automatically generated">
            <a:extLst>
              <a:ext uri="{FF2B5EF4-FFF2-40B4-BE49-F238E27FC236}">
                <a16:creationId xmlns:a16="http://schemas.microsoft.com/office/drawing/2014/main" id="{E08F6997-BAFA-ADF5-B310-2EE92BF77CA3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-27384"/>
            <a:ext cx="1657350" cy="710452"/>
          </a:xfrm>
          <a:prstGeom prst="rect">
            <a:avLst/>
          </a:prstGeom>
        </p:spPr>
      </p:pic>
      <p:sp>
        <p:nvSpPr>
          <p:cNvPr id="3" name="Title 1">
            <a:extLst>
              <a:ext uri="{FF2B5EF4-FFF2-40B4-BE49-F238E27FC236}">
                <a16:creationId xmlns:a16="http://schemas.microsoft.com/office/drawing/2014/main" id="{79D3B1CF-22FC-932C-C068-2C13EECADC22}"/>
              </a:ext>
            </a:extLst>
          </p:cNvPr>
          <p:cNvSpPr txBox="1">
            <a:spLocks/>
          </p:cNvSpPr>
          <p:nvPr/>
        </p:nvSpPr>
        <p:spPr>
          <a:xfrm>
            <a:off x="2171700" y="116632"/>
            <a:ext cx="5829300" cy="514349"/>
          </a:xfrm>
          <a:prstGeom prst="rect">
            <a:avLst/>
          </a:prstGeom>
          <a:gradFill flip="none" rotWithShape="1">
            <a:gsLst>
              <a:gs pos="0">
                <a:srgbClr val="FF0000">
                  <a:tint val="66000"/>
                  <a:satMod val="160000"/>
                </a:srgbClr>
              </a:gs>
              <a:gs pos="50000">
                <a:srgbClr val="FF0000">
                  <a:tint val="44500"/>
                  <a:satMod val="160000"/>
                </a:srgbClr>
              </a:gs>
              <a:gs pos="100000">
                <a:srgbClr val="FF0000">
                  <a:tint val="23500"/>
                  <a:satMod val="160000"/>
                </a:srgbClr>
              </a:gs>
            </a:gsLst>
            <a:lin ang="0" scaled="1"/>
            <a:tileRect/>
          </a:gradFill>
        </p:spPr>
        <p:style>
          <a:lnRef idx="1">
            <a:schemeClr val="accent5"/>
          </a:lnRef>
          <a:fillRef idx="2">
            <a:schemeClr val="accent5"/>
          </a:fillRef>
          <a:effectRef idx="1">
            <a:schemeClr val="accent5"/>
          </a:effectRef>
          <a:fontRef idx="minor">
            <a:schemeClr val="dk1"/>
          </a:fontRef>
        </p:style>
        <p:txBody>
          <a:bodyPr vert="horz" lIns="68580" tIns="34290" rIns="68580" bIns="34290" rtlCol="0" anchor="ctr">
            <a:noAutofit/>
          </a:bodyPr>
          <a:lstStyle>
            <a:defPPr>
              <a:defRPr lang="en-US"/>
            </a:defPPr>
            <a:lvl1pPr algn="ctr">
              <a:spcBef>
                <a:spcPct val="0"/>
              </a:spcBef>
              <a:buNone/>
              <a:defRPr sz="2800"/>
            </a:lvl1pPr>
          </a:lstStyle>
          <a:p>
            <a:pPr>
              <a:defRPr/>
            </a:pPr>
            <a:r>
              <a:rPr lang="en-US" sz="2400" dirty="0"/>
              <a:t>Expected Questions for University Exam</a:t>
            </a:r>
            <a:endParaRPr lang="en-US" sz="2100" dirty="0"/>
          </a:p>
        </p:txBody>
      </p:sp>
    </p:spTree>
  </p:cSld>
  <p:clrMapOvr>
    <a:masterClrMapping/>
  </p:clrMapOvr>
  <p:transition>
    <p:wedge/>
  </p:transition>
</p:sld>
</file>

<file path=ppt/slides/slide1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D82E51B-7720-4236-B04D-2290A478FDAD}" type="datetime3">
              <a:rPr lang="en-US" smtClean="0"/>
              <a:t>1 September 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2514600" y="6356350"/>
            <a:ext cx="5181600" cy="365125"/>
          </a:xfrm>
        </p:spPr>
        <p:txBody>
          <a:bodyPr/>
          <a:lstStyle/>
          <a:p>
            <a:r>
              <a:rPr lang="en-US"/>
              <a:t>Atul Garg           BCSE0303            Unit- III</a:t>
            </a:r>
            <a:endParaRPr lang="en-US" dirty="0"/>
          </a:p>
        </p:txBody>
      </p:sp>
      <p:sp>
        <p:nvSpPr>
          <p:cNvPr id="11" name="Footer Placeholder 2"/>
          <p:cNvSpPr txBox="1"/>
          <p:nvPr/>
        </p:nvSpPr>
        <p:spPr>
          <a:xfrm>
            <a:off x="-4284984" y="6697662"/>
            <a:ext cx="2895600" cy="320675"/>
          </a:xfrm>
          <a:prstGeom prst="rect">
            <a:avLst/>
          </a:prstGeom>
          <a:noFill/>
        </p:spPr>
        <p:txBody>
          <a:bodyPr vert="horz" lIns="91440" tIns="45720" rIns="91440" bIns="4572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sz="1200" b="0" i="0" u="none" strike="noStrike" kern="1200" cap="none" spc="0" normalizeH="0" baseline="0" noProof="0" dirty="0">
                <a:ln>
                  <a:noFill/>
                </a:ln>
                <a:solidFill>
                  <a:schemeClr val="tx1">
                    <a:tint val="75000"/>
                  </a:scheme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Operating System </a:t>
            </a:r>
            <a:r>
              <a:rPr kumimoji="0" lang="en-US" sz="1200" b="0" i="0" u="none" strike="noStrike" kern="1200" cap="none" spc="0" normalizeH="0" baseline="0" noProof="0" dirty="0" err="1">
                <a:ln>
                  <a:noFill/>
                </a:ln>
                <a:solidFill>
                  <a:schemeClr val="tx1">
                    <a:tint val="75000"/>
                  </a:scheme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Concets</a:t>
            </a:r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schemeClr val="tx1">
                  <a:tint val="75000"/>
                </a:scheme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14" name="Rectangle 3"/>
          <p:cNvSpPr txBox="1">
            <a:spLocks noChangeArrowheads="1"/>
          </p:cNvSpPr>
          <p:nvPr/>
        </p:nvSpPr>
        <p:spPr>
          <a:xfrm>
            <a:off x="395536" y="1412776"/>
            <a:ext cx="7920880" cy="4752528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/>
          <a:p>
            <a:pPr marL="342900" marR="0" lvl="0" indent="-342900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defRPr/>
            </a:pPr>
            <a:endParaRPr kumimoji="0" lang="en-US" sz="220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10" name="Rectangle 9"/>
          <p:cNvSpPr/>
          <p:nvPr/>
        </p:nvSpPr>
        <p:spPr>
          <a:xfrm>
            <a:off x="1043608" y="836713"/>
            <a:ext cx="7704856" cy="584775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just"/>
            <a:r>
              <a:rPr lang="en-IN" sz="2200" dirty="0"/>
              <a:t>In this module, we have studied the following:</a:t>
            </a:r>
          </a:p>
          <a:p>
            <a:pPr algn="just">
              <a:buFont typeface="Arial" panose="020B0604020202020204" pitchFamily="34" charset="0"/>
              <a:buChar char="•"/>
            </a:pPr>
            <a:r>
              <a:rPr lang="en-IN" sz="2200" dirty="0"/>
              <a:t> Deadlocks</a:t>
            </a:r>
          </a:p>
          <a:p>
            <a:pPr algn="just">
              <a:buFont typeface="Arial" panose="020B0604020202020204" pitchFamily="34" charset="0"/>
              <a:buChar char="•"/>
            </a:pPr>
            <a:r>
              <a:rPr lang="en-IN" sz="2200" dirty="0"/>
              <a:t> Deadlock Detection and Recovery</a:t>
            </a:r>
          </a:p>
          <a:p>
            <a:pPr>
              <a:spcBef>
                <a:spcPts val="0"/>
              </a:spcBef>
              <a:buFont typeface="Arial" panose="020B0604020202020204" pitchFamily="34" charset="0"/>
              <a:buChar char="•"/>
            </a:pPr>
            <a:r>
              <a:rPr lang="en-US" sz="2200" dirty="0"/>
              <a:t>Cooperating process</a:t>
            </a:r>
          </a:p>
          <a:p>
            <a:pPr>
              <a:spcBef>
                <a:spcPts val="0"/>
              </a:spcBef>
              <a:buFont typeface="Arial" panose="020B0604020202020204" pitchFamily="34" charset="0"/>
              <a:buChar char="•"/>
            </a:pPr>
            <a:r>
              <a:rPr lang="en-IN" sz="2200" dirty="0"/>
              <a:t>Producer-Consumer Problem</a:t>
            </a:r>
          </a:p>
          <a:p>
            <a:pPr algn="just">
              <a:spcBef>
                <a:spcPts val="0"/>
              </a:spcBef>
              <a:buFont typeface="Arial" panose="020B0604020202020204" pitchFamily="34" charset="0"/>
              <a:buChar char="•"/>
            </a:pPr>
            <a:r>
              <a:rPr lang="en-IN" sz="2200" dirty="0"/>
              <a:t>Race condition</a:t>
            </a:r>
          </a:p>
          <a:p>
            <a:pPr algn="just">
              <a:spcBef>
                <a:spcPts val="0"/>
              </a:spcBef>
              <a:buFont typeface="Arial" panose="020B0604020202020204" pitchFamily="34" charset="0"/>
              <a:buChar char="•"/>
            </a:pPr>
            <a:r>
              <a:rPr lang="en-IN" sz="2200" spc="-5" dirty="0"/>
              <a:t>Critical</a:t>
            </a:r>
            <a:r>
              <a:rPr lang="en-IN" sz="2200" spc="-80" dirty="0"/>
              <a:t> </a:t>
            </a:r>
            <a:r>
              <a:rPr lang="en-IN" sz="2200" spc="-5" dirty="0"/>
              <a:t>Section</a:t>
            </a:r>
            <a:endParaRPr lang="en-US" sz="2200" dirty="0">
              <a:solidFill>
                <a:schemeClr val="dk1"/>
              </a:solidFill>
            </a:endParaRPr>
          </a:p>
          <a:p>
            <a:pPr lvl="0" algn="just">
              <a:spcBef>
                <a:spcPts val="0"/>
              </a:spcBef>
              <a:buFont typeface="Arial" panose="020B0604020202020204" pitchFamily="34" charset="0"/>
              <a:buChar char="•"/>
            </a:pPr>
            <a:r>
              <a:rPr lang="en-IN" sz="2200" spc="70" dirty="0"/>
              <a:t>Peterson’s</a:t>
            </a:r>
            <a:r>
              <a:rPr lang="en-IN" sz="2200" spc="-95" dirty="0"/>
              <a:t> </a:t>
            </a:r>
            <a:r>
              <a:rPr lang="en-IN" sz="2200" spc="-5" dirty="0"/>
              <a:t>Solution</a:t>
            </a:r>
            <a:endParaRPr lang="en-US" sz="2200" dirty="0"/>
          </a:p>
          <a:p>
            <a:pPr algn="just">
              <a:spcBef>
                <a:spcPts val="0"/>
              </a:spcBef>
              <a:buFont typeface="Arial" panose="020B0604020202020204" pitchFamily="34" charset="0"/>
              <a:buChar char="•"/>
            </a:pPr>
            <a:r>
              <a:rPr lang="en-IN" sz="2200" spc="-5" dirty="0"/>
              <a:t>Classical Problems of</a:t>
            </a:r>
            <a:r>
              <a:rPr lang="en-IN" sz="2200" spc="-60" dirty="0"/>
              <a:t> </a:t>
            </a:r>
            <a:r>
              <a:rPr lang="en-IN" sz="2200" spc="-5" dirty="0"/>
              <a:t>Synchronization</a:t>
            </a:r>
          </a:p>
          <a:p>
            <a:pPr algn="just">
              <a:spcBef>
                <a:spcPts val="0"/>
              </a:spcBef>
            </a:pPr>
            <a:r>
              <a:rPr lang="en-IN" sz="2200" spc="-5" dirty="0">
                <a:cs typeface="Arial" panose="020B0604020202020204"/>
              </a:rPr>
              <a:t>		</a:t>
            </a:r>
            <a:r>
              <a:rPr lang="en-IN" sz="2200" spc="-10" dirty="0">
                <a:cs typeface="Arial" panose="020B0604020202020204"/>
              </a:rPr>
              <a:t>Bounded-Buffer</a:t>
            </a:r>
            <a:r>
              <a:rPr lang="en-IN" sz="2200" spc="10" dirty="0">
                <a:cs typeface="Arial" panose="020B0604020202020204"/>
              </a:rPr>
              <a:t> </a:t>
            </a:r>
            <a:r>
              <a:rPr lang="en-IN" sz="2200" spc="-10" dirty="0">
                <a:cs typeface="Arial" panose="020B0604020202020204"/>
              </a:rPr>
              <a:t>Problem</a:t>
            </a:r>
            <a:endParaRPr lang="en-IN" sz="2200" dirty="0">
              <a:cs typeface="Arial" panose="020B0604020202020204"/>
            </a:endParaRPr>
          </a:p>
          <a:p>
            <a:pPr algn="just">
              <a:spcBef>
                <a:spcPts val="0"/>
              </a:spcBef>
            </a:pPr>
            <a:r>
              <a:rPr lang="en-IN" sz="2200" spc="-10" dirty="0">
                <a:cs typeface="Arial" panose="020B0604020202020204"/>
              </a:rPr>
              <a:t>		Readers and </a:t>
            </a:r>
            <a:r>
              <a:rPr lang="en-IN" sz="2200" spc="-5" dirty="0">
                <a:cs typeface="Arial" panose="020B0604020202020204"/>
              </a:rPr>
              <a:t>Writers</a:t>
            </a:r>
            <a:r>
              <a:rPr lang="en-IN" sz="2200" spc="25" dirty="0">
                <a:cs typeface="Arial" panose="020B0604020202020204"/>
              </a:rPr>
              <a:t> </a:t>
            </a:r>
            <a:r>
              <a:rPr lang="en-IN" sz="2200" spc="-10" dirty="0">
                <a:cs typeface="Arial" panose="020B0604020202020204"/>
              </a:rPr>
              <a:t>Problem</a:t>
            </a:r>
            <a:endParaRPr lang="en-IN" sz="2200" dirty="0">
              <a:cs typeface="Arial" panose="020B0604020202020204"/>
            </a:endParaRPr>
          </a:p>
          <a:p>
            <a:pPr algn="just">
              <a:spcBef>
                <a:spcPts val="0"/>
              </a:spcBef>
            </a:pPr>
            <a:r>
              <a:rPr lang="en-IN" sz="2200" spc="-10" dirty="0">
                <a:cs typeface="Arial" panose="020B0604020202020204"/>
              </a:rPr>
              <a:t>		Dining-Philosophers</a:t>
            </a:r>
            <a:r>
              <a:rPr lang="en-IN" sz="2200" spc="35" dirty="0">
                <a:cs typeface="Arial" panose="020B0604020202020204"/>
              </a:rPr>
              <a:t> </a:t>
            </a:r>
            <a:r>
              <a:rPr lang="en-IN" sz="2200" spc="-10" dirty="0">
                <a:cs typeface="Arial" panose="020B0604020202020204"/>
              </a:rPr>
              <a:t>Problem</a:t>
            </a:r>
          </a:p>
          <a:p>
            <a:pPr algn="just">
              <a:spcBef>
                <a:spcPts val="0"/>
              </a:spcBef>
              <a:buFont typeface="Arial" panose="020B0604020202020204" pitchFamily="34" charset="0"/>
              <a:buChar char="•"/>
            </a:pPr>
            <a:r>
              <a:rPr lang="en-IN" sz="2200" spc="-5" dirty="0"/>
              <a:t>Problems </a:t>
            </a:r>
            <a:r>
              <a:rPr lang="en-IN" sz="2200" dirty="0"/>
              <a:t>with</a:t>
            </a:r>
            <a:r>
              <a:rPr lang="en-IN" sz="2200" spc="-95" dirty="0"/>
              <a:t> </a:t>
            </a:r>
            <a:r>
              <a:rPr lang="en-IN" sz="2200" spc="-5" dirty="0"/>
              <a:t>Semaphores</a:t>
            </a:r>
          </a:p>
          <a:p>
            <a:pPr lvl="0" algn="just">
              <a:spcBef>
                <a:spcPts val="0"/>
              </a:spcBef>
              <a:buFont typeface="Arial" panose="020B0604020202020204" pitchFamily="34" charset="0"/>
              <a:buChar char="•"/>
            </a:pPr>
            <a:r>
              <a:rPr lang="en-IN" sz="2200" dirty="0"/>
              <a:t>Inter-process  Communication</a:t>
            </a:r>
          </a:p>
          <a:p>
            <a:pPr lvl="0" algn="just">
              <a:spcBef>
                <a:spcPts val="0"/>
              </a:spcBef>
            </a:pPr>
            <a:r>
              <a:rPr lang="en-IN" sz="2200" dirty="0">
                <a:solidFill>
                  <a:schemeClr val="dk1"/>
                </a:solidFill>
              </a:rPr>
              <a:t>		Shared memory</a:t>
            </a:r>
          </a:p>
          <a:p>
            <a:pPr lvl="0" algn="just">
              <a:spcBef>
                <a:spcPts val="0"/>
              </a:spcBef>
            </a:pPr>
            <a:r>
              <a:rPr lang="en-IN" sz="2200" dirty="0">
                <a:solidFill>
                  <a:schemeClr val="dk1"/>
                </a:solidFill>
              </a:rPr>
              <a:t>		Message passing</a:t>
            </a:r>
            <a:endParaRPr lang="en-US" sz="2400" dirty="0">
              <a:solidFill>
                <a:schemeClr val="dk1"/>
              </a:solidFill>
            </a:endParaRPr>
          </a:p>
          <a:p>
            <a:pPr algn="just"/>
            <a:endParaRPr lang="en-IN" sz="2200" dirty="0"/>
          </a:p>
        </p:txBody>
      </p:sp>
      <p:sp>
        <p:nvSpPr>
          <p:cNvPr id="12" name="Slide Number Placeholder 1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t>142</a:t>
            </a:fld>
            <a:endParaRPr lang="en-US"/>
          </a:p>
        </p:txBody>
      </p:sp>
      <p:pic>
        <p:nvPicPr>
          <p:cNvPr id="2" name="Picture 1" descr="A black and red logo&#10;&#10;Description automatically generated">
            <a:extLst>
              <a:ext uri="{FF2B5EF4-FFF2-40B4-BE49-F238E27FC236}">
                <a16:creationId xmlns:a16="http://schemas.microsoft.com/office/drawing/2014/main" id="{F917A5C3-AED2-8EEA-5ED3-19040DA36E46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-27384"/>
            <a:ext cx="1657350" cy="710452"/>
          </a:xfrm>
          <a:prstGeom prst="rect">
            <a:avLst/>
          </a:prstGeom>
        </p:spPr>
      </p:pic>
      <p:sp>
        <p:nvSpPr>
          <p:cNvPr id="3" name="Title 1">
            <a:extLst>
              <a:ext uri="{FF2B5EF4-FFF2-40B4-BE49-F238E27FC236}">
                <a16:creationId xmlns:a16="http://schemas.microsoft.com/office/drawing/2014/main" id="{AF241726-3E9C-D557-DA4B-28B981BB8ABA}"/>
              </a:ext>
            </a:extLst>
          </p:cNvPr>
          <p:cNvSpPr txBox="1">
            <a:spLocks/>
          </p:cNvSpPr>
          <p:nvPr/>
        </p:nvSpPr>
        <p:spPr>
          <a:xfrm>
            <a:off x="2171700" y="116632"/>
            <a:ext cx="5829300" cy="514349"/>
          </a:xfrm>
          <a:prstGeom prst="rect">
            <a:avLst/>
          </a:prstGeom>
          <a:gradFill flip="none" rotWithShape="1">
            <a:gsLst>
              <a:gs pos="0">
                <a:srgbClr val="FF0000">
                  <a:tint val="66000"/>
                  <a:satMod val="160000"/>
                </a:srgbClr>
              </a:gs>
              <a:gs pos="50000">
                <a:srgbClr val="FF0000">
                  <a:tint val="44500"/>
                  <a:satMod val="160000"/>
                </a:srgbClr>
              </a:gs>
              <a:gs pos="100000">
                <a:srgbClr val="FF0000">
                  <a:tint val="23500"/>
                  <a:satMod val="160000"/>
                </a:srgbClr>
              </a:gs>
            </a:gsLst>
            <a:lin ang="0" scaled="1"/>
            <a:tileRect/>
          </a:gradFill>
        </p:spPr>
        <p:style>
          <a:lnRef idx="1">
            <a:schemeClr val="accent5"/>
          </a:lnRef>
          <a:fillRef idx="2">
            <a:schemeClr val="accent5"/>
          </a:fillRef>
          <a:effectRef idx="1">
            <a:schemeClr val="accent5"/>
          </a:effectRef>
          <a:fontRef idx="minor">
            <a:schemeClr val="dk1"/>
          </a:fontRef>
        </p:style>
        <p:txBody>
          <a:bodyPr vert="horz" lIns="68580" tIns="34290" rIns="68580" bIns="34290" rtlCol="0" anchor="ctr">
            <a:noAutofit/>
          </a:bodyPr>
          <a:lstStyle>
            <a:defPPr>
              <a:defRPr lang="en-US"/>
            </a:defPPr>
            <a:lvl1pPr algn="ctr">
              <a:spcBef>
                <a:spcPct val="0"/>
              </a:spcBef>
              <a:buNone/>
              <a:defRPr sz="2800"/>
            </a:lvl1pPr>
          </a:lstStyle>
          <a:p>
            <a:pPr>
              <a:defRPr/>
            </a:pPr>
            <a:r>
              <a:rPr lang="en-US" sz="2400" dirty="0"/>
              <a:t>Recap of Unit</a:t>
            </a:r>
            <a:endParaRPr lang="en-US" sz="2100" dirty="0"/>
          </a:p>
        </p:txBody>
      </p:sp>
    </p:spTree>
  </p:cSld>
  <p:clrMapOvr>
    <a:masterClrMapping/>
  </p:clrMapOvr>
  <p:transition>
    <p:wedge/>
  </p:transition>
</p:sld>
</file>

<file path=ppt/slides/slide1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7D806EB-7D3E-481C-87AD-88A9FDAEBBE6}" type="datetime3">
              <a:rPr lang="en-US" smtClean="0"/>
              <a:t>1 September 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2514600" y="6356350"/>
            <a:ext cx="5181600" cy="365125"/>
          </a:xfrm>
        </p:spPr>
        <p:txBody>
          <a:bodyPr/>
          <a:lstStyle/>
          <a:p>
            <a:r>
              <a:rPr lang="en-US"/>
              <a:t>Atul Garg           BCSE0303            Unit- III</a:t>
            </a:r>
            <a:endParaRPr lang="en-US" dirty="0"/>
          </a:p>
        </p:txBody>
      </p:sp>
      <p:sp>
        <p:nvSpPr>
          <p:cNvPr id="11" name="Footer Placeholder 2"/>
          <p:cNvSpPr txBox="1"/>
          <p:nvPr/>
        </p:nvSpPr>
        <p:spPr>
          <a:xfrm>
            <a:off x="-4284984" y="6697662"/>
            <a:ext cx="2895600" cy="320675"/>
          </a:xfrm>
          <a:prstGeom prst="rect">
            <a:avLst/>
          </a:prstGeom>
          <a:noFill/>
        </p:spPr>
        <p:txBody>
          <a:bodyPr vert="horz" lIns="91440" tIns="45720" rIns="91440" bIns="4572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sz="1200" b="0" i="0" u="none" strike="noStrike" kern="1200" cap="none" spc="0" normalizeH="0" baseline="0" noProof="0" dirty="0">
                <a:ln>
                  <a:noFill/>
                </a:ln>
                <a:solidFill>
                  <a:schemeClr val="tx1">
                    <a:tint val="75000"/>
                  </a:scheme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Operating System </a:t>
            </a:r>
            <a:r>
              <a:rPr kumimoji="0" lang="en-US" sz="1200" b="0" i="0" u="none" strike="noStrike" kern="1200" cap="none" spc="0" normalizeH="0" baseline="0" noProof="0" dirty="0" err="1">
                <a:ln>
                  <a:noFill/>
                </a:ln>
                <a:solidFill>
                  <a:schemeClr val="tx1">
                    <a:tint val="75000"/>
                  </a:scheme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Concets</a:t>
            </a:r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schemeClr val="tx1">
                  <a:tint val="75000"/>
                </a:scheme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14" name="Rectangle 3"/>
          <p:cNvSpPr txBox="1">
            <a:spLocks noChangeArrowheads="1"/>
          </p:cNvSpPr>
          <p:nvPr/>
        </p:nvSpPr>
        <p:spPr>
          <a:xfrm>
            <a:off x="467544" y="908720"/>
            <a:ext cx="8352928" cy="5256584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/>
          <a:p>
            <a:pPr marL="342900" marR="0" lvl="0" indent="-342900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defRPr/>
            </a:pPr>
            <a:endParaRPr kumimoji="0" lang="en-US" sz="220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12" name="Rectangle 11"/>
          <p:cNvSpPr/>
          <p:nvPr/>
        </p:nvSpPr>
        <p:spPr>
          <a:xfrm>
            <a:off x="971600" y="836713"/>
            <a:ext cx="7560840" cy="449353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just"/>
            <a:r>
              <a:rPr lang="en-IN" sz="2200" dirty="0"/>
              <a:t>Books : </a:t>
            </a:r>
          </a:p>
          <a:p>
            <a:pPr marL="457200" indent="-457200" algn="just">
              <a:buAutoNum type="arabicPeriod"/>
            </a:pPr>
            <a:r>
              <a:rPr lang="en-IN" sz="2200" dirty="0" err="1"/>
              <a:t>Silberschatz</a:t>
            </a:r>
            <a:r>
              <a:rPr lang="en-IN" sz="2200" dirty="0"/>
              <a:t>, Galvin and Gagne, “Operating Systems Concepts”, Wiley </a:t>
            </a:r>
          </a:p>
          <a:p>
            <a:pPr marL="457200" indent="-457200" algn="just">
              <a:buAutoNum type="arabicPeriod"/>
            </a:pPr>
            <a:r>
              <a:rPr lang="en-IN" sz="2200" dirty="0"/>
              <a:t> </a:t>
            </a:r>
            <a:r>
              <a:rPr lang="en-IN" sz="2200" dirty="0" err="1"/>
              <a:t>SibsankarHalder</a:t>
            </a:r>
            <a:r>
              <a:rPr lang="en-IN" sz="2200" dirty="0"/>
              <a:t> and Alex A </a:t>
            </a:r>
            <a:r>
              <a:rPr lang="en-IN" sz="2200" dirty="0" err="1"/>
              <a:t>Aravind</a:t>
            </a:r>
            <a:r>
              <a:rPr lang="en-IN" sz="2200" dirty="0"/>
              <a:t>, “Operating Systems”, Pearson Education </a:t>
            </a:r>
          </a:p>
          <a:p>
            <a:pPr marL="457200" indent="-457200" algn="just">
              <a:buAutoNum type="arabicPeriod"/>
            </a:pPr>
            <a:r>
              <a:rPr lang="en-IN" sz="2200" dirty="0"/>
              <a:t> Harvey M </a:t>
            </a:r>
            <a:r>
              <a:rPr lang="en-IN" sz="2200" dirty="0" err="1"/>
              <a:t>Dietel</a:t>
            </a:r>
            <a:r>
              <a:rPr lang="en-IN" sz="2200" dirty="0"/>
              <a:t>, “ An Introduction to Operating System”, Pearson Education </a:t>
            </a:r>
          </a:p>
          <a:p>
            <a:pPr marL="457200" indent="-457200" algn="just">
              <a:buAutoNum type="arabicPeriod"/>
            </a:pPr>
            <a:r>
              <a:rPr lang="en-IN" sz="2200" dirty="0"/>
              <a:t> D M </a:t>
            </a:r>
            <a:r>
              <a:rPr lang="en-IN" sz="2200" dirty="0" err="1"/>
              <a:t>Dhamdhere</a:t>
            </a:r>
            <a:r>
              <a:rPr lang="en-IN" sz="2200" dirty="0"/>
              <a:t>, “Operating Systems : A Concept </a:t>
            </a:r>
            <a:r>
              <a:rPr lang="en-IN" sz="2200" dirty="0" err="1"/>
              <a:t>basedApproach</a:t>
            </a:r>
            <a:r>
              <a:rPr lang="en-IN" sz="2200" dirty="0"/>
              <a:t>”, McGraw Hill. </a:t>
            </a:r>
          </a:p>
          <a:p>
            <a:pPr marL="457200" indent="-457200" algn="just">
              <a:buAutoNum type="arabicPeriod"/>
            </a:pPr>
            <a:r>
              <a:rPr lang="en-IN" sz="2200" dirty="0"/>
              <a:t>Charles Crowley, “Operating Systems: A Design-Oriented Approach”, Tata McGraw Hill Education”. </a:t>
            </a:r>
          </a:p>
          <a:p>
            <a:pPr marL="457200" indent="-457200" algn="just">
              <a:buAutoNum type="arabicPeriod"/>
            </a:pPr>
            <a:r>
              <a:rPr lang="en-IN" sz="2200" dirty="0"/>
              <a:t> Stuart E. </a:t>
            </a:r>
            <a:r>
              <a:rPr lang="en-IN" sz="2200" dirty="0" err="1"/>
              <a:t>Madnick</a:t>
            </a:r>
            <a:r>
              <a:rPr lang="en-IN" sz="2200" dirty="0"/>
              <a:t> &amp; John J. Donovan, “ Operating Systems”, Tata McGraw</a:t>
            </a:r>
          </a:p>
        </p:txBody>
      </p:sp>
      <p:sp>
        <p:nvSpPr>
          <p:cNvPr id="13" name="Slide Number Placeholder 1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t>143</a:t>
            </a:fld>
            <a:endParaRPr lang="en-US"/>
          </a:p>
        </p:txBody>
      </p:sp>
      <p:pic>
        <p:nvPicPr>
          <p:cNvPr id="2" name="Picture 1" descr="A black and red logo&#10;&#10;Description automatically generated">
            <a:extLst>
              <a:ext uri="{FF2B5EF4-FFF2-40B4-BE49-F238E27FC236}">
                <a16:creationId xmlns:a16="http://schemas.microsoft.com/office/drawing/2014/main" id="{C90F0F57-943D-4F07-CAD1-0A9C257D1973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-27384"/>
            <a:ext cx="1657350" cy="710452"/>
          </a:xfrm>
          <a:prstGeom prst="rect">
            <a:avLst/>
          </a:prstGeom>
        </p:spPr>
      </p:pic>
      <p:sp>
        <p:nvSpPr>
          <p:cNvPr id="3" name="Title 1">
            <a:extLst>
              <a:ext uri="{FF2B5EF4-FFF2-40B4-BE49-F238E27FC236}">
                <a16:creationId xmlns:a16="http://schemas.microsoft.com/office/drawing/2014/main" id="{9BC26683-05A2-2D63-C28D-39723C5EC259}"/>
              </a:ext>
            </a:extLst>
          </p:cNvPr>
          <p:cNvSpPr txBox="1">
            <a:spLocks/>
          </p:cNvSpPr>
          <p:nvPr/>
        </p:nvSpPr>
        <p:spPr>
          <a:xfrm>
            <a:off x="2171700" y="116632"/>
            <a:ext cx="5829300" cy="514349"/>
          </a:xfrm>
          <a:prstGeom prst="rect">
            <a:avLst/>
          </a:prstGeom>
          <a:gradFill flip="none" rotWithShape="1">
            <a:gsLst>
              <a:gs pos="0">
                <a:srgbClr val="FF0000">
                  <a:tint val="66000"/>
                  <a:satMod val="160000"/>
                </a:srgbClr>
              </a:gs>
              <a:gs pos="50000">
                <a:srgbClr val="FF0000">
                  <a:tint val="44500"/>
                  <a:satMod val="160000"/>
                </a:srgbClr>
              </a:gs>
              <a:gs pos="100000">
                <a:srgbClr val="FF0000">
                  <a:tint val="23500"/>
                  <a:satMod val="160000"/>
                </a:srgbClr>
              </a:gs>
            </a:gsLst>
            <a:lin ang="0" scaled="1"/>
            <a:tileRect/>
          </a:gradFill>
        </p:spPr>
        <p:style>
          <a:lnRef idx="1">
            <a:schemeClr val="accent5"/>
          </a:lnRef>
          <a:fillRef idx="2">
            <a:schemeClr val="accent5"/>
          </a:fillRef>
          <a:effectRef idx="1">
            <a:schemeClr val="accent5"/>
          </a:effectRef>
          <a:fontRef idx="minor">
            <a:schemeClr val="dk1"/>
          </a:fontRef>
        </p:style>
        <p:txBody>
          <a:bodyPr vert="horz" lIns="68580" tIns="34290" rIns="68580" bIns="34290" rtlCol="0" anchor="ctr">
            <a:noAutofit/>
          </a:bodyPr>
          <a:lstStyle>
            <a:defPPr>
              <a:defRPr lang="en-US"/>
            </a:defPPr>
            <a:lvl1pPr algn="ctr">
              <a:spcBef>
                <a:spcPct val="0"/>
              </a:spcBef>
              <a:buNone/>
              <a:defRPr sz="2800"/>
            </a:lvl1pPr>
          </a:lstStyle>
          <a:p>
            <a:pPr>
              <a:defRPr/>
            </a:pPr>
            <a:r>
              <a:rPr lang="en-US" sz="2400" dirty="0"/>
              <a:t>References</a:t>
            </a:r>
            <a:endParaRPr lang="en-US" sz="2100" dirty="0"/>
          </a:p>
        </p:txBody>
      </p:sp>
    </p:spTree>
  </p:cSld>
  <p:clrMapOvr>
    <a:masterClrMapping/>
  </p:clrMapOvr>
  <p:transition>
    <p:wedge/>
  </p:transition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2601</TotalTime>
  <Words>10325</Words>
  <Application>Microsoft Office PowerPoint</Application>
  <PresentationFormat>On-screen Show (4:3)</PresentationFormat>
  <Paragraphs>1906</Paragraphs>
  <Slides>143</Slides>
  <Notes>57</Notes>
  <HiddenSlides>0</HiddenSlides>
  <MMClips>0</MMClips>
  <ScaleCrop>false</ScaleCrop>
  <HeadingPairs>
    <vt:vector size="8" baseType="variant">
      <vt:variant>
        <vt:lpstr>Fonts Used</vt:lpstr>
      </vt:variant>
      <vt:variant>
        <vt:i4>11</vt:i4>
      </vt:variant>
      <vt:variant>
        <vt:lpstr>Theme</vt:lpstr>
      </vt:variant>
      <vt:variant>
        <vt:i4>1</vt:i4>
      </vt:variant>
      <vt:variant>
        <vt:lpstr>Embedded OLE Servers</vt:lpstr>
      </vt:variant>
      <vt:variant>
        <vt:i4>1</vt:i4>
      </vt:variant>
      <vt:variant>
        <vt:lpstr>Slide Titles</vt:lpstr>
      </vt:variant>
      <vt:variant>
        <vt:i4>143</vt:i4>
      </vt:variant>
    </vt:vector>
  </HeadingPairs>
  <TitlesOfParts>
    <vt:vector size="156" baseType="lpstr">
      <vt:lpstr>MS PGothic</vt:lpstr>
      <vt:lpstr>AoyagiKouzanFontT</vt:lpstr>
      <vt:lpstr>Arial</vt:lpstr>
      <vt:lpstr>Calibri</vt:lpstr>
      <vt:lpstr>Carlito</vt:lpstr>
      <vt:lpstr>Courier New</vt:lpstr>
      <vt:lpstr>Helvetica</vt:lpstr>
      <vt:lpstr>Lucida Sans Unicode</vt:lpstr>
      <vt:lpstr>Monotype Sorts</vt:lpstr>
      <vt:lpstr>Times New Roman</vt:lpstr>
      <vt:lpstr>Wingdings</vt:lpstr>
      <vt:lpstr>Office Theme</vt:lpstr>
      <vt:lpstr>Document</vt:lpstr>
      <vt:lpstr>Noida Institute of Engineering and Technology, Greater Noida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Program Specific Outcomes</vt:lpstr>
      <vt:lpstr>COs and PSOs Mapping</vt:lpstr>
      <vt:lpstr>Program Educational Objectives (PEOs)</vt:lpstr>
      <vt:lpstr>Brief Introduction about the subject with video</vt:lpstr>
      <vt:lpstr>Unit-2 Content</vt:lpstr>
      <vt:lpstr>Prerequisite and Recap</vt:lpstr>
      <vt:lpstr>PowerPoint Presentation</vt:lpstr>
      <vt:lpstr>PowerPoint Presentation</vt:lpstr>
      <vt:lpstr>PowerPoint Presentation</vt:lpstr>
      <vt:lpstr>Topic Objectives </vt:lpstr>
      <vt:lpstr>Concurrency</vt:lpstr>
      <vt:lpstr>Concurrency</vt:lpstr>
      <vt:lpstr>Race Condition</vt:lpstr>
      <vt:lpstr>Race Condition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Slide 1</dc:title>
  <dc:creator>Manks</dc:creator>
  <cp:lastModifiedBy>atul garg</cp:lastModifiedBy>
  <cp:revision>492</cp:revision>
  <dcterms:created xsi:type="dcterms:W3CDTF">2024-01-05T04:46:55Z</dcterms:created>
  <dcterms:modified xsi:type="dcterms:W3CDTF">2025-09-01T15:33:43Z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1033-5.6.0.8082</vt:lpwstr>
  </property>
</Properties>
</file>